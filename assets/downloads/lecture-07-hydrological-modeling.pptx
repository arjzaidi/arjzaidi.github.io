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63" r:id="rId3"/>
  </p:sldMasterIdLst>
  <p:notesMasterIdLst>
    <p:notesMasterId r:id="rId44"/>
  </p:notesMasterIdLst>
  <p:sldIdLst>
    <p:sldId id="256" r:id="rId4"/>
    <p:sldId id="318" r:id="rId5"/>
    <p:sldId id="319" r:id="rId6"/>
    <p:sldId id="320" r:id="rId7"/>
    <p:sldId id="321" r:id="rId8"/>
    <p:sldId id="322" r:id="rId9"/>
    <p:sldId id="323" r:id="rId10"/>
    <p:sldId id="324" r:id="rId11"/>
    <p:sldId id="325" r:id="rId12"/>
    <p:sldId id="326" r:id="rId13"/>
    <p:sldId id="327" r:id="rId14"/>
    <p:sldId id="307" r:id="rId15"/>
    <p:sldId id="283" r:id="rId16"/>
    <p:sldId id="329" r:id="rId17"/>
    <p:sldId id="269" r:id="rId18"/>
    <p:sldId id="270" r:id="rId19"/>
    <p:sldId id="271" r:id="rId20"/>
    <p:sldId id="261" r:id="rId21"/>
    <p:sldId id="272" r:id="rId22"/>
    <p:sldId id="273" r:id="rId23"/>
    <p:sldId id="274" r:id="rId24"/>
    <p:sldId id="275" r:id="rId25"/>
    <p:sldId id="303" r:id="rId26"/>
    <p:sldId id="336" r:id="rId27"/>
    <p:sldId id="330" r:id="rId28"/>
    <p:sldId id="279" r:id="rId29"/>
    <p:sldId id="262" r:id="rId30"/>
    <p:sldId id="300" r:id="rId31"/>
    <p:sldId id="264" r:id="rId32"/>
    <p:sldId id="266" r:id="rId33"/>
    <p:sldId id="332" r:id="rId34"/>
    <p:sldId id="333" r:id="rId35"/>
    <p:sldId id="282" r:id="rId36"/>
    <p:sldId id="263" r:id="rId37"/>
    <p:sldId id="334" r:id="rId38"/>
    <p:sldId id="308" r:id="rId39"/>
    <p:sldId id="335" r:id="rId40"/>
    <p:sldId id="284" r:id="rId41"/>
    <p:sldId id="314" r:id="rId42"/>
    <p:sldId id="316" r:id="rId43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792C9"/>
    <a:srgbClr val="FFE89F"/>
    <a:srgbClr val="D7EED2"/>
    <a:srgbClr val="F9C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25" autoAdjust="0"/>
    <p:restoredTop sz="72013" autoAdjust="0"/>
  </p:normalViewPr>
  <p:slideViewPr>
    <p:cSldViewPr snapToGrid="0">
      <p:cViewPr varScale="1">
        <p:scale>
          <a:sx n="76" d="100"/>
          <a:sy n="76" d="100"/>
        </p:scale>
        <p:origin x="114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tableStyles" Target="tableStyle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1696068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3025372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Reference: https://www.hec.usace.army.mil/software/hec-hms/ ; https://www.nrcs.usda.gov/resources/guides-and-instructions/engineering-field-handbook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744792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38723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sz="16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0" dirty="0">
                <a:solidFill>
                  <a:srgbClr val="545454"/>
                </a:solidFill>
                <a:latin typeface="Arial"/>
                <a:ea typeface="Arial"/>
                <a:cs typeface="Arial"/>
              </a:rPr>
              <a:t>Benefits and exposure occupy the same flow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20650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Peak timing and volume depend on watershed and storm conditions.</a:t>
            </a:r>
          </a:p>
          <a:p>
            <a:r>
              <a:rPr dirty="0"/>
              <a:t>Reference: https://www.hec.usace.army.mil/software/hec-hms/ ; https://www.nrcs.usda.gov/resources/guides-and-instructions/engineering-field-handbook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73408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891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en-US" dirty="0"/>
              <a:t>Source: </a:t>
            </a:r>
            <a:r>
              <a:rPr lang="en-US" dirty="0" err="1"/>
              <a:t>usf</a:t>
            </a:r>
            <a:endParaRPr lang="en-US" dirty="0"/>
          </a:p>
          <a:p>
            <a:pPr eaLnBrk="1" hangingPunct="1">
              <a:spcBef>
                <a:spcPct val="0"/>
              </a:spcBef>
            </a:pPr>
            <a:r>
              <a:rPr lang="fr-FR" dirty="0"/>
              <a:t>Losses = interception, infiltration, dépression Storage, </a:t>
            </a:r>
            <a:r>
              <a:rPr lang="en-US" dirty="0"/>
              <a:t>etc. (sometimes called basin recharge)</a:t>
            </a:r>
          </a:p>
          <a:p>
            <a:pPr eaLnBrk="1" hangingPunct="1">
              <a:spcBef>
                <a:spcPct val="0"/>
              </a:spcBef>
            </a:pPr>
            <a:endParaRPr lang="en-US" dirty="0"/>
          </a:p>
          <a:p>
            <a:pPr eaLnBrk="1" hangingPunct="1">
              <a:spcBef>
                <a:spcPct val="0"/>
              </a:spcBef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term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recession curve 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sometimes reserved for any descending limb of the hydrograph. </a:t>
            </a:r>
            <a:endParaRPr lang="en-US" dirty="0"/>
          </a:p>
          <a:p>
            <a:pPr eaLnBrk="1" hangingPunct="1">
              <a:spcBef>
                <a:spcPct val="0"/>
              </a:spcBef>
            </a:pPr>
            <a:r>
              <a:rPr lang="en-US" dirty="0"/>
              <a:t>.</a:t>
            </a:r>
          </a:p>
          <a:p>
            <a:pPr eaLnBrk="1" hangingPunct="1">
              <a:spcBef>
                <a:spcPct val="0"/>
              </a:spcBef>
            </a:pPr>
            <a:endParaRPr lang="en-US" dirty="0"/>
          </a:p>
        </p:txBody>
      </p:sp>
      <p:sp>
        <p:nvSpPr>
          <p:cNvPr id="32771" name="Slide Number Placeholder 3"/>
          <p:cNvSpPr>
            <a:spLocks noGrp="1"/>
          </p:cNvSpPr>
          <p:nvPr>
            <p:ph type="sldNum" sz="quarter" idx="5"/>
          </p:nvPr>
        </p:nvSpPr>
        <p:spPr bwMode="auto"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9C1AF16-15B8-4BCA-AEA7-BE1055A38E7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85880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Stress that runoff is an event response produced by both </a:t>
            </a:r>
            <a:r>
              <a:rPr lang="en-US" dirty="0"/>
              <a:t>the storm and the </a:t>
            </a:r>
            <a:r>
              <a:rPr dirty="0"/>
              <a:t>watershed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52911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8A229-1B92-F92C-27D6-02508220D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D42A18-8221-8A3C-8AF9-7343E0141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024E3F-AB7E-7459-D25C-F0C8239D60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sz="16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0" dirty="0">
                <a:solidFill>
                  <a:srgbClr val="545454"/>
                </a:solidFill>
                <a:latin typeface="Arial"/>
                <a:ea typeface="Arial"/>
                <a:cs typeface="Arial"/>
              </a:rPr>
              <a:t>Not all rainfall is equivalent, as well.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B4C43F-3F93-F7EE-37F2-3888A397AC6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756870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F58320"/>
                </a:solidFill>
                <a:latin typeface="Arial"/>
                <a:ea typeface="Arial"/>
                <a:cs typeface="Arial"/>
              </a:rPr>
              <a:t>Ask Question: What decision changes when the hydrograph changes?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061900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olidFill>
                  <a:srgbClr val="FFFF00"/>
                </a:solidFill>
                <a:latin typeface="Arial"/>
                <a:ea typeface="Arial"/>
                <a:cs typeface="Arial"/>
              </a:rPr>
              <a:t>In drylands, rainfall thresholds and flow connectivity matter more than averages.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761379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- https://gpm.nasa.gov/data/imerg</a:t>
            </a:r>
          </a:p>
          <a:p>
            <a:r>
              <a:rPr dirty="0"/>
              <a:t>- https://www.chc.ucsb.edu/data/chirps</a:t>
            </a:r>
          </a:p>
          <a:p>
            <a:r>
              <a:rPr dirty="0"/>
              <a:t>- https://community.wmo.int/en/activity-areas/hydrology-and-water-resources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Reference: https://www.hec.usace.army.mil/software/hec-hms/ ; https://www.nrcs.usda.gov/resources/guides-and-instructions/engineering-field-handbook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Reference: https://www.hec.usace.army.mil/software/hec-hms/ ; https://www.nrcs.usda.gov/resources/guides-and-instructions/engineering-field-handbook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Reference: https://www.hec.usace.army.mil/software/hec-hms/ ; https://www.nrcs.usda.gov/resources/guides-and-instructions/engineering-field-handbook</a:t>
            </a:r>
            <a:endParaRPr lang="en-US" dirty="0"/>
          </a:p>
          <a:p>
            <a:endParaRPr lang="en-US" dirty="0"/>
          </a:p>
          <a:p>
            <a:r>
              <a:rPr dirty="0"/>
              <a:t>Answer guide: 1. Soil, slope, vegetation, shape</a:t>
            </a:r>
            <a:r>
              <a:rPr lang="en-US" dirty="0"/>
              <a:t>,</a:t>
            </a:r>
            <a:r>
              <a:rPr dirty="0"/>
              <a:t> and prior moisture. 2. Maximum discharge. 3. DEM errors, outlet and channel continuity.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C0F45-F15F-99EB-3C02-D728D6236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B38A39-C33A-F1B2-B566-630BE8B572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A178BF-6A62-AB12-878D-66A249C15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D29699-56FB-95C3-13A7-FC0073D0323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11739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634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704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913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53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1852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848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98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78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8566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9928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9371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2924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K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PK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pPr>
              <a:defRPr/>
            </a:pPr>
            <a:fld id="{FCA31DE1-4D0D-4F28-8824-5F8EC38F81F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587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4DB24E-2B65-4A07-A8FA-07625CE7166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7088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CC53C5-0BE3-4380-9EB9-3FC2CBEB418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650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67D0F0B-54A3-48A1-BA16-5A2F89A317F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3224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12C092-1495-48A5-AF98-60F6719E9B3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5056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1A64272-75E2-4C3B-AB52-32210F19BE6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0258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0DC35-9B43-4C3F-93A9-29FFD06F2AC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6396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FCDB1-34D6-474D-B105-CFC1329D0E1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525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3F52A6-89AD-41A9-AFAB-6A17F130D8A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3444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77954F-DC09-4E3A-81E0-CD4DDA2AE79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6710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77954F-DC09-4E3A-81E0-CD4DDA2AE79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76185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77954F-DC09-4E3A-81E0-CD4DDA2AE79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0162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77954F-DC09-4E3A-81E0-CD4DDA2AE79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48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77954F-DC09-4E3A-81E0-CD4DDA2AE79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44891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77954F-DC09-4E3A-81E0-CD4DDA2AE79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9618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936DD2A-1D9D-49FA-924B-9285D39C67A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83541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DDBAA62-93B2-46FF-9CA6-26F374183B8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876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246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K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K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K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K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K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K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PK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PK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PK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4077954F-DC09-4E3A-81E0-CD4DDA2AE79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3319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6AA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D1C1398-E15D-4733-9D2F-F0FC50E310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58320"/>
          </a:solidFill>
          <a:ln w="9525">
            <a:solidFill>
              <a:srgbClr val="F5832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D0EA07-E5EA-46C1-B58B-2D5E16A1DFED}"/>
              </a:ext>
            </a:extLst>
          </p:cNvPr>
          <p:cNvSpPr>
            <a:spLocks noGrp="1"/>
          </p:cNvSpPr>
          <p:nvPr/>
        </p:nvSpPr>
        <p:spPr>
          <a:xfrm>
            <a:off x="609600" y="1466850"/>
            <a:ext cx="581025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Hydrological Modeling</a:t>
            </a:r>
            <a:endParaRPr sz="39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37EA9C-6894-4FC2-89E3-E74DF7707212}"/>
              </a:ext>
            </a:extLst>
          </p:cNvPr>
          <p:cNvSpPr>
            <a:spLocks noGrp="1"/>
          </p:cNvSpPr>
          <p:nvPr/>
        </p:nvSpPr>
        <p:spPr>
          <a:xfrm>
            <a:off x="628650" y="3848100"/>
            <a:ext cx="5619750" cy="12780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lnSpc>
                <a:spcPct val="110000"/>
              </a:lnSpc>
              <a:defRPr sz="1800" b="0">
                <a:solidFill>
                  <a:srgbClr val="E5ECF4"/>
                </a:solidFill>
                <a:latin typeface="Arial"/>
                <a:ea typeface="Arial"/>
                <a:cs typeface="Arial"/>
              </a:defRPr>
            </a:pPr>
            <a:r>
              <a:rPr lang="en-US" sz="1800" b="1" dirty="0">
                <a:solidFill>
                  <a:srgbClr val="E5ECF4"/>
                </a:solidFill>
                <a:latin typeface="Arial"/>
                <a:ea typeface="Arial"/>
                <a:cs typeface="Arial"/>
              </a:rPr>
              <a:t>Hydroinformatics</a:t>
            </a:r>
          </a:p>
          <a:p>
            <a:pPr algn="l">
              <a:lnSpc>
                <a:spcPct val="110000"/>
              </a:lnSpc>
              <a:defRPr sz="1800" b="0">
                <a:solidFill>
                  <a:srgbClr val="E5ECF4"/>
                </a:solidFill>
                <a:latin typeface="Arial"/>
                <a:ea typeface="Arial"/>
                <a:cs typeface="Arial"/>
              </a:defRPr>
            </a:pPr>
            <a:r>
              <a:rPr lang="en-US" dirty="0">
                <a:solidFill>
                  <a:srgbClr val="E5ECF4"/>
                </a:solidFill>
                <a:latin typeface="Arial"/>
                <a:ea typeface="Arial"/>
                <a:cs typeface="Arial"/>
              </a:rPr>
              <a:t>US Pakistan Center for Advanced Studies in Water</a:t>
            </a:r>
          </a:p>
          <a:p>
            <a:pPr algn="l">
              <a:lnSpc>
                <a:spcPct val="110000"/>
              </a:lnSpc>
              <a:defRPr sz="1800" b="0">
                <a:solidFill>
                  <a:srgbClr val="E5ECF4"/>
                </a:solidFill>
                <a:latin typeface="Arial"/>
                <a:ea typeface="Arial"/>
                <a:cs typeface="Arial"/>
              </a:defRPr>
            </a:pPr>
            <a:r>
              <a:rPr lang="en-US" dirty="0">
                <a:solidFill>
                  <a:srgbClr val="E5ECF4"/>
                </a:solidFill>
                <a:latin typeface="Arial"/>
                <a:ea typeface="Arial"/>
                <a:cs typeface="Arial"/>
              </a:rPr>
              <a:t>MUET, Jamshoro</a:t>
            </a:r>
          </a:p>
          <a:p>
            <a:pPr algn="l">
              <a:lnSpc>
                <a:spcPct val="110000"/>
              </a:lnSpc>
              <a:defRPr sz="1800" b="0">
                <a:solidFill>
                  <a:srgbClr val="E5ECF4"/>
                </a:solidFill>
                <a:latin typeface="Arial"/>
                <a:ea typeface="Arial"/>
                <a:cs typeface="Arial"/>
              </a:defRPr>
            </a:pPr>
            <a:r>
              <a:rPr lang="en-US" dirty="0">
                <a:solidFill>
                  <a:srgbClr val="E5ECF4"/>
                </a:solidFill>
                <a:latin typeface="Arial"/>
                <a:ea typeface="Arial"/>
                <a:cs typeface="Arial"/>
              </a:rPr>
              <a:t>Fall</a:t>
            </a:r>
            <a:r>
              <a:rPr lang="en-US" sz="1800" b="0" dirty="0">
                <a:solidFill>
                  <a:srgbClr val="E5ECF4"/>
                </a:solidFill>
                <a:latin typeface="Arial"/>
                <a:ea typeface="Arial"/>
                <a:cs typeface="Arial"/>
              </a:rPr>
              <a:t>, 2026</a:t>
            </a:r>
            <a:endParaRPr sz="1800" b="0" dirty="0">
              <a:solidFill>
                <a:srgbClr val="E5ECF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8BEEEB-227D-4B7E-ADA1-C016D7B9FF79}"/>
              </a:ext>
            </a:extLst>
          </p:cNvPr>
          <p:cNvSpPr>
            <a:spLocks noGrp="1"/>
          </p:cNvSpPr>
          <p:nvPr/>
        </p:nvSpPr>
        <p:spPr>
          <a:xfrm>
            <a:off x="7067550" y="723900"/>
            <a:ext cx="4476750" cy="521970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58050" y="1722261"/>
            <a:ext cx="4095750" cy="322297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1844605-6EED-45B1-A99D-A9B625F82CFB}"/>
              </a:ext>
            </a:extLst>
          </p:cNvPr>
          <p:cNvSpPr>
            <a:spLocks noGrp="1"/>
          </p:cNvSpPr>
          <p:nvPr/>
        </p:nvSpPr>
        <p:spPr>
          <a:xfrm>
            <a:off x="7067550" y="5619750"/>
            <a:ext cx="4476750" cy="323850"/>
          </a:xfrm>
          <a:prstGeom prst="rect">
            <a:avLst/>
          </a:prstGeom>
          <a:solidFill>
            <a:srgbClr val="F58320"/>
          </a:solidFill>
          <a:ln w="9525">
            <a:solidFill>
              <a:srgbClr val="F5832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356326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05457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chemeClr val="accent1"/>
                </a:solidFill>
                <a:latin typeface="Aptos Display"/>
              </a:rPr>
              <a:t>Learning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O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115568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Explain how rainfall is summarized and transformed into </a:t>
            </a:r>
            <a:r>
              <a:rPr sz="2800" u="sng" dirty="0"/>
              <a:t>effective precipitation</a:t>
            </a:r>
            <a:r>
              <a:rPr sz="2800" dirty="0"/>
              <a:t>.</a:t>
            </a:r>
          </a:p>
          <a:p>
            <a:pPr marL="514350" indent="-514350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2D2D2D"/>
                </a:solidFill>
                <a:latin typeface="Aptos"/>
              </a:defRPr>
            </a:pPr>
            <a:r>
              <a:rPr lang="en-US" sz="2800" dirty="0"/>
              <a:t>Describe watershed boundaries, drainage networks, and key basin characteristics.</a:t>
            </a:r>
          </a:p>
          <a:p>
            <a:pPr marL="514350" indent="-514350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Understand the </a:t>
            </a:r>
            <a:r>
              <a:rPr lang="en-US" sz="2800" dirty="0"/>
              <a:t>water budget and </a:t>
            </a:r>
            <a:r>
              <a:rPr sz="2800" dirty="0"/>
              <a:t>basic rainfall–runoff relationship.</a:t>
            </a:r>
          </a:p>
          <a:p>
            <a:pPr marL="514350" indent="-514350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2D2D2D"/>
                </a:solidFill>
                <a:latin typeface="Aptos"/>
              </a:defRPr>
            </a:pPr>
            <a:r>
              <a:rPr lang="en-GB" sz="2800" dirty="0"/>
              <a:t>Explain</a:t>
            </a:r>
            <a:r>
              <a:rPr lang="en-US" sz="2800" dirty="0"/>
              <a:t> components of a hydrograph and </a:t>
            </a:r>
            <a:r>
              <a:rPr sz="2800" dirty="0"/>
              <a:t>how catchment</a:t>
            </a:r>
            <a:r>
              <a:rPr lang="en-US" sz="2800" dirty="0"/>
              <a:t> </a:t>
            </a:r>
            <a:r>
              <a:rPr sz="2800" dirty="0"/>
              <a:t>and storm characteristics influence runoff response.</a:t>
            </a:r>
          </a:p>
          <a:p>
            <a:pPr marL="514350" indent="-514350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Connect these concepts to rainfall–runoff modeling.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7447B9-7D8D-F4BD-0CFB-1582469CB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1. Rainfall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375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D7E6EB"/>
                </a:solidFill>
              </a:defRPr>
            </a:pPr>
            <a:r>
              <a:t>From measured rainfall to rainfall available for runoff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808AA-5F96-2A6A-8E33-E9FB6A1E8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86931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chemeClr val="accent1"/>
                </a:solidFill>
                <a:latin typeface="Aptos Display"/>
              </a:rPr>
              <a:t>Mean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R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ainfall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Mean annual rainfall: average annual rainfall over a long period; roughly 30–40 years of records.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Mean monthly rainfall: average rainfall for a given month over multiple years.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Comparing observed annual rainfall with the long-term mean helps identify years with rainfall deficit or surplus.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Use a sufficiently long and continuous record when characterizing climatological rainfall.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7C104B-0BF0-79E6-9BC9-A32A2883E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79131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chemeClr val="accent1"/>
                </a:solidFill>
                <a:latin typeface="Aptos Display"/>
              </a:rPr>
              <a:t>Rainfall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C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haracteristics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5745" y="1566949"/>
            <a:ext cx="1078992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Rainfall varies in time and space, so a single gauge may not represent an entire catchment.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Storm </a:t>
            </a:r>
            <a:r>
              <a:rPr sz="2800" b="1" dirty="0">
                <a:solidFill>
                  <a:schemeClr val="accent1"/>
                </a:solidFill>
              </a:rPr>
              <a:t>intensity</a:t>
            </a:r>
            <a:r>
              <a:rPr sz="2800" dirty="0"/>
              <a:t>, </a:t>
            </a:r>
            <a:r>
              <a:rPr sz="28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duration</a:t>
            </a:r>
            <a:r>
              <a:rPr lang="en-US" sz="2800" dirty="0"/>
              <a:t>,</a:t>
            </a:r>
            <a:r>
              <a:rPr sz="2800" dirty="0"/>
              <a:t> and </a:t>
            </a:r>
            <a:r>
              <a:rPr sz="2800" b="1" dirty="0">
                <a:solidFill>
                  <a:schemeClr val="accent5">
                    <a:lumMod val="75000"/>
                  </a:schemeClr>
                </a:solidFill>
              </a:rPr>
              <a:t>spatial distribution </a:t>
            </a:r>
            <a:r>
              <a:rPr sz="2800" dirty="0"/>
              <a:t>are especially important for runoff generation.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Rainfall analysis provides the input information for rainfall–runoff analysis.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100BD6-0F35-0BB5-A457-402BAD7F9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796846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chemeClr val="accent1"/>
                </a:solidFill>
                <a:latin typeface="Aptos Display"/>
              </a:rPr>
              <a:t>From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G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ross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R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ainfall to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E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ffective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R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ainfall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834640" cy="1371600"/>
          </a:xfrm>
          <a:prstGeom prst="roundRect">
            <a:avLst/>
          </a:prstGeom>
          <a:solidFill>
            <a:srgbClr val="EBF2F6"/>
          </a:solidFill>
          <a:ln>
            <a:solidFill>
              <a:srgbClr val="36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F374B"/>
                </a:solidFill>
              </a:defRPr>
            </a:pPr>
            <a:r>
              <a:t>Gross precipitation</a:t>
            </a:r>
          </a:p>
          <a:p>
            <a:pPr>
              <a:defRPr sz="1200">
                <a:solidFill>
                  <a:srgbClr val="2D2D2D"/>
                </a:solidFill>
              </a:defRPr>
            </a:pPr>
            <a:r>
              <a:t>Rain measured by gauge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60520" y="1828800"/>
            <a:ext cx="2834640" cy="1371600"/>
          </a:xfrm>
          <a:prstGeom prst="roundRect">
            <a:avLst/>
          </a:prstGeom>
          <a:solidFill>
            <a:srgbClr val="EBF2F6"/>
          </a:solidFill>
          <a:ln>
            <a:solidFill>
              <a:srgbClr val="36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F374B"/>
                </a:solidFill>
              </a:defRPr>
            </a:pPr>
            <a:r>
              <a:t>Interception &amp; infiltration</a:t>
            </a:r>
          </a:p>
          <a:p>
            <a:pPr>
              <a:defRPr sz="1200">
                <a:solidFill>
                  <a:srgbClr val="2D2D2D"/>
                </a:solidFill>
              </a:defRPr>
            </a:pPr>
            <a:r>
              <a:t>Losses / storage before runoff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828800"/>
            <a:ext cx="2834640" cy="1371600"/>
          </a:xfrm>
          <a:prstGeom prst="roundRect">
            <a:avLst/>
          </a:prstGeom>
          <a:solidFill>
            <a:srgbClr val="EBF2F6"/>
          </a:solidFill>
          <a:ln>
            <a:solidFill>
              <a:srgbClr val="36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F374B"/>
                </a:solidFill>
              </a:defRPr>
            </a:pPr>
            <a:r>
              <a:t>Effective rainfall</a:t>
            </a:r>
          </a:p>
          <a:p>
            <a:pPr>
              <a:defRPr sz="1200">
                <a:solidFill>
                  <a:srgbClr val="2D2D2D"/>
                </a:solidFill>
              </a:defRPr>
            </a:pPr>
            <a:r>
              <a:t>Portion contributing to streamflow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20440" y="2267712"/>
            <a:ext cx="502920" cy="457200"/>
          </a:xfrm>
          <a:prstGeom prst="rightArrow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ight Arrow 7"/>
          <p:cNvSpPr/>
          <p:nvPr/>
        </p:nvSpPr>
        <p:spPr>
          <a:xfrm>
            <a:off x="7040880" y="2267712"/>
            <a:ext cx="502920" cy="457200"/>
          </a:xfrm>
          <a:prstGeom prst="rightArrow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8036" y="3840480"/>
            <a:ext cx="10896600" cy="2231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9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</a:rPr>
              <a:t>Effective</a:t>
            </a:r>
            <a:r>
              <a:rPr sz="2800" b="1" dirty="0">
                <a:solidFill>
                  <a:schemeClr val="accent5">
                    <a:lumMod val="75000"/>
                  </a:schemeClr>
                </a:solidFill>
              </a:rPr>
              <a:t> precipitation = gross precipitation − loss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</a:rPr>
              <a:t>es</a:t>
            </a:r>
            <a:endParaRPr sz="2800" b="1" dirty="0"/>
          </a:p>
          <a:p>
            <a:pPr marL="285750" indent="-285750">
              <a:spcAft>
                <a:spcPts val="900"/>
              </a:spcAft>
              <a:buFont typeface="Arial" panose="020B0604020202020204" pitchFamily="34" charset="0"/>
              <a:buChar char="•"/>
              <a:defRPr sz="17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Effective rainfall is the portion of rainfall that produces a perceptible streamflow response.</a:t>
            </a:r>
          </a:p>
          <a:p>
            <a:pPr marL="285750" indent="-285750">
              <a:spcAft>
                <a:spcPts val="900"/>
              </a:spcAft>
              <a:buFont typeface="Arial" panose="020B0604020202020204" pitchFamily="34" charset="0"/>
              <a:buChar char="•"/>
              <a:defRPr sz="17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Not all rainfall becomes surface runoff; some infiltrates, is stored, or contributes to subsurface flow.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7DC18BF-D965-B9ED-8CE4-0FD455AB2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672318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chemeClr val="accent1"/>
                </a:solidFill>
                <a:latin typeface="Aptos Display"/>
              </a:rPr>
              <a:t>Infiltration and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R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unoff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G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eneration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2673" y="1573876"/>
            <a:ext cx="1078992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Dry soil may initially have </a:t>
            </a:r>
            <a:r>
              <a:rPr lang="en-US" sz="2800" dirty="0"/>
              <a:t>a </a:t>
            </a:r>
            <a:r>
              <a:rPr sz="2800" dirty="0"/>
              <a:t>high infiltration capacity.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If rainfall intensity/rate is below infiltration capacity, little or no overland flow occurs, although interflow may still develop.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With continuing rainfall, soil becomes wetter</a:t>
            </a:r>
            <a:r>
              <a:rPr lang="en-US" sz="2800" dirty="0"/>
              <a:t>,</a:t>
            </a:r>
            <a:r>
              <a:rPr sz="2800" dirty="0"/>
              <a:t> and infiltration capacity can decline.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When rainfall exceeds the capacity of the soil to absorb water, excess water contributes to runoff.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0095A-5052-B0D1-FAB8-7A1DF969E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2. Watershed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375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D7E6EB"/>
                </a:solidFill>
              </a:defRPr>
            </a:pPr>
            <a:r>
              <a:t>The watershed is the basic spatial unit for hydrologic analysis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EB67DC-20A5-F0BC-85D7-806633FFB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38139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chemeClr val="accent1"/>
                </a:solidFill>
                <a:latin typeface="Aptos Display"/>
              </a:rPr>
              <a:t>What is a watershed?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A watershed is the area that contributes flow to a specified point or outlet.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It is a basic hydrologic unit within which measurements, calculations</a:t>
            </a:r>
            <a:r>
              <a:rPr lang="en-US" sz="2800" dirty="0"/>
              <a:t>,</a:t>
            </a:r>
            <a:r>
              <a:rPr sz="2800" dirty="0"/>
              <a:t> and predictions are made.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Watersheds can be very small or can encompass major river basins such as the Indus Basin.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Boundaries are commonly defined by topographic divides or ridgelines.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C1130E-9874-D815-3163-EDFB422B7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767703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chemeClr val="accent1"/>
                </a:solidFill>
                <a:latin typeface="Aptos Display"/>
              </a:rPr>
              <a:t>Reading a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W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atershed from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T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opography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679079"/>
            <a:ext cx="5935287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Use contour lines and ridges to identify drainage divides.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Water flows downslope toward channels.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7E98B9-727D-6A0B-A18D-81FBC737F7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813"/>
          <a:stretch>
            <a:fillRect/>
          </a:stretch>
        </p:blipFill>
        <p:spPr>
          <a:xfrm>
            <a:off x="6080759" y="1212549"/>
            <a:ext cx="5970343" cy="492072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C98951-9923-86EA-B963-FA3C6F4D8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756553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chemeClr val="accent1"/>
                </a:solidFill>
                <a:latin typeface="Aptos Display"/>
              </a:rPr>
              <a:t>Watershed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D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elineation: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T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he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C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ore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Idea</a:t>
            </a:r>
            <a:endParaRPr sz="3600" b="1" dirty="0">
              <a:solidFill>
                <a:schemeClr val="accent1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Select the outlet or pour point.</a:t>
            </a:r>
          </a:p>
          <a:p>
            <a:pPr marL="514350" indent="-514350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Identify the surrounding topographic divide.</a:t>
            </a:r>
          </a:p>
          <a:p>
            <a:pPr marL="514350" indent="-514350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Trace the boundary so that all land inside drains toward the outlet.</a:t>
            </a:r>
          </a:p>
          <a:p>
            <a:pPr marL="514350" indent="-514350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The resulting polygon represents the contributing watershed.</a:t>
            </a:r>
          </a:p>
          <a:p>
            <a:pPr marL="514350" indent="-514350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GIS watershed delineation automates this logic using a DEM and flow-direction/flow-accumulation analysis.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C0CFCB-7DBA-9E49-20D4-4B64FF122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2900" b="1">
                <a:solidFill>
                  <a:srgbClr val="24445F"/>
                </a:solidFill>
                <a:latin typeface="Aptos"/>
              </a:defRPr>
            </a:pPr>
            <a:r>
              <a:rPr kumimoji="0" sz="2900" b="1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From DEM to 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</a:t>
            </a:r>
            <a:r>
              <a:rPr kumimoji="0" sz="2900" b="1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atershed 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</a:t>
            </a:r>
            <a:r>
              <a:rPr kumimoji="0" sz="2900" b="1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oundary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1005840" cy="5029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1900" b="0">
                <a:solidFill>
                  <a:srgbClr val="1766A3"/>
                </a:solidFill>
                <a:latin typeface="Aptos"/>
              </a:defRPr>
            </a:pPr>
            <a:r>
              <a:rPr kumimoji="0" sz="1900" b="0" i="0" u="none" strike="noStrike" kern="1200" cap="none" spc="0" normalizeH="0" baseline="0" noProof="0">
                <a:ln>
                  <a:noFill/>
                </a:ln>
                <a:solidFill>
                  <a:srgbClr val="1766A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 computer-generated boundary should be checked against the landscape.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4840" y="1794759"/>
            <a:ext cx="10881360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Check the DEM and correct important errors.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Identify flow direction and the stream network.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Set the outlet at the actual decision site.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Delineate the watershed and calculate its area.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Verify channels</a:t>
            </a:r>
            <a:r>
              <a:rPr kumimoji="0" 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and drainage paths in the field.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CA1FB5-0C4C-0778-23C3-6DAED5CB8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39" y="4644168"/>
            <a:ext cx="8550755" cy="16337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0BBA537-5B82-D1F4-8982-57870F09B7E6}"/>
              </a:ext>
            </a:extLst>
          </p:cNvPr>
          <p:cNvSpPr>
            <a:spLocks noGrp="1"/>
          </p:cNvSpPr>
          <p:nvPr/>
        </p:nvSpPr>
        <p:spPr>
          <a:xfrm>
            <a:off x="9053117" y="5623560"/>
            <a:ext cx="171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sz="1125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Correct in </a:t>
            </a:r>
            <a:r>
              <a:rPr kumimoji="0" lang="en-US" sz="1125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the </a:t>
            </a:r>
            <a:r>
              <a:rPr kumimoji="0" sz="1125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field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5F7911-B451-5796-7894-A5B378333BCB}"/>
              </a:ext>
            </a:extLst>
          </p:cNvPr>
          <p:cNvSpPr>
            <a:spLocks noGrp="1"/>
          </p:cNvSpPr>
          <p:nvPr/>
        </p:nvSpPr>
        <p:spPr>
          <a:xfrm>
            <a:off x="9267777" y="4762056"/>
            <a:ext cx="999893" cy="247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 lnSpcReduction="1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C8C9B1-97F1-519E-8712-AE004A7AB0E3}"/>
              </a:ext>
            </a:extLst>
          </p:cNvPr>
          <p:cNvSpPr>
            <a:spLocks noGrp="1"/>
          </p:cNvSpPr>
          <p:nvPr/>
        </p:nvSpPr>
        <p:spPr>
          <a:xfrm>
            <a:off x="11182350" y="36195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1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21</a:t>
            </a:r>
            <a:endParaRPr kumimoji="0" sz="1050" b="1" i="0" u="none" strike="noStrike" kern="1200" cap="none" spc="0" normalizeH="0" baseline="0" noProof="0" dirty="0">
              <a:ln>
                <a:noFill/>
              </a:ln>
              <a:solidFill>
                <a:srgbClr val="545454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07DB7-A7A2-429B-C890-F376371BA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432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E2929E0-3259-4334-82A1-58970F65CA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16AAB"/>
          </a:solidFill>
          <a:ln w="9525">
            <a:solidFill>
              <a:srgbClr val="116AA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92A63-F171-4A69-B0A4-73A8E0A3C5C4}"/>
              </a:ext>
            </a:extLst>
          </p:cNvPr>
          <p:cNvSpPr>
            <a:spLocks noGrp="1"/>
          </p:cNvSpPr>
          <p:nvPr/>
        </p:nvSpPr>
        <p:spPr>
          <a:xfrm>
            <a:off x="514350" y="1076325"/>
            <a:ext cx="895350" cy="47625"/>
          </a:xfrm>
          <a:prstGeom prst="rect">
            <a:avLst/>
          </a:prstGeom>
          <a:solidFill>
            <a:srgbClr val="F58320"/>
          </a:solidFill>
          <a:ln w="9525">
            <a:solidFill>
              <a:srgbClr val="F5832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B89638-AE38-46C1-9059-CD56798FC931}"/>
              </a:ext>
            </a:extLst>
          </p:cNvPr>
          <p:cNvSpPr>
            <a:spLocks noGrp="1"/>
          </p:cNvSpPr>
          <p:nvPr/>
        </p:nvSpPr>
        <p:spPr>
          <a:xfrm>
            <a:off x="514350" y="22860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75" b="1">
                <a:solidFill>
                  <a:srgbClr val="116AAB"/>
                </a:solidFill>
                <a:latin typeface="Arial"/>
                <a:ea typeface="Arial"/>
                <a:cs typeface="Arial"/>
              </a:defRPr>
            </a:pPr>
            <a:r>
              <a:rPr kumimoji="0" sz="975" b="1" i="0" u="none" strike="noStrike" kern="1200" cap="none" spc="0" normalizeH="0" baseline="0" noProof="0">
                <a:ln>
                  <a:noFill/>
                </a:ln>
                <a:solidFill>
                  <a:srgbClr val="116AAB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TERRAIN DATA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8B74E5-6B18-41DD-950E-8B7899ADFAED}"/>
              </a:ext>
            </a:extLst>
          </p:cNvPr>
          <p:cNvSpPr>
            <a:spLocks noGrp="1"/>
          </p:cNvSpPr>
          <p:nvPr/>
        </p:nvSpPr>
        <p:spPr>
          <a:xfrm>
            <a:off x="514350" y="495300"/>
            <a:ext cx="10572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25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sz="2625" b="1" i="0" u="none" strike="noStrike" kern="1200" cap="none" spc="0" normalizeH="0" baseline="0" noProof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What a DEM can—and cannot—tell you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11E72720-CFAB-4475-8561-594103BA750D}"/>
              </a:ext>
            </a:extLst>
          </p:cNvPr>
          <p:cNvSpPr>
            <a:spLocks noGrp="1"/>
          </p:cNvSpPr>
          <p:nvPr/>
        </p:nvSpPr>
        <p:spPr>
          <a:xfrm>
            <a:off x="514350" y="1143000"/>
            <a:ext cx="11163300" cy="953"/>
          </a:xfrm>
          <a:prstGeom prst="line">
            <a:avLst/>
          </a:prstGeom>
          <a:noFill/>
          <a:ln w="9525">
            <a:solidFill>
              <a:srgbClr val="D7DD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02A992D-DD91-41C9-A129-C52E39B1A0E3}"/>
              </a:ext>
            </a:extLst>
          </p:cNvPr>
          <p:cNvSpPr>
            <a:spLocks noGrp="1"/>
          </p:cNvSpPr>
          <p:nvPr/>
        </p:nvSpPr>
        <p:spPr>
          <a:xfrm>
            <a:off x="6858000" y="1428750"/>
            <a:ext cx="4762500" cy="447675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D7DD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92B9B1-88B6-44EB-8A61-414EF71BF1AB}"/>
              </a:ext>
            </a:extLst>
          </p:cNvPr>
          <p:cNvSpPr>
            <a:spLocks noGrp="1"/>
          </p:cNvSpPr>
          <p:nvPr/>
        </p:nvSpPr>
        <p:spPr>
          <a:xfrm>
            <a:off x="7162800" y="5942648"/>
            <a:ext cx="4152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1">
                <a:solidFill>
                  <a:srgbClr val="F58320"/>
                </a:solidFill>
                <a:latin typeface="Arial"/>
                <a:ea typeface="Arial"/>
                <a:cs typeface="Arial"/>
              </a:defRPr>
            </a:pP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F58320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FROM MAP TO FIELD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F281CD-CA2E-490F-B21D-9A542B1985DF}"/>
              </a:ext>
            </a:extLst>
          </p:cNvPr>
          <p:cNvSpPr>
            <a:spLocks noGrp="1"/>
          </p:cNvSpPr>
          <p:nvPr/>
        </p:nvSpPr>
        <p:spPr>
          <a:xfrm>
            <a:off x="552450" y="1485900"/>
            <a:ext cx="457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75" b="1">
                <a:solidFill>
                  <a:srgbClr val="F58320"/>
                </a:solidFill>
                <a:latin typeface="Arial"/>
                <a:ea typeface="Arial"/>
                <a:cs typeface="Arial"/>
              </a:defRPr>
            </a:pPr>
            <a:r>
              <a:rPr kumimoji="0" sz="1575" b="1" i="0" u="none" strike="noStrike" kern="1200" cap="none" spc="0" normalizeH="0" baseline="0" noProof="0">
                <a:ln>
                  <a:noFill/>
                </a:ln>
                <a:solidFill>
                  <a:srgbClr val="F58320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E1DC4A-99A5-4332-A39A-133875FFB746}"/>
              </a:ext>
            </a:extLst>
          </p:cNvPr>
          <p:cNvSpPr>
            <a:spLocks noGrp="1"/>
          </p:cNvSpPr>
          <p:nvPr/>
        </p:nvSpPr>
        <p:spPr>
          <a:xfrm>
            <a:off x="1123950" y="1428750"/>
            <a:ext cx="504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sz="1650" b="1" i="0" u="none" strike="noStrike" kern="1200" cap="none" spc="0" normalizeH="0" baseline="0" noProof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Reliable uses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94C473-0067-424C-BEF7-BC2C8523CCCB}"/>
              </a:ext>
            </a:extLst>
          </p:cNvPr>
          <p:cNvSpPr>
            <a:spLocks noGrp="1"/>
          </p:cNvSpPr>
          <p:nvPr/>
        </p:nvSpPr>
        <p:spPr>
          <a:xfrm>
            <a:off x="1123950" y="1781175"/>
            <a:ext cx="5143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Delineation, slope, flow direction, relative relief.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5C79D993-6C8D-4445-B34B-9C815CBE42EE}"/>
              </a:ext>
            </a:extLst>
          </p:cNvPr>
          <p:cNvSpPr>
            <a:spLocks noGrp="1"/>
          </p:cNvSpPr>
          <p:nvPr/>
        </p:nvSpPr>
        <p:spPr>
          <a:xfrm>
            <a:off x="1123950" y="2343150"/>
            <a:ext cx="5067300" cy="953"/>
          </a:xfrm>
          <a:prstGeom prst="line">
            <a:avLst/>
          </a:prstGeom>
          <a:noFill/>
          <a:ln w="9525">
            <a:solidFill>
              <a:srgbClr val="D7DD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95519B-ACBB-456A-8C7B-8D1CE2E8BE6B}"/>
              </a:ext>
            </a:extLst>
          </p:cNvPr>
          <p:cNvSpPr>
            <a:spLocks noGrp="1"/>
          </p:cNvSpPr>
          <p:nvPr/>
        </p:nvSpPr>
        <p:spPr>
          <a:xfrm>
            <a:off x="552450" y="2486025"/>
            <a:ext cx="457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75" b="1">
                <a:solidFill>
                  <a:srgbClr val="F58320"/>
                </a:solidFill>
                <a:latin typeface="Arial"/>
                <a:ea typeface="Arial"/>
                <a:cs typeface="Arial"/>
              </a:defRPr>
            </a:pPr>
            <a:r>
              <a:rPr kumimoji="0" sz="1575" b="1" i="0" u="none" strike="noStrike" kern="1200" cap="none" spc="0" normalizeH="0" baseline="0" noProof="0">
                <a:ln>
                  <a:noFill/>
                </a:ln>
                <a:solidFill>
                  <a:srgbClr val="F58320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2DFEC4-6437-4159-83D1-19BB2CC4D334}"/>
              </a:ext>
            </a:extLst>
          </p:cNvPr>
          <p:cNvSpPr>
            <a:spLocks noGrp="1"/>
          </p:cNvSpPr>
          <p:nvPr/>
        </p:nvSpPr>
        <p:spPr>
          <a:xfrm>
            <a:off x="1123950" y="2428875"/>
            <a:ext cx="504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sz="1650" b="1" i="0" u="none" strike="noStrike" kern="1200" cap="none" spc="0" normalizeH="0" baseline="0" noProof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Common errors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47D13D-62EE-4644-A2E5-B9FD53A22E7D}"/>
              </a:ext>
            </a:extLst>
          </p:cNvPr>
          <p:cNvSpPr>
            <a:spLocks noGrp="1"/>
          </p:cNvSpPr>
          <p:nvPr/>
        </p:nvSpPr>
        <p:spPr>
          <a:xfrm>
            <a:off x="1123950" y="2781300"/>
            <a:ext cx="5143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Road embankments, flat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areas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, sinks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,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 and poorly represented channels.</a:t>
            </a: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D0E6B4D8-9A3F-4D31-B6FA-9E38349F6BAE}"/>
              </a:ext>
            </a:extLst>
          </p:cNvPr>
          <p:cNvSpPr>
            <a:spLocks noGrp="1"/>
          </p:cNvSpPr>
          <p:nvPr/>
        </p:nvSpPr>
        <p:spPr>
          <a:xfrm>
            <a:off x="1123950" y="3343275"/>
            <a:ext cx="5067300" cy="953"/>
          </a:xfrm>
          <a:prstGeom prst="line">
            <a:avLst/>
          </a:prstGeom>
          <a:noFill/>
          <a:ln w="9525">
            <a:solidFill>
              <a:srgbClr val="D7DD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1F1697-F403-4192-AEFB-C8423365EC7A}"/>
              </a:ext>
            </a:extLst>
          </p:cNvPr>
          <p:cNvSpPr>
            <a:spLocks noGrp="1"/>
          </p:cNvSpPr>
          <p:nvPr/>
        </p:nvSpPr>
        <p:spPr>
          <a:xfrm>
            <a:off x="552450" y="3486150"/>
            <a:ext cx="457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75" b="1">
                <a:solidFill>
                  <a:srgbClr val="F58320"/>
                </a:solidFill>
                <a:latin typeface="Arial"/>
                <a:ea typeface="Arial"/>
                <a:cs typeface="Arial"/>
              </a:defRPr>
            </a:pPr>
            <a:r>
              <a:rPr kumimoji="0" sz="1575" b="1" i="0" u="none" strike="noStrike" kern="1200" cap="none" spc="0" normalizeH="0" baseline="0" noProof="0">
                <a:ln>
                  <a:noFill/>
                </a:ln>
                <a:solidFill>
                  <a:srgbClr val="F58320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DEB007-392D-420B-A20B-9281CA1B2010}"/>
              </a:ext>
            </a:extLst>
          </p:cNvPr>
          <p:cNvSpPr>
            <a:spLocks noGrp="1"/>
          </p:cNvSpPr>
          <p:nvPr/>
        </p:nvSpPr>
        <p:spPr>
          <a:xfrm>
            <a:off x="1123950" y="3429000"/>
            <a:ext cx="504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sz="1650" b="1" i="0" u="none" strike="noStrike" kern="1200" cap="none" spc="0" normalizeH="0" baseline="0" noProof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Field checks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5E6B512-D004-43A1-9ECC-75AD96CD2CD6}"/>
              </a:ext>
            </a:extLst>
          </p:cNvPr>
          <p:cNvSpPr>
            <a:spLocks noGrp="1"/>
          </p:cNvSpPr>
          <p:nvPr/>
        </p:nvSpPr>
        <p:spPr>
          <a:xfrm>
            <a:off x="1123950" y="3781425"/>
            <a:ext cx="5143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Outlet position, channel continuity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,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 and cross-drainage.</a:t>
            </a: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5203B747-C89C-4472-AADE-7D29815554E6}"/>
              </a:ext>
            </a:extLst>
          </p:cNvPr>
          <p:cNvSpPr>
            <a:spLocks noGrp="1"/>
          </p:cNvSpPr>
          <p:nvPr/>
        </p:nvSpPr>
        <p:spPr>
          <a:xfrm>
            <a:off x="1123950" y="4343400"/>
            <a:ext cx="5067300" cy="953"/>
          </a:xfrm>
          <a:prstGeom prst="line">
            <a:avLst/>
          </a:prstGeom>
          <a:noFill/>
          <a:ln w="9525">
            <a:solidFill>
              <a:srgbClr val="D7DD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37768F-B04B-4A51-9CF4-66E915854056}"/>
              </a:ext>
            </a:extLst>
          </p:cNvPr>
          <p:cNvSpPr>
            <a:spLocks noGrp="1"/>
          </p:cNvSpPr>
          <p:nvPr/>
        </p:nvSpPr>
        <p:spPr>
          <a:xfrm>
            <a:off x="552450" y="4486275"/>
            <a:ext cx="457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75" b="1">
                <a:solidFill>
                  <a:srgbClr val="F58320"/>
                </a:solidFill>
                <a:latin typeface="Arial"/>
                <a:ea typeface="Arial"/>
                <a:cs typeface="Arial"/>
              </a:defRPr>
            </a:pPr>
            <a:r>
              <a:rPr kumimoji="0" sz="1575" b="1" i="0" u="none" strike="noStrike" kern="1200" cap="none" spc="0" normalizeH="0" baseline="0" noProof="0">
                <a:ln>
                  <a:noFill/>
                </a:ln>
                <a:solidFill>
                  <a:srgbClr val="F58320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5C86F47-97F5-4F19-B6D2-DA680975CA3A}"/>
              </a:ext>
            </a:extLst>
          </p:cNvPr>
          <p:cNvSpPr>
            <a:spLocks noGrp="1"/>
          </p:cNvSpPr>
          <p:nvPr/>
        </p:nvSpPr>
        <p:spPr>
          <a:xfrm>
            <a:off x="1123950" y="4429125"/>
            <a:ext cx="504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sz="1650" b="1" i="0" u="none" strike="noStrike" kern="1200" cap="none" spc="0" normalizeH="0" baseline="0" noProof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Available sources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720B1C-66E9-4C0A-85DB-A656BB6B92F9}"/>
              </a:ext>
            </a:extLst>
          </p:cNvPr>
          <p:cNvSpPr>
            <a:spLocks noGrp="1"/>
          </p:cNvSpPr>
          <p:nvPr/>
        </p:nvSpPr>
        <p:spPr>
          <a:xfrm>
            <a:off x="1123950" y="4781550"/>
            <a:ext cx="5143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SRTM and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other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 DEM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s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; document resolution and date.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0F24815-2C14-4525-AC92-C7359ECFA33B}"/>
              </a:ext>
            </a:extLst>
          </p:cNvPr>
          <p:cNvSpPr>
            <a:spLocks noGrp="1"/>
          </p:cNvSpPr>
          <p:nvPr/>
        </p:nvSpPr>
        <p:spPr>
          <a:xfrm>
            <a:off x="7905750" y="6496050"/>
            <a:ext cx="3771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Rainfall–Runoff Processes in Dryland Watersheds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626A3B2-B00C-C96E-7DCF-A8CF87F96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301" y="1485900"/>
            <a:ext cx="4513898" cy="451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3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369921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chemeClr val="accent1"/>
                </a:solidFill>
                <a:latin typeface="Aptos Display"/>
              </a:rPr>
              <a:t>Drainage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N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A drainage network is the set of cells or channels through which surface water flows.</a:t>
            </a:r>
          </a:p>
          <a:p>
            <a:pPr marL="457200" indent="-457200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Flow accumulation identifies locations receiving flow from many upstream cells.</a:t>
            </a:r>
          </a:p>
          <a:p>
            <a:pPr marL="457200" indent="-457200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A stream can be defined by applying a contributing-area threshold.</a:t>
            </a:r>
          </a:p>
          <a:p>
            <a:pPr marL="457200" indent="-457200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The threshold should reflect the scale and purpose of the analysis; </a:t>
            </a:r>
            <a:r>
              <a:rPr sz="2800" u="sng" dirty="0"/>
              <a:t>it is not a universal value</a:t>
            </a:r>
            <a:r>
              <a:rPr sz="2800" dirty="0"/>
              <a:t>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70EF8C-7C1B-07B5-DB79-830D56B17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518533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chemeClr val="accent1"/>
                </a:solidFill>
                <a:latin typeface="Aptos Display"/>
              </a:rPr>
              <a:t>Key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B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asin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C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haracteristics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Drainage area — area contributing flow to a common outlet.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Drainage divide — boundary separating watersheds draining to different outlets.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Drainage density — total stream length per unit basin area.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Stream frequency — number of channels per unit area.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Stream gradient — elevation drop per unit channel length.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Basin relief — highest elevation minus lowest elevation.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Time of concentration — travel time from the hydraulically most distant point to the outlet.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A44691-8AA9-1240-5724-56EB0D044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0593734" cy="86177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dirty="0">
                <a:solidFill>
                  <a:srgbClr val="1F374B"/>
                </a:solidFill>
                <a:latin typeface="Aptos Display"/>
              </a:rPr>
              <a:t>Stream order — Strahler system</a:t>
            </a:r>
            <a:r>
              <a:rPr lang="en-US" sz="2500" b="1" dirty="0">
                <a:solidFill>
                  <a:srgbClr val="1F374B"/>
                </a:solidFill>
                <a:latin typeface="Aptos Display"/>
              </a:rPr>
              <a:t> - 1st through 12th Order by Strahler's (1952)</a:t>
            </a:r>
          </a:p>
          <a:p>
            <a:endParaRPr sz="2500" b="1" dirty="0">
              <a:solidFill>
                <a:srgbClr val="1F374B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51411" y="1296785"/>
            <a:ext cx="74676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Stream ordering is a quantitative </a:t>
            </a:r>
            <a:r>
              <a:rPr lang="en-US" sz="2400" dirty="0"/>
              <a:t>method for describing</a:t>
            </a:r>
            <a:r>
              <a:rPr sz="2400" dirty="0"/>
              <a:t> the hierarchy of a drainage network.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First-order streams are headwater channels with no upstream tributaries of the same order.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When two streams of the same order join, the downstream segment increases by one order.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When different orders join, the downstream segment retains the higher order.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Strahler's system is widely used for drainage-network analysis</a:t>
            </a:r>
            <a:r>
              <a:rPr sz="2000" dirty="0"/>
              <a:t>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79DF17D-BC60-9541-72C1-064234E84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8465" y="1424269"/>
            <a:ext cx="3813379" cy="458333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C0043-E14A-750B-E5E7-E0CF2A772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3. Water Budget &amp; Rainfall–Runoff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375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D7E6EB"/>
                </a:solidFill>
              </a:defRPr>
            </a:pPr>
            <a:r>
              <a:t>Tracking inflows, outflows and storage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F657E-313E-5B18-22E3-2B3450528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8FF2DDE2-224C-4507-B817-A8F0A575F9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16AAB"/>
          </a:solidFill>
          <a:ln w="9525">
            <a:solidFill>
              <a:srgbClr val="116AA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AD74A3-DEC8-43A0-BE73-7FF462706F17}"/>
              </a:ext>
            </a:extLst>
          </p:cNvPr>
          <p:cNvSpPr>
            <a:spLocks noGrp="1"/>
          </p:cNvSpPr>
          <p:nvPr/>
        </p:nvSpPr>
        <p:spPr>
          <a:xfrm>
            <a:off x="514350" y="1076325"/>
            <a:ext cx="895350" cy="47625"/>
          </a:xfrm>
          <a:prstGeom prst="rect">
            <a:avLst/>
          </a:prstGeom>
          <a:solidFill>
            <a:srgbClr val="F58320"/>
          </a:solidFill>
          <a:ln w="9525">
            <a:solidFill>
              <a:srgbClr val="F5832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6E5614-B357-4E7A-9FC7-2165A207B96A}"/>
              </a:ext>
            </a:extLst>
          </p:cNvPr>
          <p:cNvSpPr>
            <a:spLocks noGrp="1"/>
          </p:cNvSpPr>
          <p:nvPr/>
        </p:nvSpPr>
        <p:spPr>
          <a:xfrm>
            <a:off x="514350" y="495300"/>
            <a:ext cx="10572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25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lang="en-US" sz="2625" b="1" i="0" u="none" strike="noStrike" kern="1200" cap="none" spc="0" normalizeH="0" baseline="0" noProof="0" dirty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How Water Moves Through a Watershed?</a:t>
            </a:r>
            <a:endParaRPr kumimoji="0" sz="2625" b="1" i="0" u="none" strike="noStrike" kern="1200" cap="none" spc="0" normalizeH="0" baseline="0" noProof="0" dirty="0">
              <a:ln>
                <a:noFill/>
              </a:ln>
              <a:solidFill>
                <a:srgbClr val="1C4767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FEF8F4EC-BC6B-440D-BABF-6C415E48C0A3}"/>
              </a:ext>
            </a:extLst>
          </p:cNvPr>
          <p:cNvSpPr>
            <a:spLocks noGrp="1"/>
          </p:cNvSpPr>
          <p:nvPr/>
        </p:nvSpPr>
        <p:spPr>
          <a:xfrm>
            <a:off x="514350" y="1143000"/>
            <a:ext cx="11163300" cy="953"/>
          </a:xfrm>
          <a:prstGeom prst="line">
            <a:avLst/>
          </a:prstGeom>
          <a:noFill/>
          <a:ln w="9525">
            <a:solidFill>
              <a:srgbClr val="D7DD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D88F395-32A0-4B6F-9F2D-F37A23BE7C92}"/>
              </a:ext>
            </a:extLst>
          </p:cNvPr>
          <p:cNvSpPr>
            <a:spLocks noGrp="1"/>
          </p:cNvSpPr>
          <p:nvPr/>
        </p:nvSpPr>
        <p:spPr>
          <a:xfrm>
            <a:off x="6858000" y="1428750"/>
            <a:ext cx="4762500" cy="447675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D7DD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pic>
        <p:nvPicPr>
          <p:cNvPr id="34" name="Picture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048500" y="1847956"/>
            <a:ext cx="4381500" cy="34478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53AE7FB-5236-46BC-B18D-6A9A04B96EA0}"/>
              </a:ext>
            </a:extLst>
          </p:cNvPr>
          <p:cNvSpPr>
            <a:spLocks noGrp="1"/>
          </p:cNvSpPr>
          <p:nvPr/>
        </p:nvSpPr>
        <p:spPr>
          <a:xfrm>
            <a:off x="7162800" y="5581650"/>
            <a:ext cx="4152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1">
                <a:solidFill>
                  <a:srgbClr val="F58320"/>
                </a:solidFill>
                <a:latin typeface="Arial"/>
                <a:ea typeface="Arial"/>
                <a:cs typeface="Arial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58320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FROM MAP TO FIELD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918FA7-5EDA-4AA3-90A1-2AD4DD44993C}"/>
              </a:ext>
            </a:extLst>
          </p:cNvPr>
          <p:cNvSpPr>
            <a:spLocks noGrp="1"/>
          </p:cNvSpPr>
          <p:nvPr/>
        </p:nvSpPr>
        <p:spPr>
          <a:xfrm>
            <a:off x="552450" y="1485900"/>
            <a:ext cx="457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75" b="1">
                <a:solidFill>
                  <a:srgbClr val="F58320"/>
                </a:solidFill>
                <a:latin typeface="Arial"/>
                <a:ea typeface="Arial"/>
                <a:cs typeface="Arial"/>
              </a:defRPr>
            </a:pPr>
            <a:r>
              <a:rPr kumimoji="0" sz="1575" b="1" i="0" u="none" strike="noStrike" kern="1200" cap="none" spc="0" normalizeH="0" baseline="0" noProof="0">
                <a:ln>
                  <a:noFill/>
                </a:ln>
                <a:solidFill>
                  <a:srgbClr val="F58320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2879B2-91CB-41D7-9A32-0D9134424134}"/>
              </a:ext>
            </a:extLst>
          </p:cNvPr>
          <p:cNvSpPr>
            <a:spLocks noGrp="1"/>
          </p:cNvSpPr>
          <p:nvPr/>
        </p:nvSpPr>
        <p:spPr>
          <a:xfrm>
            <a:off x="1123950" y="1428750"/>
            <a:ext cx="504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sz="1650" b="1" i="0" u="none" strike="noStrike" kern="1200" cap="none" spc="0" normalizeH="0" baseline="0" noProof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Headwaters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7F3387-3948-453C-AF37-3B2A5A34653C}"/>
              </a:ext>
            </a:extLst>
          </p:cNvPr>
          <p:cNvSpPr>
            <a:spLocks noGrp="1"/>
          </p:cNvSpPr>
          <p:nvPr/>
        </p:nvSpPr>
        <p:spPr>
          <a:xfrm>
            <a:off x="1123950" y="1781174"/>
            <a:ext cx="5453424" cy="63817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Rainfall and snowmelt in the upper areas begin to flow downhill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C0326935-2B95-4752-8187-BEFA7E084208}"/>
              </a:ext>
            </a:extLst>
          </p:cNvPr>
          <p:cNvSpPr>
            <a:spLocks noGrp="1"/>
          </p:cNvSpPr>
          <p:nvPr/>
        </p:nvSpPr>
        <p:spPr>
          <a:xfrm>
            <a:off x="1123950" y="2343150"/>
            <a:ext cx="5067300" cy="953"/>
          </a:xfrm>
          <a:prstGeom prst="line">
            <a:avLst/>
          </a:prstGeom>
          <a:noFill/>
          <a:ln w="9525">
            <a:solidFill>
              <a:srgbClr val="D7DD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8C3EE3-6D6A-4B0C-BAEF-66D61B177BD0}"/>
              </a:ext>
            </a:extLst>
          </p:cNvPr>
          <p:cNvSpPr>
            <a:spLocks noGrp="1"/>
          </p:cNvSpPr>
          <p:nvPr/>
        </p:nvSpPr>
        <p:spPr>
          <a:xfrm>
            <a:off x="552450" y="2486025"/>
            <a:ext cx="457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75" b="1">
                <a:solidFill>
                  <a:srgbClr val="F58320"/>
                </a:solidFill>
                <a:latin typeface="Arial"/>
                <a:ea typeface="Arial"/>
                <a:cs typeface="Arial"/>
              </a:defRPr>
            </a:pPr>
            <a:r>
              <a:rPr kumimoji="0" sz="1575" b="1" i="0" u="none" strike="noStrike" kern="1200" cap="none" spc="0" normalizeH="0" baseline="0" noProof="0">
                <a:ln>
                  <a:noFill/>
                </a:ln>
                <a:solidFill>
                  <a:srgbClr val="F58320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6DF8F1-E913-493B-A877-4FB6CD381786}"/>
              </a:ext>
            </a:extLst>
          </p:cNvPr>
          <p:cNvSpPr>
            <a:spLocks noGrp="1"/>
          </p:cNvSpPr>
          <p:nvPr/>
        </p:nvSpPr>
        <p:spPr>
          <a:xfrm>
            <a:off x="1123950" y="2428875"/>
            <a:ext cx="504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lang="en-US" sz="1650" b="1" i="0" u="none" strike="noStrike" kern="1200" cap="none" spc="0" normalizeH="0" baseline="0" noProof="0" dirty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Tributaries</a:t>
            </a:r>
            <a:endParaRPr kumimoji="0" sz="1650" b="1" i="0" u="none" strike="noStrike" kern="1200" cap="none" spc="0" normalizeH="0" baseline="0" noProof="0" dirty="0">
              <a:ln>
                <a:noFill/>
              </a:ln>
              <a:solidFill>
                <a:srgbClr val="1C4767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47A28B-974C-4431-9902-EFE423829D7A}"/>
              </a:ext>
            </a:extLst>
          </p:cNvPr>
          <p:cNvSpPr>
            <a:spLocks noGrp="1"/>
          </p:cNvSpPr>
          <p:nvPr/>
        </p:nvSpPr>
        <p:spPr>
          <a:xfrm>
            <a:off x="1123950" y="2781299"/>
            <a:ext cx="51435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cs typeface="Arial"/>
              </a:rPr>
              <a:t>Small streams collect water from different parts of the watershed and join larger streams.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545454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AC24CF1A-51D4-4700-91D0-7EB6539B21AA}"/>
              </a:ext>
            </a:extLst>
          </p:cNvPr>
          <p:cNvSpPr>
            <a:spLocks noGrp="1"/>
          </p:cNvSpPr>
          <p:nvPr/>
        </p:nvSpPr>
        <p:spPr>
          <a:xfrm>
            <a:off x="1076325" y="3570922"/>
            <a:ext cx="5067300" cy="953"/>
          </a:xfrm>
          <a:prstGeom prst="line">
            <a:avLst/>
          </a:prstGeom>
          <a:noFill/>
          <a:ln w="9525">
            <a:solidFill>
              <a:srgbClr val="D7DD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B411D29-B19E-49E8-AF5C-B976DA4A0047}"/>
              </a:ext>
            </a:extLst>
          </p:cNvPr>
          <p:cNvSpPr>
            <a:spLocks noGrp="1"/>
          </p:cNvSpPr>
          <p:nvPr/>
        </p:nvSpPr>
        <p:spPr>
          <a:xfrm>
            <a:off x="561975" y="3648075"/>
            <a:ext cx="457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75" b="1">
                <a:solidFill>
                  <a:srgbClr val="F58320"/>
                </a:solidFill>
                <a:latin typeface="Arial"/>
                <a:ea typeface="Arial"/>
                <a:cs typeface="Arial"/>
              </a:defRPr>
            </a:pPr>
            <a:r>
              <a:rPr kumimoji="0" sz="1575" b="1" i="0" u="none" strike="noStrike" kern="1200" cap="none" spc="0" normalizeH="0" baseline="0" noProof="0" dirty="0">
                <a:ln>
                  <a:noFill/>
                </a:ln>
                <a:solidFill>
                  <a:srgbClr val="F58320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DB753BF-8285-4999-831E-3CFB9DED6A81}"/>
              </a:ext>
            </a:extLst>
          </p:cNvPr>
          <p:cNvSpPr>
            <a:spLocks noGrp="1"/>
          </p:cNvSpPr>
          <p:nvPr/>
        </p:nvSpPr>
        <p:spPr>
          <a:xfrm>
            <a:off x="1123950" y="3606280"/>
            <a:ext cx="504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sz="1650" b="1" i="0" u="none" strike="noStrike" kern="1200" cap="none" spc="0" normalizeH="0" baseline="0" noProof="0" dirty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Main </a:t>
            </a:r>
            <a:r>
              <a:rPr kumimoji="0" lang="en-US" sz="1650" b="1" i="0" u="none" strike="noStrike" kern="1200" cap="none" spc="0" normalizeH="0" baseline="0" noProof="0" dirty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Channels</a:t>
            </a:r>
            <a:endParaRPr kumimoji="0" sz="1650" b="1" i="0" u="none" strike="noStrike" kern="1200" cap="none" spc="0" normalizeH="0" baseline="0" noProof="0" dirty="0">
              <a:ln>
                <a:noFill/>
              </a:ln>
              <a:solidFill>
                <a:srgbClr val="1C4767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AC3D20-B03C-4F5B-BDC7-EE1FF01B5070}"/>
              </a:ext>
            </a:extLst>
          </p:cNvPr>
          <p:cNvSpPr>
            <a:spLocks noGrp="1"/>
          </p:cNvSpPr>
          <p:nvPr/>
        </p:nvSpPr>
        <p:spPr>
          <a:xfrm>
            <a:off x="1123950" y="3995147"/>
            <a:ext cx="5143500" cy="64674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lang="en-PK" sz="14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cs typeface="Arial"/>
              </a:rPr>
              <a:t>Water flows through the main river or stream, carrying water and sediment downstream.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545454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76B7A6CB-A880-49DE-B951-21F3A4E55642}"/>
              </a:ext>
            </a:extLst>
          </p:cNvPr>
          <p:cNvSpPr>
            <a:spLocks noGrp="1"/>
          </p:cNvSpPr>
          <p:nvPr/>
        </p:nvSpPr>
        <p:spPr>
          <a:xfrm>
            <a:off x="1123950" y="4723447"/>
            <a:ext cx="5067300" cy="953"/>
          </a:xfrm>
          <a:prstGeom prst="line">
            <a:avLst/>
          </a:prstGeom>
          <a:noFill/>
          <a:ln w="9525">
            <a:solidFill>
              <a:srgbClr val="D7DD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993A0C2-C90A-43BD-A135-47FCB37C69C7}"/>
              </a:ext>
            </a:extLst>
          </p:cNvPr>
          <p:cNvSpPr>
            <a:spLocks noGrp="1"/>
          </p:cNvSpPr>
          <p:nvPr/>
        </p:nvSpPr>
        <p:spPr>
          <a:xfrm>
            <a:off x="533400" y="4870000"/>
            <a:ext cx="457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75" b="1">
                <a:solidFill>
                  <a:srgbClr val="F58320"/>
                </a:solidFill>
                <a:latin typeface="Arial"/>
                <a:ea typeface="Arial"/>
                <a:cs typeface="Arial"/>
              </a:defRPr>
            </a:pPr>
            <a:r>
              <a:rPr kumimoji="0" sz="1575" b="1" i="0" u="none" strike="noStrike" kern="1200" cap="none" spc="0" normalizeH="0" baseline="0" noProof="0" dirty="0">
                <a:ln>
                  <a:noFill/>
                </a:ln>
                <a:solidFill>
                  <a:srgbClr val="F58320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87B8549-6E90-478A-A216-3582D11B97E1}"/>
              </a:ext>
            </a:extLst>
          </p:cNvPr>
          <p:cNvSpPr>
            <a:spLocks noGrp="1"/>
          </p:cNvSpPr>
          <p:nvPr/>
        </p:nvSpPr>
        <p:spPr>
          <a:xfrm>
            <a:off x="1123950" y="4840111"/>
            <a:ext cx="504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lang="en-US" sz="1650" b="1" i="0" u="none" strike="noStrike" kern="1200" cap="none" spc="0" normalizeH="0" baseline="0" noProof="0" dirty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Outlet</a:t>
            </a:r>
            <a:endParaRPr kumimoji="0" sz="1650" b="1" i="0" u="none" strike="noStrike" kern="1200" cap="none" spc="0" normalizeH="0" baseline="0" noProof="0" dirty="0">
              <a:ln>
                <a:noFill/>
              </a:ln>
              <a:solidFill>
                <a:srgbClr val="1C4767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6A5543A-18D7-4755-9F1D-D0A72F7FF630}"/>
              </a:ext>
            </a:extLst>
          </p:cNvPr>
          <p:cNvSpPr>
            <a:spLocks noGrp="1"/>
          </p:cNvSpPr>
          <p:nvPr/>
        </p:nvSpPr>
        <p:spPr>
          <a:xfrm>
            <a:off x="1123950" y="5212900"/>
            <a:ext cx="5143500" cy="69184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lang="en-PK" sz="1400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cs typeface="Arial"/>
              </a:rPr>
              <a:t>Water leaves the watershed through a common outlet, such as a river, lake, reservoir, or sea.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545454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2144374-A1BC-4FA3-917B-89418888335C}"/>
              </a:ext>
            </a:extLst>
          </p:cNvPr>
          <p:cNvSpPr>
            <a:spLocks noGrp="1"/>
          </p:cNvSpPr>
          <p:nvPr/>
        </p:nvSpPr>
        <p:spPr>
          <a:xfrm>
            <a:off x="514350" y="649605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FAO-organized training | Balochistan Irrigation Department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10A6E54-FA8E-4667-AF05-044DB078079A}"/>
              </a:ext>
            </a:extLst>
          </p:cNvPr>
          <p:cNvSpPr>
            <a:spLocks noGrp="1"/>
          </p:cNvSpPr>
          <p:nvPr/>
        </p:nvSpPr>
        <p:spPr>
          <a:xfrm>
            <a:off x="7905750" y="6496050"/>
            <a:ext cx="3771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Rainfall–Runoff Processes in Dryland Watersheds</a:t>
            </a:r>
          </a:p>
        </p:txBody>
      </p:sp>
    </p:spTree>
    <p:extLst>
      <p:ext uri="{BB962C8B-B14F-4D97-AF65-F5344CB8AC3E}">
        <p14:creationId xmlns:p14="http://schemas.microsoft.com/office/powerpoint/2010/main" val="18194201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20063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chemeClr val="accent1"/>
                </a:solidFill>
                <a:latin typeface="Aptos Display"/>
              </a:rPr>
              <a:t>Basin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W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ater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B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alance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Inflows: precipitation, surface-water inflow, groundwater inflow</a:t>
            </a:r>
            <a:r>
              <a:rPr lang="en-US" sz="2400" dirty="0"/>
              <a:t>,</a:t>
            </a:r>
            <a:r>
              <a:rPr sz="2400" dirty="0"/>
              <a:t> and artificial imports.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Outflows: evaporation, runoff, groundwater outflow</a:t>
            </a:r>
            <a:r>
              <a:rPr lang="en-US" sz="2400" dirty="0"/>
              <a:t>,</a:t>
            </a:r>
            <a:r>
              <a:rPr sz="2400" dirty="0"/>
              <a:t> and artificial withdrawals.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Storage: surface water, soil moisture, groundwater, snow/ice</a:t>
            </a:r>
            <a:r>
              <a:rPr lang="en-US" sz="2400" dirty="0"/>
              <a:t>,</a:t>
            </a:r>
            <a:r>
              <a:rPr sz="2400" dirty="0"/>
              <a:t> and temporary/intercepted storage.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Hydrologic mass balance: Inflow = Outflow ± change in storage.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5202382"/>
            <a:ext cx="83210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 b="1">
                <a:solidFill>
                  <a:srgbClr val="1F374B"/>
                </a:solidFill>
              </a:defRPr>
            </a:pPr>
            <a:r>
              <a:rPr dirty="0"/>
              <a:t>Σ Inflows − Σ Outflows = Δ Storage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CC6CC4-61AD-75E4-BFA3-D55ACFDF4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5257786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chemeClr val="accent1"/>
                </a:solidFill>
                <a:latin typeface="Aptos Display"/>
              </a:rPr>
              <a:t>Rainfall–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R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unoff </a:t>
            </a:r>
            <a:r>
              <a:rPr lang="en-US" sz="3600" b="1" dirty="0">
                <a:solidFill>
                  <a:schemeClr val="accent1"/>
                </a:solidFill>
                <a:latin typeface="Aptos Display"/>
              </a:rPr>
              <a:t>R</a:t>
            </a:r>
            <a:r>
              <a:rPr sz="3600" b="1" dirty="0">
                <a:solidFill>
                  <a:schemeClr val="accent1"/>
                </a:solidFill>
                <a:latin typeface="Aptos Display"/>
              </a:rPr>
              <a:t>esponse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345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9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A catchment can be treated as a system that transforms rainfall input into streamflow output.</a:t>
            </a:r>
          </a:p>
          <a:p>
            <a:pPr marL="457200" indent="-457200">
              <a:spcAft>
                <a:spcPts val="9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Inputs include rainfall amount, intensity, duration</a:t>
            </a:r>
            <a:r>
              <a:rPr lang="en-US" sz="2800" dirty="0"/>
              <a:t>,</a:t>
            </a:r>
            <a:r>
              <a:rPr sz="2800" dirty="0"/>
              <a:t> and spatial distribution.</a:t>
            </a:r>
          </a:p>
          <a:p>
            <a:pPr marL="457200" indent="-457200">
              <a:spcAft>
                <a:spcPts val="9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/>
              <a:t>The catchment controls the transformation through soils, land cover, slope, drainage</a:t>
            </a:r>
            <a:r>
              <a:rPr lang="en-US" sz="2800" dirty="0"/>
              <a:t>,</a:t>
            </a:r>
            <a:r>
              <a:rPr sz="2800" dirty="0"/>
              <a:t> and storage.</a:t>
            </a:r>
          </a:p>
          <a:p>
            <a:pPr marL="457200" indent="-457200">
              <a:spcAft>
                <a:spcPts val="900"/>
              </a:spcAft>
              <a:buFont typeface="Arial" panose="020B0604020202020204" pitchFamily="34" charset="0"/>
              <a:buChar char="•"/>
              <a:defRPr sz="1900">
                <a:solidFill>
                  <a:srgbClr val="2D2D2D"/>
                </a:solidFill>
                <a:latin typeface="Aptos"/>
              </a:defRPr>
            </a:pPr>
            <a:r>
              <a:rPr sz="2800" dirty="0">
                <a:solidFill>
                  <a:schemeClr val="accent5"/>
                </a:solidFill>
              </a:rPr>
              <a:t>The observed output is discharge at the catchment outlet</a:t>
            </a:r>
            <a:r>
              <a:rPr sz="2800" dirty="0"/>
              <a:t>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5B635A-9F6D-F455-C40D-D72C995A7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4. Hydrograph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37560"/>
            <a:ext cx="3839641" cy="3847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D7E6EB"/>
                </a:solidFill>
              </a:defRPr>
            </a:pPr>
            <a:r>
              <a:rPr lang="en-US" dirty="0"/>
              <a:t>From observed rainfall to streamflow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4CF521-2D77-2CA4-5D21-B09B591E5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46375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chemeClr val="accent1"/>
                </a:solidFill>
                <a:latin typeface="Aptos Display"/>
              </a:rPr>
              <a:t>Hydrograph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0" y="1325880"/>
            <a:ext cx="5577840" cy="4206240"/>
          </a:xfrm>
          <a:prstGeom prst="rect">
            <a:avLst/>
          </a:prstGeom>
          <a:solidFill>
            <a:srgbClr val="F9F9F9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6080760" y="4892040"/>
            <a:ext cx="4754880" cy="0"/>
          </a:xfrm>
          <a:prstGeom prst="line">
            <a:avLst/>
          </a:prstGeom>
          <a:ln>
            <a:solidFill>
              <a:srgbClr val="2D2D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6080760" y="1828800"/>
            <a:ext cx="0" cy="3063240"/>
          </a:xfrm>
          <a:prstGeom prst="line">
            <a:avLst/>
          </a:prstGeom>
          <a:ln>
            <a:solidFill>
              <a:srgbClr val="2D2D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6126480" y="4572000"/>
            <a:ext cx="594360" cy="228600"/>
          </a:xfrm>
          <a:prstGeom prst="line">
            <a:avLst/>
          </a:prstGeom>
          <a:ln w="31750">
            <a:solidFill>
              <a:srgbClr val="407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720840" y="3840480"/>
            <a:ext cx="594360" cy="731520"/>
          </a:xfrm>
          <a:prstGeom prst="line">
            <a:avLst/>
          </a:prstGeom>
          <a:ln w="31750">
            <a:solidFill>
              <a:srgbClr val="407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315200" y="2468880"/>
            <a:ext cx="594360" cy="1371600"/>
          </a:xfrm>
          <a:prstGeom prst="line">
            <a:avLst/>
          </a:prstGeom>
          <a:ln w="31750">
            <a:solidFill>
              <a:srgbClr val="407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7909560" y="1828800"/>
            <a:ext cx="502920" cy="640080"/>
          </a:xfrm>
          <a:prstGeom prst="line">
            <a:avLst/>
          </a:prstGeom>
          <a:ln w="31750">
            <a:solidFill>
              <a:srgbClr val="407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412480" y="1828800"/>
            <a:ext cx="502920" cy="502920"/>
          </a:xfrm>
          <a:prstGeom prst="line">
            <a:avLst/>
          </a:prstGeom>
          <a:ln w="31750">
            <a:solidFill>
              <a:srgbClr val="407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915400" y="2331720"/>
            <a:ext cx="548640" cy="822960"/>
          </a:xfrm>
          <a:prstGeom prst="line">
            <a:avLst/>
          </a:prstGeom>
          <a:ln w="31750">
            <a:solidFill>
              <a:srgbClr val="407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464040" y="3154680"/>
            <a:ext cx="685800" cy="731520"/>
          </a:xfrm>
          <a:prstGeom prst="line">
            <a:avLst/>
          </a:prstGeom>
          <a:ln w="31750">
            <a:solidFill>
              <a:srgbClr val="407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149840" y="3886200"/>
            <a:ext cx="640080" cy="502920"/>
          </a:xfrm>
          <a:prstGeom prst="line">
            <a:avLst/>
          </a:prstGeom>
          <a:ln w="31750">
            <a:solidFill>
              <a:srgbClr val="407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03720" y="443484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F374B"/>
                </a:solidFill>
              </a:defRPr>
            </a:pPr>
            <a:r>
              <a:t>Rising limb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50876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F374B"/>
                </a:solidFill>
              </a:defRPr>
            </a:pPr>
            <a:r>
              <a:t>Peak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7889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F374B"/>
                </a:solidFill>
              </a:defRPr>
            </a:pPr>
            <a:r>
              <a:t>Recession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508760"/>
            <a:ext cx="46634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900"/>
              </a:spcAft>
              <a:buFont typeface="Arial" panose="020B0604020202020204" pitchFamily="34" charset="0"/>
              <a:buChar char="•"/>
              <a:defRPr sz="1700">
                <a:solidFill>
                  <a:srgbClr val="2D2D2D"/>
                </a:solidFill>
                <a:latin typeface="Aptos"/>
              </a:defRPr>
            </a:pPr>
            <a:r>
              <a:rPr sz="2400" b="1" dirty="0"/>
              <a:t>Hydrograph:</a:t>
            </a:r>
            <a:r>
              <a:rPr sz="2400" dirty="0"/>
              <a:t> discharge plotted against time at a channel location.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506E57-0B0F-824C-ED03-C40C593A3D9B}"/>
              </a:ext>
            </a:extLst>
          </p:cNvPr>
          <p:cNvSpPr txBox="1"/>
          <p:nvPr/>
        </p:nvSpPr>
        <p:spPr>
          <a:xfrm>
            <a:off x="7791103" y="5000982"/>
            <a:ext cx="1745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  <a:endParaRPr lang="en-PK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5F1185-124D-0330-1838-091C61E5A54E}"/>
              </a:ext>
            </a:extLst>
          </p:cNvPr>
          <p:cNvSpPr txBox="1"/>
          <p:nvPr/>
        </p:nvSpPr>
        <p:spPr>
          <a:xfrm>
            <a:off x="5721927" y="2468880"/>
            <a:ext cx="461665" cy="1320336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US" dirty="0"/>
              <a:t>Discharge</a:t>
            </a:r>
            <a:endParaRPr lang="en-PK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B8211DB9-8357-8D61-71CE-CC34B2F2C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82047"/>
            <a:ext cx="1124712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2900" b="1">
                <a:solidFill>
                  <a:srgbClr val="24445F"/>
                </a:solidFill>
                <a:latin typeface="Aptos"/>
              </a:defRPr>
            </a:pPr>
            <a:r>
              <a:rPr kumimoji="0" sz="2900" b="1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How do we read a 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</a:t>
            </a:r>
            <a:r>
              <a:rPr kumimoji="0" sz="2900" b="1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lood 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</a:t>
            </a:r>
            <a:r>
              <a:rPr kumimoji="0" sz="2900" b="1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ydrograph?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96942"/>
            <a:ext cx="1005840" cy="5029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756862"/>
            <a:ext cx="110642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1900" b="0">
                <a:solidFill>
                  <a:srgbClr val="1766A3"/>
                </a:solidFill>
                <a:latin typeface="Aptos"/>
              </a:defRPr>
            </a:pPr>
            <a:r>
              <a:rPr kumimoji="0" sz="1900" b="0" i="0" u="none" strike="noStrike" kern="1200" cap="none" spc="0" normalizeH="0" baseline="0" noProof="0" dirty="0">
                <a:ln>
                  <a:noFill/>
                </a:ln>
                <a:solidFill>
                  <a:srgbClr val="1766A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Peak, timing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1766A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,</a:t>
            </a:r>
            <a:r>
              <a:rPr kumimoji="0" sz="1900" b="0" i="0" u="none" strike="noStrike" kern="1200" cap="none" spc="0" normalizeH="0" baseline="0" noProof="0" dirty="0">
                <a:ln>
                  <a:noFill/>
                </a:ln>
                <a:solidFill>
                  <a:srgbClr val="1766A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and volume—all matter for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900" b="0">
                <a:solidFill>
                  <a:srgbClr val="687989"/>
                </a:solidFill>
                <a:latin typeface="Aptos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8798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FAO-organized training | Balochistan Irrigation Department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699B8E-E7F9-B800-4354-E1596CB09D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1" t="2935" r="-191" b="5639"/>
          <a:stretch>
            <a:fillRect/>
          </a:stretch>
        </p:blipFill>
        <p:spPr>
          <a:xfrm>
            <a:off x="960120" y="1342751"/>
            <a:ext cx="9043873" cy="516777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3F56F2-3ADB-0E3B-122B-AAF16B419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449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Title 1"/>
          <p:cNvSpPr>
            <a:spLocks noGrp="1"/>
          </p:cNvSpPr>
          <p:nvPr>
            <p:ph type="title" idx="4294967295"/>
          </p:nvPr>
        </p:nvSpPr>
        <p:spPr>
          <a:xfrm>
            <a:off x="699654" y="452582"/>
            <a:ext cx="8229600" cy="762000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 Display"/>
                <a:ea typeface="Calibri"/>
                <a:cs typeface="Calibri"/>
              </a:rPr>
              <a:t>Hydrograph Analysis</a:t>
            </a:r>
          </a:p>
        </p:txBody>
      </p:sp>
      <p:sp>
        <p:nvSpPr>
          <p:cNvPr id="37890" name="Content Placeholder 2"/>
          <p:cNvSpPr>
            <a:spLocks noGrp="1"/>
          </p:cNvSpPr>
          <p:nvPr>
            <p:ph idx="4294967295"/>
          </p:nvPr>
        </p:nvSpPr>
        <p:spPr>
          <a:xfrm>
            <a:off x="643966" y="1309255"/>
            <a:ext cx="10127673" cy="384016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2D2D2D"/>
                </a:solidFill>
                <a:latin typeface="Aptos"/>
              </a:rPr>
              <a:t>Hydrologic response of rainfall at the outlet of an area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2D2D2D"/>
                </a:solidFill>
                <a:latin typeface="Aptos"/>
              </a:rPr>
              <a:t>Hydrograph: Graph of discharge (cubic feet per second) in a channel vs. time</a:t>
            </a:r>
          </a:p>
          <a:p>
            <a:pPr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2D2D2D"/>
                </a:solidFill>
                <a:latin typeface="Aptos"/>
              </a:rPr>
              <a:t>Area under curve yields the volume of runoff</a:t>
            </a:r>
          </a:p>
          <a:p>
            <a:pPr eaLnBrk="1" hangingPunct="1">
              <a:buFont typeface="Arial" charset="0"/>
              <a:buNone/>
            </a:pP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Aptos"/>
              </a:rPr>
              <a:t>Stream flow = Direct Runoff + Base flow</a:t>
            </a:r>
          </a:p>
          <a:p>
            <a:pPr eaLnBrk="1" hangingPunct="1">
              <a:buFont typeface="Arial" charset="0"/>
              <a:buNone/>
            </a:pP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Aptos"/>
              </a:rPr>
              <a:t>Direct Runoff (DRO) = Rainfall Excess or (rainfall – losses)</a:t>
            </a:r>
          </a:p>
          <a:p>
            <a:pPr eaLnBrk="1" hangingPunct="1">
              <a:buFont typeface="Arial" charset="0"/>
              <a:buNone/>
            </a:pPr>
            <a:endParaRPr lang="en-US" sz="2400" dirty="0"/>
          </a:p>
        </p:txBody>
      </p:sp>
      <p:pic>
        <p:nvPicPr>
          <p:cNvPr id="37891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79872" y="4565808"/>
            <a:ext cx="2819400" cy="2154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7892" name="TextBox 5"/>
          <p:cNvSpPr txBox="1">
            <a:spLocks noChangeArrowheads="1"/>
          </p:cNvSpPr>
          <p:nvPr/>
        </p:nvSpPr>
        <p:spPr bwMode="auto">
          <a:xfrm>
            <a:off x="1524000" y="6581778"/>
            <a:ext cx="28956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新細明體"/>
              </a:rPr>
              <a:t>Source: Prof. Ke-Sheng Cheng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C76D82-DD1D-970A-5508-4AAC5BE4F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0DC35-9B43-4C3F-93A9-29FFD06F2AC8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675858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What controls hydrograph shape?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4754880" cy="4389120"/>
          </a:xfrm>
          <a:prstGeom prst="roundRect">
            <a:avLst/>
          </a:prstGeom>
          <a:solidFill>
            <a:srgbClr val="EBF2F6"/>
          </a:solidFill>
          <a:ln>
            <a:solidFill>
              <a:srgbClr val="36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100" b="1">
                <a:solidFill>
                  <a:srgbClr val="1F374B"/>
                </a:solidFill>
              </a:defRPr>
            </a:pPr>
            <a:r>
              <a:rPr lang="en-US" dirty="0"/>
              <a:t>Storm/climate</a:t>
            </a:r>
            <a:endParaRPr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</a:defRPr>
            </a:pPr>
            <a:r>
              <a:rPr sz="2000" dirty="0"/>
              <a:t>Rainfall </a:t>
            </a:r>
            <a:r>
              <a:rPr lang="en-US" sz="2000" dirty="0"/>
              <a:t>I</a:t>
            </a:r>
            <a:r>
              <a:rPr sz="2000" dirty="0"/>
              <a:t>ntensity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</a:defRPr>
            </a:pPr>
            <a:r>
              <a:rPr sz="2000" dirty="0"/>
              <a:t>Rainfall </a:t>
            </a:r>
            <a:r>
              <a:rPr lang="en-US" sz="2000" dirty="0"/>
              <a:t>D</a:t>
            </a:r>
            <a:r>
              <a:rPr sz="2000" dirty="0"/>
              <a:t>uration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</a:defRPr>
            </a:pPr>
            <a:r>
              <a:rPr lang="en-US" sz="2000" dirty="0"/>
              <a:t>Rainfall </a:t>
            </a:r>
            <a:r>
              <a:rPr sz="2000" dirty="0"/>
              <a:t>Spatial </a:t>
            </a:r>
            <a:r>
              <a:rPr lang="en-US" sz="2000" dirty="0"/>
              <a:t>D</a:t>
            </a:r>
            <a:r>
              <a:rPr sz="2000" dirty="0"/>
              <a:t>istribution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</a:defRPr>
            </a:pPr>
            <a:r>
              <a:rPr lang="en-US" sz="2000" dirty="0"/>
              <a:t>Rainfall </a:t>
            </a:r>
            <a:r>
              <a:rPr sz="2000" dirty="0"/>
              <a:t>Temporal </a:t>
            </a:r>
            <a:r>
              <a:rPr lang="en-US" sz="2000" dirty="0"/>
              <a:t>D</a:t>
            </a:r>
            <a:r>
              <a:rPr sz="2000" dirty="0"/>
              <a:t>istribution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4754880" cy="4389120"/>
          </a:xfrm>
          <a:prstGeom prst="roundRect">
            <a:avLst/>
          </a:prstGeom>
          <a:solidFill>
            <a:srgbClr val="EBF2F6"/>
          </a:solidFill>
          <a:ln>
            <a:solidFill>
              <a:srgbClr val="36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100" b="1">
                <a:solidFill>
                  <a:srgbClr val="1F374B"/>
                </a:solidFill>
              </a:defRPr>
            </a:pPr>
            <a:r>
              <a:rPr dirty="0"/>
              <a:t>Catchment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</a:defRPr>
            </a:pPr>
            <a:r>
              <a:rPr sz="2000" dirty="0"/>
              <a:t>Catchment </a:t>
            </a:r>
            <a:r>
              <a:rPr lang="en-US" sz="2000" dirty="0"/>
              <a:t>S</a:t>
            </a:r>
            <a:r>
              <a:rPr sz="2000" dirty="0"/>
              <a:t>ize and </a:t>
            </a:r>
            <a:r>
              <a:rPr lang="en-US" sz="2000" dirty="0"/>
              <a:t>S</a:t>
            </a:r>
            <a:r>
              <a:rPr sz="2000" dirty="0"/>
              <a:t>hape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</a:defRPr>
            </a:pPr>
            <a:r>
              <a:rPr sz="2000" dirty="0"/>
              <a:t>Slope and </a:t>
            </a:r>
            <a:r>
              <a:rPr lang="en-US" sz="2000" dirty="0"/>
              <a:t>E</a:t>
            </a:r>
            <a:r>
              <a:rPr sz="2000" dirty="0"/>
              <a:t>levation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</a:defRPr>
            </a:pPr>
            <a:r>
              <a:rPr sz="2000" dirty="0"/>
              <a:t>Soil and </a:t>
            </a:r>
            <a:r>
              <a:rPr lang="en-US" sz="2000" dirty="0"/>
              <a:t>L</a:t>
            </a:r>
            <a:r>
              <a:rPr sz="2000" dirty="0"/>
              <a:t>and cover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</a:defRPr>
            </a:pPr>
            <a:r>
              <a:rPr sz="2000" dirty="0"/>
              <a:t>Drainage density, </a:t>
            </a:r>
            <a:r>
              <a:rPr lang="en-US" sz="2000" dirty="0"/>
              <a:t>R</a:t>
            </a:r>
            <a:r>
              <a:rPr sz="2000" dirty="0"/>
              <a:t>oughness</a:t>
            </a:r>
            <a:r>
              <a:rPr lang="en-US" sz="2000" dirty="0"/>
              <a:t>,</a:t>
            </a:r>
            <a:r>
              <a:rPr sz="2000" dirty="0"/>
              <a:t> and </a:t>
            </a:r>
            <a:r>
              <a:rPr lang="en-US" sz="2000" dirty="0"/>
              <a:t>S</a:t>
            </a:r>
            <a:r>
              <a:rPr sz="2000" dirty="0"/>
              <a:t>torage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D2D2D"/>
                </a:solidFill>
              </a:defRPr>
            </a:pPr>
            <a:r>
              <a:rPr sz="2000" dirty="0"/>
              <a:t>Antecedent </a:t>
            </a:r>
            <a:r>
              <a:rPr lang="en-US" sz="2000" dirty="0"/>
              <a:t>M</a:t>
            </a:r>
            <a:r>
              <a:rPr sz="2000" dirty="0"/>
              <a:t>oisture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7F024D-50FD-6171-061B-A7EC83864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030083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How </a:t>
            </a:r>
            <a:r>
              <a:rPr lang="en-US"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C</a:t>
            </a:r>
            <a:r>
              <a:rPr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atchment </a:t>
            </a:r>
            <a:r>
              <a:rPr lang="en-US"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C</a:t>
            </a:r>
            <a:r>
              <a:rPr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haracteristics </a:t>
            </a:r>
            <a:r>
              <a:rPr lang="en-US"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C</a:t>
            </a:r>
            <a:r>
              <a:rPr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hange </a:t>
            </a:r>
            <a:r>
              <a:rPr lang="en-US"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R</a:t>
            </a:r>
            <a:r>
              <a:rPr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esponse</a:t>
            </a:r>
            <a:r>
              <a:rPr lang="en-US"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?</a:t>
            </a:r>
            <a:endParaRPr sz="3600" b="1" dirty="0">
              <a:solidFill>
                <a:srgbClr val="156082"/>
              </a:solidFill>
              <a:latin typeface="Aptos Display"/>
              <a:ea typeface="Calibri"/>
              <a:cs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238847"/>
            <a:ext cx="1078992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7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Steeper slopes generally produce faster runoff and a sharper hydrograph response.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7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Impervious or highly developed surfaces can reduce infiltration and increase rapid runoff.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7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Larger catchments generally produce greater runoff volume for the same rainfall depth, but their response is often broader and slower.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7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Vegetation, soil properties, channel length, drainage density</a:t>
            </a:r>
            <a:r>
              <a:rPr lang="en-US" sz="2400" dirty="0"/>
              <a:t>,</a:t>
            </a:r>
            <a:r>
              <a:rPr sz="2400" dirty="0"/>
              <a:t> and natural/channel storage also modify the response.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7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Snowmelt at high elevation can produce broader, lower-peaked flood responses than intense rainfall.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FBFF10-3DF5-0C08-33DB-5595E710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98A99E7C-0B7D-49F1-8DBE-B4F162FCDA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16AAB"/>
          </a:solidFill>
          <a:ln w="9525">
            <a:solidFill>
              <a:srgbClr val="116AA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26616820-5275-65E9-EC2A-078DBE0D1D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394" b="5044"/>
          <a:stretch>
            <a:fillRect/>
          </a:stretch>
        </p:blipFill>
        <p:spPr>
          <a:xfrm>
            <a:off x="962891" y="355022"/>
            <a:ext cx="9754585" cy="588931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3E54292-46B8-6C87-0667-5FBCD19AA1EF}"/>
              </a:ext>
            </a:extLst>
          </p:cNvPr>
          <p:cNvSpPr/>
          <p:nvPr/>
        </p:nvSpPr>
        <p:spPr>
          <a:xfrm>
            <a:off x="962891" y="755073"/>
            <a:ext cx="9538854" cy="2770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36242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6EB8A0-2730-E66F-1B3E-3D0E02189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43C33A2-C62A-8911-2B4D-54140C5356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16AAB"/>
          </a:solidFill>
          <a:ln w="9525">
            <a:solidFill>
              <a:srgbClr val="116AA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13C370E6-F492-6083-7B13-85FB9AAB63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294" y="846604"/>
            <a:ext cx="11278356" cy="5164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1735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5B7BB6E-BE8E-413A-9129-C29786AD57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16AAB"/>
          </a:solidFill>
          <a:ln w="9525">
            <a:solidFill>
              <a:srgbClr val="116AA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1200BF-A94D-4F30-9D34-3AF1C9D63D1F}"/>
              </a:ext>
            </a:extLst>
          </p:cNvPr>
          <p:cNvSpPr>
            <a:spLocks noGrp="1"/>
          </p:cNvSpPr>
          <p:nvPr/>
        </p:nvSpPr>
        <p:spPr>
          <a:xfrm>
            <a:off x="514350" y="1076325"/>
            <a:ext cx="895350" cy="47625"/>
          </a:xfrm>
          <a:prstGeom prst="rect">
            <a:avLst/>
          </a:prstGeom>
          <a:solidFill>
            <a:srgbClr val="F58320"/>
          </a:solidFill>
          <a:ln w="9525">
            <a:solidFill>
              <a:srgbClr val="F5832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43B608-AA2F-457E-9BE3-C59896A76138}"/>
              </a:ext>
            </a:extLst>
          </p:cNvPr>
          <p:cNvSpPr>
            <a:spLocks noGrp="1"/>
          </p:cNvSpPr>
          <p:nvPr/>
        </p:nvSpPr>
        <p:spPr>
          <a:xfrm>
            <a:off x="514350" y="495300"/>
            <a:ext cx="10572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25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sz="2625" b="1" i="0" u="none" strike="noStrike" kern="1200" cap="none" spc="0" normalizeH="0" baseline="0" noProof="0" dirty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Same monthly rainfall—different runoff risk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F7D322-A1C4-4138-AE62-FC9F2FE2CFE6}"/>
              </a:ext>
            </a:extLst>
          </p:cNvPr>
          <p:cNvSpPr>
            <a:spLocks noGrp="1"/>
          </p:cNvSpPr>
          <p:nvPr/>
        </p:nvSpPr>
        <p:spPr>
          <a:xfrm>
            <a:off x="11182350" y="36195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1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10</a:t>
            </a:r>
            <a:endParaRPr kumimoji="0" sz="1050" b="1" i="0" u="none" strike="noStrike" kern="1200" cap="none" spc="0" normalizeH="0" baseline="0" noProof="0" dirty="0">
              <a:ln>
                <a:noFill/>
              </a:ln>
              <a:solidFill>
                <a:srgbClr val="545454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776C925A-098D-4AC5-827C-0647BFF37269}"/>
              </a:ext>
            </a:extLst>
          </p:cNvPr>
          <p:cNvSpPr>
            <a:spLocks noGrp="1"/>
          </p:cNvSpPr>
          <p:nvPr/>
        </p:nvSpPr>
        <p:spPr>
          <a:xfrm>
            <a:off x="514350" y="1143000"/>
            <a:ext cx="11163300" cy="953"/>
          </a:xfrm>
          <a:prstGeom prst="line">
            <a:avLst/>
          </a:prstGeom>
          <a:noFill/>
          <a:ln w="9525">
            <a:solidFill>
              <a:srgbClr val="D7DD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EB3DC-0858-4FCD-B0A0-F3F7F7FA1D83}"/>
              </a:ext>
            </a:extLst>
          </p:cNvPr>
          <p:cNvSpPr>
            <a:spLocks noGrp="1"/>
          </p:cNvSpPr>
          <p:nvPr/>
        </p:nvSpPr>
        <p:spPr>
          <a:xfrm>
            <a:off x="10524796" y="3787139"/>
            <a:ext cx="2857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1">
                <a:solidFill>
                  <a:srgbClr val="F58320"/>
                </a:solidFill>
                <a:latin typeface="Arial"/>
                <a:ea typeface="Arial"/>
                <a:cs typeface="Arial"/>
              </a:defRPr>
            </a:pPr>
            <a:endParaRPr kumimoji="0" sz="1350" b="1" i="0" u="none" strike="noStrike" kern="1200" cap="none" spc="0" normalizeH="0" baseline="0" noProof="0" dirty="0">
              <a:ln>
                <a:noFill/>
              </a:ln>
              <a:solidFill>
                <a:srgbClr val="F58320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AD9389-CAC6-C122-29C1-104DCC8C8F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10" t="12778" r="1656" b="3345"/>
          <a:stretch>
            <a:fillRect/>
          </a:stretch>
        </p:blipFill>
        <p:spPr>
          <a:xfrm>
            <a:off x="1461654" y="1253820"/>
            <a:ext cx="8801101" cy="514602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0572A3B-66BD-E4CC-12B9-DF4A4B24574B}"/>
              </a:ext>
            </a:extLst>
          </p:cNvPr>
          <p:cNvSpPr/>
          <p:nvPr/>
        </p:nvSpPr>
        <p:spPr>
          <a:xfrm>
            <a:off x="4606636" y="1607127"/>
            <a:ext cx="2355273" cy="1253837"/>
          </a:xfrm>
          <a:prstGeom prst="rect">
            <a:avLst/>
          </a:prstGeom>
          <a:solidFill>
            <a:srgbClr val="F9C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8FA0C8B-3545-19C5-3F59-C5433C25A934}"/>
              </a:ext>
            </a:extLst>
          </p:cNvPr>
          <p:cNvSpPr/>
          <p:nvPr/>
        </p:nvSpPr>
        <p:spPr>
          <a:xfrm>
            <a:off x="8077200" y="1607127"/>
            <a:ext cx="2185555" cy="136848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CAFEA83-A6AE-B68B-DE86-ACA52866CC28}"/>
              </a:ext>
            </a:extLst>
          </p:cNvPr>
          <p:cNvSpPr/>
          <p:nvPr/>
        </p:nvSpPr>
        <p:spPr>
          <a:xfrm>
            <a:off x="6961909" y="3061855"/>
            <a:ext cx="2791691" cy="1163781"/>
          </a:xfrm>
          <a:prstGeom prst="roundRect">
            <a:avLst/>
          </a:prstGeom>
          <a:solidFill>
            <a:srgbClr val="D7EED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CE54D1C-44D1-42AE-6A0F-BD81504342D4}"/>
              </a:ext>
            </a:extLst>
          </p:cNvPr>
          <p:cNvSpPr/>
          <p:nvPr/>
        </p:nvSpPr>
        <p:spPr>
          <a:xfrm>
            <a:off x="1461654" y="5659582"/>
            <a:ext cx="8742219" cy="703118"/>
          </a:xfrm>
          <a:prstGeom prst="roundRect">
            <a:avLst/>
          </a:prstGeom>
          <a:solidFill>
            <a:srgbClr val="FFE89F"/>
          </a:solidFill>
          <a:ln>
            <a:solidFill>
              <a:srgbClr val="FFE89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23076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xit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2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6AA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084FC19-1DED-43A1-8C5B-D0C2518670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F58320"/>
          </a:solidFill>
          <a:ln w="9525">
            <a:solidFill>
              <a:srgbClr val="F5832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A89790-52BC-4794-8CC1-B9EFD6EA842D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143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kumimoji="0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0</a:t>
            </a:r>
            <a:r>
              <a:rPr kumimoji="0" lang="en-US" sz="3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5</a:t>
            </a:r>
            <a:endParaRPr kumimoji="0" sz="39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95C000-0A48-45E9-9AFC-1B9ADC0B647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752475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kumimoji="0" sz="3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Rainfall–</a:t>
            </a:r>
            <a:r>
              <a:rPr kumimoji="0" lang="en-US" sz="3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R</a:t>
            </a:r>
            <a:r>
              <a:rPr kumimoji="0" sz="3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unoff </a:t>
            </a:r>
            <a:r>
              <a:rPr kumimoji="0" lang="en-US" sz="3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Modeling</a:t>
            </a:r>
            <a:endParaRPr kumimoji="0" sz="3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F7354D-FC6C-4A54-9CAB-E9D7903DFC6F}"/>
              </a:ext>
            </a:extLst>
          </p:cNvPr>
          <p:cNvSpPr>
            <a:spLocks noGrp="1"/>
          </p:cNvSpPr>
          <p:nvPr/>
        </p:nvSpPr>
        <p:spPr>
          <a:xfrm>
            <a:off x="546537" y="3476625"/>
            <a:ext cx="8108731" cy="168419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0">
                <a:solidFill>
                  <a:srgbClr val="E5ECF4"/>
                </a:solidFill>
                <a:latin typeface="Arial"/>
                <a:ea typeface="Arial"/>
                <a:cs typeface="Arial"/>
              </a:defRPr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rial"/>
                <a:cs typeface="Arial"/>
              </a:rPr>
              <a:t>From observed rainfall and catchment characteristics to predicted discharge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0">
                <a:solidFill>
                  <a:srgbClr val="E5ECF4"/>
                </a:solidFill>
                <a:latin typeface="Arial"/>
                <a:ea typeface="Arial"/>
                <a:cs typeface="Arial"/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FE6F9C1-92D8-49AA-8D1E-FDF671238C2A}"/>
              </a:ext>
            </a:extLst>
          </p:cNvPr>
          <p:cNvSpPr>
            <a:spLocks noGrp="1"/>
          </p:cNvSpPr>
          <p:nvPr/>
        </p:nvSpPr>
        <p:spPr>
          <a:xfrm>
            <a:off x="8858250" y="1428750"/>
            <a:ext cx="2000250" cy="400050"/>
          </a:xfrm>
          <a:prstGeom prst="roundRect">
            <a:avLst>
              <a:gd name="adj" fmla="val 28571"/>
            </a:avLst>
          </a:prstGeom>
          <a:solidFill>
            <a:srgbClr val="5792C9"/>
          </a:solidFill>
          <a:ln w="9525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2364005-FA71-46DB-AA2E-FF1527059E58}"/>
              </a:ext>
            </a:extLst>
          </p:cNvPr>
          <p:cNvSpPr>
            <a:spLocks noGrp="1"/>
          </p:cNvSpPr>
          <p:nvPr/>
        </p:nvSpPr>
        <p:spPr>
          <a:xfrm>
            <a:off x="8858250" y="2143125"/>
            <a:ext cx="1790700" cy="400050"/>
          </a:xfrm>
          <a:prstGeom prst="roundRect">
            <a:avLst>
              <a:gd name="adj" fmla="val 28571"/>
            </a:avLst>
          </a:prstGeom>
          <a:solidFill>
            <a:srgbClr val="5792C9"/>
          </a:solidFill>
          <a:ln w="9525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2CC02DD-6004-4908-96C1-A3F97F648E9E}"/>
              </a:ext>
            </a:extLst>
          </p:cNvPr>
          <p:cNvSpPr>
            <a:spLocks noGrp="1"/>
          </p:cNvSpPr>
          <p:nvPr/>
        </p:nvSpPr>
        <p:spPr>
          <a:xfrm>
            <a:off x="8858250" y="2857500"/>
            <a:ext cx="1581150" cy="400050"/>
          </a:xfrm>
          <a:prstGeom prst="roundRect">
            <a:avLst>
              <a:gd name="adj" fmla="val 28571"/>
            </a:avLst>
          </a:prstGeom>
          <a:solidFill>
            <a:srgbClr val="5792C9"/>
          </a:solidFill>
          <a:ln w="9525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6AA760-FDE0-4C92-BADE-D0F593178D99}"/>
              </a:ext>
            </a:extLst>
          </p:cNvPr>
          <p:cNvSpPr>
            <a:spLocks noGrp="1"/>
          </p:cNvSpPr>
          <p:nvPr/>
        </p:nvSpPr>
        <p:spPr>
          <a:xfrm>
            <a:off x="8858250" y="3571875"/>
            <a:ext cx="1371600" cy="400050"/>
          </a:xfrm>
          <a:prstGeom prst="roundRect">
            <a:avLst>
              <a:gd name="adj" fmla="val 28571"/>
            </a:avLst>
          </a:prstGeom>
          <a:solidFill>
            <a:srgbClr val="5792C9"/>
          </a:solidFill>
          <a:ln w="9525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5066251-6320-4ABE-B7BB-0160A464BF1E}"/>
              </a:ext>
            </a:extLst>
          </p:cNvPr>
          <p:cNvSpPr>
            <a:spLocks noGrp="1"/>
          </p:cNvSpPr>
          <p:nvPr/>
        </p:nvSpPr>
        <p:spPr>
          <a:xfrm>
            <a:off x="8858250" y="4286250"/>
            <a:ext cx="1162050" cy="400050"/>
          </a:xfrm>
          <a:prstGeom prst="roundRect">
            <a:avLst>
              <a:gd name="adj" fmla="val 28571"/>
            </a:avLst>
          </a:prstGeom>
          <a:solidFill>
            <a:srgbClr val="5792C9"/>
          </a:solidFill>
          <a:ln w="9525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28412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682872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Rainfall–</a:t>
            </a:r>
            <a:r>
              <a:rPr lang="en-US"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R</a:t>
            </a:r>
            <a:r>
              <a:rPr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unoff </a:t>
            </a:r>
            <a:r>
              <a:rPr lang="en-US"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M</a:t>
            </a:r>
            <a:r>
              <a:rPr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odeling </a:t>
            </a:r>
            <a:r>
              <a:rPr lang="en-US"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C</a:t>
            </a:r>
            <a:r>
              <a:rPr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oncept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1800">
                <a:solidFill>
                  <a:srgbClr val="2D2D2D"/>
                </a:solidFill>
                <a:latin typeface="Aptos"/>
              </a:defRPr>
            </a:pPr>
            <a:r>
              <a:rPr sz="2400" b="1" dirty="0">
                <a:solidFill>
                  <a:schemeClr val="accent5">
                    <a:lumMod val="75000"/>
                  </a:schemeClr>
                </a:solidFill>
              </a:rPr>
              <a:t>Objective:</a:t>
            </a:r>
            <a:r>
              <a:rPr sz="2400" dirty="0"/>
              <a:t> estimate the runoff or streamflow response produced by a rainfall event or rainfall time series.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Inputs may include rainfall, soil properties, land cover, topography</a:t>
            </a:r>
            <a:r>
              <a:rPr lang="en-US" sz="2400" dirty="0"/>
              <a:t>,</a:t>
            </a:r>
            <a:r>
              <a:rPr sz="2400" dirty="0"/>
              <a:t> and antecedent conditions.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Observed discharge is used for calibration and evaluation where measurements are available.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Model choice depends on the purpose, data availability, catchment scale</a:t>
            </a:r>
            <a:r>
              <a:rPr lang="en-US" sz="2400" dirty="0"/>
              <a:t>,</a:t>
            </a:r>
            <a:r>
              <a:rPr sz="2400" dirty="0"/>
              <a:t> and required level of detail.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725CC7-AA26-DC99-1668-2C4DC33C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560922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A simple </a:t>
            </a:r>
            <a:r>
              <a:rPr lang="en-US"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C</a:t>
            </a:r>
            <a:r>
              <a:rPr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onceptual </a:t>
            </a:r>
            <a:r>
              <a:rPr lang="en-US"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M</a:t>
            </a:r>
            <a:r>
              <a:rPr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920240" cy="1143000"/>
          </a:xfrm>
          <a:prstGeom prst="roundRect">
            <a:avLst/>
          </a:prstGeom>
          <a:solidFill>
            <a:srgbClr val="EBF2F6"/>
          </a:solidFill>
          <a:ln>
            <a:solidFill>
              <a:srgbClr val="36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/>
            </a:pPr>
            <a:r>
              <a:rPr dirty="0">
                <a:solidFill>
                  <a:schemeClr val="accent5">
                    <a:lumMod val="75000"/>
                  </a:schemeClr>
                </a:solidFill>
              </a:rPr>
              <a:t>Rainfall</a:t>
            </a:r>
            <a:br>
              <a:rPr dirty="0">
                <a:solidFill>
                  <a:schemeClr val="accent5">
                    <a:lumMod val="75000"/>
                  </a:schemeClr>
                </a:solidFill>
              </a:rPr>
            </a:br>
            <a:r>
              <a:rPr dirty="0">
                <a:solidFill>
                  <a:schemeClr val="accent5">
                    <a:lumMod val="75000"/>
                  </a:schemeClr>
                </a:solidFill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2103120"/>
            <a:ext cx="1920240" cy="1143000"/>
          </a:xfrm>
          <a:prstGeom prst="roundRect">
            <a:avLst/>
          </a:prstGeom>
          <a:solidFill>
            <a:srgbClr val="EBF2F6"/>
          </a:solidFill>
          <a:ln>
            <a:solidFill>
              <a:srgbClr val="36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/>
            </a:pPr>
            <a:r>
              <a:rPr dirty="0">
                <a:solidFill>
                  <a:schemeClr val="accent5">
                    <a:lumMod val="75000"/>
                  </a:schemeClr>
                </a:solidFill>
              </a:rPr>
              <a:t>Catchment</a:t>
            </a:r>
            <a:br>
              <a:rPr dirty="0">
                <a:solidFill>
                  <a:schemeClr val="accent5">
                    <a:lumMod val="75000"/>
                  </a:schemeClr>
                </a:solidFill>
              </a:rPr>
            </a:br>
            <a:r>
              <a:rPr dirty="0">
                <a:solidFill>
                  <a:schemeClr val="accent5">
                    <a:lumMod val="75000"/>
                  </a:schemeClr>
                </a:solidFill>
              </a:rPr>
              <a:t>Processes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2103120"/>
            <a:ext cx="1920240" cy="1143000"/>
          </a:xfrm>
          <a:prstGeom prst="roundRect">
            <a:avLst/>
          </a:prstGeom>
          <a:solidFill>
            <a:srgbClr val="EBF2F6"/>
          </a:solidFill>
          <a:ln>
            <a:solidFill>
              <a:srgbClr val="36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/>
            </a:pPr>
            <a:r>
              <a:rPr dirty="0">
                <a:solidFill>
                  <a:schemeClr val="accent5">
                    <a:lumMod val="75000"/>
                  </a:schemeClr>
                </a:solidFill>
              </a:rPr>
              <a:t>Runoff</a:t>
            </a:r>
            <a:br>
              <a:rPr dirty="0">
                <a:solidFill>
                  <a:schemeClr val="accent5">
                    <a:lumMod val="75000"/>
                  </a:schemeClr>
                </a:solidFill>
              </a:rPr>
            </a:br>
            <a:r>
              <a:rPr dirty="0">
                <a:solidFill>
                  <a:schemeClr val="accent5">
                    <a:lumMod val="75000"/>
                  </a:schemeClr>
                </a:solidFill>
              </a:rPr>
              <a:t>Transformation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2103120"/>
            <a:ext cx="1920240" cy="1143000"/>
          </a:xfrm>
          <a:prstGeom prst="roundRect">
            <a:avLst/>
          </a:prstGeom>
          <a:solidFill>
            <a:srgbClr val="EBF2F6"/>
          </a:solidFill>
          <a:ln>
            <a:solidFill>
              <a:srgbClr val="367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/>
            </a:pPr>
            <a:r>
              <a:rPr dirty="0">
                <a:solidFill>
                  <a:schemeClr val="accent5">
                    <a:lumMod val="75000"/>
                  </a:schemeClr>
                </a:solidFill>
              </a:rPr>
              <a:t>Discharge</a:t>
            </a:r>
            <a:br>
              <a:rPr dirty="0">
                <a:solidFill>
                  <a:schemeClr val="accent5">
                    <a:lumMod val="75000"/>
                  </a:schemeClr>
                </a:solidFill>
              </a:rPr>
            </a:br>
            <a:r>
              <a:rPr dirty="0">
                <a:solidFill>
                  <a:schemeClr val="accent5">
                    <a:lumMod val="75000"/>
                  </a:schemeClr>
                </a:solidFill>
              </a:rPr>
              <a:t>Output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51760" y="2423160"/>
            <a:ext cx="685800" cy="457200"/>
          </a:xfrm>
          <a:prstGeom prst="rightArrow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ight Arrow 8"/>
          <p:cNvSpPr/>
          <p:nvPr/>
        </p:nvSpPr>
        <p:spPr>
          <a:xfrm>
            <a:off x="5577840" y="2423160"/>
            <a:ext cx="685800" cy="457200"/>
          </a:xfrm>
          <a:prstGeom prst="rightArrow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8321040" y="2423160"/>
            <a:ext cx="685800" cy="457200"/>
          </a:xfrm>
          <a:prstGeom prst="rightArrow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1262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900"/>
              </a:spcAft>
              <a:defRPr sz="18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Losses and storage control how much rainfall becomes effective rainfall.</a:t>
            </a:r>
          </a:p>
          <a:p>
            <a:pPr>
              <a:lnSpc>
                <a:spcPct val="150000"/>
              </a:lnSpc>
              <a:spcAft>
                <a:spcPts val="900"/>
              </a:spcAft>
              <a:defRPr sz="1800">
                <a:solidFill>
                  <a:srgbClr val="2D2D2D"/>
                </a:solidFill>
                <a:latin typeface="Aptos"/>
              </a:defRPr>
            </a:pPr>
            <a:r>
              <a:rPr sz="2400" dirty="0"/>
              <a:t>Catchment routing controls when that water reaches the outlet.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29FBCED-5222-E881-EF8A-CE534101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A65042B-8B0A-4F74-A883-D3949124C3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16AAB"/>
          </a:solidFill>
          <a:ln w="9525">
            <a:solidFill>
              <a:srgbClr val="116AA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AE1527-614B-4501-91EB-AC48C92CB021}"/>
              </a:ext>
            </a:extLst>
          </p:cNvPr>
          <p:cNvSpPr>
            <a:spLocks noGrp="1"/>
          </p:cNvSpPr>
          <p:nvPr/>
        </p:nvSpPr>
        <p:spPr>
          <a:xfrm>
            <a:off x="514350" y="1076325"/>
            <a:ext cx="895350" cy="47625"/>
          </a:xfrm>
          <a:prstGeom prst="rect">
            <a:avLst/>
          </a:prstGeom>
          <a:solidFill>
            <a:srgbClr val="F58320"/>
          </a:solidFill>
          <a:ln w="9525">
            <a:solidFill>
              <a:srgbClr val="F5832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CE29F0-0488-4C0B-830E-5480434DED65}"/>
              </a:ext>
            </a:extLst>
          </p:cNvPr>
          <p:cNvSpPr>
            <a:spLocks noGrp="1"/>
          </p:cNvSpPr>
          <p:nvPr/>
        </p:nvSpPr>
        <p:spPr>
          <a:xfrm>
            <a:off x="514350" y="22860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75" b="1">
                <a:solidFill>
                  <a:srgbClr val="116AAB"/>
                </a:solidFill>
                <a:latin typeface="Arial"/>
                <a:ea typeface="Arial"/>
                <a:cs typeface="Arial"/>
              </a:defRPr>
            </a:pPr>
            <a:r>
              <a:rPr kumimoji="0" sz="975" b="1" i="0" u="none" strike="noStrike" kern="1200" cap="none" spc="0" normalizeH="0" baseline="0" noProof="0">
                <a:ln>
                  <a:noFill/>
                </a:ln>
                <a:solidFill>
                  <a:srgbClr val="116AAB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RAINFALL DATA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495030-25EB-455A-BF13-58EB7095C7D5}"/>
              </a:ext>
            </a:extLst>
          </p:cNvPr>
          <p:cNvSpPr>
            <a:spLocks noGrp="1"/>
          </p:cNvSpPr>
          <p:nvPr/>
        </p:nvSpPr>
        <p:spPr>
          <a:xfrm>
            <a:off x="514350" y="495300"/>
            <a:ext cx="10572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25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sz="2625" b="1" i="0" u="none" strike="noStrike" kern="1200" cap="none" spc="0" normalizeH="0" baseline="0" noProof="0" dirty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Gauge and </a:t>
            </a:r>
            <a:r>
              <a:rPr kumimoji="0" lang="en-US" sz="2625" b="1" i="0" u="none" strike="noStrike" kern="1200" cap="none" spc="0" normalizeH="0" baseline="0" noProof="0" dirty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S</a:t>
            </a:r>
            <a:r>
              <a:rPr kumimoji="0" sz="2625" b="1" i="0" u="none" strike="noStrike" kern="1200" cap="none" spc="0" normalizeH="0" baseline="0" noProof="0" dirty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atellite data are </a:t>
            </a:r>
            <a:r>
              <a:rPr kumimoji="0" lang="en-US" sz="2625" b="1" i="0" u="none" strike="noStrike" kern="1200" cap="none" spc="0" normalizeH="0" baseline="0" noProof="0" dirty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C</a:t>
            </a:r>
            <a:r>
              <a:rPr kumimoji="0" sz="2625" b="1" i="0" u="none" strike="noStrike" kern="1200" cap="none" spc="0" normalizeH="0" baseline="0" noProof="0" dirty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omplements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84AB3842-A5C7-43B0-9841-E3A5D461B0A6}"/>
              </a:ext>
            </a:extLst>
          </p:cNvPr>
          <p:cNvSpPr>
            <a:spLocks noGrp="1"/>
          </p:cNvSpPr>
          <p:nvPr/>
        </p:nvSpPr>
        <p:spPr>
          <a:xfrm>
            <a:off x="514350" y="1143000"/>
            <a:ext cx="11163300" cy="953"/>
          </a:xfrm>
          <a:prstGeom prst="line">
            <a:avLst/>
          </a:prstGeom>
          <a:noFill/>
          <a:ln w="9525">
            <a:solidFill>
              <a:srgbClr val="D7DD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8FF911-5941-422A-9D75-B00EA1A1D1B3}"/>
              </a:ext>
            </a:extLst>
          </p:cNvPr>
          <p:cNvSpPr>
            <a:spLocks noGrp="1"/>
          </p:cNvSpPr>
          <p:nvPr/>
        </p:nvSpPr>
        <p:spPr>
          <a:xfrm>
            <a:off x="514350" y="1314450"/>
            <a:ext cx="5467350" cy="2390775"/>
          </a:xfrm>
          <a:prstGeom prst="rect">
            <a:avLst/>
          </a:prstGeom>
          <a:solidFill>
            <a:srgbClr val="E5ECF4"/>
          </a:solidFill>
          <a:ln w="9525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386586-49A2-40F4-B518-94D7A7C539BB}"/>
              </a:ext>
            </a:extLst>
          </p:cNvPr>
          <p:cNvSpPr>
            <a:spLocks noGrp="1"/>
          </p:cNvSpPr>
          <p:nvPr/>
        </p:nvSpPr>
        <p:spPr>
          <a:xfrm>
            <a:off x="514350" y="1314450"/>
            <a:ext cx="5467350" cy="76200"/>
          </a:xfrm>
          <a:prstGeom prst="rect">
            <a:avLst/>
          </a:prstGeom>
          <a:solidFill>
            <a:srgbClr val="116AAB"/>
          </a:solidFill>
          <a:ln w="9525">
            <a:solidFill>
              <a:srgbClr val="116AA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1E93C5-4CB7-4D60-B505-A08F53081D2A}"/>
              </a:ext>
            </a:extLst>
          </p:cNvPr>
          <p:cNvSpPr>
            <a:spLocks noGrp="1"/>
          </p:cNvSpPr>
          <p:nvPr/>
        </p:nvSpPr>
        <p:spPr>
          <a:xfrm>
            <a:off x="704850" y="1562100"/>
            <a:ext cx="5086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sz="1650" b="1" i="0" u="none" strike="noStrike" kern="1200" cap="none" spc="0" normalizeH="0" baseline="0" noProof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Gauge strengths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F174B0-9204-4B79-A210-668B24C4A312}"/>
              </a:ext>
            </a:extLst>
          </p:cNvPr>
          <p:cNvSpPr>
            <a:spLocks noGrp="1"/>
          </p:cNvSpPr>
          <p:nvPr/>
        </p:nvSpPr>
        <p:spPr>
          <a:xfrm>
            <a:off x="704850" y="2114550"/>
            <a:ext cx="508635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sz="1275" b="0" i="0" u="none" strike="noStrike" kern="1200" cap="none" spc="0" normalizeH="0" baseline="0" noProof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Direct point measurement; long local records where maintained.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D98468-70C7-4F57-A0D8-0057B242AFA2}"/>
              </a:ext>
            </a:extLst>
          </p:cNvPr>
          <p:cNvSpPr>
            <a:spLocks noGrp="1"/>
          </p:cNvSpPr>
          <p:nvPr/>
        </p:nvSpPr>
        <p:spPr>
          <a:xfrm>
            <a:off x="6210300" y="1314450"/>
            <a:ext cx="5467350" cy="2390775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EA4A2A-7B25-4977-AB6D-433CBF9B23FB}"/>
              </a:ext>
            </a:extLst>
          </p:cNvPr>
          <p:cNvSpPr>
            <a:spLocks noGrp="1"/>
          </p:cNvSpPr>
          <p:nvPr/>
        </p:nvSpPr>
        <p:spPr>
          <a:xfrm>
            <a:off x="6210300" y="1314450"/>
            <a:ext cx="5467350" cy="76200"/>
          </a:xfrm>
          <a:prstGeom prst="rect">
            <a:avLst/>
          </a:prstGeom>
          <a:solidFill>
            <a:srgbClr val="F58320"/>
          </a:solidFill>
          <a:ln w="9525">
            <a:solidFill>
              <a:srgbClr val="F5832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2A04B67-3C5C-4B83-B2B7-2862794BAF65}"/>
              </a:ext>
            </a:extLst>
          </p:cNvPr>
          <p:cNvSpPr>
            <a:spLocks noGrp="1"/>
          </p:cNvSpPr>
          <p:nvPr/>
        </p:nvSpPr>
        <p:spPr>
          <a:xfrm>
            <a:off x="6400800" y="1562100"/>
            <a:ext cx="5086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sz="1650" b="1" i="0" u="none" strike="noStrike" kern="1200" cap="none" spc="0" normalizeH="0" baseline="0" noProof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Gauge limitations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C5C5-B5E1-4B73-8600-1F28C9FC40D1}"/>
              </a:ext>
            </a:extLst>
          </p:cNvPr>
          <p:cNvSpPr>
            <a:spLocks noGrp="1"/>
          </p:cNvSpPr>
          <p:nvPr/>
        </p:nvSpPr>
        <p:spPr>
          <a:xfrm>
            <a:off x="6400800" y="2114550"/>
            <a:ext cx="508635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sz="1275" b="0" i="0" u="none" strike="noStrike" kern="1200" cap="none" spc="0" normalizeH="0" baseline="0" noProof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Sparse coverage; missing values; wind/exposure errors.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80E1C7-0761-4CB2-AD59-77A0A5977886}"/>
              </a:ext>
            </a:extLst>
          </p:cNvPr>
          <p:cNvSpPr>
            <a:spLocks noGrp="1"/>
          </p:cNvSpPr>
          <p:nvPr/>
        </p:nvSpPr>
        <p:spPr>
          <a:xfrm>
            <a:off x="514350" y="3933825"/>
            <a:ext cx="5467350" cy="2390775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FC0F2B-8147-4CB9-9C53-17006776459F}"/>
              </a:ext>
            </a:extLst>
          </p:cNvPr>
          <p:cNvSpPr>
            <a:spLocks noGrp="1"/>
          </p:cNvSpPr>
          <p:nvPr/>
        </p:nvSpPr>
        <p:spPr>
          <a:xfrm>
            <a:off x="514350" y="3933825"/>
            <a:ext cx="5467350" cy="76200"/>
          </a:xfrm>
          <a:prstGeom prst="rect">
            <a:avLst/>
          </a:prstGeom>
          <a:solidFill>
            <a:srgbClr val="6C8E5B"/>
          </a:solidFill>
          <a:ln w="9525">
            <a:solidFill>
              <a:srgbClr val="6C8E5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B297295-F655-4FBA-B119-FBE7BDE20A6B}"/>
              </a:ext>
            </a:extLst>
          </p:cNvPr>
          <p:cNvSpPr>
            <a:spLocks noGrp="1"/>
          </p:cNvSpPr>
          <p:nvPr/>
        </p:nvSpPr>
        <p:spPr>
          <a:xfrm>
            <a:off x="704850" y="4181475"/>
            <a:ext cx="5086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sz="1650" b="1" i="0" u="none" strike="noStrike" kern="1200" cap="none" spc="0" normalizeH="0" baseline="0" noProof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Satellite strengths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FCE2F49-8990-404A-98E4-C842548CE31D}"/>
              </a:ext>
            </a:extLst>
          </p:cNvPr>
          <p:cNvSpPr>
            <a:spLocks noGrp="1"/>
          </p:cNvSpPr>
          <p:nvPr/>
        </p:nvSpPr>
        <p:spPr>
          <a:xfrm>
            <a:off x="704850" y="4733925"/>
            <a:ext cx="508635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sz="1275" b="0" i="0" u="none" strike="noStrike" kern="1200" cap="none" spc="0" normalizeH="0" baseline="0" noProof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Spatially complete, near-real-time products.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E3C2E9-1E9B-4BC2-9B1C-FD4CCD92BB7F}"/>
              </a:ext>
            </a:extLst>
          </p:cNvPr>
          <p:cNvSpPr>
            <a:spLocks noGrp="1"/>
          </p:cNvSpPr>
          <p:nvPr/>
        </p:nvSpPr>
        <p:spPr>
          <a:xfrm>
            <a:off x="6210300" y="3933825"/>
            <a:ext cx="5467350" cy="2390775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239B802-057F-4341-9C4E-F525EE7FF918}"/>
              </a:ext>
            </a:extLst>
          </p:cNvPr>
          <p:cNvSpPr>
            <a:spLocks noGrp="1"/>
          </p:cNvSpPr>
          <p:nvPr/>
        </p:nvSpPr>
        <p:spPr>
          <a:xfrm>
            <a:off x="6210300" y="3933825"/>
            <a:ext cx="5467350" cy="76200"/>
          </a:xfrm>
          <a:prstGeom prst="rect">
            <a:avLst/>
          </a:prstGeom>
          <a:solidFill>
            <a:srgbClr val="5792C9"/>
          </a:solidFill>
          <a:ln w="9525">
            <a:solidFill>
              <a:srgbClr val="5792C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9D8B06-06AD-4C4E-A241-DF39562F1439}"/>
              </a:ext>
            </a:extLst>
          </p:cNvPr>
          <p:cNvSpPr>
            <a:spLocks noGrp="1"/>
          </p:cNvSpPr>
          <p:nvPr/>
        </p:nvSpPr>
        <p:spPr>
          <a:xfrm>
            <a:off x="6400800" y="4181475"/>
            <a:ext cx="5086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1C4767"/>
                </a:solidFill>
                <a:latin typeface="Arial"/>
                <a:ea typeface="Arial"/>
                <a:cs typeface="Arial"/>
              </a:defRPr>
            </a:pPr>
            <a:r>
              <a:rPr kumimoji="0" sz="1650" b="1" i="0" u="none" strike="noStrike" kern="1200" cap="none" spc="0" normalizeH="0" baseline="0" noProof="0">
                <a:ln>
                  <a:noFill/>
                </a:ln>
                <a:solidFill>
                  <a:srgbClr val="1C4767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Satellite limitations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6CFB559-C2EF-429D-9A61-48956F52550C}"/>
              </a:ext>
            </a:extLst>
          </p:cNvPr>
          <p:cNvSpPr>
            <a:spLocks noGrp="1"/>
          </p:cNvSpPr>
          <p:nvPr/>
        </p:nvSpPr>
        <p:spPr>
          <a:xfrm>
            <a:off x="6400800" y="4733925"/>
            <a:ext cx="508635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75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sz="1275" b="0" i="0" u="none" strike="noStrike" kern="1200" cap="none" spc="0" normalizeH="0" baseline="0" noProof="0" dirty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Bias in mountains and intense localized storms; validate locally.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E7416AE-0B96-4C22-8802-A4E3AC29DED4}"/>
              </a:ext>
            </a:extLst>
          </p:cNvPr>
          <p:cNvSpPr>
            <a:spLocks noGrp="1"/>
          </p:cNvSpPr>
          <p:nvPr/>
        </p:nvSpPr>
        <p:spPr>
          <a:xfrm>
            <a:off x="7905750" y="6496050"/>
            <a:ext cx="3771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0">
                <a:solidFill>
                  <a:srgbClr val="545454"/>
                </a:solidFill>
                <a:latin typeface="Arial"/>
                <a:ea typeface="Arial"/>
                <a:cs typeface="Arial"/>
              </a:defRPr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545454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Rainfall–Runoff Processes in Dryland Watersheds</a:t>
            </a:r>
          </a:p>
        </p:txBody>
      </p:sp>
    </p:spTree>
    <p:extLst>
      <p:ext uri="{BB962C8B-B14F-4D97-AF65-F5344CB8AC3E}">
        <p14:creationId xmlns:p14="http://schemas.microsoft.com/office/powerpoint/2010/main" val="4478481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2900" b="1">
                <a:solidFill>
                  <a:srgbClr val="24445F"/>
                </a:solidFill>
                <a:latin typeface="Aptos"/>
              </a:defRPr>
            </a:pPr>
            <a:r>
              <a:rPr kumimoji="0" sz="2900" b="1" i="0" u="none" strike="noStrike" kern="1200" cap="none" spc="0" normalizeH="0" baseline="0" noProof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Choosing a rainfall–runoff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1005840" cy="5029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0642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1900" b="0">
                <a:solidFill>
                  <a:srgbClr val="1766A3"/>
                </a:solidFill>
                <a:latin typeface="Aptos"/>
              </a:defRPr>
            </a:pPr>
            <a:r>
              <a:rPr kumimoji="0" sz="1900" b="0" i="0" u="none" strike="noStrike" kern="1200" cap="none" spc="0" normalizeH="0" baseline="0" noProof="0" dirty="0">
                <a:ln>
                  <a:noFill/>
                </a:ln>
                <a:solidFill>
                  <a:srgbClr val="1766A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The method should match the decision, watershed scale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1766A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,</a:t>
            </a:r>
            <a:r>
              <a:rPr kumimoji="0" sz="1900" b="0" i="0" u="none" strike="noStrike" kern="1200" cap="none" spc="0" normalizeH="0" baseline="0" noProof="0" dirty="0">
                <a:ln>
                  <a:noFill/>
                </a:ln>
                <a:solidFill>
                  <a:srgbClr val="1766A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and available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881360" cy="318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sz="2300" b="1" dirty="0">
                <a:solidFill>
                  <a:srgbClr val="24445F"/>
                </a:solidFill>
                <a:latin typeface="Aptos"/>
              </a:rPr>
              <a:t>Rational Method: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Estimates peak discharge for suitable small catchments; not event volume.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sz="2300" b="1" dirty="0">
                <a:solidFill>
                  <a:srgbClr val="24445F"/>
                </a:solidFill>
                <a:latin typeface="Aptos"/>
              </a:rPr>
              <a:t>Curve Number Method: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Estimates event runoff depth from rainfall, soil</a:t>
            </a:r>
            <a:r>
              <a:rPr kumimoji="0" 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,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and land-cover conditions.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kumimoji="0" sz="2300" b="1" u="none" strike="noStrike" kern="1200" cap="none" spc="0" normalizeH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Hydrological </a:t>
            </a:r>
            <a:r>
              <a:rPr kumimoji="0" lang="en-US" sz="2300" b="1" u="none" strike="noStrike" kern="1200" cap="none" spc="0" normalizeH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and Hydraulic (H&amp;H) </a:t>
            </a:r>
            <a:r>
              <a:rPr kumimoji="0" sz="2300" b="1" u="none" strike="noStrike" kern="1200" cap="none" spc="0" normalizeH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model</a:t>
            </a:r>
            <a:r>
              <a:rPr kumimoji="0" lang="en-US" sz="2300" b="1" u="none" strike="noStrike" kern="1200" cap="none" spc="0" normalizeH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ing</a:t>
            </a:r>
            <a:r>
              <a:rPr kumimoji="0" sz="2300" b="1" u="none" strike="noStrike" kern="1200" cap="none" spc="0" normalizeH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: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Can simulate runoff timing and routing when suitable data are available.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Use local evidence and check assumptions before accepting results.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10E7F-A871-A689-C984-FF9390A8A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192196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 Display"/>
                <a:ea typeface="Calibri"/>
                <a:cs typeface="Calibri"/>
              </a:rPr>
              <a:t>Regression 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 Display"/>
                <a:ea typeface="Calibri"/>
                <a:cs typeface="Calibri"/>
              </a:rPr>
              <a:t>or ML </a:t>
            </a:r>
            <a:r>
              <a:rPr kumimoji="0" sz="3600" b="1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 Display"/>
                <a:ea typeface="Calibri"/>
                <a:cs typeface="Calibri"/>
              </a:rPr>
              <a:t>as a 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 Display"/>
                <a:ea typeface="Calibri"/>
                <a:cs typeface="Calibri"/>
              </a:rPr>
              <a:t>H</a:t>
            </a:r>
            <a:r>
              <a:rPr kumimoji="0" sz="3600" b="1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 Display"/>
                <a:ea typeface="Calibri"/>
                <a:cs typeface="Calibri"/>
              </a:rPr>
              <a:t>ydrologic 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 Display"/>
                <a:ea typeface="Calibri"/>
                <a:cs typeface="Calibri"/>
              </a:rPr>
              <a:t>A</a:t>
            </a:r>
            <a:r>
              <a:rPr kumimoji="0" sz="3600" b="1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 Display"/>
                <a:ea typeface="Calibri"/>
                <a:cs typeface="Calibri"/>
              </a:rPr>
              <a:t>nalysis 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 Display"/>
                <a:ea typeface="Calibri"/>
                <a:cs typeface="Calibri"/>
              </a:rPr>
              <a:t>T</a:t>
            </a:r>
            <a:r>
              <a:rPr kumimoji="0" sz="3600" b="1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 Display"/>
                <a:ea typeface="Calibri"/>
                <a:cs typeface="Calibri"/>
              </a:rPr>
              <a:t>ool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>
                <a:solidFill>
                  <a:srgbClr val="2D2D2D"/>
                </a:solidFill>
                <a:latin typeface="Aptos"/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Regression can relate runoff or streamflow to explanatory variables when a suitable data record is available.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>
                <a:solidFill>
                  <a:srgbClr val="2D2D2D"/>
                </a:solidFill>
                <a:latin typeface="Aptos"/>
              </a:defRPr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R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egression works best for long time periods.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>
                <a:solidFill>
                  <a:srgbClr val="2D2D2D"/>
                </a:solidFill>
                <a:latin typeface="Aptos"/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Possible predictors may include rainfall characteristics, basin descriptors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,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 or other hydrometeorological variables.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>
                <a:solidFill>
                  <a:srgbClr val="2D2D2D"/>
                </a:solidFill>
                <a:latin typeface="Aptos"/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Regression is an empirical relationship; it should be evaluated using appropriate goodness-of-fit and validation measures.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BD0CCD-D3B1-1B66-B2DD-89154E27C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45C08C-AF17-853C-BB43-0AD52358823B}"/>
              </a:ext>
            </a:extLst>
          </p:cNvPr>
          <p:cNvSpPr txBox="1"/>
          <p:nvPr/>
        </p:nvSpPr>
        <p:spPr>
          <a:xfrm>
            <a:off x="11475720" y="6368533"/>
            <a:ext cx="8728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C1FF6DA9-008F-8B48-92A6-B652298478BF}" type="slidenum">
              <a:rPr lang="en-US" sz="1800" smtClean="0"/>
              <a:pPr/>
              <a:t>35</a:t>
            </a:fld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797624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2900" b="1">
                <a:solidFill>
                  <a:srgbClr val="24445F"/>
                </a:solidFill>
                <a:latin typeface="Aptos"/>
              </a:defRPr>
            </a:pPr>
            <a:r>
              <a:rPr sz="3600" b="1" dirty="0">
                <a:solidFill>
                  <a:srgbClr val="156082"/>
                </a:solidFill>
                <a:latin typeface="Aptos Display"/>
                <a:ea typeface="Calibri"/>
                <a:cs typeface="Calibri"/>
              </a:rPr>
              <a:t>Can we trust the model results?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1005840" cy="5029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064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1900" b="0">
                <a:solidFill>
                  <a:srgbClr val="1766A3"/>
                </a:solidFill>
                <a:latin typeface="Aptos"/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1766A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 good-looking result is not enough without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88136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Check rainfall depth, timing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,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and spatial coverage.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Compare simulated and observed flood peaks, timing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,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and volume.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Test reasonable ranges of uncertain parameters.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Validate with another event or independent field evidence.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Report uncertainty rather than relying on one number.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E2CFFB-28D6-F61E-54FA-EF6182347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98182" y="633556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36</a:t>
            </a:fld>
            <a:endParaRPr 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500" b="1" i="0" u="none" strike="noStrike" kern="1200" cap="none" spc="0" normalizeH="0" baseline="0" noProof="0">
                <a:ln>
                  <a:noFill/>
                </a:ln>
                <a:solidFill>
                  <a:srgbClr val="1F374B"/>
                </a:solidFill>
                <a:effectLst/>
                <a:uLnTx/>
                <a:uFillTx/>
                <a:latin typeface="Aptos Display"/>
                <a:ea typeface="Calibri"/>
                <a:cs typeface="Calibri"/>
              </a:rP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2673" y="1102822"/>
            <a:ext cx="10789920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>
                <a:solidFill>
                  <a:srgbClr val="2D2D2D"/>
                </a:solidFill>
                <a:latin typeface="Aptos"/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Rainfall is the primary atmospheric input, but only part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of it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becomes effective rainfall and runoff.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>
                <a:solidFill>
                  <a:srgbClr val="2D2D2D"/>
                </a:solidFill>
                <a:latin typeface="Aptos"/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The watershed provides the spatial framework for hydrologic analysis.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>
                <a:solidFill>
                  <a:srgbClr val="2D2D2D"/>
                </a:solidFill>
                <a:latin typeface="Aptos"/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Topography controls drainage direction and watershed boundaries.</a:t>
            </a:r>
          </a:p>
          <a:p>
            <a:pPr marL="342900" lvl="0" indent="-34290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  <a:latin typeface="Aptos"/>
              </a:defRPr>
            </a:pPr>
            <a:r>
              <a:rPr lang="en-US" sz="2400" dirty="0">
                <a:solidFill>
                  <a:srgbClr val="2D2D2D"/>
                </a:solidFill>
                <a:latin typeface="Aptos"/>
              </a:rPr>
              <a:t>The hydrograph shape reflects both storm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and catchment characteristics.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>
                <a:solidFill>
                  <a:srgbClr val="2D2D2D"/>
                </a:solidFill>
                <a:latin typeface="Aptos"/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Rainfall–runoff modeling represents the transformation from rainfall input to discharge output.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>
                <a:solidFill>
                  <a:srgbClr val="2D2D2D"/>
                </a:solidFill>
                <a:latin typeface="Aptos"/>
              </a:defRPr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Good modeling requires appropriate data, clear assumptions, calibration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,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 and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validation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C59654-4B26-5082-A10E-A204A2E0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F1C5E3-DFE6-7459-61CE-812FBA5ED4D0}"/>
              </a:ext>
            </a:extLst>
          </p:cNvPr>
          <p:cNvSpPr txBox="1"/>
          <p:nvPr/>
        </p:nvSpPr>
        <p:spPr>
          <a:xfrm>
            <a:off x="11589327" y="6417302"/>
            <a:ext cx="429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C1FF6DA9-008F-8B48-92A6-B652298478BF}" type="slidenum">
              <a:rPr lang="en-US" sz="1800" smtClean="0"/>
              <a:pPr/>
              <a:t>37</a:t>
            </a:fld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885840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500" b="1" i="0" u="none" strike="noStrike" kern="1200" cap="none" spc="0" normalizeH="0" baseline="0" noProof="0">
                <a:ln>
                  <a:noFill/>
                </a:ln>
                <a:solidFill>
                  <a:srgbClr val="1F374B"/>
                </a:solidFill>
                <a:effectLst/>
                <a:uLnTx/>
                <a:uFillTx/>
                <a:latin typeface="Aptos Display"/>
                <a:ea typeface="Calibri"/>
                <a:cs typeface="Calibri"/>
              </a:rPr>
              <a:t>In-class activity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50392"/>
            <a:ext cx="11155680" cy="32004"/>
          </a:xfrm>
          <a:prstGeom prst="rect">
            <a:avLst/>
          </a:prstGeom>
          <a:solidFill>
            <a:srgbClr val="36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 sz="1900">
                <a:solidFill>
                  <a:srgbClr val="2D2D2D"/>
                </a:solidFill>
                <a:latin typeface="Aptos"/>
              </a:defRPr>
            </a:pPr>
            <a:r>
              <a:rPr kumimoji="0" sz="1900" b="0" i="0" u="none" strike="noStrike" kern="1200" cap="none" spc="0" normalizeH="0" baseline="0" noProof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• Given a rainfall event and a hydrograph, identify the rising limb, peak and recession limb.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 sz="1900">
                <a:solidFill>
                  <a:srgbClr val="2D2D2D"/>
                </a:solidFill>
                <a:latin typeface="Aptos"/>
              </a:defRPr>
            </a:pPr>
            <a:r>
              <a:rPr kumimoji="0" sz="1900" b="0" i="0" u="none" strike="noStrike" kern="1200" cap="none" spc="0" normalizeH="0" baseline="0" noProof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• Estimate which part of the hydrograph represents direct runoff.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 sz="1900">
                <a:solidFill>
                  <a:srgbClr val="2D2D2D"/>
                </a:solidFill>
                <a:latin typeface="Aptos"/>
              </a:defRPr>
            </a:pPr>
            <a:r>
              <a:rPr kumimoji="0" sz="1900" b="0" i="0" u="none" strike="noStrike" kern="1200" cap="none" spc="0" normalizeH="0" baseline="0" noProof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• Discuss which catchment characteristics could explain a sharp versus broad response.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 sz="1900">
                <a:solidFill>
                  <a:srgbClr val="2D2D2D"/>
                </a:solidFill>
                <a:latin typeface="Aptos"/>
              </a:defRPr>
            </a:pPr>
            <a:r>
              <a:rPr kumimoji="0" sz="1900" b="0" i="0" u="none" strike="noStrike" kern="1200" cap="none" spc="0" normalizeH="0" baseline="0" noProof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• Sketch how the hydrograph might change if rainfall intensity doubled.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 sz="1900">
                <a:solidFill>
                  <a:srgbClr val="2D2D2D"/>
                </a:solidFill>
                <a:latin typeface="Aptos"/>
              </a:defRPr>
            </a:pPr>
            <a:r>
              <a:rPr kumimoji="0" sz="1900" b="0" i="0" u="none" strike="noStrike" kern="1200" cap="none" spc="0" normalizeH="0" baseline="0" noProof="0">
                <a:ln>
                  <a:noFill/>
                </a:ln>
                <a:solidFill>
                  <a:srgbClr val="2D2D2D"/>
                </a:solidFill>
                <a:effectLst/>
                <a:uLnTx/>
                <a:uFillTx/>
                <a:latin typeface="Aptos"/>
                <a:ea typeface="Calibri"/>
                <a:cs typeface="Calibri"/>
              </a:rPr>
              <a:t>• Identify the additional data you would need to build a rainfall–runoff model.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85E29E-4BE5-B6A3-031C-2B47AFE0B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4900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sz="2900" b="1">
                <a:solidFill>
                  <a:srgbClr val="24445F"/>
                </a:solidFill>
                <a:latin typeface="Aptos"/>
              </a:defRPr>
            </a:pPr>
            <a:r>
              <a:rPr kumimoji="0" sz="2900" b="1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Quiz: rainfall–runoff and watershed assessment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1005840" cy="5029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881360" cy="207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2400"/>
              </a:spcAft>
              <a:buClrTx/>
              <a:buSzTx/>
              <a:buFontTx/>
              <a:buNone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1. Why can two watersheds receiving the same rainfall produce different runoff?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2400"/>
              </a:spcAft>
              <a:buClrTx/>
              <a:buSzTx/>
              <a:buFontTx/>
              <a:buNone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2. What does the peak of a hydrograph represent?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2400"/>
              </a:spcAft>
              <a:buClrTx/>
              <a:buSzTx/>
              <a:buFontTx/>
              <a:buNone/>
              <a:tabLst/>
              <a:defRPr sz="2300" b="0">
                <a:solidFill>
                  <a:srgbClr val="24445F"/>
                </a:solidFill>
                <a:latin typeface="Aptos"/>
              </a:defRPr>
            </a:pP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srgbClr val="24445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3. Why should a DEM-derived watershed boundary be checked in the field?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9B2EB1-2C0D-8D3E-A3AE-702CEF083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32818" y="6397913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39</a:t>
            </a:fld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6AA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6DDE92-5D83-2267-82FD-227E41FBC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1CFC0FC-AA63-EBFB-2B2F-89C82AC737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F58320"/>
          </a:solidFill>
          <a:ln w="9525">
            <a:solidFill>
              <a:srgbClr val="F5832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519995-4806-1E96-D095-E11314445668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143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kumimoji="0" sz="39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9F8427-B6D7-2351-AEC1-7919A9BA394C}"/>
              </a:ext>
            </a:extLst>
          </p:cNvPr>
          <p:cNvSpPr>
            <a:spLocks noGrp="1"/>
          </p:cNvSpPr>
          <p:nvPr/>
        </p:nvSpPr>
        <p:spPr>
          <a:xfrm>
            <a:off x="9452981" y="5779585"/>
            <a:ext cx="752475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kumimoji="0" lang="en-US" sz="3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Thank You</a:t>
            </a:r>
            <a:endParaRPr kumimoji="0" sz="3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38612FF-568D-A21E-CB5C-2B9AFF0F2400}"/>
              </a:ext>
            </a:extLst>
          </p:cNvPr>
          <p:cNvSpPr>
            <a:spLocks noGrp="1"/>
          </p:cNvSpPr>
          <p:nvPr/>
        </p:nvSpPr>
        <p:spPr>
          <a:xfrm>
            <a:off x="9452981" y="1428750"/>
            <a:ext cx="2000250" cy="400050"/>
          </a:xfrm>
          <a:prstGeom prst="roundRect">
            <a:avLst>
              <a:gd name="adj" fmla="val 28571"/>
            </a:avLst>
          </a:prstGeom>
          <a:solidFill>
            <a:schemeClr val="accent2"/>
          </a:solidFill>
          <a:ln w="9525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307273E-C532-1355-8B7F-76D1F9075E8B}"/>
              </a:ext>
            </a:extLst>
          </p:cNvPr>
          <p:cNvSpPr>
            <a:spLocks noGrp="1"/>
          </p:cNvSpPr>
          <p:nvPr/>
        </p:nvSpPr>
        <p:spPr>
          <a:xfrm>
            <a:off x="9452981" y="2143125"/>
            <a:ext cx="1790700" cy="400050"/>
          </a:xfrm>
          <a:prstGeom prst="roundRect">
            <a:avLst>
              <a:gd name="adj" fmla="val 28571"/>
            </a:avLst>
          </a:prstGeom>
          <a:solidFill>
            <a:schemeClr val="accent2"/>
          </a:solidFill>
          <a:ln w="9525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AD2339E-2F87-E191-1F15-67AC653C22FB}"/>
              </a:ext>
            </a:extLst>
          </p:cNvPr>
          <p:cNvSpPr>
            <a:spLocks noGrp="1"/>
          </p:cNvSpPr>
          <p:nvPr/>
        </p:nvSpPr>
        <p:spPr>
          <a:xfrm>
            <a:off x="9452981" y="2857500"/>
            <a:ext cx="1581150" cy="400050"/>
          </a:xfrm>
          <a:prstGeom prst="roundRect">
            <a:avLst>
              <a:gd name="adj" fmla="val 28571"/>
            </a:avLst>
          </a:prstGeom>
          <a:solidFill>
            <a:schemeClr val="accent2"/>
          </a:solidFill>
          <a:ln w="9525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27B8A5E-2A1B-3784-6FC8-38B9AC2BF3C8}"/>
              </a:ext>
            </a:extLst>
          </p:cNvPr>
          <p:cNvSpPr>
            <a:spLocks noGrp="1"/>
          </p:cNvSpPr>
          <p:nvPr/>
        </p:nvSpPr>
        <p:spPr>
          <a:xfrm>
            <a:off x="9452981" y="3571875"/>
            <a:ext cx="1371600" cy="400050"/>
          </a:xfrm>
          <a:prstGeom prst="roundRect">
            <a:avLst>
              <a:gd name="adj" fmla="val 28571"/>
            </a:avLst>
          </a:prstGeom>
          <a:solidFill>
            <a:schemeClr val="accent2"/>
          </a:solidFill>
          <a:ln w="9525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D8D6361-F33B-C899-5904-E6A301520311}"/>
              </a:ext>
            </a:extLst>
          </p:cNvPr>
          <p:cNvSpPr>
            <a:spLocks noGrp="1"/>
          </p:cNvSpPr>
          <p:nvPr/>
        </p:nvSpPr>
        <p:spPr>
          <a:xfrm>
            <a:off x="9452981" y="4286250"/>
            <a:ext cx="1162050" cy="400050"/>
          </a:xfrm>
          <a:prstGeom prst="roundRect">
            <a:avLst>
              <a:gd name="adj" fmla="val 28571"/>
            </a:avLst>
          </a:prstGeom>
          <a:solidFill>
            <a:schemeClr val="accent2"/>
          </a:solidFill>
          <a:ln w="9525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K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26A79AA-47B9-46F7-DE75-7995C181D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36" y="417008"/>
            <a:ext cx="9086719" cy="5113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502878"/>
      </p:ext>
    </p:extLst>
  </p:cSld>
  <p:clrMapOvr>
    <a:masterClrMapping/>
  </p:clrMapOvr>
</p:sld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Ion Boardroom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1791</TotalTime>
  <Words>2377</Words>
  <Application>Microsoft Office PowerPoint</Application>
  <DocSecurity>0</DocSecurity>
  <PresentationFormat>Widescreen</PresentationFormat>
  <Paragraphs>284</Paragraphs>
  <Slides>40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40</vt:i4>
      </vt:variant>
    </vt:vector>
  </HeadingPairs>
  <TitlesOfParts>
    <vt:vector size="50" baseType="lpstr">
      <vt:lpstr>Aptos</vt:lpstr>
      <vt:lpstr>Aptos Display</vt:lpstr>
      <vt:lpstr>Arial</vt:lpstr>
      <vt:lpstr>Calibri</vt:lpstr>
      <vt:lpstr>Century Gothic</vt:lpstr>
      <vt:lpstr>Wingdings</vt:lpstr>
      <vt:lpstr>Wingdings 3</vt:lpstr>
      <vt:lpstr>ChatGPT</vt:lpstr>
      <vt:lpstr>Office Theme</vt:lpstr>
      <vt:lpstr>Ion Boardroom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Hydrograph Analysis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Arjumand Zaidi</cp:lastModifiedBy>
  <cp:revision>92</cp:revision>
  <dcterms:created xsi:type="dcterms:W3CDTF">2026-09-05T19:04:39Z</dcterms:created>
  <dcterms:modified xsi:type="dcterms:W3CDTF">2026-10-05T06:46:55Z</dcterms:modified>
</cp:coreProperties>
</file>