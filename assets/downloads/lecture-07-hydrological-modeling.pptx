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4"/>
  </p:notesMasterIdLst>
  <p:sldIdLst>
    <p:sldId id="256" r:id="rId3"/>
    <p:sldId id="318" r:id="rId4"/>
    <p:sldId id="319" r:id="rId5"/>
    <p:sldId id="320" r:id="rId6"/>
    <p:sldId id="321" r:id="rId7"/>
    <p:sldId id="324" r:id="rId8"/>
    <p:sldId id="325" r:id="rId9"/>
    <p:sldId id="326" r:id="rId10"/>
    <p:sldId id="327" r:id="rId11"/>
    <p:sldId id="307" r:id="rId12"/>
    <p:sldId id="283" r:id="rId13"/>
    <p:sldId id="329" r:id="rId14"/>
    <p:sldId id="269" r:id="rId15"/>
    <p:sldId id="270" r:id="rId16"/>
    <p:sldId id="271" r:id="rId17"/>
    <p:sldId id="261" r:id="rId18"/>
    <p:sldId id="272" r:id="rId19"/>
    <p:sldId id="335" r:id="rId20"/>
    <p:sldId id="284" r:id="rId21"/>
    <p:sldId id="314" r:id="rId22"/>
    <p:sldId id="316" r:id="rId2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92C9"/>
    <a:srgbClr val="FFE89F"/>
    <a:srgbClr val="D7EED2"/>
    <a:srgbClr val="F9C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25" autoAdjust="0"/>
    <p:restoredTop sz="72013" autoAdjust="0"/>
  </p:normalViewPr>
  <p:slideViewPr>
    <p:cSldViewPr snapToGrid="0">
      <p:cViewPr varScale="1">
        <p:scale>
          <a:sx n="76" d="100"/>
          <a:sy n="76" d="100"/>
        </p:scale>
        <p:origin x="11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9606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Reference: https://www.hec.usace.army.mil/software/hec-hms/ ; https://www.nrcs.usda.gov/resources/guides-and-instructions/engineering-field-handbook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4479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8723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6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dirty="0">
                <a:solidFill>
                  <a:srgbClr val="545454"/>
                </a:solidFill>
                <a:latin typeface="Arial"/>
                <a:ea typeface="Arial"/>
                <a:cs typeface="Arial"/>
              </a:rPr>
              <a:t>Benefits and exposure occupy the same flow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2065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Reference: https://www.hec.usace.army.mil/software/hec-hms/ ; https://www.nrcs.usda.gov/resources/guides-and-instructions/engineering-field-handbook</a:t>
            </a:r>
            <a:endParaRPr lang="en-US" dirty="0"/>
          </a:p>
          <a:p>
            <a:endParaRPr lang="en-US" dirty="0"/>
          </a:p>
          <a:p>
            <a:r>
              <a:rPr dirty="0"/>
              <a:t>Answer guide: 1. Soil, slope, vegetation, shape</a:t>
            </a:r>
            <a:r>
              <a:rPr lang="en-US" dirty="0"/>
              <a:t>,</a:t>
            </a:r>
            <a:r>
              <a:rPr dirty="0"/>
              <a:t> and prior moisture. 2. Maximum discharge. 3. DEM errors, outlet and channel continuity.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C0F45-F15F-99EB-3C02-D728D623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38A39-C33A-F1B2-B566-630BE8B57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178BF-6A62-AB12-878D-66A249C15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29699-56FB-95C3-13A7-FC0073D0323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1739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3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0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91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3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8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9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8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5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92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37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9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4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6A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1C1398-E15D-4733-9D2F-F0FC50E310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0EA07-E5EA-46C1-B58B-2D5E16A1DFED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810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3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Hydrological Modeling</a:t>
            </a:r>
            <a:endParaRPr sz="39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37EA9C-6894-4FC2-89E3-E74DF7707212}"/>
              </a:ext>
            </a:extLst>
          </p:cNvPr>
          <p:cNvSpPr>
            <a:spLocks noGrp="1"/>
          </p:cNvSpPr>
          <p:nvPr/>
        </p:nvSpPr>
        <p:spPr>
          <a:xfrm>
            <a:off x="628650" y="3848100"/>
            <a:ext cx="5619750" cy="12780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lnSpc>
                <a:spcPct val="110000"/>
              </a:lnSpc>
              <a:defRPr sz="1800" b="0">
                <a:solidFill>
                  <a:srgbClr val="E5ECF4"/>
                </a:solidFill>
                <a:latin typeface="Arial"/>
                <a:ea typeface="Arial"/>
                <a:cs typeface="Arial"/>
              </a:defRPr>
            </a:pPr>
            <a:r>
              <a:rPr lang="en-US" sz="1800" b="1" dirty="0">
                <a:solidFill>
                  <a:srgbClr val="E5ECF4"/>
                </a:solidFill>
                <a:latin typeface="Arial"/>
                <a:ea typeface="Arial"/>
                <a:cs typeface="Arial"/>
              </a:rPr>
              <a:t>Hydroinformatics</a:t>
            </a:r>
          </a:p>
          <a:p>
            <a:pPr algn="l">
              <a:lnSpc>
                <a:spcPct val="110000"/>
              </a:lnSpc>
              <a:defRPr sz="1800" b="0">
                <a:solidFill>
                  <a:srgbClr val="E5ECF4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solidFill>
                  <a:srgbClr val="E5ECF4"/>
                </a:solidFill>
                <a:latin typeface="Arial"/>
                <a:ea typeface="Arial"/>
                <a:cs typeface="Arial"/>
              </a:rPr>
              <a:t>US Pakistan Center for Advanced Studies in Water</a:t>
            </a:r>
          </a:p>
          <a:p>
            <a:pPr algn="l">
              <a:lnSpc>
                <a:spcPct val="110000"/>
              </a:lnSpc>
              <a:defRPr sz="1800" b="0">
                <a:solidFill>
                  <a:srgbClr val="E5ECF4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solidFill>
                  <a:srgbClr val="E5ECF4"/>
                </a:solidFill>
                <a:latin typeface="Arial"/>
                <a:ea typeface="Arial"/>
                <a:cs typeface="Arial"/>
              </a:rPr>
              <a:t>MUET, Jamshoro</a:t>
            </a:r>
          </a:p>
          <a:p>
            <a:pPr algn="l">
              <a:lnSpc>
                <a:spcPct val="110000"/>
              </a:lnSpc>
              <a:defRPr sz="1800" b="0">
                <a:solidFill>
                  <a:srgbClr val="E5ECF4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solidFill>
                  <a:srgbClr val="E5ECF4"/>
                </a:solidFill>
                <a:latin typeface="Arial"/>
                <a:ea typeface="Arial"/>
                <a:cs typeface="Arial"/>
              </a:rPr>
              <a:t>Fall</a:t>
            </a:r>
            <a:r>
              <a:rPr lang="en-US" sz="1800" b="0" dirty="0">
                <a:solidFill>
                  <a:srgbClr val="E5ECF4"/>
                </a:solidFill>
                <a:latin typeface="Arial"/>
                <a:ea typeface="Arial"/>
                <a:cs typeface="Arial"/>
              </a:rPr>
              <a:t>, 2026</a:t>
            </a:r>
            <a:endParaRPr sz="1800" b="0" dirty="0">
              <a:solidFill>
                <a:srgbClr val="E5EC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8BEEEB-227D-4B7E-ADA1-C016D7B9FF79}"/>
              </a:ext>
            </a:extLst>
          </p:cNvPr>
          <p:cNvSpPr>
            <a:spLocks noGrp="1"/>
          </p:cNvSpPr>
          <p:nvPr/>
        </p:nvSpPr>
        <p:spPr>
          <a:xfrm>
            <a:off x="7067550" y="723900"/>
            <a:ext cx="4476750" cy="52197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58050" y="1722261"/>
            <a:ext cx="4095750" cy="32229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844605-6EED-45B1-A99D-A9B625F82CFB}"/>
              </a:ext>
            </a:extLst>
          </p:cNvPr>
          <p:cNvSpPr>
            <a:spLocks noGrp="1"/>
          </p:cNvSpPr>
          <p:nvPr/>
        </p:nvSpPr>
        <p:spPr>
          <a:xfrm>
            <a:off x="7067550" y="5619750"/>
            <a:ext cx="4476750" cy="323850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5632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05457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Learning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O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115568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D2D2D"/>
                </a:solidFill>
                <a:latin typeface="Aptos"/>
              </a:defRPr>
            </a:pPr>
            <a:r>
              <a:rPr lang="en-US" sz="2800"/>
              <a:t>Explain how rainfall is summarized — mean rainfall and variability in time and space.</a:t>
            </a:r>
            <a:endParaRPr sz="2800" dirty="0"/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D2D2D"/>
                </a:solidFill>
                <a:latin typeface="Aptos"/>
              </a:defRPr>
            </a:pPr>
            <a:r>
              <a:rPr lang="en-US" sz="2800"/>
              <a:t>Describe watershed boundaries, drainage networks, and key basin characteristics.</a:t>
            </a:r>
            <a:endParaRPr lang="en-US" sz="2800" dirty="0"/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D2D2D"/>
                </a:solidFill>
                <a:latin typeface="Aptos"/>
              </a:defRPr>
            </a:pPr>
            <a:r>
              <a:rPr lang="en-US" sz="2800"/>
              <a:t>Understand the water budget — inflows, outflows and storage.</a:t>
            </a:r>
            <a:endParaRPr sz="2800" dirty="0"/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2000">
                <a:solidFill>
                  <a:srgbClr val="2D2D2D"/>
                </a:solidFill>
                <a:latin typeface="Aptos"/>
              </a:defRPr>
            </a:pP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447B9-7D8D-F4BD-0CFB-1582469C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1. Rainfall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t>From measured rainfall to rainfall available for runoff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808AA-5F96-2A6A-8E33-E9FB6A1E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8693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Mean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R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ainfall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Mean annual rainfall: average annual rainfall over a long period; roughly 30–40 years of records.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Mean monthly rainfall: average rainfall for a given month over multiple years.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Comparing observed annual rainfall with the long-term mean helps identify years with rainfall deficit or surplus.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Use a sufficiently long and continuous record when characterizing climatological rainfall.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C104B-0BF0-79E6-9BC9-A32A2883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79131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Rainfall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C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5745" y="1566949"/>
            <a:ext cx="107899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Rainfall varies in time and space, so a single gauge may not represent an entire catchment.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Storm </a:t>
            </a:r>
            <a:r>
              <a:rPr sz="2800" b="1" dirty="0">
                <a:solidFill>
                  <a:schemeClr val="accent1"/>
                </a:solidFill>
              </a:rPr>
              <a:t>intensity</a:t>
            </a:r>
            <a:r>
              <a:rPr sz="2800" dirty="0"/>
              <a:t>, </a:t>
            </a:r>
            <a:r>
              <a:rPr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duration</a:t>
            </a:r>
            <a:r>
              <a:rPr lang="en-US" sz="2800" dirty="0"/>
              <a:t>,</a:t>
            </a:r>
            <a:r>
              <a:rPr sz="2800" dirty="0"/>
              <a:t> and </a:t>
            </a:r>
            <a:r>
              <a:rPr sz="2800" b="1" dirty="0">
                <a:solidFill>
                  <a:schemeClr val="accent5">
                    <a:lumMod val="75000"/>
                  </a:schemeClr>
                </a:solidFill>
              </a:rPr>
              <a:t>spatial distribution </a:t>
            </a:r>
            <a:r>
              <a:rPr sz="2800" dirty="0"/>
              <a:t>are especially important for runoff generation.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Rainfall analysis provides the input information for rainfall–runoff analysis.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00BD6-0F35-0BB5-A457-402BAD7F9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2. Watershed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t>The watershed is the basic spatial unit for hydrologic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B67DC-20A5-F0BC-85D7-806633FF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813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What is a watershed?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A watershed is the area that contributes flow to a specified point or outlet.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It is a basic hydrologic unit within which measurements, calculations</a:t>
            </a:r>
            <a:r>
              <a:rPr lang="en-US" sz="2800" dirty="0"/>
              <a:t>,</a:t>
            </a:r>
            <a:r>
              <a:rPr sz="2800" dirty="0"/>
              <a:t> and predictions are made.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Watersheds can be very small or can encompass major river basins such as the Indus Basin.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Boundaries are commonly defined by topographic divides or ridgelines.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130E-9874-D815-3163-EDFB422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6770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Reading a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W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atershed from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T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opography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679079"/>
            <a:ext cx="593528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Use contour lines and ridges to identify drainage divides.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Water flows downslope toward channels.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7E98B9-727D-6A0B-A18D-81FBC737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13"/>
          <a:stretch>
            <a:fillRect/>
          </a:stretch>
        </p:blipFill>
        <p:spPr>
          <a:xfrm>
            <a:off x="6080759" y="1212549"/>
            <a:ext cx="5970343" cy="49207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98951-9923-86EA-B963-FA3C6F4D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5655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Watershed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D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elineation: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T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he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C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ore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Idea</a:t>
            </a:r>
            <a:endParaRPr sz="3600" b="1" dirty="0">
              <a:solidFill>
                <a:schemeClr val="accent1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Select the outlet or pour point.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Identify the surrounding topographic divide.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Trace the boundary so that all land inside drains toward the outlet.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The resulting polygon represents the contributing watershed.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GIS watershed delineation automates this logic using a DEM and flow-direction/flow-accumulation analysis.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0CFCB-7DBA-9E49-20D4-4B64FF12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900" b="1">
                <a:solidFill>
                  <a:srgbClr val="24445F"/>
                </a:solidFill>
                <a:latin typeface="Aptos"/>
              </a:defRPr>
            </a:pPr>
            <a:r>
              <a:rPr kumimoji="0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From DEM to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</a:t>
            </a:r>
            <a:r>
              <a:rPr kumimoji="0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atershed </a:t>
            </a:r>
            <a:r>
              <a:rPr kumimoji="0" 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</a:t>
            </a:r>
            <a:r>
              <a:rPr kumimoji="0" sz="2900" b="1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005840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900" b="0">
                <a:solidFill>
                  <a:srgbClr val="1766A3"/>
                </a:solidFill>
                <a:latin typeface="Aptos"/>
              </a:defRPr>
            </a:pPr>
            <a:r>
              <a:rPr kumimoji="0" sz="1900" b="0" i="0" u="none" strike="noStrike" kern="1200" cap="none" spc="0" normalizeH="0" baseline="0" noProof="0">
                <a:ln>
                  <a:noFill/>
                </a:ln>
                <a:solidFill>
                  <a:srgbClr val="1766A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computer-generated boundary should be checked against the landscape.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40" y="1794759"/>
            <a:ext cx="1088136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the DEM and correct important errors.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Identify flow direction and the stream network.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Set the outlet at the actual decision site.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Delineate the watershed and calculate its area.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Verify channels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300" b="0" i="0" u="none" strike="noStrike" kern="1200" cap="none" spc="0" normalizeH="0" baseline="0" noProof="0" dirty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 drainage paths in the field.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CA1FB5-0C4C-0778-23C3-6DAED5CB8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39" y="4644168"/>
            <a:ext cx="8550755" cy="16337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BBA537-5B82-D1F4-8982-57870F09B7E6}"/>
              </a:ext>
            </a:extLst>
          </p:cNvPr>
          <p:cNvSpPr>
            <a:spLocks noGrp="1"/>
          </p:cNvSpPr>
          <p:nvPr/>
        </p:nvSpPr>
        <p:spPr>
          <a:xfrm>
            <a:off x="9053117" y="562356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Correct in </a:t>
            </a: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the </a:t>
            </a:r>
            <a:r>
              <a:rPr kumimoji="0" sz="1125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5F7911-B451-5796-7894-A5B378333BCB}"/>
              </a:ext>
            </a:extLst>
          </p:cNvPr>
          <p:cNvSpPr>
            <a:spLocks noGrp="1"/>
          </p:cNvSpPr>
          <p:nvPr/>
        </p:nvSpPr>
        <p:spPr>
          <a:xfrm>
            <a:off x="9267777" y="4762056"/>
            <a:ext cx="999893" cy="247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8C9B1-97F1-519E-8712-AE004A7AB0E3}"/>
              </a:ext>
            </a:extLst>
          </p:cNvPr>
          <p:cNvSpPr>
            <a:spLocks noGrp="1"/>
          </p:cNvSpPr>
          <p:nvPr/>
        </p:nvSpPr>
        <p:spPr>
          <a:xfrm>
            <a:off x="11182350" y="3619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21</a:t>
            </a:r>
            <a:endParaRPr kumimoji="0" sz="1050" b="1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07DB7-A7A2-429B-C890-F376371B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3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E2929E0-3259-4334-82A1-58970F65CA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6AAB"/>
          </a:solidFill>
          <a:ln w="9525">
            <a:solidFill>
              <a:srgbClr val="116AA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392A63-F171-4A69-B0A4-73A8E0A3C5C4}"/>
              </a:ext>
            </a:extLst>
          </p:cNvPr>
          <p:cNvSpPr>
            <a:spLocks noGrp="1"/>
          </p:cNvSpPr>
          <p:nvPr/>
        </p:nvSpPr>
        <p:spPr>
          <a:xfrm>
            <a:off x="514350" y="1076325"/>
            <a:ext cx="895350" cy="47625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B89638-AE38-46C1-9059-CD56798FC931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116AAB"/>
                </a:solidFill>
                <a:latin typeface="Arial"/>
                <a:ea typeface="Arial"/>
                <a:cs typeface="Arial"/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116AA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TERRAIN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8B74E5-6B18-41DD-950E-8B7899ADFAED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25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2625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What a DEM can—and cannot—tell you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1E72720-CFAB-4475-8561-594103BA750D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2A992D-DD91-41C9-A129-C52E39B1A0E3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7625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92B9B1-88B6-44EB-8A61-414EF71BF1AB}"/>
              </a:ext>
            </a:extLst>
          </p:cNvPr>
          <p:cNvSpPr>
            <a:spLocks noGrp="1"/>
          </p:cNvSpPr>
          <p:nvPr/>
        </p:nvSpPr>
        <p:spPr>
          <a:xfrm>
            <a:off x="7162800" y="5942648"/>
            <a:ext cx="415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FROM MAP TO FIELD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281CD-CA2E-490F-B21D-9A542B1985DF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E1DC4A-99A5-4332-A39A-133875FFB746}"/>
              </a:ext>
            </a:extLst>
          </p:cNvPr>
          <p:cNvSpPr>
            <a:spLocks noGrp="1"/>
          </p:cNvSpPr>
          <p:nvPr/>
        </p:nvSpPr>
        <p:spPr>
          <a:xfrm>
            <a:off x="1123950" y="1428750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Reliable uses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94C473-0067-424C-BEF7-BC2C8523CCCB}"/>
              </a:ext>
            </a:extLst>
          </p:cNvPr>
          <p:cNvSpPr>
            <a:spLocks noGrp="1"/>
          </p:cNvSpPr>
          <p:nvPr/>
        </p:nvSpPr>
        <p:spPr>
          <a:xfrm>
            <a:off x="1123950" y="1781175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Delineation, slope, flow direction, relative relief.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5C79D993-6C8D-4445-B34B-9C815CBE42EE}"/>
              </a:ext>
            </a:extLst>
          </p:cNvPr>
          <p:cNvSpPr>
            <a:spLocks noGrp="1"/>
          </p:cNvSpPr>
          <p:nvPr/>
        </p:nvSpPr>
        <p:spPr>
          <a:xfrm>
            <a:off x="1123950" y="2343150"/>
            <a:ext cx="5067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95519B-ACBB-456A-8C7B-8D1CE2E8BE6B}"/>
              </a:ext>
            </a:extLst>
          </p:cNvPr>
          <p:cNvSpPr>
            <a:spLocks noGrp="1"/>
          </p:cNvSpPr>
          <p:nvPr/>
        </p:nvSpPr>
        <p:spPr>
          <a:xfrm>
            <a:off x="552450" y="248602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2DFEC4-6437-4159-83D1-19BB2CC4D334}"/>
              </a:ext>
            </a:extLst>
          </p:cNvPr>
          <p:cNvSpPr>
            <a:spLocks noGrp="1"/>
          </p:cNvSpPr>
          <p:nvPr/>
        </p:nvSpPr>
        <p:spPr>
          <a:xfrm>
            <a:off x="1123950" y="2428875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Common errors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47D13D-62EE-4644-A2E5-B9FD53A22E7D}"/>
              </a:ext>
            </a:extLst>
          </p:cNvPr>
          <p:cNvSpPr>
            <a:spLocks noGrp="1"/>
          </p:cNvSpPr>
          <p:nvPr/>
        </p:nvSpPr>
        <p:spPr>
          <a:xfrm>
            <a:off x="1123950" y="2781300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Road embankments, flat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areas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, sinks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,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and poorly represented channels.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0E6B4D8-9A3F-4D31-B6FA-9E38349F6BAE}"/>
              </a:ext>
            </a:extLst>
          </p:cNvPr>
          <p:cNvSpPr>
            <a:spLocks noGrp="1"/>
          </p:cNvSpPr>
          <p:nvPr/>
        </p:nvSpPr>
        <p:spPr>
          <a:xfrm>
            <a:off x="1123950" y="3343275"/>
            <a:ext cx="5067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1F1697-F403-4192-AEFB-C8423365EC7A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DEB007-392D-420B-A20B-9281CA1B2010}"/>
              </a:ext>
            </a:extLst>
          </p:cNvPr>
          <p:cNvSpPr>
            <a:spLocks noGrp="1"/>
          </p:cNvSpPr>
          <p:nvPr/>
        </p:nvSpPr>
        <p:spPr>
          <a:xfrm>
            <a:off x="1123950" y="3429000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Field checks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E6B512-D004-43A1-9ECC-75AD96CD2CD6}"/>
              </a:ext>
            </a:extLst>
          </p:cNvPr>
          <p:cNvSpPr>
            <a:spLocks noGrp="1"/>
          </p:cNvSpPr>
          <p:nvPr/>
        </p:nvSpPr>
        <p:spPr>
          <a:xfrm>
            <a:off x="1123950" y="3781425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Outlet position, channel continuity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,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and cross-drainage.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5203B747-C89C-4472-AADE-7D29815554E6}"/>
              </a:ext>
            </a:extLst>
          </p:cNvPr>
          <p:cNvSpPr>
            <a:spLocks noGrp="1"/>
          </p:cNvSpPr>
          <p:nvPr/>
        </p:nvSpPr>
        <p:spPr>
          <a:xfrm>
            <a:off x="1123950" y="4343400"/>
            <a:ext cx="5067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37768F-B04B-4A51-9CF4-66E915854056}"/>
              </a:ext>
            </a:extLst>
          </p:cNvPr>
          <p:cNvSpPr>
            <a:spLocks noGrp="1"/>
          </p:cNvSpPr>
          <p:nvPr/>
        </p:nvSpPr>
        <p:spPr>
          <a:xfrm>
            <a:off x="552450" y="448627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C86F47-97F5-4F19-B6D2-DA680975CA3A}"/>
              </a:ext>
            </a:extLst>
          </p:cNvPr>
          <p:cNvSpPr>
            <a:spLocks noGrp="1"/>
          </p:cNvSpPr>
          <p:nvPr/>
        </p:nvSpPr>
        <p:spPr>
          <a:xfrm>
            <a:off x="1123950" y="4429125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Available sources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720B1C-66E9-4C0A-85DB-A656BB6B92F9}"/>
              </a:ext>
            </a:extLst>
          </p:cNvPr>
          <p:cNvSpPr>
            <a:spLocks noGrp="1"/>
          </p:cNvSpPr>
          <p:nvPr/>
        </p:nvSpPr>
        <p:spPr>
          <a:xfrm>
            <a:off x="1123950" y="4781550"/>
            <a:ext cx="5143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SRTM and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other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 DEM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s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; document resolution and date.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F24815-2C14-4525-AC92-C7359ECFA33B}"/>
              </a:ext>
            </a:extLst>
          </p:cNvPr>
          <p:cNvSpPr>
            <a:spLocks noGrp="1"/>
          </p:cNvSpPr>
          <p:nvPr/>
        </p:nvSpPr>
        <p:spPr>
          <a:xfrm>
            <a:off x="7905750" y="6496050"/>
            <a:ext cx="3771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Rainfall–Runoff Processes in Dryland Watersheds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626A3B2-B00C-C96E-7DCF-A8CF87F96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301" y="1485900"/>
            <a:ext cx="4513898" cy="451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69921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Drainage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N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A drainage network is the set of cells or channels through which surface water flows.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Flow accumulation identifies locations receiving flow from many upstream cells.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A stream can be defined by applying a contributing-area threshold.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  <a:defRPr sz="1900">
                <a:solidFill>
                  <a:srgbClr val="2D2D2D"/>
                </a:solidFill>
                <a:latin typeface="Aptos"/>
              </a:defRPr>
            </a:pPr>
            <a:r>
              <a:rPr sz="2800" dirty="0"/>
              <a:t>The threshold should reflect the scale and purpose of the analysis; </a:t>
            </a:r>
            <a:r>
              <a:rPr sz="2800" u="sng" dirty="0"/>
              <a:t>it is not a universal value</a:t>
            </a:r>
            <a:r>
              <a:rPr sz="28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0EF8C-7C1B-07B5-DB79-830D56B1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1853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Key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B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asin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C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Drainage area — area contributing flow to a common outlet.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Drainage divide — boundary separating watersheds draining to different outlets.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Drainage density — total stream length per unit basin area.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Stream frequency — number of channels per unit area.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Stream gradient — elevation drop per unit channel length.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Basin relief — highest elevation minus lowest elevation.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Time of concentration — travel time from the hydraulically most distant point to the outlet.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44691-8AA9-1240-5724-56EB0D04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93734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dirty="0">
                <a:solidFill>
                  <a:srgbClr val="1F374B"/>
                </a:solidFill>
                <a:latin typeface="Aptos Display"/>
              </a:rPr>
              <a:t>Stream order — Strahler system</a:t>
            </a:r>
            <a:r>
              <a:rPr lang="en-US" sz="2500" b="1" dirty="0">
                <a:solidFill>
                  <a:srgbClr val="1F374B"/>
                </a:solidFill>
                <a:latin typeface="Aptos Display"/>
              </a:rPr>
              <a:t> - 1st through 12th Order by Strahler's (1952)</a:t>
            </a:r>
          </a:p>
          <a:p>
            <a:endParaRPr sz="2500" b="1" dirty="0">
              <a:solidFill>
                <a:srgbClr val="1F374B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1411" y="1296785"/>
            <a:ext cx="7467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Stream ordering is a quantitative </a:t>
            </a:r>
            <a:r>
              <a:rPr lang="en-US" sz="2400" dirty="0"/>
              <a:t>method for describing</a:t>
            </a:r>
            <a:r>
              <a:rPr sz="2400" dirty="0"/>
              <a:t> the hierarchy of a drainage network.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First-order streams are headwater channels with no upstream tributaries of the same order.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When two streams of the same order join, the downstream segment increases by one order.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When different orders join, the downstream segment retains the higher order.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Strahler's system is widely used for drainage-network analysis</a:t>
            </a:r>
            <a:r>
              <a:rPr sz="2000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9DF17D-BC60-9541-72C1-064234E8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465" y="1424269"/>
            <a:ext cx="3813379" cy="458333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C0043-E14A-750B-E5E7-E0CF2A77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311489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GB"/>
              <a:t>3. Water Budget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3375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D7E6EB"/>
                </a:solidFill>
              </a:defRPr>
            </a:pPr>
            <a:r>
              <a:t>Tracking inflows, outflows and storage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F657E-313E-5B18-22E3-2B345052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FF2DDE2-224C-4507-B817-A8F0A575F9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16AAB"/>
          </a:solidFill>
          <a:ln w="9525">
            <a:solidFill>
              <a:srgbClr val="116AA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AD74A3-DEC8-43A0-BE73-7FF462706F17}"/>
              </a:ext>
            </a:extLst>
          </p:cNvPr>
          <p:cNvSpPr>
            <a:spLocks noGrp="1"/>
          </p:cNvSpPr>
          <p:nvPr/>
        </p:nvSpPr>
        <p:spPr>
          <a:xfrm>
            <a:off x="514350" y="1076325"/>
            <a:ext cx="895350" cy="47625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E5614-B357-4E7A-9FC7-2165A207B96A}"/>
              </a:ext>
            </a:extLst>
          </p:cNvPr>
          <p:cNvSpPr>
            <a:spLocks noGrp="1"/>
          </p:cNvSpPr>
          <p:nvPr/>
        </p:nvSpPr>
        <p:spPr>
          <a:xfrm>
            <a:off x="514350" y="49530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625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lang="en-US" sz="2625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How Water Moves Through a Watershed?</a:t>
            </a:r>
            <a:endParaRPr kumimoji="0" sz="2625" b="1" i="0" u="none" strike="noStrike" kern="1200" cap="none" spc="0" normalizeH="0" baseline="0" noProof="0" dirty="0">
              <a:ln>
                <a:noFill/>
              </a:ln>
              <a:solidFill>
                <a:srgbClr val="1C4767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EF8F4EC-BC6B-440D-BABF-6C415E48C0A3}"/>
              </a:ext>
            </a:extLst>
          </p:cNvPr>
          <p:cNvSpPr>
            <a:spLocks noGrp="1"/>
          </p:cNvSpPr>
          <p:nvPr/>
        </p:nvSpPr>
        <p:spPr>
          <a:xfrm>
            <a:off x="514350" y="1143000"/>
            <a:ext cx="11163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88F395-32A0-4B6F-9F2D-F37A23BE7C92}"/>
              </a:ext>
            </a:extLst>
          </p:cNvPr>
          <p:cNvSpPr>
            <a:spLocks noGrp="1"/>
          </p:cNvSpPr>
          <p:nvPr/>
        </p:nvSpPr>
        <p:spPr>
          <a:xfrm>
            <a:off x="6858000" y="1428750"/>
            <a:ext cx="47625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0" y="1847956"/>
            <a:ext cx="4381500" cy="34478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53AE7FB-5236-46BC-B18D-6A9A04B96EA0}"/>
              </a:ext>
            </a:extLst>
          </p:cNvPr>
          <p:cNvSpPr>
            <a:spLocks noGrp="1"/>
          </p:cNvSpPr>
          <p:nvPr/>
        </p:nvSpPr>
        <p:spPr>
          <a:xfrm>
            <a:off x="7162800" y="5581650"/>
            <a:ext cx="415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50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FROM MAP TO FIELD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918FA7-5EDA-4AA3-90A1-2AD4DD44993C}"/>
              </a:ext>
            </a:extLst>
          </p:cNvPr>
          <p:cNvSpPr>
            <a:spLocks noGrp="1"/>
          </p:cNvSpPr>
          <p:nvPr/>
        </p:nvSpPr>
        <p:spPr>
          <a:xfrm>
            <a:off x="552450" y="14859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2879B2-91CB-41D7-9A32-0D9134424134}"/>
              </a:ext>
            </a:extLst>
          </p:cNvPr>
          <p:cNvSpPr>
            <a:spLocks noGrp="1"/>
          </p:cNvSpPr>
          <p:nvPr/>
        </p:nvSpPr>
        <p:spPr>
          <a:xfrm>
            <a:off x="1123950" y="1428750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Headwaters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7F3387-3948-453C-AF37-3B2A5A34653C}"/>
              </a:ext>
            </a:extLst>
          </p:cNvPr>
          <p:cNvSpPr>
            <a:spLocks noGrp="1"/>
          </p:cNvSpPr>
          <p:nvPr/>
        </p:nvSpPr>
        <p:spPr>
          <a:xfrm>
            <a:off x="1123950" y="1781174"/>
            <a:ext cx="5453424" cy="6381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Rainfall and snowmelt in the upper areas begin to flow downhill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0326935-2B95-4752-8187-BEFA7E084208}"/>
              </a:ext>
            </a:extLst>
          </p:cNvPr>
          <p:cNvSpPr>
            <a:spLocks noGrp="1"/>
          </p:cNvSpPr>
          <p:nvPr/>
        </p:nvSpPr>
        <p:spPr>
          <a:xfrm>
            <a:off x="1123950" y="2343150"/>
            <a:ext cx="5067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8C3EE3-6D6A-4B0C-BAEF-66D61B177BD0}"/>
              </a:ext>
            </a:extLst>
          </p:cNvPr>
          <p:cNvSpPr>
            <a:spLocks noGrp="1"/>
          </p:cNvSpPr>
          <p:nvPr/>
        </p:nvSpPr>
        <p:spPr>
          <a:xfrm>
            <a:off x="552450" y="248602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6DF8F1-E913-493B-A877-4FB6CD381786}"/>
              </a:ext>
            </a:extLst>
          </p:cNvPr>
          <p:cNvSpPr>
            <a:spLocks noGrp="1"/>
          </p:cNvSpPr>
          <p:nvPr/>
        </p:nvSpPr>
        <p:spPr>
          <a:xfrm>
            <a:off x="1123950" y="2428875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Tributaries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C4767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47A28B-974C-4431-9902-EFE423829D7A}"/>
              </a:ext>
            </a:extLst>
          </p:cNvPr>
          <p:cNvSpPr>
            <a:spLocks noGrp="1"/>
          </p:cNvSpPr>
          <p:nvPr/>
        </p:nvSpPr>
        <p:spPr>
          <a:xfrm>
            <a:off x="1123950" y="2781299"/>
            <a:ext cx="51435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cs typeface="Arial"/>
              </a:rPr>
              <a:t>Small streams collect water from different parts of the watershed and join larger streams.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C24CF1A-51D4-4700-91D0-7EB6539B21AA}"/>
              </a:ext>
            </a:extLst>
          </p:cNvPr>
          <p:cNvSpPr>
            <a:spLocks noGrp="1"/>
          </p:cNvSpPr>
          <p:nvPr/>
        </p:nvSpPr>
        <p:spPr>
          <a:xfrm>
            <a:off x="1076325" y="3570922"/>
            <a:ext cx="5067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11D29-B19E-49E8-AF5C-B976DA4A0047}"/>
              </a:ext>
            </a:extLst>
          </p:cNvPr>
          <p:cNvSpPr>
            <a:spLocks noGrp="1"/>
          </p:cNvSpPr>
          <p:nvPr/>
        </p:nvSpPr>
        <p:spPr>
          <a:xfrm>
            <a:off x="561975" y="3648075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 dirty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B753BF-8285-4999-831E-3CFB9DED6A81}"/>
              </a:ext>
            </a:extLst>
          </p:cNvPr>
          <p:cNvSpPr>
            <a:spLocks noGrp="1"/>
          </p:cNvSpPr>
          <p:nvPr/>
        </p:nvSpPr>
        <p:spPr>
          <a:xfrm>
            <a:off x="1123950" y="3606280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Main </a:t>
            </a: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Channels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C4767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AC3D20-B03C-4F5B-BDC7-EE1FF01B5070}"/>
              </a:ext>
            </a:extLst>
          </p:cNvPr>
          <p:cNvSpPr>
            <a:spLocks noGrp="1"/>
          </p:cNvSpPr>
          <p:nvPr/>
        </p:nvSpPr>
        <p:spPr>
          <a:xfrm>
            <a:off x="1123950" y="3995147"/>
            <a:ext cx="5143500" cy="6467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lang="en-PK" sz="14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cs typeface="Arial"/>
              </a:rPr>
              <a:t>Water flows through the main river or stream, carrying water and sediment downstream.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76B7A6CB-A880-49DE-B951-21F3A4E55642}"/>
              </a:ext>
            </a:extLst>
          </p:cNvPr>
          <p:cNvSpPr>
            <a:spLocks noGrp="1"/>
          </p:cNvSpPr>
          <p:nvPr/>
        </p:nvSpPr>
        <p:spPr>
          <a:xfrm>
            <a:off x="1123950" y="4723447"/>
            <a:ext cx="5067300" cy="953"/>
          </a:xfrm>
          <a:prstGeom prst="line">
            <a:avLst/>
          </a:prstGeom>
          <a:noFill/>
          <a:ln w="9525">
            <a:solidFill>
              <a:srgbClr val="D7DDE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93A0C2-C90A-43BD-A135-47FCB37C69C7}"/>
              </a:ext>
            </a:extLst>
          </p:cNvPr>
          <p:cNvSpPr>
            <a:spLocks noGrp="1"/>
          </p:cNvSpPr>
          <p:nvPr/>
        </p:nvSpPr>
        <p:spPr>
          <a:xfrm>
            <a:off x="533400" y="48700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F58320"/>
                </a:solidFill>
                <a:latin typeface="Arial"/>
                <a:ea typeface="Arial"/>
                <a:cs typeface="Arial"/>
              </a:defRPr>
            </a:pPr>
            <a:r>
              <a:rPr kumimoji="0" sz="1575" b="1" i="0" u="none" strike="noStrike" kern="1200" cap="none" spc="0" normalizeH="0" baseline="0" noProof="0" dirty="0">
                <a:ln>
                  <a:noFill/>
                </a:ln>
                <a:solidFill>
                  <a:srgbClr val="F58320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7B8549-6E90-478A-A216-3582D11B97E1}"/>
              </a:ext>
            </a:extLst>
          </p:cNvPr>
          <p:cNvSpPr>
            <a:spLocks noGrp="1"/>
          </p:cNvSpPr>
          <p:nvPr/>
        </p:nvSpPr>
        <p:spPr>
          <a:xfrm>
            <a:off x="1123950" y="4840111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C4767"/>
                </a:solidFill>
                <a:latin typeface="Arial"/>
                <a:ea typeface="Arial"/>
                <a:cs typeface="Arial"/>
              </a:defRPr>
            </a:pP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1C4767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Outlet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C4767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A5543A-18D7-4755-9F1D-D0A72F7FF630}"/>
              </a:ext>
            </a:extLst>
          </p:cNvPr>
          <p:cNvSpPr>
            <a:spLocks noGrp="1"/>
          </p:cNvSpPr>
          <p:nvPr/>
        </p:nvSpPr>
        <p:spPr>
          <a:xfrm>
            <a:off x="1123950" y="5212900"/>
            <a:ext cx="5143500" cy="6918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lang="en-PK" sz="1400" b="0" i="0" u="none" strike="noStrike" kern="1200" cap="none" spc="0" normalizeH="0" baseline="0" noProof="0" dirty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cs typeface="Arial"/>
              </a:rPr>
              <a:t>Water leaves the watershed through a common outlet, such as a river, lake, reservoir, or sea.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4545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144374-A1BC-4FA3-917B-89418888335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FAO-organized training | Balochistan Irrigation Department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0A6E54-FA8E-4667-AF05-044DB078079A}"/>
              </a:ext>
            </a:extLst>
          </p:cNvPr>
          <p:cNvSpPr>
            <a:spLocks noGrp="1"/>
          </p:cNvSpPr>
          <p:nvPr/>
        </p:nvSpPr>
        <p:spPr>
          <a:xfrm>
            <a:off x="7905750" y="6496050"/>
            <a:ext cx="3771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0">
                <a:solidFill>
                  <a:srgbClr val="545454"/>
                </a:solidFill>
                <a:latin typeface="Arial"/>
                <a:ea typeface="Arial"/>
                <a:cs typeface="Arial"/>
              </a:defRPr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Rainfall–Runoff Processes in Dryland Watersheds</a:t>
            </a:r>
          </a:p>
        </p:txBody>
      </p:sp>
    </p:spTree>
    <p:extLst>
      <p:ext uri="{BB962C8B-B14F-4D97-AF65-F5344CB8AC3E}">
        <p14:creationId xmlns:p14="http://schemas.microsoft.com/office/powerpoint/2010/main" val="1819420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2006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>
                <a:solidFill>
                  <a:schemeClr val="accent1"/>
                </a:solidFill>
                <a:latin typeface="Aptos Display"/>
              </a:rPr>
              <a:t>Basin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W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ater </a:t>
            </a:r>
            <a:r>
              <a:rPr lang="en-US" sz="3600" b="1" dirty="0">
                <a:solidFill>
                  <a:schemeClr val="accent1"/>
                </a:solidFill>
                <a:latin typeface="Aptos Display"/>
              </a:rPr>
              <a:t>B</a:t>
            </a:r>
            <a:r>
              <a:rPr sz="3600" b="1" dirty="0">
                <a:solidFill>
                  <a:schemeClr val="accent1"/>
                </a:solidFill>
                <a:latin typeface="Aptos Display"/>
              </a:rPr>
              <a:t>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Inflows: precipitation, surface-water inflow, groundwater inflow</a:t>
            </a:r>
            <a:r>
              <a:rPr lang="en-US" sz="2400" dirty="0"/>
              <a:t>,</a:t>
            </a:r>
            <a:r>
              <a:rPr sz="2400" dirty="0"/>
              <a:t> and artificial imports.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Outflows: evaporation, runoff, groundwater outflow</a:t>
            </a:r>
            <a:r>
              <a:rPr lang="en-US" sz="2400" dirty="0"/>
              <a:t>,</a:t>
            </a:r>
            <a:r>
              <a:rPr sz="2400" dirty="0"/>
              <a:t> and artificial withdrawals.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Storage: surface water, soil moisture, groundwater, snow/ice</a:t>
            </a:r>
            <a:r>
              <a:rPr lang="en-US" sz="2400" dirty="0"/>
              <a:t>,</a:t>
            </a:r>
            <a:r>
              <a:rPr sz="2400" dirty="0"/>
              <a:t> and temporary/intercepted storage.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sz="2400" dirty="0"/>
              <a:t>Hydrologic mass balance: Inflow = Outflow ± change in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202382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374B"/>
                </a:solidFill>
              </a:defRPr>
            </a:pPr>
            <a:r>
              <a:rPr dirty="0"/>
              <a:t>Σ Inflows − Σ Outflows = Δ Storage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C6CC4-61AD-75E4-BFA3-D55ACFDF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1F374B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2673" y="1102822"/>
            <a:ext cx="1078992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Rainfall is the primary atmospheric input, but only part of it becomes runoff — the rest is lost to interception, infiltration and storage.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The watershed provides the spatial framework for hydrologic analysis; topography controls drainage direction and watershed boundaries.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A DEM-derived boundary is a starting point — always check the DEM, set the outlet at the true decision site, and verify channels in the field.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342900" lvl="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D2D2D"/>
                </a:solidFill>
                <a:latin typeface="Aptos"/>
              </a:defRPr>
            </a:pPr>
            <a:r>
              <a:rPr lang="en-US" sz="2400">
                <a:solidFill>
                  <a:srgbClr val="2D2D2D"/>
                </a:solidFill>
                <a:latin typeface="Aptos"/>
              </a:rPr>
              <a:t>Basin characteristics (area, shape, slope, drainage density, relief, time of concentration) and Strahler stream order describe how a catchment is organised.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The basin water balance ∑ Inflows − ∑ Outflows = Δ Storage connects rainfall, runoff and storage.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>
                <a:solidFill>
                  <a:srgbClr val="2D2D2D"/>
                </a:solidFill>
                <a:latin typeface="Aptos"/>
              </a:defRPr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59654-4B26-5082-A10E-A204A2E0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F1C5E3-DFE6-7459-61CE-812FBA5ED4D0}"/>
              </a:ext>
            </a:extLst>
          </p:cNvPr>
          <p:cNvSpPr txBox="1"/>
          <p:nvPr/>
        </p:nvSpPr>
        <p:spPr>
          <a:xfrm>
            <a:off x="11589327" y="6417302"/>
            <a:ext cx="429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1FF6DA9-008F-8B48-92A6-B652298478BF}" type="slidenum">
              <a:rPr lang="en-US" sz="1800" smtClean="0"/>
              <a:pPr/>
              <a:t>18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8584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>
                <a:ln>
                  <a:noFill/>
                </a:ln>
                <a:solidFill>
                  <a:srgbClr val="1F374B"/>
                </a:solidFill>
                <a:effectLst/>
                <a:uLnTx/>
                <a:uFillTx/>
                <a:latin typeface="Aptos Display"/>
                <a:ea typeface="Calibri"/>
                <a:cs typeface="Calibri"/>
              </a:rPr>
              <a:t>In-class activity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367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900">
                <a:solidFill>
                  <a:srgbClr val="2D2D2D"/>
                </a:solidFill>
                <a:latin typeface="Aptos"/>
              </a:defRPr>
            </a:pPr>
            <a:r>
              <a: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Delineate a watershed from a DEM and mark the outlet and topographic divide.</a:t>
            </a:r>
            <a:endParaRPr kumimoji="0" sz="1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900">
                <a:solidFill>
                  <a:srgbClr val="2D2D2D"/>
                </a:solidFill>
                <a:latin typeface="Aptos"/>
              </a:defRPr>
            </a:pPr>
            <a:r>
              <a: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List the basin characteristics you would measure and explain what each tells you.</a:t>
            </a:r>
            <a:endParaRPr kumimoji="0" sz="1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900">
                <a:solidFill>
                  <a:srgbClr val="2D2D2D"/>
                </a:solidFill>
                <a:latin typeface="Aptos"/>
              </a:defRPr>
            </a:pPr>
            <a:r>
              <a: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Assign Strahler orders to a simple drainage network.</a:t>
            </a:r>
            <a:endParaRPr kumimoji="0" sz="1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900">
                <a:solidFill>
                  <a:srgbClr val="2D2D2D"/>
                </a:solidFill>
                <a:latin typeface="Aptos"/>
              </a:defRPr>
            </a:pPr>
            <a:r>
              <a: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2D2D2D"/>
                </a:solidFill>
                <a:effectLst/>
                <a:uLnTx/>
                <a:uFillTx/>
                <a:latin typeface="Aptos"/>
                <a:ea typeface="Calibri"/>
                <a:cs typeface="Calibri"/>
              </a:rPr>
              <a:t>Write the water-balance equation for a chosen basin and list its inflow, outflow and storage terms.</a:t>
            </a:r>
            <a:endParaRPr kumimoji="0" sz="1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 sz="1900">
                <a:solidFill>
                  <a:srgbClr val="2D2D2D"/>
                </a:solidFill>
                <a:latin typeface="Aptos"/>
              </a:defRPr>
            </a:pPr>
            <a:endParaRPr kumimoji="0" sz="1900" b="0" i="0" u="none" strike="noStrike" kern="1200" cap="none" spc="0" normalizeH="0" baseline="0" noProof="0">
              <a:ln>
                <a:noFill/>
              </a:ln>
              <a:solidFill>
                <a:srgbClr val="2D2D2D"/>
              </a:solidFill>
              <a:effectLst/>
              <a:uLnTx/>
              <a:uFillTx/>
              <a:latin typeface="Aptos"/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5E29E-4BE5-B6A3-031C-2B47AFE0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90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900" b="1">
                <a:solidFill>
                  <a:srgbClr val="24445F"/>
                </a:solidFill>
                <a:latin typeface="Aptos"/>
              </a:defRPr>
            </a:pPr>
            <a:r>
              <a:rPr kumimoji="0" lang="en-US" sz="2900" b="1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Quiz: rainfall, watersheds and water budget</a:t>
            </a:r>
            <a:endParaRPr kumimoji="0" sz="2900" b="1" i="0" u="none" strike="noStrike" kern="1200" cap="none" spc="0" normalizeH="0" baseline="0" noProof="0" dirty="0">
              <a:ln>
                <a:noFill/>
              </a:ln>
              <a:solidFill>
                <a:srgbClr val="24445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005840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881360" cy="629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1. Mean annual rainfall is best calculated by: (averaging annual totals over a long record, ~30–40 years)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24445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2. A watershed is defined as: (the area that contributes flow to a specified point or outlet)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24445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3. In the Strahler system, when two streams of the same order join, the downstream segment: (increases by one order)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4. Which basin characteristic is the travel time from the hydraulically most distant point to the outlet? (time of concentration)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5. The basin water balance is written as: (∑ Inflows − ∑ Outflows = Δ Storage)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2400"/>
              </a:spcAft>
              <a:buClrTx/>
              <a:buSzTx/>
              <a:buFontTx/>
              <a:buNone/>
              <a:tabLst/>
              <a:defRPr sz="2300" b="0">
                <a:solidFill>
                  <a:srgbClr val="24445F"/>
                </a:solidFill>
                <a:latin typeface="Aptos"/>
              </a:defRPr>
            </a:pPr>
            <a:r>
              <a:rPr kumimoji="0" lang="en-US" sz="2300" b="0" i="0" u="none" strike="noStrike" kern="1200" cap="none" spc="0" normalizeH="0" baseline="0" noProof="0">
                <a:ln>
                  <a:noFill/>
                </a:ln>
                <a:solidFill>
                  <a:srgbClr val="24445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6. Why should a DEM-derived watershed boundary be checked in the field? (DEM errors, outlet position and channel continuity must be verified)</a:t>
            </a:r>
            <a:endParaRPr kumimoji="0" sz="2300" b="0" i="0" u="none" strike="noStrike" kern="1200" cap="none" spc="0" normalizeH="0" baseline="0" noProof="0" dirty="0">
              <a:ln>
                <a:noFill/>
              </a:ln>
              <a:solidFill>
                <a:srgbClr val="24445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B2EB1-2C0D-8D3E-A3AE-702CEF08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32818" y="6397913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6AA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DDE92-5D83-2267-82FD-227E41FBC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CFC0FC-AA63-EBFB-2B2F-89C82AC737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58320"/>
          </a:solidFill>
          <a:ln w="9525">
            <a:solidFill>
              <a:srgbClr val="F5832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519995-4806-1E96-D095-E1131444566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14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kumimoji="0" sz="39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9F8427-B6D7-2351-AEC1-7919A9BA394C}"/>
              </a:ext>
            </a:extLst>
          </p:cNvPr>
          <p:cNvSpPr>
            <a:spLocks noGrp="1"/>
          </p:cNvSpPr>
          <p:nvPr/>
        </p:nvSpPr>
        <p:spPr>
          <a:xfrm>
            <a:off x="9452981" y="5779585"/>
            <a:ext cx="7524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kumimoji="0" lang="en-US" sz="31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Thank You</a:t>
            </a:r>
            <a:endParaRPr kumimoji="0" sz="315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8612FF-568D-A21E-CB5C-2B9AFF0F2400}"/>
              </a:ext>
            </a:extLst>
          </p:cNvPr>
          <p:cNvSpPr>
            <a:spLocks noGrp="1"/>
          </p:cNvSpPr>
          <p:nvPr/>
        </p:nvSpPr>
        <p:spPr>
          <a:xfrm>
            <a:off x="9452981" y="1428750"/>
            <a:ext cx="2000250" cy="40005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07273E-C532-1355-8B7F-76D1F9075E8B}"/>
              </a:ext>
            </a:extLst>
          </p:cNvPr>
          <p:cNvSpPr>
            <a:spLocks noGrp="1"/>
          </p:cNvSpPr>
          <p:nvPr/>
        </p:nvSpPr>
        <p:spPr>
          <a:xfrm>
            <a:off x="9452981" y="2143125"/>
            <a:ext cx="1790700" cy="40005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D2339E-2F87-E191-1F15-67AC653C22FB}"/>
              </a:ext>
            </a:extLst>
          </p:cNvPr>
          <p:cNvSpPr>
            <a:spLocks noGrp="1"/>
          </p:cNvSpPr>
          <p:nvPr/>
        </p:nvSpPr>
        <p:spPr>
          <a:xfrm>
            <a:off x="9452981" y="2857500"/>
            <a:ext cx="1581150" cy="40005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27B8A5E-2A1B-3784-6FC8-38B9AC2BF3C8}"/>
              </a:ext>
            </a:extLst>
          </p:cNvPr>
          <p:cNvSpPr>
            <a:spLocks noGrp="1"/>
          </p:cNvSpPr>
          <p:nvPr/>
        </p:nvSpPr>
        <p:spPr>
          <a:xfrm>
            <a:off x="9452981" y="3571875"/>
            <a:ext cx="1371600" cy="40005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8D6361-F33B-C899-5904-E6A301520311}"/>
              </a:ext>
            </a:extLst>
          </p:cNvPr>
          <p:cNvSpPr>
            <a:spLocks noGrp="1"/>
          </p:cNvSpPr>
          <p:nvPr/>
        </p:nvSpPr>
        <p:spPr>
          <a:xfrm>
            <a:off x="9452981" y="4286250"/>
            <a:ext cx="1162050" cy="400050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9525">
            <a:noFill/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6A79AA-47B9-46F7-DE75-7995C181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36" y="417008"/>
            <a:ext cx="9086719" cy="511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028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1345</Words>
  <Application>Microsoft Office PowerPoint</Application>
  <DocSecurity>0</DocSecurity>
  <PresentationFormat>Widescreen</PresentationFormat>
  <Paragraphs>147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ChatGPT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Arjumand Zaidi</cp:lastModifiedBy>
  <cp:revision>94</cp:revision>
  <dcterms:created xsi:type="dcterms:W3CDTF">2026-09-05T19:04:39Z</dcterms:created>
  <dcterms:modified xsi:type="dcterms:W3CDTF">2026-10-18T17:49:07Z</dcterms:modified>
</cp:coreProperties>
</file>