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380" r:id="rId2"/>
    <p:sldId id="358" r:id="rId3"/>
    <p:sldId id="390" r:id="rId4"/>
    <p:sldId id="298" r:id="rId5"/>
    <p:sldId id="299" r:id="rId6"/>
    <p:sldId id="391" r:id="rId7"/>
    <p:sldId id="392" r:id="rId8"/>
    <p:sldId id="393" r:id="rId9"/>
    <p:sldId id="384" r:id="rId10"/>
    <p:sldId id="413" r:id="rId11"/>
    <p:sldId id="403" r:id="rId12"/>
    <p:sldId id="383" r:id="rId13"/>
    <p:sldId id="406" r:id="rId14"/>
    <p:sldId id="306" r:id="rId15"/>
    <p:sldId id="331" r:id="rId16"/>
    <p:sldId id="367" r:id="rId17"/>
    <p:sldId id="305" r:id="rId18"/>
    <p:sldId id="407" r:id="rId19"/>
    <p:sldId id="414" r:id="rId20"/>
    <p:sldId id="371" r:id="rId21"/>
    <p:sldId id="370" r:id="rId22"/>
    <p:sldId id="372" r:id="rId23"/>
    <p:sldId id="411" r:id="rId24"/>
    <p:sldId id="373" r:id="rId25"/>
    <p:sldId id="374" r:id="rId26"/>
    <p:sldId id="375" r:id="rId27"/>
    <p:sldId id="389" r:id="rId28"/>
    <p:sldId id="401" r:id="rId29"/>
    <p:sldId id="307" r:id="rId30"/>
    <p:sldId id="377" r:id="rId31"/>
    <p:sldId id="308" r:id="rId32"/>
    <p:sldId id="404" r:id="rId33"/>
    <p:sldId id="332" r:id="rId34"/>
    <p:sldId id="368" r:id="rId35"/>
    <p:sldId id="396" r:id="rId36"/>
    <p:sldId id="397" r:id="rId37"/>
    <p:sldId id="398" r:id="rId38"/>
    <p:sldId id="400" r:id="rId39"/>
    <p:sldId id="359" r:id="rId40"/>
    <p:sldId id="310" r:id="rId41"/>
    <p:sldId id="312" r:id="rId42"/>
    <p:sldId id="313" r:id="rId43"/>
    <p:sldId id="314" r:id="rId44"/>
    <p:sldId id="415" r:id="rId45"/>
    <p:sldId id="356" r:id="rId46"/>
    <p:sldId id="315" r:id="rId47"/>
    <p:sldId id="412" r:id="rId48"/>
    <p:sldId id="360" r:id="rId49"/>
    <p:sldId id="319" r:id="rId50"/>
    <p:sldId id="361" r:id="rId51"/>
    <p:sldId id="362" r:id="rId52"/>
    <p:sldId id="363" r:id="rId53"/>
    <p:sldId id="364" r:id="rId54"/>
    <p:sldId id="386" r:id="rId55"/>
    <p:sldId id="385" r:id="rId56"/>
    <p:sldId id="365" r:id="rId57"/>
    <p:sldId id="366" r:id="rId58"/>
    <p:sldId id="339" r:id="rId59"/>
    <p:sldId id="340" r:id="rId60"/>
    <p:sldId id="341" r:id="rId61"/>
    <p:sldId id="338" r:id="rId62"/>
    <p:sldId id="408" r:id="rId63"/>
    <p:sldId id="342" r:id="rId64"/>
    <p:sldId id="344" r:id="rId65"/>
    <p:sldId id="343" r:id="rId66"/>
    <p:sldId id="348" r:id="rId67"/>
    <p:sldId id="345" r:id="rId68"/>
    <p:sldId id="347" r:id="rId69"/>
    <p:sldId id="349" r:id="rId70"/>
    <p:sldId id="350" r:id="rId71"/>
    <p:sldId id="351" r:id="rId72"/>
    <p:sldId id="352" r:id="rId73"/>
    <p:sldId id="353" r:id="rId74"/>
    <p:sldId id="355" r:id="rId75"/>
    <p:sldId id="322" r:id="rId76"/>
    <p:sldId id="324" r:id="rId77"/>
    <p:sldId id="334" r:id="rId78"/>
    <p:sldId id="325" r:id="rId79"/>
    <p:sldId id="326" r:id="rId80"/>
    <p:sldId id="328" r:id="rId81"/>
    <p:sldId id="329" r:id="rId82"/>
    <p:sldId id="388" r:id="rId83"/>
    <p:sldId id="330" r:id="rId84"/>
    <p:sldId id="405" r:id="rId85"/>
    <p:sldId id="297"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2D2DD5"/>
    <a:srgbClr val="9650B2"/>
    <a:srgbClr val="18B760"/>
    <a:srgbClr val="4897C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26" autoAdjust="0"/>
    <p:restoredTop sz="80933" autoAdjust="0"/>
  </p:normalViewPr>
  <p:slideViewPr>
    <p:cSldViewPr snapToGrid="0">
      <p:cViewPr varScale="1">
        <p:scale>
          <a:sx n="86" d="100"/>
          <a:sy n="86" d="100"/>
        </p:scale>
        <p:origin x="5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0BE1B-D93D-42D2-845C-E70F46B1E94D}"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992FB-2E8B-4333-B600-846756F97F52}" type="slidenum">
              <a:rPr lang="en-US" smtClean="0"/>
              <a:t>‹#›</a:t>
            </a:fld>
            <a:endParaRPr lang="en-US"/>
          </a:p>
        </p:txBody>
      </p:sp>
    </p:spTree>
    <p:extLst>
      <p:ext uri="{BB962C8B-B14F-4D97-AF65-F5344CB8AC3E}">
        <p14:creationId xmlns:p14="http://schemas.microsoft.com/office/powerpoint/2010/main" val="2420456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146050" y="685800"/>
            <a:ext cx="6905625" cy="38846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FDBFD0-846A-4C4B-8596-F2B82BF81BF8}" type="slidenum">
              <a:rPr lang="en-US" altLang="en-US">
                <a:latin typeface="Calibri" panose="020F0502020204030204" pitchFamily="34" charset="0"/>
              </a:rPr>
              <a:pPr eaLnBrk="1" hangingPunct="1"/>
              <a:t>1</a:t>
            </a:fld>
            <a:endParaRPr lang="en-US" altLang="en-US" dirty="0">
              <a:latin typeface="Calibri" panose="020F0502020204030204" pitchFamily="34" charset="0"/>
            </a:endParaRPr>
          </a:p>
        </p:txBody>
      </p:sp>
    </p:spTree>
    <p:extLst>
      <p:ext uri="{BB962C8B-B14F-4D97-AF65-F5344CB8AC3E}">
        <p14:creationId xmlns:p14="http://schemas.microsoft.com/office/powerpoint/2010/main" val="3256749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Or prehistoric time?</a:t>
            </a:r>
          </a:p>
          <a:p>
            <a:r>
              <a:rPr lang="en-US" dirty="0"/>
              <a:t>Hazard: Arabic origin has meaning chance or luck.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E1EF1E1-9E5D-42DE-8121-CBD5A1C7424E}" type="slidenum">
              <a:rPr lang="en-US" smtClean="0"/>
              <a:pPr>
                <a:defRPr/>
              </a:pPr>
              <a:t>5</a:t>
            </a:fld>
            <a:endParaRPr lang="en-US" dirty="0"/>
          </a:p>
        </p:txBody>
      </p:sp>
    </p:spTree>
    <p:extLst>
      <p:ext uri="{BB962C8B-B14F-4D97-AF65-F5344CB8AC3E}">
        <p14:creationId xmlns:p14="http://schemas.microsoft.com/office/powerpoint/2010/main" val="2726833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hazards and disaster management in Pakistan by Khan, </a:t>
            </a:r>
            <a:r>
              <a:rPr lang="en-US" dirty="0" err="1"/>
              <a:t>Himayatullah</a:t>
            </a:r>
            <a:r>
              <a:rPr lang="en-US" dirty="0"/>
              <a:t> and Khan, </a:t>
            </a:r>
            <a:r>
              <a:rPr lang="en-US" dirty="0" err="1"/>
              <a:t>Abuturab</a:t>
            </a:r>
            <a:endParaRPr lang="en-US" dirty="0"/>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6</a:t>
            </a:fld>
            <a:endParaRPr lang="en-US"/>
          </a:p>
        </p:txBody>
      </p:sp>
    </p:spTree>
    <p:extLst>
      <p:ext uri="{BB962C8B-B14F-4D97-AF65-F5344CB8AC3E}">
        <p14:creationId xmlns:p14="http://schemas.microsoft.com/office/powerpoint/2010/main" val="2281322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Hazard: source of danger that </a:t>
            </a:r>
            <a:r>
              <a:rPr lang="en-US" u="sng" dirty="0"/>
              <a:t>may or may not</a:t>
            </a:r>
            <a:r>
              <a:rPr lang="en-US" dirty="0"/>
              <a:t> lead to a </a:t>
            </a:r>
            <a:r>
              <a:rPr lang="en-US" i="1" u="sng" dirty="0">
                <a:solidFill>
                  <a:srgbClr val="C00000"/>
                </a:solidFill>
              </a:rPr>
              <a:t>disaster</a:t>
            </a:r>
            <a:r>
              <a:rPr lang="en-US" dirty="0"/>
              <a:t> </a:t>
            </a:r>
          </a:p>
          <a:p>
            <a:pPr eaLnBrk="1" hangingPunct="1">
              <a:spcBef>
                <a:spcPct val="0"/>
              </a:spcBef>
            </a:pPr>
            <a:r>
              <a:rPr lang="en-US" dirty="0"/>
              <a:t>Hazard definition: National Governors Association, 1982</a:t>
            </a:r>
          </a:p>
          <a:p>
            <a:pPr marL="0" marR="0" indent="0" algn="l" defTabSz="914400" rtl="0" eaLnBrk="1" fontAlgn="auto" latinLnBrk="0" hangingPunct="1">
              <a:lnSpc>
                <a:spcPct val="100000"/>
              </a:lnSpc>
              <a:spcBef>
                <a:spcPct val="0"/>
              </a:spcBef>
              <a:spcAft>
                <a:spcPts val="0"/>
              </a:spcAft>
              <a:buClrTx/>
              <a:buSzTx/>
              <a:buFontTx/>
              <a:buNone/>
              <a:tabLst/>
              <a:defRPr/>
            </a:pPr>
            <a:r>
              <a:rPr lang="en-US" dirty="0"/>
              <a:t>Realization of risk? </a:t>
            </a:r>
          </a:p>
          <a:p>
            <a:pPr eaLnBrk="1" hangingPunct="1">
              <a:spcBef>
                <a:spcPct val="0"/>
              </a:spcBef>
            </a:pPr>
            <a:endParaRPr lang="en-US" dirty="0"/>
          </a:p>
        </p:txBody>
      </p:sp>
      <p:sp>
        <p:nvSpPr>
          <p:cNvPr id="1741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D7CE24E-1C46-48DB-8A71-BD9A54314CA5}" type="slidenum">
              <a:rPr lang="en-US">
                <a:cs typeface="Arial" charset="0"/>
              </a:rPr>
              <a:pPr fontAlgn="base">
                <a:spcBef>
                  <a:spcPct val="0"/>
                </a:spcBef>
                <a:spcAft>
                  <a:spcPct val="0"/>
                </a:spcAft>
                <a:defRPr/>
              </a:pPr>
              <a:t>7</a:t>
            </a:fld>
            <a:endParaRPr lang="en-US">
              <a:cs typeface="Arial" charset="0"/>
            </a:endParaRPr>
          </a:p>
        </p:txBody>
      </p:sp>
    </p:spTree>
    <p:extLst>
      <p:ext uri="{BB962C8B-B14F-4D97-AF65-F5344CB8AC3E}">
        <p14:creationId xmlns:p14="http://schemas.microsoft.com/office/powerpoint/2010/main" val="2550887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p:cNvSpPr>
          <p:nvPr>
            <p:ph type="sldImg"/>
          </p:nvPr>
        </p:nvSpPr>
        <p:spPr bwMode="auto">
          <a:noFill/>
          <a:ln>
            <a:solidFill>
              <a:srgbClr val="000000"/>
            </a:solidFill>
            <a:miter lim="800000"/>
            <a:headEnd/>
            <a:tailEnd/>
          </a:ln>
        </p:spPr>
      </p:sp>
      <p:sp>
        <p:nvSpPr>
          <p:cNvPr id="399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http://unisdr.org/files/7817_UNISDRTerminologyEnglish.pdf </a:t>
            </a:r>
          </a:p>
          <a:p>
            <a:pPr eaLnBrk="1" hangingPunct="1">
              <a:spcBef>
                <a:spcPct val="0"/>
              </a:spcBef>
            </a:pPr>
            <a:r>
              <a:rPr lang="en-US" dirty="0"/>
              <a:t>The definition of disaster risk reflects the concept of disasters as the outcome of continuously present conditions of risk. Disaster risk comprises different types of potential losses which are often difficult to quantify. Nevertheless, with knowledge of the prevailing hazards and the patterns of population and socio-economic development, disaster risks can be assessed and mapped, in broad terms at least.</a:t>
            </a:r>
          </a:p>
          <a:p>
            <a:pPr eaLnBrk="1" hangingPunct="1">
              <a:spcBef>
                <a:spcPct val="0"/>
              </a:spcBef>
            </a:pPr>
            <a:endParaRPr lang="en-US" dirty="0"/>
          </a:p>
          <a:p>
            <a:pPr eaLnBrk="1" hangingPunct="1">
              <a:spcBef>
                <a:spcPct val="0"/>
              </a:spcBef>
            </a:pPr>
            <a:r>
              <a:rPr lang="en-US" dirty="0"/>
              <a:t>The IFRC publishes every year a World Disaster Report, which describes remarkable disasters or crises and the characteristics of the disasters of the last decade </a:t>
            </a:r>
          </a:p>
          <a:p>
            <a:pPr>
              <a:lnSpc>
                <a:spcPct val="114000"/>
              </a:lnSpc>
              <a:spcBef>
                <a:spcPts val="1200"/>
              </a:spcBef>
              <a:spcAft>
                <a:spcPts val="1200"/>
              </a:spcAft>
            </a:pPr>
            <a:endParaRPr lang="en-US" dirty="0"/>
          </a:p>
          <a:p>
            <a:pPr>
              <a:lnSpc>
                <a:spcPct val="114000"/>
              </a:lnSpc>
              <a:spcBef>
                <a:spcPts val="1200"/>
              </a:spcBef>
              <a:spcAft>
                <a:spcPts val="1200"/>
              </a:spcAft>
            </a:pPr>
            <a:endParaRPr lang="en-US" dirty="0"/>
          </a:p>
          <a:p>
            <a:pPr>
              <a:spcAft>
                <a:spcPts val="600"/>
              </a:spcAft>
            </a:pPr>
            <a:endParaRPr lang="en-US" dirty="0"/>
          </a:p>
          <a:p>
            <a:pPr>
              <a:spcAft>
                <a:spcPts val="600"/>
              </a:spcAft>
            </a:pPr>
            <a:endParaRPr lang="en-US" b="1" dirty="0">
              <a:solidFill>
                <a:srgbClr val="FFCC66"/>
              </a:solidFill>
            </a:endParaRPr>
          </a:p>
        </p:txBody>
      </p:sp>
      <p:sp>
        <p:nvSpPr>
          <p:cNvPr id="4" name="Slide Number Placeholder 3"/>
          <p:cNvSpPr>
            <a:spLocks noGrp="1"/>
          </p:cNvSpPr>
          <p:nvPr>
            <p:ph type="sldNum" sz="quarter" idx="5"/>
          </p:nvPr>
        </p:nvSpPr>
        <p:spPr/>
        <p:txBody>
          <a:bodyPr/>
          <a:lstStyle/>
          <a:p>
            <a:pPr>
              <a:defRPr/>
            </a:pPr>
            <a:fld id="{AF0E44EC-437F-4303-B722-94FB8730709A}" type="slidenum">
              <a:rPr lang="en-US" smtClean="0"/>
              <a:pPr>
                <a:defRPr/>
              </a:pPr>
              <a:t>8</a:t>
            </a:fld>
            <a:endParaRPr lang="en-US"/>
          </a:p>
        </p:txBody>
      </p:sp>
    </p:spTree>
    <p:extLst>
      <p:ext uri="{BB962C8B-B14F-4D97-AF65-F5344CB8AC3E}">
        <p14:creationId xmlns:p14="http://schemas.microsoft.com/office/powerpoint/2010/main" val="2971573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t>Probability of hazard</a:t>
            </a:r>
          </a:p>
        </p:txBody>
      </p:sp>
      <p:sp>
        <p:nvSpPr>
          <p:cNvPr id="3686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95F415B-9C1C-494A-A1CD-EBE5110935AA}" type="slidenum">
              <a:rPr lang="en-US">
                <a:cs typeface="Arial" charset="0"/>
              </a:rPr>
              <a:pPr fontAlgn="base">
                <a:spcBef>
                  <a:spcPct val="0"/>
                </a:spcBef>
                <a:spcAft>
                  <a:spcPct val="0"/>
                </a:spcAft>
              </a:pPr>
              <a:t>9</a:t>
            </a:fld>
            <a:endParaRPr lang="en-US">
              <a:cs typeface="Arial" charset="0"/>
            </a:endParaRPr>
          </a:p>
        </p:txBody>
      </p:sp>
    </p:spTree>
    <p:extLst>
      <p:ext uri="{BB962C8B-B14F-4D97-AF65-F5344CB8AC3E}">
        <p14:creationId xmlns:p14="http://schemas.microsoft.com/office/powerpoint/2010/main" val="216458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Source: CBSE, India</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10</a:t>
            </a:fld>
            <a:endParaRPr lang="en-US"/>
          </a:p>
        </p:txBody>
      </p:sp>
    </p:spTree>
    <p:extLst>
      <p:ext uri="{BB962C8B-B14F-4D97-AF65-F5344CB8AC3E}">
        <p14:creationId xmlns:p14="http://schemas.microsoft.com/office/powerpoint/2010/main" val="38264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http://i0.wp.com/unicefstories.files.wordpress.com/2014/03/cc-risk-assessment.png</a:t>
            </a:r>
          </a:p>
        </p:txBody>
      </p:sp>
      <p:sp>
        <p:nvSpPr>
          <p:cNvPr id="4" name="Slide Number Placeholder 3"/>
          <p:cNvSpPr>
            <a:spLocks noGrp="1"/>
          </p:cNvSpPr>
          <p:nvPr>
            <p:ph type="sldNum" sz="quarter" idx="10"/>
          </p:nvPr>
        </p:nvSpPr>
        <p:spPr/>
        <p:txBody>
          <a:bodyPr/>
          <a:lstStyle/>
          <a:p>
            <a:fld id="{928992FB-2E8B-4333-B600-846756F97F52}" type="slidenum">
              <a:rPr lang="en-US" smtClean="0"/>
              <a:t>11</a:t>
            </a:fld>
            <a:endParaRPr lang="en-US"/>
          </a:p>
        </p:txBody>
      </p:sp>
    </p:spTree>
    <p:extLst>
      <p:ext uri="{BB962C8B-B14F-4D97-AF65-F5344CB8AC3E}">
        <p14:creationId xmlns:p14="http://schemas.microsoft.com/office/powerpoint/2010/main" val="343632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a:lnSpc>
                <a:spcPct val="114000"/>
              </a:lnSpc>
            </a:pPr>
            <a:r>
              <a:rPr lang="en-US" dirty="0">
                <a:solidFill>
                  <a:srgbClr val="FF0000"/>
                </a:solidFill>
              </a:rPr>
              <a:t>A hazard is </a:t>
            </a:r>
            <a:r>
              <a:rPr lang="en-US" u="sng" dirty="0">
                <a:solidFill>
                  <a:srgbClr val="FF0000"/>
                </a:solidFill>
              </a:rPr>
              <a:t>disastrous</a:t>
            </a:r>
            <a:r>
              <a:rPr lang="en-US" dirty="0">
                <a:solidFill>
                  <a:srgbClr val="FF0000"/>
                </a:solidFill>
              </a:rPr>
              <a:t> only when it affects people, their properties and activities</a:t>
            </a:r>
          </a:p>
          <a:p>
            <a:pPr>
              <a:lnSpc>
                <a:spcPct val="114000"/>
              </a:lnSpc>
            </a:pPr>
            <a:r>
              <a:rPr lang="en-US" dirty="0"/>
              <a:t>For example; an earthquake in an uninhabited desert cannot be considered a disaster, no matter how strong the intensities produced </a:t>
            </a:r>
          </a:p>
          <a:p>
            <a:pPr>
              <a:spcBef>
                <a:spcPct val="0"/>
              </a:spcBef>
            </a:pPr>
            <a:endParaRPr lang="en-US" dirty="0"/>
          </a:p>
        </p:txBody>
      </p:sp>
      <p:sp>
        <p:nvSpPr>
          <p:cNvPr id="348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75336FD-BFE7-45EB-8392-598CBAE0EA24}" type="slidenum">
              <a:rPr lang="en-US">
                <a:cs typeface="Arial" charset="0"/>
              </a:rPr>
              <a:pPr fontAlgn="base">
                <a:spcBef>
                  <a:spcPct val="0"/>
                </a:spcBef>
                <a:spcAft>
                  <a:spcPct val="0"/>
                </a:spcAft>
              </a:pPr>
              <a:t>12</a:t>
            </a:fld>
            <a:endParaRPr lang="en-US">
              <a:cs typeface="Arial" charset="0"/>
            </a:endParaRPr>
          </a:p>
        </p:txBody>
      </p:sp>
    </p:spTree>
    <p:extLst>
      <p:ext uri="{BB962C8B-B14F-4D97-AF65-F5344CB8AC3E}">
        <p14:creationId xmlns:p14="http://schemas.microsoft.com/office/powerpoint/2010/main" val="918151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t>Probability of hazard</a:t>
            </a:r>
          </a:p>
        </p:txBody>
      </p:sp>
      <p:sp>
        <p:nvSpPr>
          <p:cNvPr id="3686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95F415B-9C1C-494A-A1CD-EBE5110935AA}" type="slidenum">
              <a:rPr lang="en-US">
                <a:cs typeface="Arial" charset="0"/>
              </a:rPr>
              <a:pPr fontAlgn="base">
                <a:spcBef>
                  <a:spcPct val="0"/>
                </a:spcBef>
                <a:spcAft>
                  <a:spcPct val="0"/>
                </a:spcAft>
              </a:pPr>
              <a:t>13</a:t>
            </a:fld>
            <a:endParaRPr lang="en-US">
              <a:cs typeface="Arial" charset="0"/>
            </a:endParaRPr>
          </a:p>
        </p:txBody>
      </p:sp>
    </p:spTree>
    <p:extLst>
      <p:ext uri="{BB962C8B-B14F-4D97-AF65-F5344CB8AC3E}">
        <p14:creationId xmlns:p14="http://schemas.microsoft.com/office/powerpoint/2010/main" val="1538335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CBSE, India</a:t>
            </a:r>
          </a:p>
          <a:p>
            <a:endParaRPr lang="en-US" dirty="0"/>
          </a:p>
        </p:txBody>
      </p:sp>
      <p:sp>
        <p:nvSpPr>
          <p:cNvPr id="4" name="Slide Number Placeholder 3"/>
          <p:cNvSpPr>
            <a:spLocks noGrp="1"/>
          </p:cNvSpPr>
          <p:nvPr>
            <p:ph type="sldNum" sz="quarter" idx="5"/>
          </p:nvPr>
        </p:nvSpPr>
        <p:spPr/>
        <p:txBody>
          <a:bodyPr/>
          <a:lstStyle/>
          <a:p>
            <a:pPr>
              <a:defRPr/>
            </a:pPr>
            <a:fld id="{E437B0F6-068C-4A23-8C0F-0B25876D7F3E}" type="slidenum">
              <a:rPr lang="en-US" smtClean="0"/>
              <a:pPr>
                <a:defRPr/>
              </a:pPr>
              <a:t>14</a:t>
            </a:fld>
            <a:endParaRPr lang="en-US"/>
          </a:p>
        </p:txBody>
      </p:sp>
    </p:spTree>
    <p:extLst>
      <p:ext uri="{BB962C8B-B14F-4D97-AF65-F5344CB8AC3E}">
        <p14:creationId xmlns:p14="http://schemas.microsoft.com/office/powerpoint/2010/main" val="1288441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CBSE, India</a:t>
            </a:r>
          </a:p>
          <a:p>
            <a:r>
              <a:rPr lang="en-US" dirty="0"/>
              <a:t>Condition determined by physical, social, economic and environmental factors that increase the susceptibility of a community to the impact of hazards.</a:t>
            </a:r>
          </a:p>
          <a:p>
            <a:r>
              <a:rPr lang="en-US" dirty="0"/>
              <a:t>Physical vulnerability: based on the physical condition of people and elements at risk.</a:t>
            </a:r>
          </a:p>
          <a:p>
            <a:r>
              <a:rPr lang="en-US" dirty="0"/>
              <a:t>Degree to which a population is affected by a hazard not only depends on physical vulnerability but also on social vulnerability of a community. For example, people who are poor and living in the sea coast don’t have the money to construct strong concrete houses. They are generally at risk and lose their shelters when ever there is strong wind or cyclone. </a:t>
            </a:r>
          </a:p>
          <a:p>
            <a:endParaRPr lang="en-US" dirty="0"/>
          </a:p>
        </p:txBody>
      </p:sp>
      <p:sp>
        <p:nvSpPr>
          <p:cNvPr id="4" name="Slide Number Placeholder 3"/>
          <p:cNvSpPr>
            <a:spLocks noGrp="1"/>
          </p:cNvSpPr>
          <p:nvPr>
            <p:ph type="sldNum" sz="quarter" idx="5"/>
          </p:nvPr>
        </p:nvSpPr>
        <p:spPr/>
        <p:txBody>
          <a:bodyPr/>
          <a:lstStyle/>
          <a:p>
            <a:pPr>
              <a:defRPr/>
            </a:pPr>
            <a:fld id="{E437B0F6-068C-4A23-8C0F-0B25876D7F3E}" type="slidenum">
              <a:rPr lang="en-US" smtClean="0"/>
              <a:pPr>
                <a:defRPr/>
              </a:pPr>
              <a:t>15</a:t>
            </a:fld>
            <a:endParaRPr lang="en-US"/>
          </a:p>
        </p:txBody>
      </p:sp>
    </p:spTree>
    <p:extLst>
      <p:ext uri="{BB962C8B-B14F-4D97-AF65-F5344CB8AC3E}">
        <p14:creationId xmlns:p14="http://schemas.microsoft.com/office/powerpoint/2010/main" val="771625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aspects of vulnerability, arising from various physical, social, economic and environmental factors. </a:t>
            </a:r>
          </a:p>
          <a:p>
            <a:r>
              <a:rPr lang="en-US" dirty="0"/>
              <a:t>Examples:. </a:t>
            </a:r>
          </a:p>
        </p:txBody>
      </p:sp>
      <p:sp>
        <p:nvSpPr>
          <p:cNvPr id="4" name="Slide Number Placeholder 3"/>
          <p:cNvSpPr>
            <a:spLocks noGrp="1"/>
          </p:cNvSpPr>
          <p:nvPr>
            <p:ph type="sldNum" sz="quarter" idx="10"/>
          </p:nvPr>
        </p:nvSpPr>
        <p:spPr/>
        <p:txBody>
          <a:bodyPr/>
          <a:lstStyle/>
          <a:p>
            <a:fld id="{928992FB-2E8B-4333-B600-846756F97F52}" type="slidenum">
              <a:rPr lang="en-US" smtClean="0"/>
              <a:t>16</a:t>
            </a:fld>
            <a:endParaRPr lang="en-US"/>
          </a:p>
        </p:txBody>
      </p:sp>
    </p:spTree>
    <p:extLst>
      <p:ext uri="{BB962C8B-B14F-4D97-AF65-F5344CB8AC3E}">
        <p14:creationId xmlns:p14="http://schemas.microsoft.com/office/powerpoint/2010/main" val="4061935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TextEdit="1"/>
          </p:cNvSpPr>
          <p:nvPr>
            <p:ph type="sldImg"/>
          </p:nvPr>
        </p:nvSpPr>
        <p:spPr bwMode="auto">
          <a:noFill/>
          <a:ln>
            <a:solidFill>
              <a:srgbClr val="000000"/>
            </a:solidFill>
            <a:miter lim="800000"/>
            <a:headEnd/>
            <a:tailEnd/>
          </a:ln>
        </p:spPr>
      </p:sp>
      <p:sp>
        <p:nvSpPr>
          <p:cNvPr id="31746"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CBSE: Central Board of Secondary Education India. </a:t>
            </a:r>
          </a:p>
        </p:txBody>
      </p:sp>
    </p:spTree>
    <p:extLst>
      <p:ext uri="{BB962C8B-B14F-4D97-AF65-F5344CB8AC3E}">
        <p14:creationId xmlns:p14="http://schemas.microsoft.com/office/powerpoint/2010/main" val="1001792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p:cNvSpPr>
          <p:nvPr>
            <p:ph type="sldImg"/>
          </p:nvPr>
        </p:nvSpPr>
        <p:spPr bwMode="auto">
          <a:noFill/>
          <a:ln>
            <a:solidFill>
              <a:srgbClr val="000000"/>
            </a:solidFill>
            <a:miter lim="800000"/>
            <a:headEnd/>
            <a:tailEnd/>
          </a:ln>
        </p:spPr>
      </p:sp>
      <p:sp>
        <p:nvSpPr>
          <p:cNvPr id="5529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Cees </a:t>
            </a:r>
            <a:r>
              <a:rPr lang="en-US" dirty="0" err="1"/>
              <a:t>Westen</a:t>
            </a:r>
            <a:r>
              <a:rPr lang="en-US" dirty="0"/>
              <a:t> notes (ITC)</a:t>
            </a:r>
          </a:p>
          <a:p>
            <a:pPr eaLnBrk="1" hangingPunct="1">
              <a:spcBef>
                <a:spcPct val="0"/>
              </a:spcBef>
            </a:pPr>
            <a:endParaRPr lang="en-US" dirty="0"/>
          </a:p>
          <a:p>
            <a:pPr eaLnBrk="1" hangingPunct="1">
              <a:spcBef>
                <a:spcPct val="0"/>
              </a:spcBef>
            </a:pPr>
            <a:r>
              <a:rPr lang="en-US" dirty="0"/>
              <a:t>Non-structural physical damages: This can affect or destroy vital aspects of a</a:t>
            </a:r>
            <a:r>
              <a:rPr lang="en-US" baseline="0" dirty="0"/>
              <a:t> </a:t>
            </a:r>
            <a:r>
              <a:rPr lang="en-US" dirty="0"/>
              <a:t>hospital including those directly related to its function, without significantly affecting the</a:t>
            </a:r>
            <a:r>
              <a:rPr lang="en-US" baseline="0" dirty="0"/>
              <a:t> </a:t>
            </a:r>
            <a:r>
              <a:rPr lang="en-US" dirty="0"/>
              <a:t>structural components. Thus, in an earthquake, the external appearance of a hospital might be</a:t>
            </a:r>
            <a:r>
              <a:rPr lang="en-US" baseline="0" dirty="0"/>
              <a:t> </a:t>
            </a:r>
            <a:r>
              <a:rPr lang="en-US" dirty="0"/>
              <a:t>unaffected, but it may not be able to care for patients if the internal facilities have been</a:t>
            </a:r>
            <a:r>
              <a:rPr lang="en-US" baseline="0" dirty="0"/>
              <a:t> </a:t>
            </a:r>
            <a:r>
              <a:rPr lang="en-US" dirty="0"/>
              <a:t>damaged.</a:t>
            </a:r>
            <a:endParaRPr lang="en-IN" dirty="0"/>
          </a:p>
        </p:txBody>
      </p:sp>
      <p:sp>
        <p:nvSpPr>
          <p:cNvPr id="2560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B02E791-9355-497F-AE8C-7009C7034A0C}" type="slidenum">
              <a:rPr lang="en-US">
                <a:cs typeface="Arial" charset="0"/>
              </a:rPr>
              <a:pPr fontAlgn="base">
                <a:spcBef>
                  <a:spcPct val="0"/>
                </a:spcBef>
                <a:spcAft>
                  <a:spcPct val="0"/>
                </a:spcAft>
                <a:defRPr/>
              </a:pPr>
              <a:t>18</a:t>
            </a:fld>
            <a:endParaRPr lang="en-US">
              <a:cs typeface="Arial" charset="0"/>
            </a:endParaRPr>
          </a:p>
        </p:txBody>
      </p:sp>
    </p:spTree>
    <p:extLst>
      <p:ext uri="{BB962C8B-B14F-4D97-AF65-F5344CB8AC3E}">
        <p14:creationId xmlns:p14="http://schemas.microsoft.com/office/powerpoint/2010/main" val="3833266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https://preparecenter.org/wp-content/sites/default/files/20110816223804.pdf</a:t>
            </a:r>
          </a:p>
        </p:txBody>
      </p:sp>
      <p:sp>
        <p:nvSpPr>
          <p:cNvPr id="4" name="Slide Number Placeholder 3"/>
          <p:cNvSpPr>
            <a:spLocks noGrp="1"/>
          </p:cNvSpPr>
          <p:nvPr>
            <p:ph type="sldNum" sz="quarter" idx="10"/>
          </p:nvPr>
        </p:nvSpPr>
        <p:spPr/>
        <p:txBody>
          <a:bodyPr/>
          <a:lstStyle/>
          <a:p>
            <a:fld id="{928992FB-2E8B-4333-B600-846756F97F52}" type="slidenum">
              <a:rPr lang="en-US" smtClean="0"/>
              <a:t>19</a:t>
            </a:fld>
            <a:endParaRPr lang="en-US"/>
          </a:p>
        </p:txBody>
      </p:sp>
    </p:spTree>
    <p:extLst>
      <p:ext uri="{BB962C8B-B14F-4D97-AF65-F5344CB8AC3E}">
        <p14:creationId xmlns:p14="http://schemas.microsoft.com/office/powerpoint/2010/main" val="3130867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21</a:t>
            </a:fld>
            <a:endParaRPr lang="en-US" dirty="0"/>
          </a:p>
        </p:txBody>
      </p:sp>
    </p:spTree>
    <p:extLst>
      <p:ext uri="{BB962C8B-B14F-4D97-AF65-F5344CB8AC3E}">
        <p14:creationId xmlns:p14="http://schemas.microsoft.com/office/powerpoint/2010/main" val="4011521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United Nations Office for the Coordination of Humanitarian Affairs (OCHA) </a:t>
            </a:r>
          </a:p>
        </p:txBody>
      </p:sp>
      <p:sp>
        <p:nvSpPr>
          <p:cNvPr id="4" name="Slide Number Placeholder 3"/>
          <p:cNvSpPr>
            <a:spLocks noGrp="1"/>
          </p:cNvSpPr>
          <p:nvPr>
            <p:ph type="sldNum" sz="quarter" idx="10"/>
          </p:nvPr>
        </p:nvSpPr>
        <p:spPr/>
        <p:txBody>
          <a:bodyPr/>
          <a:lstStyle/>
          <a:p>
            <a:fld id="{928992FB-2E8B-4333-B600-846756F97F52}" type="slidenum">
              <a:rPr lang="en-US" smtClean="0"/>
              <a:t>22</a:t>
            </a:fld>
            <a:endParaRPr lang="en-US" dirty="0"/>
          </a:p>
        </p:txBody>
      </p:sp>
    </p:spTree>
    <p:extLst>
      <p:ext uri="{BB962C8B-B14F-4D97-AF65-F5344CB8AC3E}">
        <p14:creationId xmlns:p14="http://schemas.microsoft.com/office/powerpoint/2010/main" val="2500473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https://www.google.com/url?sa=i&amp;source=images&amp;cd=&amp;ved=2ahUKEwjQ3dP8veTkAhVBUxoKHQIyB5QQjRx6BAgBEAQ&amp;url=https%3A%2F%2Flink.springer.com%2Farticle%2F10.1007%2Fs11069-017-3124-8&amp;psig=AOvVaw1kppeLgBbWWB_cgZlY3Z4C&amp;ust=1569243557339481</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23</a:t>
            </a:fld>
            <a:endParaRPr lang="en-US" dirty="0"/>
          </a:p>
        </p:txBody>
      </p:sp>
    </p:spTree>
    <p:extLst>
      <p:ext uri="{BB962C8B-B14F-4D97-AF65-F5344CB8AC3E}">
        <p14:creationId xmlns:p14="http://schemas.microsoft.com/office/powerpoint/2010/main" val="2973715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http://www.riazhaq.com/2014/09/india-bangladesh-most-vulnerable-to.html</a:t>
            </a:r>
          </a:p>
        </p:txBody>
      </p:sp>
      <p:sp>
        <p:nvSpPr>
          <p:cNvPr id="4" name="Slide Number Placeholder 3"/>
          <p:cNvSpPr>
            <a:spLocks noGrp="1"/>
          </p:cNvSpPr>
          <p:nvPr>
            <p:ph type="sldNum" sz="quarter" idx="10"/>
          </p:nvPr>
        </p:nvSpPr>
        <p:spPr/>
        <p:txBody>
          <a:bodyPr/>
          <a:lstStyle/>
          <a:p>
            <a:fld id="{928992FB-2E8B-4333-B600-846756F97F52}" type="slidenum">
              <a:rPr lang="en-US" smtClean="0"/>
              <a:t>24</a:t>
            </a:fld>
            <a:endParaRPr lang="en-US" dirty="0"/>
          </a:p>
        </p:txBody>
      </p:sp>
    </p:spTree>
    <p:extLst>
      <p:ext uri="{BB962C8B-B14F-4D97-AF65-F5344CB8AC3E}">
        <p14:creationId xmlns:p14="http://schemas.microsoft.com/office/powerpoint/2010/main" val="3827170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http://www.ppaf.org.pk/doc/PPAF%20DISTRICT%20PRIORITIZATION%20MAP.pdf</a:t>
            </a:r>
          </a:p>
          <a:p>
            <a:r>
              <a:rPr lang="en-US" dirty="0"/>
              <a:t>PPAF- Pakistan Poverty Alleviation Fund</a:t>
            </a:r>
          </a:p>
          <a:p>
            <a:endParaRPr lang="en-US" dirty="0"/>
          </a:p>
          <a:p>
            <a:r>
              <a:rPr lang="en-US" dirty="0"/>
              <a:t>Human Development Index (HDI). </a:t>
            </a:r>
          </a:p>
        </p:txBody>
      </p:sp>
      <p:sp>
        <p:nvSpPr>
          <p:cNvPr id="4" name="Slide Number Placeholder 3"/>
          <p:cNvSpPr>
            <a:spLocks noGrp="1"/>
          </p:cNvSpPr>
          <p:nvPr>
            <p:ph type="sldNum" sz="quarter" idx="10"/>
          </p:nvPr>
        </p:nvSpPr>
        <p:spPr/>
        <p:txBody>
          <a:bodyPr/>
          <a:lstStyle/>
          <a:p>
            <a:fld id="{928992FB-2E8B-4333-B600-846756F97F52}" type="slidenum">
              <a:rPr lang="en-US" smtClean="0"/>
              <a:t>25</a:t>
            </a:fld>
            <a:endParaRPr lang="en-US" dirty="0"/>
          </a:p>
        </p:txBody>
      </p:sp>
    </p:spTree>
    <p:extLst>
      <p:ext uri="{BB962C8B-B14F-4D97-AF65-F5344CB8AC3E}">
        <p14:creationId xmlns:p14="http://schemas.microsoft.com/office/powerpoint/2010/main" val="1372636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http://reliefweb.int/sites/reliefweb.int/files/resources/PESA_DP_Dadu_2%20%281%29%2043_1.pdf</a:t>
            </a:r>
          </a:p>
        </p:txBody>
      </p:sp>
      <p:sp>
        <p:nvSpPr>
          <p:cNvPr id="4" name="Slide Number Placeholder 3"/>
          <p:cNvSpPr>
            <a:spLocks noGrp="1"/>
          </p:cNvSpPr>
          <p:nvPr>
            <p:ph type="sldNum" sz="quarter" idx="10"/>
          </p:nvPr>
        </p:nvSpPr>
        <p:spPr/>
        <p:txBody>
          <a:bodyPr/>
          <a:lstStyle/>
          <a:p>
            <a:fld id="{928992FB-2E8B-4333-B600-846756F97F52}" type="slidenum">
              <a:rPr lang="en-US" smtClean="0"/>
              <a:t>26</a:t>
            </a:fld>
            <a:endParaRPr lang="en-US" dirty="0"/>
          </a:p>
        </p:txBody>
      </p:sp>
    </p:spTree>
    <p:extLst>
      <p:ext uri="{BB962C8B-B14F-4D97-AF65-F5344CB8AC3E}">
        <p14:creationId xmlns:p14="http://schemas.microsoft.com/office/powerpoint/2010/main" val="3632014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Under this framework, a highly vulnerable system would be one that is highly sensitive to modest changes in climate.</a:t>
            </a:r>
            <a:endParaRPr lang="en-US" dirty="0"/>
          </a:p>
          <a:p>
            <a:r>
              <a:rPr lang="en-US" dirty="0"/>
              <a:t>Integrated vulnerability index</a:t>
            </a:r>
          </a:p>
          <a:p>
            <a:r>
              <a:rPr lang="en-US" sz="1200" b="0" i="0" kern="1200" dirty="0">
                <a:solidFill>
                  <a:schemeClr val="tx1"/>
                </a:solidFill>
                <a:effectLst/>
                <a:latin typeface="+mn-lt"/>
                <a:ea typeface="+mn-ea"/>
                <a:cs typeface="+mn-cs"/>
              </a:rPr>
              <a:t>IPCC: Intergovernmental Panel on Climate Change.</a:t>
            </a:r>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27</a:t>
            </a:fld>
            <a:endParaRPr lang="en-US" dirty="0"/>
          </a:p>
        </p:txBody>
      </p:sp>
    </p:spTree>
    <p:extLst>
      <p:ext uri="{BB962C8B-B14F-4D97-AF65-F5344CB8AC3E}">
        <p14:creationId xmlns:p14="http://schemas.microsoft.com/office/powerpoint/2010/main" val="2606478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Nations International Strategy for </a:t>
            </a:r>
            <a:r>
              <a:rPr lang="en-US"/>
              <a:t>Disaster Reduction</a:t>
            </a:r>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28</a:t>
            </a:fld>
            <a:endParaRPr lang="en-US" dirty="0"/>
          </a:p>
        </p:txBody>
      </p:sp>
    </p:spTree>
    <p:extLst>
      <p:ext uri="{BB962C8B-B14F-4D97-AF65-F5344CB8AC3E}">
        <p14:creationId xmlns:p14="http://schemas.microsoft.com/office/powerpoint/2010/main" val="4254698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p:cNvSpPr>
          <p:nvPr>
            <p:ph type="sldImg"/>
          </p:nvPr>
        </p:nvSpPr>
        <p:spPr bwMode="auto">
          <a:noFill/>
          <a:ln>
            <a:solidFill>
              <a:srgbClr val="000000"/>
            </a:solidFill>
            <a:miter lim="800000"/>
            <a:headEnd/>
            <a:tailEnd/>
          </a:ln>
        </p:spPr>
      </p:sp>
      <p:sp>
        <p:nvSpPr>
          <p:cNvPr id="3584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http://www.memphis.edu/cait/pdfs/Phases_of_Emergency_Mngt_FINAL.pdf</a:t>
            </a:r>
          </a:p>
        </p:txBody>
      </p:sp>
      <p:sp>
        <p:nvSpPr>
          <p:cNvPr id="4" name="Slide Number Placeholder 3"/>
          <p:cNvSpPr>
            <a:spLocks noGrp="1"/>
          </p:cNvSpPr>
          <p:nvPr>
            <p:ph type="sldNum" sz="quarter" idx="5"/>
          </p:nvPr>
        </p:nvSpPr>
        <p:spPr/>
        <p:txBody>
          <a:bodyPr/>
          <a:lstStyle/>
          <a:p>
            <a:pPr>
              <a:defRPr/>
            </a:pPr>
            <a:fld id="{F693EBA6-2F90-4366-B2FE-95D3C76F698A}" type="slidenum">
              <a:rPr lang="en-US" smtClean="0"/>
              <a:pPr>
                <a:defRPr/>
              </a:pPr>
              <a:t>29</a:t>
            </a:fld>
            <a:endParaRPr lang="en-US" dirty="0"/>
          </a:p>
        </p:txBody>
      </p:sp>
    </p:spTree>
    <p:extLst>
      <p:ext uri="{BB962C8B-B14F-4D97-AF65-F5344CB8AC3E}">
        <p14:creationId xmlns:p14="http://schemas.microsoft.com/office/powerpoint/2010/main" val="316639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Natural hazards and disaster</a:t>
            </a:r>
            <a:r>
              <a:rPr lang="en-US" baseline="0" dirty="0"/>
              <a:t> </a:t>
            </a:r>
            <a:r>
              <a:rPr lang="en-US" dirty="0"/>
              <a:t>management in Pakistan</a:t>
            </a:r>
            <a:r>
              <a:rPr lang="en-US" baseline="0" dirty="0"/>
              <a:t> by </a:t>
            </a:r>
            <a:r>
              <a:rPr lang="en-US" dirty="0"/>
              <a:t>Khan, </a:t>
            </a:r>
            <a:r>
              <a:rPr lang="en-US" dirty="0" err="1"/>
              <a:t>Himayatullah</a:t>
            </a:r>
            <a:r>
              <a:rPr lang="en-US" dirty="0"/>
              <a:t> and Khan, </a:t>
            </a:r>
            <a:r>
              <a:rPr lang="en-US" dirty="0" err="1"/>
              <a:t>Abuturab</a:t>
            </a:r>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30</a:t>
            </a:fld>
            <a:endParaRPr lang="en-US"/>
          </a:p>
        </p:txBody>
      </p:sp>
    </p:spTree>
    <p:extLst>
      <p:ext uri="{BB962C8B-B14F-4D97-AF65-F5344CB8AC3E}">
        <p14:creationId xmlns:p14="http://schemas.microsoft.com/office/powerpoint/2010/main" val="4209537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CBSE, India, </a:t>
            </a:r>
            <a:r>
              <a:rPr lang="en-US" dirty="0" err="1"/>
              <a:t>Westen</a:t>
            </a:r>
            <a:endParaRPr lang="en-US" dirty="0"/>
          </a:p>
          <a:p>
            <a:r>
              <a:rPr lang="en-US" dirty="0"/>
              <a:t>Resources, means and strengths which exist in households and communities and which enable them to cope with, withstand, prepare for, prevent, mitigate or quickly recover from a disaster</a:t>
            </a:r>
          </a:p>
        </p:txBody>
      </p:sp>
      <p:sp>
        <p:nvSpPr>
          <p:cNvPr id="4" name="Slide Number Placeholder 3"/>
          <p:cNvSpPr>
            <a:spLocks noGrp="1"/>
          </p:cNvSpPr>
          <p:nvPr>
            <p:ph type="sldNum" sz="quarter" idx="5"/>
          </p:nvPr>
        </p:nvSpPr>
        <p:spPr/>
        <p:txBody>
          <a:bodyPr/>
          <a:lstStyle/>
          <a:p>
            <a:pPr>
              <a:defRPr/>
            </a:pPr>
            <a:fld id="{7C72D4A6-07E6-49AE-B334-48C3F485AF04}" type="slidenum">
              <a:rPr lang="en-US" smtClean="0"/>
              <a:pPr>
                <a:defRPr/>
              </a:pPr>
              <a:t>31</a:t>
            </a:fld>
            <a:endParaRPr lang="en-US"/>
          </a:p>
        </p:txBody>
      </p:sp>
    </p:spTree>
    <p:extLst>
      <p:ext uri="{BB962C8B-B14F-4D97-AF65-F5344CB8AC3E}">
        <p14:creationId xmlns:p14="http://schemas.microsoft.com/office/powerpoint/2010/main" val="38291380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Hurricane had</a:t>
            </a:r>
            <a:r>
              <a:rPr lang="en-US" baseline="0" dirty="0"/>
              <a:t> landfall in Florida. It was also the most intense hurricane (category 5) to strike the continental United States since Katrina in 2005</a:t>
            </a:r>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32</a:t>
            </a:fld>
            <a:endParaRPr lang="en-US"/>
          </a:p>
        </p:txBody>
      </p:sp>
    </p:spTree>
    <p:extLst>
      <p:ext uri="{BB962C8B-B14F-4D97-AF65-F5344CB8AC3E}">
        <p14:creationId xmlns:p14="http://schemas.microsoft.com/office/powerpoint/2010/main" val="24230553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7C72D4A6-07E6-49AE-B334-48C3F485AF04}" type="slidenum">
              <a:rPr lang="en-US" smtClean="0"/>
              <a:pPr>
                <a:defRPr/>
              </a:pPr>
              <a:t>33</a:t>
            </a:fld>
            <a:endParaRPr lang="en-US"/>
          </a:p>
        </p:txBody>
      </p:sp>
    </p:spTree>
    <p:extLst>
      <p:ext uri="{BB962C8B-B14F-4D97-AF65-F5344CB8AC3E}">
        <p14:creationId xmlns:p14="http://schemas.microsoft.com/office/powerpoint/2010/main" val="185810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Capacity: People whose houses have been destroyed by the cyclone or crops</a:t>
            </a:r>
            <a:r>
              <a:rPr lang="en-US" baseline="0" dirty="0"/>
              <a:t> </a:t>
            </a:r>
            <a:r>
              <a:rPr lang="en-US" dirty="0"/>
              <a:t>have been destroyed by the flood can salvage things from their homes and from their</a:t>
            </a:r>
            <a:r>
              <a:rPr lang="en-US" baseline="0" dirty="0"/>
              <a:t> </a:t>
            </a:r>
            <a:r>
              <a:rPr lang="en-US" dirty="0"/>
              <a:t>farms. Some family members have skills, which enable them to find employment if</a:t>
            </a:r>
            <a:r>
              <a:rPr lang="en-US" baseline="0" dirty="0"/>
              <a:t> </a:t>
            </a:r>
            <a:r>
              <a:rPr lang="en-US" dirty="0"/>
              <a:t>they migrate, either temporarily or permanently.</a:t>
            </a:r>
          </a:p>
          <a:p>
            <a:r>
              <a:rPr lang="en-US" dirty="0"/>
              <a:t>Socio-economic Capacity: Rich people have the capacity to recover soon</a:t>
            </a:r>
            <a:r>
              <a:rPr lang="en-US" baseline="0" dirty="0"/>
              <a:t> </a:t>
            </a:r>
            <a:r>
              <a:rPr lang="en-US" dirty="0"/>
              <a:t>because of their wealth. In fact, they are seldom hit by disasters because they live in</a:t>
            </a:r>
            <a:r>
              <a:rPr lang="en-US" baseline="0" dirty="0"/>
              <a:t> </a:t>
            </a:r>
            <a:r>
              <a:rPr lang="en-US" dirty="0"/>
              <a:t>safe areas and their houses are built with stronger materials. However,</a:t>
            </a:r>
            <a:r>
              <a:rPr lang="en-US" baseline="0" dirty="0"/>
              <a:t> </a:t>
            </a:r>
            <a:r>
              <a:rPr lang="en-US" dirty="0"/>
              <a:t>even when</a:t>
            </a:r>
            <a:r>
              <a:rPr lang="en-US" baseline="0" dirty="0"/>
              <a:t> </a:t>
            </a:r>
            <a:r>
              <a:rPr lang="en-US" dirty="0"/>
              <a:t>everything is destroyed they have the capacity to cope up with it.</a:t>
            </a:r>
          </a:p>
        </p:txBody>
      </p:sp>
      <p:sp>
        <p:nvSpPr>
          <p:cNvPr id="4" name="Slide Number Placeholder 3"/>
          <p:cNvSpPr>
            <a:spLocks noGrp="1"/>
          </p:cNvSpPr>
          <p:nvPr>
            <p:ph type="sldNum" sz="quarter" idx="10"/>
          </p:nvPr>
        </p:nvSpPr>
        <p:spPr/>
        <p:txBody>
          <a:bodyPr/>
          <a:lstStyle/>
          <a:p>
            <a:fld id="{928992FB-2E8B-4333-B600-846756F97F52}" type="slidenum">
              <a:rPr lang="en-US" smtClean="0"/>
              <a:t>34</a:t>
            </a:fld>
            <a:endParaRPr lang="en-US"/>
          </a:p>
        </p:txBody>
      </p:sp>
    </p:spTree>
    <p:extLst>
      <p:ext uri="{BB962C8B-B14F-4D97-AF65-F5344CB8AC3E}">
        <p14:creationId xmlns:p14="http://schemas.microsoft.com/office/powerpoint/2010/main" val="2731896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terminology is based on the 2009 version. </a:t>
            </a:r>
          </a:p>
        </p:txBody>
      </p:sp>
      <p:sp>
        <p:nvSpPr>
          <p:cNvPr id="4" name="Slide Number Placeholder 3"/>
          <p:cNvSpPr>
            <a:spLocks noGrp="1"/>
          </p:cNvSpPr>
          <p:nvPr>
            <p:ph type="sldNum" sz="quarter" idx="10"/>
          </p:nvPr>
        </p:nvSpPr>
        <p:spPr/>
        <p:txBody>
          <a:bodyPr/>
          <a:lstStyle/>
          <a:p>
            <a:fld id="{928992FB-2E8B-4333-B600-846756F97F52}" type="slidenum">
              <a:rPr lang="en-US" smtClean="0"/>
              <a:t>35</a:t>
            </a:fld>
            <a:endParaRPr lang="en-US"/>
          </a:p>
        </p:txBody>
      </p:sp>
    </p:spTree>
    <p:extLst>
      <p:ext uri="{BB962C8B-B14F-4D97-AF65-F5344CB8AC3E}">
        <p14:creationId xmlns:p14="http://schemas.microsoft.com/office/powerpoint/2010/main" val="4052416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37</a:t>
            </a:fld>
            <a:endParaRPr lang="en-US"/>
          </a:p>
        </p:txBody>
      </p:sp>
    </p:spTree>
    <p:extLst>
      <p:ext uri="{BB962C8B-B14F-4D97-AF65-F5344CB8AC3E}">
        <p14:creationId xmlns:p14="http://schemas.microsoft.com/office/powerpoint/2010/main" val="638781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ability of people to ‘bounce back’ or recover after adversity (Smith et al.,</a:t>
            </a:r>
            <a:r>
              <a:rPr lang="en-US" baseline="0" dirty="0"/>
              <a:t> </a:t>
            </a:r>
            <a:r>
              <a:rPr lang="en-US" dirty="0"/>
              <a:t>2013)</a:t>
            </a:r>
          </a:p>
        </p:txBody>
      </p:sp>
      <p:sp>
        <p:nvSpPr>
          <p:cNvPr id="4" name="Slide Number Placeholder 3"/>
          <p:cNvSpPr>
            <a:spLocks noGrp="1"/>
          </p:cNvSpPr>
          <p:nvPr>
            <p:ph type="sldNum" sz="quarter" idx="10"/>
          </p:nvPr>
        </p:nvSpPr>
        <p:spPr/>
        <p:txBody>
          <a:bodyPr/>
          <a:lstStyle/>
          <a:p>
            <a:fld id="{928992FB-2E8B-4333-B600-846756F97F52}" type="slidenum">
              <a:rPr lang="en-US" smtClean="0"/>
              <a:t>38</a:t>
            </a:fld>
            <a:endParaRPr lang="en-US"/>
          </a:p>
        </p:txBody>
      </p:sp>
    </p:spTree>
    <p:extLst>
      <p:ext uri="{BB962C8B-B14F-4D97-AF65-F5344CB8AC3E}">
        <p14:creationId xmlns:p14="http://schemas.microsoft.com/office/powerpoint/2010/main" val="26904848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a:t>
            </a:r>
            <a:r>
              <a:rPr lang="en-US" dirty="0" err="1"/>
              <a:t>RiskCity</a:t>
            </a:r>
            <a:r>
              <a:rPr lang="en-US" dirty="0"/>
              <a:t> guidebook, ITC</a:t>
            </a:r>
          </a:p>
          <a:p>
            <a:pPr eaLnBrk="1" hangingPunct="1">
              <a:spcBef>
                <a:spcPct val="0"/>
              </a:spcBef>
            </a:pPr>
            <a:r>
              <a:rPr lang="en-US" dirty="0"/>
              <a:t>Sindh drought</a:t>
            </a:r>
            <a:r>
              <a:rPr lang="en-US" baseline="0" dirty="0"/>
              <a:t> = 2000–2002</a:t>
            </a:r>
            <a:endParaRPr lang="en-US" dirty="0"/>
          </a:p>
        </p:txBody>
      </p:sp>
      <p:sp>
        <p:nvSpPr>
          <p:cNvPr id="29699"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3973E83A-6937-4844-9CE7-865CD29FB06D}" type="slidenum">
              <a:rPr lang="en-US" sz="1200">
                <a:latin typeface="+mn-lt"/>
              </a:rPr>
              <a:pPr algn="r">
                <a:defRPr/>
              </a:pPr>
              <a:t>40</a:t>
            </a:fld>
            <a:endParaRPr lang="en-US" sz="1200">
              <a:latin typeface="+mn-lt"/>
            </a:endParaRPr>
          </a:p>
        </p:txBody>
      </p:sp>
    </p:spTree>
    <p:extLst>
      <p:ext uri="{BB962C8B-B14F-4D97-AF65-F5344CB8AC3E}">
        <p14:creationId xmlns:p14="http://schemas.microsoft.com/office/powerpoint/2010/main" val="9957807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According to the </a:t>
            </a:r>
            <a:r>
              <a:rPr lang="en-US" i="1" dirty="0"/>
              <a:t>Oxford Canadian Dictionary </a:t>
            </a:r>
            <a:r>
              <a:rPr lang="en-US" dirty="0"/>
              <a:t>(1998) an “incident” is considered to be a minor situation; an “emergency” a more serious situation; a “disaster” a yet more serious situation; and a “catastrophe” the most serious situation of all.</a:t>
            </a:r>
          </a:p>
          <a:p>
            <a:pPr eaLnBrk="1" hangingPunct="1">
              <a:spcBef>
                <a:spcPct val="0"/>
              </a:spcBef>
            </a:pPr>
            <a:r>
              <a:rPr lang="en-US" dirty="0"/>
              <a:t>Accidents are usual events whereas disasters are unusual events. </a:t>
            </a:r>
          </a:p>
          <a:p>
            <a:pPr eaLnBrk="1" hangingPunct="1">
              <a:spcBef>
                <a:spcPct val="0"/>
              </a:spcBef>
            </a:pPr>
            <a:r>
              <a:rPr lang="en-US" dirty="0"/>
              <a:t>Coping capacity: Local authorities are unable to cope b/c they are unable to meet the needs i.e. find and rescue victims, evacuation, provide other facilities, etc. and plan and pay for recovery. </a:t>
            </a:r>
          </a:p>
          <a:p>
            <a:pPr eaLnBrk="1" hangingPunct="1">
              <a:spcBef>
                <a:spcPct val="0"/>
              </a:spcBef>
            </a:pPr>
            <a:r>
              <a:rPr lang="en-US" dirty="0"/>
              <a:t>Disasters are distinguished from emergencies by the greater level of response required. We find different definitions like “at least 100 human deaths, at least 100 human injuries, or at least US $1 million economic damages. Also, you find a disaster scale (Bradford disaster scale 1-10) based on fatality defined by the number of deaths starting with 10 deaths and maximum at the destruction of the planet. </a:t>
            </a:r>
          </a:p>
          <a:p>
            <a:pPr eaLnBrk="1" hangingPunct="1">
              <a:spcBef>
                <a:spcPct val="0"/>
              </a:spcBef>
            </a:pPr>
            <a:r>
              <a:rPr lang="en-US" dirty="0"/>
              <a:t>However, in situations where no human lives are lost (such as the 1989 </a:t>
            </a:r>
            <a:r>
              <a:rPr lang="en-US" i="1" dirty="0"/>
              <a:t>Exxon Valdez </a:t>
            </a:r>
            <a:r>
              <a:rPr lang="en-US" dirty="0"/>
              <a:t>oil spill), definitions based on impact on humans become less relevant (at least regarding direct impact).</a:t>
            </a:r>
          </a:p>
          <a:p>
            <a:pPr eaLnBrk="1" hangingPunct="1">
              <a:spcBef>
                <a:spcPct val="0"/>
              </a:spcBef>
            </a:pPr>
            <a:r>
              <a:rPr lang="en-US" dirty="0"/>
              <a:t>Exxon Valdez, an oil supertanker owned by Exxon Shipping Company.</a:t>
            </a:r>
          </a:p>
          <a:p>
            <a:pPr eaLnBrk="1" hangingPunct="1">
              <a:spcBef>
                <a:spcPct val="0"/>
              </a:spcBef>
            </a:pPr>
            <a:r>
              <a:rPr lang="en-US" dirty="0"/>
              <a:t>https://www.history.com/topics/1980s/exxon-valdez-oil-spill</a:t>
            </a:r>
          </a:p>
          <a:p>
            <a:pPr eaLnBrk="1" hangingPunct="1">
              <a:spcBef>
                <a:spcPct val="0"/>
              </a:spcBef>
            </a:pPr>
            <a:endParaRPr lang="en-US" dirty="0"/>
          </a:p>
        </p:txBody>
      </p:sp>
      <p:sp>
        <p:nvSpPr>
          <p:cNvPr id="1945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C8A7ABA-FBA1-4EEA-8A4F-3D78E9428F9A}" type="slidenum">
              <a:rPr lang="en-US">
                <a:cs typeface="Arial" charset="0"/>
              </a:rPr>
              <a:pPr fontAlgn="base">
                <a:spcBef>
                  <a:spcPct val="0"/>
                </a:spcBef>
                <a:spcAft>
                  <a:spcPct val="0"/>
                </a:spcAft>
                <a:defRPr/>
              </a:pPr>
              <a:t>41</a:t>
            </a:fld>
            <a:endParaRPr lang="en-US">
              <a:cs typeface="Arial" charset="0"/>
            </a:endParaRPr>
          </a:p>
        </p:txBody>
      </p:sp>
    </p:spTree>
    <p:extLst>
      <p:ext uri="{BB962C8B-B14F-4D97-AF65-F5344CB8AC3E}">
        <p14:creationId xmlns:p14="http://schemas.microsoft.com/office/powerpoint/2010/main" val="17460281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Rot="1" noChangeAspect="1" noTextEdit="1"/>
          </p:cNvSpPr>
          <p:nvPr>
            <p:ph type="sldImg"/>
          </p:nvPr>
        </p:nvSpPr>
        <p:spPr bwMode="auto">
          <a:noFill/>
          <a:ln>
            <a:solidFill>
              <a:srgbClr val="000000"/>
            </a:solidFill>
            <a:miter lim="800000"/>
            <a:headEnd/>
            <a:tailEnd/>
          </a:ln>
        </p:spPr>
      </p:sp>
      <p:sp>
        <p:nvSpPr>
          <p:cNvPr id="4710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FEMA chapter 1 (The Federal Emergency Management Agency is an agency of the United States Department of Homeland Security)</a:t>
            </a:r>
          </a:p>
          <a:p>
            <a:pPr eaLnBrk="1" hangingPunct="1">
              <a:spcBef>
                <a:spcPct val="0"/>
              </a:spcBef>
            </a:pPr>
            <a:r>
              <a:rPr lang="en-US" dirty="0"/>
              <a:t>Imminent: </a:t>
            </a:r>
            <a:r>
              <a:rPr lang="en-US" sz="1200" b="0" i="0" kern="1200" dirty="0">
                <a:solidFill>
                  <a:schemeClr val="tx1"/>
                </a:solidFill>
                <a:effectLst/>
                <a:latin typeface="+mn-lt"/>
                <a:ea typeface="+mn-ea"/>
                <a:cs typeface="+mn-cs"/>
              </a:rPr>
              <a:t>about to happen.</a:t>
            </a:r>
            <a:endParaRPr lang="en-US" dirty="0"/>
          </a:p>
        </p:txBody>
      </p:sp>
    </p:spTree>
    <p:extLst>
      <p:ext uri="{BB962C8B-B14F-4D97-AF65-F5344CB8AC3E}">
        <p14:creationId xmlns:p14="http://schemas.microsoft.com/office/powerpoint/2010/main" val="15262272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In its annual report, titled "World Disasters Report 2008," IFRC said there is "no doubt" that HIV/AIDS matches the United Nations' definition of a disaster. </a:t>
            </a:r>
          </a:p>
          <a:p>
            <a:pPr eaLnBrk="1" hangingPunct="1">
              <a:spcBef>
                <a:spcPct val="0"/>
              </a:spcBef>
            </a:pPr>
            <a:r>
              <a:rPr lang="en-US" dirty="0"/>
              <a:t>International Federation of Red Cross and Red Crescent Societies: terms AIDS as a disaster.</a:t>
            </a:r>
          </a:p>
          <a:p>
            <a:pPr eaLnBrk="1" hangingPunct="1">
              <a:spcBef>
                <a:spcPct val="0"/>
              </a:spcBef>
            </a:pPr>
            <a:r>
              <a:rPr lang="en-US" dirty="0" err="1"/>
              <a:t>IFRC</a:t>
            </a:r>
            <a:r>
              <a:rPr lang="en-US" dirty="0"/>
              <a:t>: </a:t>
            </a:r>
            <a:r>
              <a:rPr lang="en-US" sz="1200" b="0" i="0" kern="1200" dirty="0">
                <a:solidFill>
                  <a:schemeClr val="tx1"/>
                </a:solidFill>
                <a:effectLst/>
                <a:latin typeface="+mn-lt"/>
                <a:ea typeface="+mn-ea"/>
                <a:cs typeface="+mn-cs"/>
              </a:rPr>
              <a:t>International Federation of Red Cross</a:t>
            </a:r>
            <a:endParaRPr lang="en-US" dirty="0"/>
          </a:p>
          <a:p>
            <a:pPr eaLnBrk="1" hangingPunct="1">
              <a:spcBef>
                <a:spcPct val="0"/>
              </a:spcBef>
            </a:pPr>
            <a:r>
              <a:rPr lang="en-US" dirty="0"/>
              <a:t>The financial crises that hit the world in 2008? </a:t>
            </a:r>
          </a:p>
        </p:txBody>
      </p:sp>
      <p:sp>
        <p:nvSpPr>
          <p:cNvPr id="31747"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1AABAA10-1562-47B0-9B7B-9583566A21E0}" type="slidenum">
              <a:rPr lang="en-US" sz="1200">
                <a:latin typeface="+mn-lt"/>
              </a:rPr>
              <a:pPr algn="r">
                <a:defRPr/>
              </a:pPr>
              <a:t>43</a:t>
            </a:fld>
            <a:endParaRPr lang="en-US" sz="1200">
              <a:latin typeface="+mn-lt"/>
            </a:endParaRPr>
          </a:p>
        </p:txBody>
      </p:sp>
    </p:spTree>
    <p:extLst>
      <p:ext uri="{BB962C8B-B14F-4D97-AF65-F5344CB8AC3E}">
        <p14:creationId xmlns:p14="http://schemas.microsoft.com/office/powerpoint/2010/main" val="25714244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p:cNvSpPr>
          <p:nvPr>
            <p:ph type="sldImg"/>
          </p:nvPr>
        </p:nvSpPr>
        <p:spPr bwMode="auto">
          <a:noFill/>
          <a:ln>
            <a:solidFill>
              <a:srgbClr val="000000"/>
            </a:solidFill>
            <a:miter lim="800000"/>
            <a:headEnd/>
            <a:tailEnd/>
          </a:ln>
        </p:spPr>
      </p:sp>
      <p:sp>
        <p:nvSpPr>
          <p:cNvPr id="6144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For rare yet real hazards only knowledge or opinion of experts can provide an insight (e.g. technological hazards).</a:t>
            </a:r>
          </a:p>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Source: </a:t>
            </a:r>
            <a:r>
              <a:rPr lang="en-US" dirty="0" err="1"/>
              <a:t>Cappola</a:t>
            </a:r>
            <a:r>
              <a:rPr lang="en-US" dirty="0"/>
              <a:t> Book</a:t>
            </a:r>
          </a:p>
          <a:p>
            <a:pPr eaLnBrk="1" hangingPunct="1">
              <a:spcBef>
                <a:spcPct val="0"/>
              </a:spcBef>
            </a:pPr>
            <a:endParaRPr lang="en-US" dirty="0"/>
          </a:p>
        </p:txBody>
      </p:sp>
      <p:sp>
        <p:nvSpPr>
          <p:cNvPr id="5427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9D687C1-D004-429B-A79F-794AB7C2F801}" type="slidenum">
              <a:rPr lang="en-US">
                <a:cs typeface="Arial" charset="0"/>
              </a:rPr>
              <a:pPr fontAlgn="base">
                <a:spcBef>
                  <a:spcPct val="0"/>
                </a:spcBef>
                <a:spcAft>
                  <a:spcPct val="0"/>
                </a:spcAft>
                <a:defRPr/>
              </a:pPr>
              <a:t>45</a:t>
            </a:fld>
            <a:endParaRPr lang="en-US">
              <a:cs typeface="Arial" charset="0"/>
            </a:endParaRPr>
          </a:p>
        </p:txBody>
      </p:sp>
    </p:spTree>
    <p:extLst>
      <p:ext uri="{BB962C8B-B14F-4D97-AF65-F5344CB8AC3E}">
        <p14:creationId xmlns:p14="http://schemas.microsoft.com/office/powerpoint/2010/main" val="1374781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46</a:t>
            </a:fld>
            <a:endParaRPr lang="en-US"/>
          </a:p>
        </p:txBody>
      </p:sp>
    </p:spTree>
    <p:extLst>
      <p:ext uri="{BB962C8B-B14F-4D97-AF65-F5344CB8AC3E}">
        <p14:creationId xmlns:p14="http://schemas.microsoft.com/office/powerpoint/2010/main" val="34282837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source: https://www.linkedin.com/pulse/disaster-risk-reduction-investing-where-should-count-efemena-majoroh</a:t>
            </a:r>
          </a:p>
        </p:txBody>
      </p:sp>
      <p:sp>
        <p:nvSpPr>
          <p:cNvPr id="4" name="Slide Number Placeholder 3"/>
          <p:cNvSpPr>
            <a:spLocks noGrp="1"/>
          </p:cNvSpPr>
          <p:nvPr>
            <p:ph type="sldNum" sz="quarter" idx="10"/>
          </p:nvPr>
        </p:nvSpPr>
        <p:spPr/>
        <p:txBody>
          <a:bodyPr/>
          <a:lstStyle/>
          <a:p>
            <a:fld id="{928992FB-2E8B-4333-B600-846756F97F52}" type="slidenum">
              <a:rPr lang="en-US" smtClean="0"/>
              <a:t>48</a:t>
            </a:fld>
            <a:endParaRPr lang="en-US"/>
          </a:p>
        </p:txBody>
      </p:sp>
    </p:spTree>
    <p:extLst>
      <p:ext uri="{BB962C8B-B14F-4D97-AF65-F5344CB8AC3E}">
        <p14:creationId xmlns:p14="http://schemas.microsoft.com/office/powerpoint/2010/main" val="40656999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Addresses specific issues of disaster risk: Disaster risk management aims to avoid, lessen, or transfer the adverse effects of hazards through activities and measures for prevention, mitigation and preparedness.</a:t>
            </a:r>
          </a:p>
          <a:p>
            <a:pPr eaLnBrk="1" hangingPunct="1">
              <a:spcBef>
                <a:spcPct val="0"/>
              </a:spcBef>
            </a:pPr>
            <a:endParaRPr lang="en-US" dirty="0"/>
          </a:p>
          <a:p>
            <a:pPr eaLnBrk="1" hangingPunct="1">
              <a:spcBef>
                <a:spcPct val="0"/>
              </a:spcBef>
            </a:pPr>
            <a:r>
              <a:rPr lang="en-US" dirty="0"/>
              <a:t>Disaster Risk Reduction: The concept and practice of reducing disaster risks through systematic efforts to analyze and manage the causal factors of disasters, including through reduced exposure to hazards, lessened vulnerability of people and property, wise management of land and the environment, and improved preparedness for adverse events.</a:t>
            </a:r>
          </a:p>
          <a:p>
            <a:pPr eaLnBrk="1" hangingPunct="1">
              <a:spcBef>
                <a:spcPct val="0"/>
              </a:spcBef>
            </a:pPr>
            <a:endParaRPr lang="en-US" dirty="0"/>
          </a:p>
          <a:p>
            <a:pPr eaLnBrk="1" hangingPunct="1">
              <a:spcBef>
                <a:spcPct val="0"/>
              </a:spcBef>
            </a:pPr>
            <a:r>
              <a:rPr lang="en-US" dirty="0"/>
              <a:t>Disaster Risk Reduction Plan</a:t>
            </a:r>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AC8CFDF-5A97-45B2-B2B7-187E61D1A25A}" type="slidenum">
              <a:rPr lang="en-US">
                <a:cs typeface="Arial" charset="0"/>
              </a:rPr>
              <a:pPr fontAlgn="base">
                <a:spcBef>
                  <a:spcPct val="0"/>
                </a:spcBef>
                <a:spcAft>
                  <a:spcPct val="0"/>
                </a:spcAft>
                <a:defRPr/>
              </a:pPr>
              <a:t>49</a:t>
            </a:fld>
            <a:endParaRPr lang="en-US">
              <a:cs typeface="Arial" charset="0"/>
            </a:endParaRPr>
          </a:p>
        </p:txBody>
      </p:sp>
    </p:spTree>
    <p:extLst>
      <p:ext uri="{BB962C8B-B14F-4D97-AF65-F5344CB8AC3E}">
        <p14:creationId xmlns:p14="http://schemas.microsoft.com/office/powerpoint/2010/main" val="311719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Comic Sans MS" panose="030F0702030302020204" pitchFamily="66" charset="0"/>
              </a:rPr>
              <a:t>Weather is always doing something</a:t>
            </a:r>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50</a:t>
            </a:fld>
            <a:endParaRPr lang="en-US"/>
          </a:p>
        </p:txBody>
      </p:sp>
    </p:spTree>
    <p:extLst>
      <p:ext uri="{BB962C8B-B14F-4D97-AF65-F5344CB8AC3E}">
        <p14:creationId xmlns:p14="http://schemas.microsoft.com/office/powerpoint/2010/main" val="17771058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Reference: </a:t>
            </a:r>
            <a:r>
              <a:rPr lang="en-IN" dirty="0"/>
              <a:t>George D. </a:t>
            </a:r>
            <a:r>
              <a:rPr lang="en-IN" dirty="0" err="1"/>
              <a:t>Haddow</a:t>
            </a:r>
            <a:r>
              <a:rPr lang="en-IN" dirty="0"/>
              <a:t>, Jane A. Bullock and Damon P. Coppola</a:t>
            </a:r>
          </a:p>
        </p:txBody>
      </p:sp>
      <p:sp>
        <p:nvSpPr>
          <p:cNvPr id="4608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8128B98A-3AD5-4079-BF7E-CB949EC696AE}" type="slidenum">
              <a:rPr lang="en-IN" sz="1200">
                <a:latin typeface="+mn-lt"/>
              </a:rPr>
              <a:pPr algn="r">
                <a:defRPr/>
              </a:pPr>
              <a:t>51</a:t>
            </a:fld>
            <a:endParaRPr lang="en-IN" sz="1200">
              <a:latin typeface="+mn-lt"/>
            </a:endParaRPr>
          </a:p>
        </p:txBody>
      </p:sp>
    </p:spTree>
    <p:extLst>
      <p:ext uri="{BB962C8B-B14F-4D97-AF65-F5344CB8AC3E}">
        <p14:creationId xmlns:p14="http://schemas.microsoft.com/office/powerpoint/2010/main" val="3478074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52</a:t>
            </a:fld>
            <a:endParaRPr lang="en-US"/>
          </a:p>
        </p:txBody>
      </p:sp>
    </p:spTree>
    <p:extLst>
      <p:ext uri="{BB962C8B-B14F-4D97-AF65-F5344CB8AC3E}">
        <p14:creationId xmlns:p14="http://schemas.microsoft.com/office/powerpoint/2010/main" val="3082390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53</a:t>
            </a:fld>
            <a:endParaRPr lang="en-US"/>
          </a:p>
        </p:txBody>
      </p:sp>
    </p:spTree>
    <p:extLst>
      <p:ext uri="{BB962C8B-B14F-4D97-AF65-F5344CB8AC3E}">
        <p14:creationId xmlns:p14="http://schemas.microsoft.com/office/powerpoint/2010/main" val="16870169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err="1"/>
              <a:t>Westen</a:t>
            </a:r>
            <a:r>
              <a:rPr lang="en-US" dirty="0"/>
              <a:t> Guide Book</a:t>
            </a:r>
          </a:p>
          <a:p>
            <a:r>
              <a:rPr lang="en-US" dirty="0"/>
              <a:t>Hard red line: economic losses in absolute terms (billion dollars) and Red dotted line: economic losses in relative terms (% of GDP)</a:t>
            </a:r>
          </a:p>
          <a:p>
            <a:r>
              <a:rPr lang="en-US" b="1" dirty="0"/>
              <a:t>Gross domestic product</a:t>
            </a:r>
            <a:r>
              <a:rPr lang="en-US" dirty="0"/>
              <a:t> (</a:t>
            </a:r>
            <a:r>
              <a:rPr lang="en-US" b="1" dirty="0"/>
              <a:t>GDP</a:t>
            </a:r>
            <a:r>
              <a:rPr lang="en-US" dirty="0"/>
              <a:t>) refers to the market value of all final goods and services produced within a country in a given period</a:t>
            </a:r>
          </a:p>
          <a:p>
            <a:endParaRPr lang="en-US" dirty="0"/>
          </a:p>
        </p:txBody>
      </p:sp>
      <p:sp>
        <p:nvSpPr>
          <p:cNvPr id="4" name="Slide Number Placeholder 3"/>
          <p:cNvSpPr>
            <a:spLocks noGrp="1"/>
          </p:cNvSpPr>
          <p:nvPr>
            <p:ph type="sldNum" sz="quarter" idx="5"/>
          </p:nvPr>
        </p:nvSpPr>
        <p:spPr/>
        <p:txBody>
          <a:bodyPr/>
          <a:lstStyle/>
          <a:p>
            <a:pPr>
              <a:defRPr/>
            </a:pPr>
            <a:fld id="{7E027A4F-C615-41A8-AB50-EE724A25158D}" type="slidenum">
              <a:rPr lang="en-US" smtClean="0"/>
              <a:pPr>
                <a:defRPr/>
              </a:pPr>
              <a:t>55</a:t>
            </a:fld>
            <a:endParaRPr lang="en-US"/>
          </a:p>
        </p:txBody>
      </p:sp>
    </p:spTree>
    <p:extLst>
      <p:ext uri="{BB962C8B-B14F-4D97-AF65-F5344CB8AC3E}">
        <p14:creationId xmlns:p14="http://schemas.microsoft.com/office/powerpoint/2010/main" val="20211037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TextEdit="1"/>
          </p:cNvSpPr>
          <p:nvPr>
            <p:ph type="sldImg"/>
          </p:nvPr>
        </p:nvSpPr>
        <p:spPr bwMode="auto">
          <a:noFill/>
          <a:ln>
            <a:solidFill>
              <a:srgbClr val="000000"/>
            </a:solidFill>
            <a:miter lim="800000"/>
            <a:headEnd/>
            <a:tailEnd/>
          </a:ln>
        </p:spPr>
      </p:sp>
      <p:sp>
        <p:nvSpPr>
          <p:cNvPr id="20482" name="Rectangle 3"/>
          <p:cNvSpPr>
            <a:spLocks noGrp="1"/>
          </p:cNvSpPr>
          <p:nvPr>
            <p:ph type="body" idx="1"/>
          </p:nvPr>
        </p:nvSpPr>
        <p:spPr bwMode="auto">
          <a:noFill/>
        </p:spPr>
        <p:txBody>
          <a:bodyPr wrap="square" numCol="1" anchor="t" anchorCtr="0" compatLnSpc="1">
            <a:prstTxWarp prst="textNoShape">
              <a:avLst/>
            </a:prstTxWarp>
          </a:bodyPr>
          <a:lstStyle/>
          <a:p>
            <a:r>
              <a:rPr lang="en-US" dirty="0" err="1"/>
              <a:t>Westen</a:t>
            </a:r>
            <a:r>
              <a:rPr lang="en-US" dirty="0"/>
              <a:t> Guidebook 01</a:t>
            </a:r>
          </a:p>
          <a:p>
            <a:endParaRPr lang="en-US" dirty="0"/>
          </a:p>
          <a:p>
            <a:r>
              <a:rPr lang="en-US" dirty="0"/>
              <a:t>Also see reading 1 ENGR301 </a:t>
            </a:r>
          </a:p>
        </p:txBody>
      </p:sp>
    </p:spTree>
    <p:extLst>
      <p:ext uri="{BB962C8B-B14F-4D97-AF65-F5344CB8AC3E}">
        <p14:creationId xmlns:p14="http://schemas.microsoft.com/office/powerpoint/2010/main" val="41486287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bwMode="auto">
          <a:noFill/>
          <a:ln>
            <a:solidFill>
              <a:srgbClr val="000000"/>
            </a:solidFill>
            <a:miter lim="800000"/>
            <a:headEnd/>
            <a:tailEnd/>
          </a:ln>
        </p:spPr>
      </p:sp>
      <p:sp>
        <p:nvSpPr>
          <p:cNvPr id="22530"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a:t>
            </a:r>
            <a:r>
              <a:rPr lang="en-US" dirty="0" err="1"/>
              <a:t>Westen</a:t>
            </a:r>
            <a:r>
              <a:rPr lang="en-US" dirty="0"/>
              <a:t> Guidebook 01</a:t>
            </a:r>
          </a:p>
          <a:p>
            <a:r>
              <a:rPr lang="en-US" dirty="0"/>
              <a:t>The </a:t>
            </a:r>
            <a:r>
              <a:rPr lang="en-US" b="1" dirty="0"/>
              <a:t>frequency of destructive events </a:t>
            </a:r>
            <a:r>
              <a:rPr lang="en-US" dirty="0"/>
              <a:t>related to atmospheric extremes (such as floods, drought, cyclones, and landslides) is also increasing</a:t>
            </a:r>
          </a:p>
          <a:p>
            <a:endParaRPr lang="en-US" dirty="0"/>
          </a:p>
        </p:txBody>
      </p:sp>
    </p:spTree>
    <p:extLst>
      <p:ext uri="{BB962C8B-B14F-4D97-AF65-F5344CB8AC3E}">
        <p14:creationId xmlns:p14="http://schemas.microsoft.com/office/powerpoint/2010/main" val="40587465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Capacity of people/community and environment</a:t>
            </a:r>
          </a:p>
          <a:p>
            <a:pPr eaLnBrk="1" hangingPunct="1">
              <a:spcBef>
                <a:spcPct val="0"/>
              </a:spcBef>
            </a:pPr>
            <a:r>
              <a:rPr lang="en-US" dirty="0"/>
              <a:t>Example of Vulnerability: poor people can not construct strong houses and there more susceptible to hazard.</a:t>
            </a:r>
          </a:p>
          <a:p>
            <a:pPr eaLnBrk="1" hangingPunct="1">
              <a:spcBef>
                <a:spcPct val="0"/>
              </a:spcBef>
            </a:pPr>
            <a:r>
              <a:rPr lang="en-US" dirty="0"/>
              <a:t>Capacity: Rich people have more resources and hence have capacity to recover from a disaster's impact. (resources, means, and strength to recover from a disaster)</a:t>
            </a:r>
          </a:p>
        </p:txBody>
      </p:sp>
      <p:sp>
        <p:nvSpPr>
          <p:cNvPr id="4198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6A515-7E87-4674-AD18-D5E6F1F8DE1A}" type="slidenum">
              <a:rPr lang="en-US">
                <a:cs typeface="Arial" charset="0"/>
              </a:rPr>
              <a:pPr fontAlgn="base">
                <a:spcBef>
                  <a:spcPct val="0"/>
                </a:spcBef>
                <a:spcAft>
                  <a:spcPct val="0"/>
                </a:spcAft>
                <a:defRPr/>
              </a:pPr>
              <a:t>58</a:t>
            </a:fld>
            <a:endParaRPr lang="en-US">
              <a:cs typeface="Arial" charset="0"/>
            </a:endParaRPr>
          </a:p>
        </p:txBody>
      </p:sp>
    </p:spTree>
    <p:extLst>
      <p:ext uri="{BB962C8B-B14F-4D97-AF65-F5344CB8AC3E}">
        <p14:creationId xmlns:p14="http://schemas.microsoft.com/office/powerpoint/2010/main" val="23668840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0"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property (infrastructure, possessions and assets; public, private and cultural) their services (government and nongovernment, commercial and voluntary) their livelihoods (urban and rural, formal and informal) their environment (air, water and soil; urban and rural, built and natural) </a:t>
            </a:r>
          </a:p>
          <a:p>
            <a:pPr marL="0" marR="0" indent="0" algn="l" defTabSz="914400" rtl="0" eaLnBrk="1" fontAlgn="auto" latinLnBrk="0" hangingPunct="1">
              <a:lnSpc>
                <a:spcPct val="100000"/>
              </a:lnSpc>
              <a:spcBef>
                <a:spcPct val="0"/>
              </a:spcBef>
              <a:spcAft>
                <a:spcPts val="0"/>
              </a:spcAft>
              <a:buClrTx/>
              <a:buSzTx/>
              <a:buFontTx/>
              <a:buNone/>
              <a:tabLst/>
              <a:defRPr/>
            </a:pPr>
            <a:endParaRPr lang="en-US" dirty="0"/>
          </a:p>
          <a:p>
            <a:pPr marL="0" marR="0" indent="0" algn="l" defTabSz="914400" rtl="0" eaLnBrk="1" fontAlgn="auto" latinLnBrk="0" hangingPunct="1">
              <a:lnSpc>
                <a:spcPct val="100000"/>
              </a:lnSpc>
              <a:spcBef>
                <a:spcPct val="0"/>
              </a:spcBef>
              <a:spcAft>
                <a:spcPts val="0"/>
              </a:spcAft>
              <a:buClrTx/>
              <a:buSzTx/>
              <a:buFontTx/>
              <a:buNone/>
              <a:tabLst/>
              <a:defRPr/>
            </a:pPr>
            <a:r>
              <a:rPr lang="en-US" dirty="0"/>
              <a:t>Source: http://www.who.int/hac/techguidance/tools/WHO_strategy_consecpts_in_emegency_management.pdf</a:t>
            </a:r>
          </a:p>
          <a:p>
            <a:pPr>
              <a:spcBef>
                <a:spcPct val="0"/>
              </a:spcBef>
            </a:pPr>
            <a:endParaRPr lang="en-US" dirty="0"/>
          </a:p>
        </p:txBody>
      </p:sp>
      <p:sp>
        <p:nvSpPr>
          <p:cNvPr id="5325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A646EFE9-FFFE-4184-8275-FE85242027AC}" type="slidenum">
              <a:rPr lang="en-US" sz="1200">
                <a:latin typeface="Calibri" pitchFamily="34" charset="0"/>
              </a:rPr>
              <a:pPr algn="r"/>
              <a:t>59</a:t>
            </a:fld>
            <a:endParaRPr lang="en-US" sz="1200">
              <a:latin typeface="Calibri" pitchFamily="34" charset="0"/>
            </a:endParaRPr>
          </a:p>
        </p:txBody>
      </p:sp>
    </p:spTree>
    <p:extLst>
      <p:ext uri="{BB962C8B-B14F-4D97-AF65-F5344CB8AC3E}">
        <p14:creationId xmlns:p14="http://schemas.microsoft.com/office/powerpoint/2010/main" val="33915347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60</a:t>
            </a:fld>
            <a:endParaRPr lang="en-US"/>
          </a:p>
        </p:txBody>
      </p:sp>
    </p:spTree>
    <p:extLst>
      <p:ext uri="{BB962C8B-B14F-4D97-AF65-F5344CB8AC3E}">
        <p14:creationId xmlns:p14="http://schemas.microsoft.com/office/powerpoint/2010/main" val="8955881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Source: Westen Guidebook 01</a:t>
            </a:r>
          </a:p>
        </p:txBody>
      </p:sp>
      <p:sp>
        <p:nvSpPr>
          <p:cNvPr id="4" name="Slide Number Placeholder 3"/>
          <p:cNvSpPr>
            <a:spLocks noGrp="1"/>
          </p:cNvSpPr>
          <p:nvPr>
            <p:ph type="sldNum" sz="quarter" idx="5"/>
          </p:nvPr>
        </p:nvSpPr>
        <p:spPr/>
        <p:txBody>
          <a:bodyPr/>
          <a:lstStyle/>
          <a:p>
            <a:pPr>
              <a:defRPr/>
            </a:pPr>
            <a:fld id="{A931DC89-CC5F-4C35-88B8-59320D536E39}" type="slidenum">
              <a:rPr lang="en-IN" smtClean="0"/>
              <a:pPr>
                <a:defRPr/>
              </a:pPr>
              <a:t>61</a:t>
            </a:fld>
            <a:endParaRPr lang="en-IN"/>
          </a:p>
        </p:txBody>
      </p:sp>
    </p:spTree>
    <p:extLst>
      <p:ext uri="{BB962C8B-B14F-4D97-AF65-F5344CB8AC3E}">
        <p14:creationId xmlns:p14="http://schemas.microsoft.com/office/powerpoint/2010/main" val="34232386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http://www.who.int/hac/techguidance/tools/WHO_strategy_consecpts_in_emegency_management.pdf</a:t>
            </a:r>
          </a:p>
          <a:p>
            <a:r>
              <a:rPr lang="en-US" dirty="0"/>
              <a:t>emergency operations center (EOC)</a:t>
            </a:r>
          </a:p>
          <a:p>
            <a:r>
              <a:rPr lang="en-US" dirty="0"/>
              <a:t>SAR: search and rescue</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62</a:t>
            </a:fld>
            <a:endParaRPr lang="en-US"/>
          </a:p>
        </p:txBody>
      </p:sp>
    </p:spTree>
    <p:extLst>
      <p:ext uri="{BB962C8B-B14F-4D97-AF65-F5344CB8AC3E}">
        <p14:creationId xmlns:p14="http://schemas.microsoft.com/office/powerpoint/2010/main" val="34453158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n w="0"/>
                <a:solidFill>
                  <a:schemeClr val="tx1"/>
                </a:solidFill>
                <a:effectLst>
                  <a:outerShdw blurRad="38100" dist="19050" dir="2700000" algn="tl" rotWithShape="0">
                    <a:schemeClr val="dk1">
                      <a:alpha val="40000"/>
                    </a:schemeClr>
                  </a:outerShdw>
                </a:effectLst>
              </a:rPr>
              <a:t>Can you explain with examples what should be included in above 3 types of plans?</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63</a:t>
            </a:fld>
            <a:endParaRPr lang="en-US"/>
          </a:p>
        </p:txBody>
      </p:sp>
    </p:spTree>
    <p:extLst>
      <p:ext uri="{BB962C8B-B14F-4D97-AF65-F5344CB8AC3E}">
        <p14:creationId xmlns:p14="http://schemas.microsoft.com/office/powerpoint/2010/main" val="28563360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p:spPr>
      </p:sp>
      <p:sp>
        <p:nvSpPr>
          <p:cNvPr id="5632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5632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1D3E513-33E7-4C6A-A277-257068A2EB92}" type="slidenum">
              <a:rPr lang="en-US" sz="1200">
                <a:latin typeface="Calibri" pitchFamily="34" charset="0"/>
              </a:rPr>
              <a:pPr algn="r"/>
              <a:t>64</a:t>
            </a:fld>
            <a:endParaRPr lang="en-US" sz="1200">
              <a:latin typeface="Calibri" pitchFamily="34" charset="0"/>
            </a:endParaRPr>
          </a:p>
        </p:txBody>
      </p:sp>
    </p:spTree>
    <p:extLst>
      <p:ext uri="{BB962C8B-B14F-4D97-AF65-F5344CB8AC3E}">
        <p14:creationId xmlns:p14="http://schemas.microsoft.com/office/powerpoint/2010/main" val="36034043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a:t>
            </a:r>
            <a:r>
              <a:rPr lang="en-US" dirty="0" err="1"/>
              <a:t>Westen’s</a:t>
            </a:r>
            <a:r>
              <a:rPr lang="en-US" dirty="0"/>
              <a:t> notes</a:t>
            </a:r>
          </a:p>
        </p:txBody>
      </p:sp>
      <p:sp>
        <p:nvSpPr>
          <p:cNvPr id="4" name="Slide Number Placeholder 3"/>
          <p:cNvSpPr>
            <a:spLocks noGrp="1"/>
          </p:cNvSpPr>
          <p:nvPr>
            <p:ph type="sldNum" sz="quarter" idx="10"/>
          </p:nvPr>
        </p:nvSpPr>
        <p:spPr/>
        <p:txBody>
          <a:bodyPr/>
          <a:lstStyle/>
          <a:p>
            <a:fld id="{928992FB-2E8B-4333-B600-846756F97F52}" type="slidenum">
              <a:rPr lang="en-US" smtClean="0"/>
              <a:t>65</a:t>
            </a:fld>
            <a:endParaRPr lang="en-US"/>
          </a:p>
        </p:txBody>
      </p:sp>
    </p:spTree>
    <p:extLst>
      <p:ext uri="{BB962C8B-B14F-4D97-AF65-F5344CB8AC3E}">
        <p14:creationId xmlns:p14="http://schemas.microsoft.com/office/powerpoint/2010/main" val="28047581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low-likelihood/low-consequence hazards are of least concern. And all fall in between. </a:t>
            </a:r>
          </a:p>
          <a:p>
            <a:pPr eaLnBrk="1" hangingPunct="1">
              <a:spcBef>
                <a:spcPct val="0"/>
              </a:spcBef>
            </a:pPr>
            <a:r>
              <a:rPr lang="en-US" dirty="0"/>
              <a:t>The above 2 factors are constantly changing as a result of increased development, access to new information, changes in climate and community characteristics, etc. </a:t>
            </a:r>
          </a:p>
          <a:p>
            <a:pPr eaLnBrk="1" hangingPunct="1">
              <a:spcBef>
                <a:spcPct val="0"/>
              </a:spcBef>
            </a:pPr>
            <a:r>
              <a:rPr lang="en-US" dirty="0"/>
              <a:t>Extrapolation of these values is also impossible. </a:t>
            </a:r>
          </a:p>
          <a:p>
            <a:pPr eaLnBrk="1" hangingPunct="1">
              <a:spcBef>
                <a:spcPct val="0"/>
              </a:spcBef>
            </a:pPr>
            <a:endParaRPr lang="en-US" dirty="0"/>
          </a:p>
        </p:txBody>
      </p:sp>
      <p:sp>
        <p:nvSpPr>
          <p:cNvPr id="563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2EC92F1-D9FF-49C6-ABCE-6570BAEAFCE3}" type="slidenum">
              <a:rPr lang="en-US">
                <a:cs typeface="Arial" charset="0"/>
              </a:rPr>
              <a:pPr fontAlgn="base">
                <a:spcBef>
                  <a:spcPct val="0"/>
                </a:spcBef>
                <a:spcAft>
                  <a:spcPct val="0"/>
                </a:spcAft>
                <a:defRPr/>
              </a:pPr>
              <a:t>68</a:t>
            </a:fld>
            <a:endParaRPr lang="en-US">
              <a:cs typeface="Arial" charset="0"/>
            </a:endParaRPr>
          </a:p>
        </p:txBody>
      </p:sp>
    </p:spTree>
    <p:extLst>
      <p:ext uri="{BB962C8B-B14F-4D97-AF65-F5344CB8AC3E}">
        <p14:creationId xmlns:p14="http://schemas.microsoft.com/office/powerpoint/2010/main" val="36936155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cs typeface="Arial" charset="0"/>
              </a:rPr>
              <a:t>Vulnerability indices based on indicators of vulnerability; mostly no direct relation with the different hazard intensities.</a:t>
            </a:r>
          </a:p>
          <a:p>
            <a:endParaRPr lang="en-US" dirty="0"/>
          </a:p>
        </p:txBody>
      </p:sp>
      <p:sp>
        <p:nvSpPr>
          <p:cNvPr id="4" name="Slide Number Placeholder 3"/>
          <p:cNvSpPr>
            <a:spLocks noGrp="1"/>
          </p:cNvSpPr>
          <p:nvPr>
            <p:ph type="sldNum" sz="quarter" idx="5"/>
          </p:nvPr>
        </p:nvSpPr>
        <p:spPr/>
        <p:txBody>
          <a:bodyPr/>
          <a:lstStyle/>
          <a:p>
            <a:pPr>
              <a:defRPr/>
            </a:pPr>
            <a:fld id="{7184187B-9A53-4504-B3A8-BA629AFA02DB}" type="slidenum">
              <a:rPr lang="en-US" smtClean="0"/>
              <a:pPr>
                <a:defRPr/>
              </a:pPr>
              <a:t>71</a:t>
            </a:fld>
            <a:endParaRPr lang="en-US"/>
          </a:p>
        </p:txBody>
      </p:sp>
    </p:spTree>
    <p:extLst>
      <p:ext uri="{BB962C8B-B14F-4D97-AF65-F5344CB8AC3E}">
        <p14:creationId xmlns:p14="http://schemas.microsoft.com/office/powerpoint/2010/main" val="33440470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72</a:t>
            </a:fld>
            <a:endParaRPr lang="en-US"/>
          </a:p>
        </p:txBody>
      </p:sp>
    </p:spTree>
    <p:extLst>
      <p:ext uri="{BB962C8B-B14F-4D97-AF65-F5344CB8AC3E}">
        <p14:creationId xmlns:p14="http://schemas.microsoft.com/office/powerpoint/2010/main" val="42235946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TextEdit="1"/>
          </p:cNvSpPr>
          <p:nvPr>
            <p:ph type="sldImg"/>
          </p:nvPr>
        </p:nvSpPr>
        <p:spPr bwMode="auto">
          <a:noFill/>
          <a:ln>
            <a:solidFill>
              <a:srgbClr val="000000"/>
            </a:solidFill>
            <a:miter lim="800000"/>
            <a:headEnd/>
            <a:tailEnd/>
          </a:ln>
        </p:spPr>
      </p:sp>
      <p:sp>
        <p:nvSpPr>
          <p:cNvPr id="71682" name="Rectangle 3"/>
          <p:cNvSpPr>
            <a:spLocks noGrp="1"/>
          </p:cNvSpPr>
          <p:nvPr>
            <p:ph type="body" idx="1"/>
          </p:nvPr>
        </p:nvSpPr>
        <p:spPr bwMode="auto">
          <a:noFill/>
        </p:spPr>
        <p:txBody>
          <a:bodyPr wrap="square" numCol="1" anchor="t" anchorCtr="0" compatLnSpc="1">
            <a:prstTxWarp prst="textNoShape">
              <a:avLst/>
            </a:prstTxWarp>
          </a:bodyPr>
          <a:lstStyle/>
          <a:p>
            <a:r>
              <a:rPr lang="en-US"/>
              <a:t>Source: ITC</a:t>
            </a:r>
          </a:p>
        </p:txBody>
      </p:sp>
    </p:spTree>
    <p:extLst>
      <p:ext uri="{BB962C8B-B14F-4D97-AF65-F5344CB8AC3E}">
        <p14:creationId xmlns:p14="http://schemas.microsoft.com/office/powerpoint/2010/main" val="40333146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Dr. Cees </a:t>
            </a:r>
            <a:r>
              <a:rPr lang="en-US" dirty="0" err="1"/>
              <a:t>Westen</a:t>
            </a:r>
            <a:r>
              <a:rPr lang="en-US" dirty="0"/>
              <a:t> notes (ITC)</a:t>
            </a:r>
          </a:p>
          <a:p>
            <a:pPr eaLnBrk="1" hangingPunct="1">
              <a:spcBef>
                <a:spcPct val="0"/>
              </a:spcBef>
            </a:pPr>
            <a:r>
              <a:rPr lang="en-US" dirty="0"/>
              <a:t>Participatory GIS (PGIS): enabling local people to make their own maps and models and use these for their own purposes. </a:t>
            </a:r>
          </a:p>
        </p:txBody>
      </p:sp>
      <p:sp>
        <p:nvSpPr>
          <p:cNvPr id="48131"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699C0382-3C4D-47A9-9FCB-A0BD1C967621}" type="slidenum">
              <a:rPr lang="en-US" sz="1200">
                <a:latin typeface="+mn-lt"/>
              </a:rPr>
              <a:pPr algn="r">
                <a:defRPr/>
              </a:pPr>
              <a:t>75</a:t>
            </a:fld>
            <a:endParaRPr lang="en-US" sz="1200">
              <a:latin typeface="+mn-lt"/>
            </a:endParaRPr>
          </a:p>
        </p:txBody>
      </p:sp>
    </p:spTree>
    <p:extLst>
      <p:ext uri="{BB962C8B-B14F-4D97-AF65-F5344CB8AC3E}">
        <p14:creationId xmlns:p14="http://schemas.microsoft.com/office/powerpoint/2010/main" val="15936531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Rot="1" noChangeAspect="1" noTextEdit="1"/>
          </p:cNvSpPr>
          <p:nvPr>
            <p:ph type="sldImg"/>
          </p:nvPr>
        </p:nvSpPr>
        <p:spPr bwMode="auto">
          <a:noFill/>
          <a:ln>
            <a:solidFill>
              <a:srgbClr val="000000"/>
            </a:solidFill>
            <a:miter lim="800000"/>
            <a:headEnd/>
            <a:tailEnd/>
          </a:ln>
        </p:spPr>
      </p:sp>
      <p:sp>
        <p:nvSpPr>
          <p:cNvPr id="6656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a:t>Source: http://www.floridadisaster.org/EMIT/introductionem.htm </a:t>
            </a:r>
            <a:endParaRPr lang="en-US" sz="1000" dirty="0"/>
          </a:p>
          <a:p>
            <a:r>
              <a:rPr lang="en-US" i="1" dirty="0"/>
              <a:t>Mitigation</a:t>
            </a:r>
            <a:r>
              <a:rPr lang="en-US" dirty="0"/>
              <a:t> consists of those activities designed to prevent or reduce losses from disaster.  It is usually considered the initial phase of emergency management, although it may be a component of other phases. </a:t>
            </a:r>
            <a:r>
              <a:rPr lang="en-US" i="1" dirty="0"/>
              <a:t>Preparedness</a:t>
            </a:r>
            <a:r>
              <a:rPr lang="en-US" dirty="0"/>
              <a:t> is focused on the development of plans and capabilities for effective disaster response. </a:t>
            </a:r>
            <a:br>
              <a:rPr lang="en-US" dirty="0"/>
            </a:br>
            <a:r>
              <a:rPr lang="en-US" dirty="0"/>
              <a:t>[1] William L. Waugh, Jr.  </a:t>
            </a:r>
            <a:r>
              <a:rPr lang="en-US" i="1" dirty="0"/>
              <a:t>Living with Hazards, Dealing with Disasters: An Introduction to Emergency Management.</a:t>
            </a:r>
            <a:r>
              <a:rPr lang="en-US" dirty="0"/>
              <a:t>  Armonk, New York:  M.E. Sharpe, 2000.</a:t>
            </a:r>
          </a:p>
          <a:p>
            <a:endParaRPr lang="en-US" sz="1000" dirty="0"/>
          </a:p>
        </p:txBody>
      </p:sp>
    </p:spTree>
    <p:extLst>
      <p:ext uri="{BB962C8B-B14F-4D97-AF65-F5344CB8AC3E}">
        <p14:creationId xmlns:p14="http://schemas.microsoft.com/office/powerpoint/2010/main" val="23738405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Rot="1" noChangeAspect="1" noTextEdit="1"/>
          </p:cNvSpPr>
          <p:nvPr>
            <p:ph type="sldImg"/>
          </p:nvPr>
        </p:nvSpPr>
        <p:spPr bwMode="auto">
          <a:noFill/>
          <a:ln>
            <a:solidFill>
              <a:srgbClr val="000000"/>
            </a:solidFill>
            <a:miter lim="800000"/>
            <a:headEnd/>
            <a:tailEnd/>
          </a:ln>
        </p:spPr>
      </p:sp>
      <p:sp>
        <p:nvSpPr>
          <p:cNvPr id="66562" name="Rectangle 3"/>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Response</a:t>
            </a:r>
            <a:r>
              <a:rPr lang="en-US" dirty="0"/>
              <a:t> is the immediate reaction to a disaster. It may occur as the disaster is anticipated, as well as soon after it begins. </a:t>
            </a:r>
            <a:r>
              <a:rPr lang="en-US" i="1" dirty="0"/>
              <a:t>Recovery</a:t>
            </a:r>
            <a:r>
              <a:rPr lang="en-US" dirty="0"/>
              <a:t> consists of those activities that continue beyond the emergency period to restore critical community functions and manage reconstruction.[1] Detailed planning and execution is required for each phase. Further, phases often overlap as there is often no clearly defined boundary where one phase ends and another begins. Successful emergency management coordinates activities in all four phases.  </a:t>
            </a:r>
          </a:p>
          <a:p>
            <a:pPr eaLnBrk="1" hangingPunct="1"/>
            <a:endParaRPr lang="en-US" dirty="0"/>
          </a:p>
          <a:p>
            <a:pPr eaLnBrk="1" hangingPunct="1"/>
            <a:endParaRPr lang="en-US" dirty="0"/>
          </a:p>
          <a:p>
            <a:pPr eaLnBrk="1" hangingPunct="1"/>
            <a:r>
              <a:rPr lang="en-US" dirty="0"/>
              <a:t>Source: http://www.floridadisaster.org/EMIT/introductionem.htm </a:t>
            </a:r>
            <a:endParaRPr lang="en-US" sz="1000" dirty="0"/>
          </a:p>
          <a:p>
            <a:br>
              <a:rPr lang="en-US" dirty="0"/>
            </a:br>
            <a:r>
              <a:rPr lang="en-US" dirty="0"/>
              <a:t>[1] William L. Waugh, Jr.  </a:t>
            </a:r>
            <a:r>
              <a:rPr lang="en-US" i="1" dirty="0"/>
              <a:t>Living with Hazards, Dealing with Disasters: An Introduction to Emergency Management.</a:t>
            </a:r>
            <a:r>
              <a:rPr lang="en-US" dirty="0"/>
              <a:t>  Armonk, New York:  M.E. Sharpe, 2000.</a:t>
            </a:r>
          </a:p>
          <a:p>
            <a:endParaRPr lang="en-US" sz="1000" dirty="0"/>
          </a:p>
        </p:txBody>
      </p:sp>
    </p:spTree>
    <p:extLst>
      <p:ext uri="{BB962C8B-B14F-4D97-AF65-F5344CB8AC3E}">
        <p14:creationId xmlns:p14="http://schemas.microsoft.com/office/powerpoint/2010/main" val="28263048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Rot="1" noChangeAspect="1" noTextEdit="1"/>
          </p:cNvSpPr>
          <p:nvPr>
            <p:ph type="sldImg"/>
          </p:nvPr>
        </p:nvSpPr>
        <p:spPr bwMode="auto">
          <a:noFill/>
          <a:ln>
            <a:solidFill>
              <a:srgbClr val="000000"/>
            </a:solidFill>
            <a:miter lim="800000"/>
            <a:headEnd/>
            <a:tailEnd/>
          </a:ln>
        </p:spPr>
      </p:sp>
      <p:sp>
        <p:nvSpPr>
          <p:cNvPr id="68610"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Remote sensing for hazard monitoring and disaster assessment:  marine and coastal applications in the Mediterranean region and other sources.</a:t>
            </a:r>
          </a:p>
          <a:p>
            <a:endParaRPr lang="en-US" dirty="0"/>
          </a:p>
          <a:p>
            <a:r>
              <a:rPr lang="en-US" dirty="0"/>
              <a:t>Some put vulnerability analysis in preparedness and early warning in prevention.</a:t>
            </a:r>
          </a:p>
          <a:p>
            <a:endParaRPr lang="en-US" dirty="0"/>
          </a:p>
          <a:p>
            <a:endParaRPr lang="en-US" dirty="0"/>
          </a:p>
        </p:txBody>
      </p:sp>
    </p:spTree>
    <p:extLst>
      <p:ext uri="{BB962C8B-B14F-4D97-AF65-F5344CB8AC3E}">
        <p14:creationId xmlns:p14="http://schemas.microsoft.com/office/powerpoint/2010/main" val="353149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0632FFE-CD5D-4019-AF07-E5342A0C3209}" type="slidenum">
              <a:rPr lang="en-US" smtClean="0"/>
              <a:pPr>
                <a:defRPr/>
              </a:pPr>
              <a:t>79</a:t>
            </a:fld>
            <a:endParaRPr lang="en-US"/>
          </a:p>
        </p:txBody>
      </p:sp>
    </p:spTree>
    <p:extLst>
      <p:ext uri="{BB962C8B-B14F-4D97-AF65-F5344CB8AC3E}">
        <p14:creationId xmlns:p14="http://schemas.microsoft.com/office/powerpoint/2010/main" val="11678381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Rot="1" noChangeAspect="1" noTextEdit="1"/>
          </p:cNvSpPr>
          <p:nvPr>
            <p:ph type="sldImg"/>
          </p:nvPr>
        </p:nvSpPr>
        <p:spPr bwMode="auto">
          <a:noFill/>
          <a:ln>
            <a:solidFill>
              <a:srgbClr val="000000"/>
            </a:solidFill>
            <a:miter lim="800000"/>
            <a:headEnd/>
            <a:tailEnd/>
          </a:ln>
        </p:spPr>
      </p:sp>
      <p:sp>
        <p:nvSpPr>
          <p:cNvPr id="74754" name="Rectangle 3"/>
          <p:cNvSpPr>
            <a:spLocks noGrp="1"/>
          </p:cNvSpPr>
          <p:nvPr>
            <p:ph type="body" idx="1"/>
          </p:nvPr>
        </p:nvSpPr>
        <p:spPr bwMode="auto">
          <a:noFill/>
        </p:spPr>
        <p:txBody>
          <a:bodyPr wrap="square" numCol="1" anchor="t" anchorCtr="0" compatLnSpc="1">
            <a:prstTxWarp prst="textNoShape">
              <a:avLst/>
            </a:prstTxWarp>
          </a:bodyPr>
          <a:lstStyle/>
          <a:p>
            <a:r>
              <a:rPr lang="en-US" baseline="0" dirty="0" err="1"/>
              <a:t>Westen</a:t>
            </a:r>
            <a:r>
              <a:rPr lang="en-US" baseline="0" dirty="0"/>
              <a:t> Guide book session 7</a:t>
            </a:r>
          </a:p>
          <a:p>
            <a:r>
              <a:rPr lang="en-US" baseline="0" dirty="0"/>
              <a:t>Incentives: </a:t>
            </a:r>
          </a:p>
          <a:p>
            <a:r>
              <a:rPr lang="en-US" baseline="0" dirty="0"/>
              <a:t>By </a:t>
            </a:r>
            <a:r>
              <a:rPr lang="en-US" baseline="0" dirty="0" err="1"/>
              <a:t>Govt</a:t>
            </a:r>
            <a:r>
              <a:rPr lang="en-US" baseline="0" dirty="0"/>
              <a:t>:  incentives to make homes and businesses stronger and more resilient, Incentives like building permit rebates, state-level tax incentives, and state and federal grants could lead to more resilient communities that could lower costs.</a:t>
            </a:r>
          </a:p>
          <a:p>
            <a:r>
              <a:rPr lang="en-US" baseline="0" dirty="0"/>
              <a:t>Insurance companies can offer discounts to consumers and business owners who fortify their structures. They also can offer insurance products that will help rebuild storm-damaged homes and businesses to fortified standards”</a:t>
            </a:r>
          </a:p>
          <a:p>
            <a:endParaRPr lang="en-US" baseline="0" dirty="0"/>
          </a:p>
          <a:p>
            <a:r>
              <a:rPr lang="en-US" baseline="0" dirty="0"/>
              <a:t>Reinsurance: Think of reinsurance as insurance for insurance companies. ... For example, ABC Life Insurance Co. has written a $10 million policy on the life of Joe.</a:t>
            </a:r>
          </a:p>
          <a:p>
            <a:endParaRPr lang="en-US" baseline="0" dirty="0"/>
          </a:p>
          <a:p>
            <a:r>
              <a:rPr lang="en-US" baseline="0" dirty="0"/>
              <a:t>Financial market instrument: emergency loans, reconstruction loans, insurance, prevention and mitigation funds, reserve funds, international aid, etc.</a:t>
            </a:r>
          </a:p>
          <a:p>
            <a:endParaRPr lang="en-US" baseline="0" dirty="0"/>
          </a:p>
          <a:p>
            <a:r>
              <a:rPr lang="en-US" baseline="0" dirty="0"/>
              <a:t>Calamity funds: </a:t>
            </a:r>
            <a:endParaRPr lang="en-US" dirty="0"/>
          </a:p>
        </p:txBody>
      </p:sp>
    </p:spTree>
    <p:extLst>
      <p:ext uri="{BB962C8B-B14F-4D97-AF65-F5344CB8AC3E}">
        <p14:creationId xmlns:p14="http://schemas.microsoft.com/office/powerpoint/2010/main" val="24449261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Source: https://www.ipcc.ch/pdf/special-reports/srex/SREX-Chap1_FINAL.pdf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household, community, enterprise, or state authority will obtain resources from the other party after a disaster occurs, in exchange for ongoing or compensatory social or financial benefits provided to that other party.</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82</a:t>
            </a:fld>
            <a:endParaRPr lang="en-US"/>
          </a:p>
        </p:txBody>
      </p:sp>
    </p:spTree>
    <p:extLst>
      <p:ext uri="{BB962C8B-B14F-4D97-AF65-F5344CB8AC3E}">
        <p14:creationId xmlns:p14="http://schemas.microsoft.com/office/powerpoint/2010/main" val="8023483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http://www.memphis.edu/cait/pdfs/Phases_of_Emergency_Mngt_FINAL.pdf  - </a:t>
            </a:r>
            <a:r>
              <a:rPr lang="en-US"/>
              <a:t>link dis</a:t>
            </a:r>
            <a:endParaRPr lang="en-US" dirty="0"/>
          </a:p>
        </p:txBody>
      </p:sp>
      <p:sp>
        <p:nvSpPr>
          <p:cNvPr id="4" name="Slide Number Placeholder 3"/>
          <p:cNvSpPr>
            <a:spLocks noGrp="1"/>
          </p:cNvSpPr>
          <p:nvPr>
            <p:ph type="sldNum" sz="quarter" idx="5"/>
          </p:nvPr>
        </p:nvSpPr>
        <p:spPr/>
        <p:txBody>
          <a:bodyPr/>
          <a:lstStyle/>
          <a:p>
            <a:pPr>
              <a:defRPr/>
            </a:pPr>
            <a:fld id="{F1127DC2-1C84-4938-98B9-940BCF868CBF}" type="slidenum">
              <a:rPr lang="en-US" smtClean="0"/>
              <a:pPr>
                <a:defRPr/>
              </a:pPr>
              <a:t>83</a:t>
            </a:fld>
            <a:endParaRPr lang="en-US"/>
          </a:p>
        </p:txBody>
      </p:sp>
    </p:spTree>
    <p:extLst>
      <p:ext uri="{BB962C8B-B14F-4D97-AF65-F5344CB8AC3E}">
        <p14:creationId xmlns:p14="http://schemas.microsoft.com/office/powerpoint/2010/main" val="35699173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A78E7F1-2175-408D-9170-25913252F555}" type="slidenum">
              <a:rPr lang="en-US" altLang="en-US">
                <a:latin typeface="Calibri" panose="020F0502020204030204" pitchFamily="34" charset="0"/>
              </a:rPr>
              <a:pPr eaLnBrk="1" hangingPunct="1"/>
              <a:t>85</a:t>
            </a:fld>
            <a:endParaRPr lang="en-US" altLang="en-US">
              <a:latin typeface="Calibri" panose="020F0502020204030204" pitchFamily="34" charset="0"/>
            </a:endParaRPr>
          </a:p>
        </p:txBody>
      </p:sp>
    </p:spTree>
    <p:extLst>
      <p:ext uri="{BB962C8B-B14F-4D97-AF65-F5344CB8AC3E}">
        <p14:creationId xmlns:p14="http://schemas.microsoft.com/office/powerpoint/2010/main" val="226170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1A24191-3119-4055-8527-AC31014A0EE5}"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85970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lang="en-US" sz="4000" b="1" kern="1200" spc="-100" dirty="0">
                <a:ln>
                  <a:noFill/>
                </a:ln>
                <a:solidFill>
                  <a:srgbClr val="0000CC"/>
                </a:solidFill>
                <a:latin typeface="Comic Sans MS" panose="030F0702030302020204" pitchFamily="66" charset="0"/>
                <a:ea typeface="+mj-ea"/>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lang="en-US" sz="3200" kern="1200" dirty="0" smtClean="0">
                <a:solidFill>
                  <a:schemeClr val="tx1"/>
                </a:solidFill>
                <a:latin typeface="Comic Sans MS" panose="030F0702030302020204" pitchFamily="66" charset="0"/>
                <a:ea typeface="+mn-ea"/>
                <a:cs typeface="Arial" panose="020B0604020202020204" pitchFamily="34" charset="0"/>
              </a:defRPr>
            </a:lvl1pPr>
            <a:lvl2pPr>
              <a:spcBef>
                <a:spcPts val="1200"/>
              </a:spcBef>
              <a:defRPr>
                <a:latin typeface="Comic Sans MS" panose="030F0702030302020204" pitchFamily="66" charset="0"/>
              </a:defRPr>
            </a:lvl2pPr>
            <a:lvl3pPr>
              <a:spcBef>
                <a:spcPts val="1200"/>
              </a:spcBef>
              <a:defRPr>
                <a:latin typeface="Comic Sans MS" panose="030F0702030302020204" pitchFamily="66" charset="0"/>
              </a:defRPr>
            </a:lvl3pPr>
            <a:lvl4pPr>
              <a:spcBef>
                <a:spcPts val="1200"/>
              </a:spcBef>
              <a:defRPr>
                <a:latin typeface="Comic Sans MS" panose="030F0702030302020204" pitchFamily="66" charset="0"/>
              </a:defRPr>
            </a:lvl4pPr>
            <a:lvl5pPr>
              <a:spcBef>
                <a:spcPts val="1200"/>
              </a:spcBef>
              <a:defRPr>
                <a:latin typeface="Comic Sans MS" panose="030F0702030302020204" pitchFamily="66"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93405734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A24191-3119-4055-8527-AC31014A0EE5}"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398241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A24191-3119-4055-8527-AC31014A0EE5}"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3425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A24191-3119-4055-8527-AC31014A0EE5}"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029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A24191-3119-4055-8527-AC31014A0EE5}"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673765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A24191-3119-4055-8527-AC31014A0EE5}"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01302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A24191-3119-4055-8527-AC31014A0EE5}"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66828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A24191-3119-4055-8527-AC31014A0EE5}"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54682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883347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38444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983786"/>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24191-3119-4055-8527-AC31014A0EE5}"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Fall 2017</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6C314-45B1-47C5-8966-54BDB8DF2284}" type="slidenum">
              <a:rPr lang="en-US" smtClean="0"/>
              <a:t>‹#›</a:t>
            </a:fld>
            <a:endParaRPr lang="en-US"/>
          </a:p>
        </p:txBody>
      </p:sp>
    </p:spTree>
    <p:extLst>
      <p:ext uri="{BB962C8B-B14F-4D97-AF65-F5344CB8AC3E}">
        <p14:creationId xmlns:p14="http://schemas.microsoft.com/office/powerpoint/2010/main" val="336878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weadapt.org/knowledge-base/vulnerability/vulnerability-definition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16" name="Picture 6"/>
          <p:cNvPicPr>
            <a:picLocks noChangeAspect="1" noChangeArrowheads="1"/>
          </p:cNvPicPr>
          <p:nvPr/>
        </p:nvPicPr>
        <p:blipFill rotWithShape="1">
          <a:blip r:embed="rId3" cstate="print"/>
          <a:srcRect l="33364" t="12753" r="30727" b="79135"/>
          <a:stretch/>
        </p:blipFill>
        <p:spPr bwMode="auto">
          <a:xfrm>
            <a:off x="119921" y="5818991"/>
            <a:ext cx="11827239" cy="625098"/>
          </a:xfrm>
          <a:prstGeom prst="rect">
            <a:avLst/>
          </a:prstGeom>
          <a:gradFill>
            <a:gsLst>
              <a:gs pos="0">
                <a:schemeClr val="bg2">
                  <a:tint val="75000"/>
                  <a:satMod val="400000"/>
                </a:schemeClr>
              </a:gs>
              <a:gs pos="100000">
                <a:schemeClr val="accent1">
                  <a:lumMod val="75000"/>
                </a:schemeClr>
              </a:gs>
              <a:gs pos="100000">
                <a:schemeClr val="bg2">
                  <a:tint val="95000"/>
                  <a:shade val="55000"/>
                  <a:satMod val="355000"/>
                </a:schemeClr>
              </a:gs>
            </a:gsLst>
            <a:path path="circle">
              <a:fillToRect l="67500" t="35000" r="32500" b="65000"/>
            </a:path>
          </a:gradFill>
          <a:ln>
            <a:noFill/>
          </a:ln>
          <a:effectLst>
            <a:outerShdw blurRad="50800" dir="21540000" sx="1000" sy="1000" algn="ctr" rotWithShape="0">
              <a:srgbClr val="000000">
                <a:alpha val="0"/>
              </a:srgbClr>
            </a:outerShdw>
          </a:effectLst>
        </p:spPr>
      </p:pic>
      <p:sp>
        <p:nvSpPr>
          <p:cNvPr id="14339" name="Rectangle 18"/>
          <p:cNvSpPr>
            <a:spLocks noChangeArrowheads="1"/>
          </p:cNvSpPr>
          <p:nvPr/>
        </p:nvSpPr>
        <p:spPr bwMode="auto">
          <a:xfrm>
            <a:off x="258679" y="5900559"/>
            <a:ext cx="7391400" cy="461962"/>
          </a:xfrm>
          <a:prstGeom prst="rect">
            <a:avLst/>
          </a:prstGeom>
          <a:noFill/>
          <a:ln w="9525">
            <a:noFill/>
            <a:miter lim="800000"/>
            <a:headEnd/>
            <a:tailEnd/>
          </a:ln>
        </p:spPr>
        <p:txBody>
          <a:bodyPr>
            <a:spAutoFit/>
          </a:bodyPr>
          <a:lstStyle/>
          <a:p>
            <a:pPr eaLnBrk="0" hangingPunct="0">
              <a:defRPr/>
            </a:pPr>
            <a:r>
              <a:rPr lang="en-US" sz="2400" b="1" dirty="0">
                <a:solidFill>
                  <a:schemeClr val="bg1"/>
                </a:solidFill>
                <a:latin typeface="+mj-lt"/>
                <a:cs typeface="Times New Roman" pitchFamily="18" charset="0"/>
              </a:rPr>
              <a:t>US – Pakistan Center for Advanced Studies in Water</a:t>
            </a:r>
          </a:p>
        </p:txBody>
      </p:sp>
      <p:sp>
        <p:nvSpPr>
          <p:cNvPr id="20" name="Content Placeholder 24"/>
          <p:cNvSpPr txBox="1">
            <a:spLocks/>
          </p:cNvSpPr>
          <p:nvPr/>
        </p:nvSpPr>
        <p:spPr>
          <a:xfrm>
            <a:off x="258679" y="506678"/>
            <a:ext cx="11688481" cy="554038"/>
          </a:xfrm>
          <a:prstGeom prst="rect">
            <a:avLst/>
          </a:prstGeom>
          <a:solidFill>
            <a:schemeClr val="tx2">
              <a:lumMod val="50000"/>
            </a:schemeClr>
          </a:solidFill>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spcBef>
                <a:spcPts val="1200"/>
              </a:spcBef>
              <a:spcAft>
                <a:spcPts val="1200"/>
              </a:spcAft>
              <a:buNone/>
              <a:defRPr/>
            </a:pPr>
            <a:r>
              <a:rPr lang="en-US" sz="3000" b="1" dirty="0">
                <a:solidFill>
                  <a:schemeClr val="bg1"/>
                </a:solidFill>
                <a:latin typeface="+mj-lt"/>
                <a:cs typeface="Times New Roman" pitchFamily="18" charset="0"/>
              </a:rPr>
              <a:t>Hazards Planning and Risk Management</a:t>
            </a:r>
          </a:p>
        </p:txBody>
      </p:sp>
      <p:sp>
        <p:nvSpPr>
          <p:cNvPr id="9" name="Content Placeholder 24"/>
          <p:cNvSpPr txBox="1">
            <a:spLocks/>
          </p:cNvSpPr>
          <p:nvPr/>
        </p:nvSpPr>
        <p:spPr>
          <a:xfrm>
            <a:off x="996410" y="1774288"/>
            <a:ext cx="10275377" cy="3231654"/>
          </a:xfrm>
          <a:prstGeom prst="rect">
            <a:avLst/>
          </a:prstGeom>
          <a:noFill/>
          <a:effectLst>
            <a:outerShdw dist="50800" dir="5400000" sx="1000" sy="1000" algn="ctr" rotWithShape="0">
              <a:srgbClr val="000000">
                <a:alpha val="43137"/>
              </a:srgbClr>
            </a:outerShdw>
          </a:effectLst>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lnSpc>
                <a:spcPct val="150000"/>
              </a:lnSpc>
              <a:buNone/>
              <a:defRPr/>
            </a:pPr>
            <a:r>
              <a:rPr lang="en-US" sz="4400" b="1" dirty="0">
                <a:latin typeface="Arial" panose="020B0604020202020204" pitchFamily="34" charset="0"/>
                <a:cs typeface="Arial" panose="020B0604020202020204" pitchFamily="34" charset="0"/>
              </a:rPr>
              <a:t>LECTURE NO. 4 &amp; 5</a:t>
            </a:r>
          </a:p>
          <a:p>
            <a:pPr marL="0" indent="0" algn="ctr">
              <a:lnSpc>
                <a:spcPct val="150000"/>
              </a:lnSpc>
              <a:buNone/>
              <a:defRPr/>
            </a:pPr>
            <a:r>
              <a:rPr lang="en-US" altLang="zh-CN" sz="3600" b="1" dirty="0">
                <a:solidFill>
                  <a:schemeClr val="bg1"/>
                </a:solidFill>
                <a:latin typeface="Arial" panose="020B0604020202020204" pitchFamily="34" charset="0"/>
                <a:cs typeface="Arial" panose="020B0604020202020204" pitchFamily="34" charset="0"/>
              </a:rPr>
              <a:t>INTRODUCTION TO HAZARDS</a:t>
            </a:r>
          </a:p>
          <a:p>
            <a:pPr marL="0" indent="0" algn="ctr">
              <a:lnSpc>
                <a:spcPct val="150000"/>
              </a:lnSpc>
              <a:buNone/>
              <a:defRPr/>
            </a:pPr>
            <a:r>
              <a:rPr lang="en-US" sz="2800" b="1" dirty="0">
                <a:latin typeface="Arial" panose="020B0604020202020204" pitchFamily="34" charset="0"/>
                <a:cs typeface="Arial" panose="020B0604020202020204" pitchFamily="34" charset="0"/>
              </a:rPr>
              <a:t>Hazard Profiling, Vulnerability, Capacity, and Risk</a:t>
            </a:r>
          </a:p>
          <a:p>
            <a:pPr marL="0" indent="0" algn="ctr">
              <a:lnSpc>
                <a:spcPct val="150000"/>
              </a:lnSpc>
              <a:buNone/>
              <a:defRPr/>
            </a:pPr>
            <a:r>
              <a:rPr lang="en-US" sz="2800" b="1" dirty="0">
                <a:latin typeface="Arial" panose="020B0604020202020204" pitchFamily="34" charset="0"/>
                <a:cs typeface="Arial" panose="020B0604020202020204" pitchFamily="34" charset="0"/>
              </a:rPr>
              <a:t>Fall 2026</a:t>
            </a:r>
          </a:p>
        </p:txBody>
      </p:sp>
      <p:pic>
        <p:nvPicPr>
          <p:cNvPr id="4102" name="Picture 17" descr="MUET approved monogram WHITE"/>
          <p:cNvPicPr>
            <a:picLocks noChangeAspect="1" noChangeArrowheads="1"/>
          </p:cNvPicPr>
          <p:nvPr/>
        </p:nvPicPr>
        <p:blipFill>
          <a:blip r:embed="rId4">
            <a:extLst>
              <a:ext uri="{28A0092B-C50C-407E-A947-70E740481C1C}">
                <a14:useLocalDpi xmlns:a14="http://schemas.microsoft.com/office/drawing/2010/main" val="0"/>
              </a:ext>
            </a:extLst>
          </a:blip>
          <a:srcRect t="5371"/>
          <a:stretch>
            <a:fillRect/>
          </a:stretch>
        </p:blipFill>
        <p:spPr bwMode="auto">
          <a:xfrm>
            <a:off x="10994660" y="5818991"/>
            <a:ext cx="952500" cy="905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8" name="AutoShape 15"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p:txBody>
      </p:sp>
      <p:sp>
        <p:nvSpPr>
          <p:cNvPr id="4109" name="AutoShape 17"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p:txBody>
      </p:sp>
      <p:sp>
        <p:nvSpPr>
          <p:cNvPr id="4110" name="AutoShape 19"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p>
        </p:txBody>
      </p:sp>
    </p:spTree>
    <p:extLst>
      <p:ext uri="{BB962C8B-B14F-4D97-AF65-F5344CB8AC3E}">
        <p14:creationId xmlns:p14="http://schemas.microsoft.com/office/powerpoint/2010/main" val="686397622"/>
      </p:ext>
    </p:extLst>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spc="-100" dirty="0">
                <a:solidFill>
                  <a:srgbClr val="0000CC"/>
                </a:solidFill>
                <a:latin typeface="Comic Sans MS" panose="030F0702030302020204" pitchFamily="66" charset="0"/>
                <a:cs typeface="Arial" panose="020B0604020202020204" pitchFamily="34" charset="0"/>
              </a:rPr>
              <a:t>Learning Objective</a:t>
            </a:r>
          </a:p>
        </p:txBody>
      </p:sp>
      <p:sp>
        <p:nvSpPr>
          <p:cNvPr id="3" name="Content Placeholder 2"/>
          <p:cNvSpPr>
            <a:spLocks noGrp="1"/>
          </p:cNvSpPr>
          <p:nvPr>
            <p:ph idx="1"/>
          </p:nvPr>
        </p:nvSpPr>
        <p:spPr>
          <a:xfrm>
            <a:off x="838200" y="1825625"/>
            <a:ext cx="11177016" cy="4351338"/>
          </a:xfrm>
        </p:spPr>
        <p:txBody>
          <a:bodyPr>
            <a:noAutofit/>
          </a:bodyPr>
          <a:lstStyle/>
          <a:p>
            <a:pPr marL="0" indent="0" algn="just">
              <a:lnSpc>
                <a:spcPct val="100000"/>
              </a:lnSpc>
              <a:spcBef>
                <a:spcPts val="1200"/>
              </a:spcBef>
              <a:spcAft>
                <a:spcPts val="1200"/>
              </a:spcAft>
              <a:buNone/>
            </a:pPr>
            <a:r>
              <a:rPr lang="en-US" sz="3600" dirty="0"/>
              <a:t>After the completion of this lecture, students will be able to</a:t>
            </a:r>
          </a:p>
          <a:p>
            <a:pPr marL="566738" indent="-566738" algn="just">
              <a:lnSpc>
                <a:spcPct val="100000"/>
              </a:lnSpc>
              <a:spcBef>
                <a:spcPts val="1200"/>
              </a:spcBef>
              <a:spcAft>
                <a:spcPts val="1200"/>
              </a:spcAft>
            </a:pPr>
            <a:r>
              <a:rPr lang="en-US" b="1" dirty="0">
                <a:solidFill>
                  <a:schemeClr val="accent2">
                    <a:lumMod val="75000"/>
                  </a:schemeClr>
                </a:solidFill>
              </a:rPr>
              <a:t>UNDERSTAND –</a:t>
            </a:r>
            <a:r>
              <a:rPr lang="en-US" sz="3600" dirty="0">
                <a:solidFill>
                  <a:srgbClr val="7030A0"/>
                </a:solidFill>
              </a:rPr>
              <a:t> the components of hazard and disaster risk management</a:t>
            </a:r>
          </a:p>
          <a:p>
            <a:pPr marL="566738" indent="-566738" algn="just">
              <a:lnSpc>
                <a:spcPct val="100000"/>
              </a:lnSpc>
              <a:spcBef>
                <a:spcPts val="1200"/>
              </a:spcBef>
              <a:spcAft>
                <a:spcPts val="1200"/>
              </a:spcAft>
            </a:pPr>
            <a:r>
              <a:rPr lang="en-US" b="1" dirty="0">
                <a:solidFill>
                  <a:schemeClr val="accent2">
                    <a:lumMod val="75000"/>
                  </a:schemeClr>
                </a:solidFill>
              </a:rPr>
              <a:t>LEARN - </a:t>
            </a:r>
            <a:r>
              <a:rPr lang="en-US" sz="3600" dirty="0">
                <a:solidFill>
                  <a:srgbClr val="7030A0"/>
                </a:solidFill>
              </a:rPr>
              <a:t>Disaster Risk Management cycle –old and new concepts</a:t>
            </a:r>
          </a:p>
          <a:p>
            <a:pPr marL="0" indent="0" algn="just">
              <a:lnSpc>
                <a:spcPct val="100000"/>
              </a:lnSpc>
              <a:spcBef>
                <a:spcPts val="1200"/>
              </a:spcBef>
              <a:spcAft>
                <a:spcPts val="1200"/>
              </a:spcAft>
              <a:buNone/>
            </a:pPr>
            <a:r>
              <a:rPr lang="en-US" sz="3600" dirty="0">
                <a:solidFill>
                  <a:srgbClr val="7030A0"/>
                </a:solidFill>
              </a:rPr>
              <a:t> </a:t>
            </a:r>
          </a:p>
        </p:txBody>
      </p:sp>
    </p:spTree>
    <p:extLst>
      <p:ext uri="{BB962C8B-B14F-4D97-AF65-F5344CB8AC3E}">
        <p14:creationId xmlns:p14="http://schemas.microsoft.com/office/powerpoint/2010/main" val="181810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Quick Quiz</a:t>
            </a:r>
          </a:p>
        </p:txBody>
      </p:sp>
      <p:sp>
        <p:nvSpPr>
          <p:cNvPr id="3" name="Content Placeholder 2"/>
          <p:cNvSpPr>
            <a:spLocks noGrp="1"/>
          </p:cNvSpPr>
          <p:nvPr>
            <p:ph idx="1"/>
          </p:nvPr>
        </p:nvSpPr>
        <p:spPr/>
        <p:txBody>
          <a:bodyPr>
            <a:normAutofit/>
          </a:bodyPr>
          <a:lstStyle/>
          <a:p>
            <a:pPr marL="0" indent="0">
              <a:lnSpc>
                <a:spcPct val="150000"/>
              </a:lnSpc>
              <a:spcAft>
                <a:spcPts val="1200"/>
              </a:spcAft>
              <a:buNone/>
            </a:pPr>
            <a:r>
              <a:rPr lang="en-US" dirty="0">
                <a:solidFill>
                  <a:schemeClr val="accent2">
                    <a:lumMod val="50000"/>
                  </a:schemeClr>
                </a:solidFill>
              </a:rPr>
              <a:t>Hazard: source of danger that may or may not lead to a disaster </a:t>
            </a:r>
          </a:p>
          <a:p>
            <a:pPr marL="514350" indent="-514350">
              <a:lnSpc>
                <a:spcPct val="150000"/>
              </a:lnSpc>
              <a:spcAft>
                <a:spcPts val="1200"/>
              </a:spcAft>
              <a:buFont typeface="+mj-lt"/>
              <a:buAutoNum type="arabicPeriod"/>
            </a:pPr>
            <a:r>
              <a:rPr lang="en-US" dirty="0"/>
              <a:t>Explain with an example that every hazard when materializes can not necessarily become a disaster.</a:t>
            </a:r>
          </a:p>
          <a:p>
            <a:pPr>
              <a:lnSpc>
                <a:spcPct val="150000"/>
              </a:lnSpc>
              <a:spcAft>
                <a:spcPts val="1200"/>
              </a:spcAft>
            </a:pPr>
            <a:endParaRPr lang="en-US" dirty="0"/>
          </a:p>
        </p:txBody>
      </p:sp>
    </p:spTree>
    <p:extLst>
      <p:ext uri="{BB962C8B-B14F-4D97-AF65-F5344CB8AC3E}">
        <p14:creationId xmlns:p14="http://schemas.microsoft.com/office/powerpoint/2010/main" val="414949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pPr eaLnBrk="1" hangingPunct="1"/>
            <a:endParaRPr lang="en-US" dirty="0"/>
          </a:p>
        </p:txBody>
      </p:sp>
      <p:sp>
        <p:nvSpPr>
          <p:cNvPr id="21506" name="Rectangle 3"/>
          <p:cNvSpPr>
            <a:spLocks noGrp="1"/>
          </p:cNvSpPr>
          <p:nvPr>
            <p:ph type="body" idx="1"/>
          </p:nvPr>
        </p:nvSpPr>
        <p:spPr>
          <a:xfrm>
            <a:off x="694944" y="1690688"/>
            <a:ext cx="11027664" cy="4838128"/>
          </a:xfrm>
        </p:spPr>
        <p:txBody>
          <a:bodyPr>
            <a:normAutofit fontScale="92500" lnSpcReduction="10000"/>
          </a:bodyPr>
          <a:lstStyle/>
          <a:p>
            <a:pPr eaLnBrk="1" hangingPunct="1">
              <a:buFont typeface="Wingdings 3" pitchFamily="18" charset="2"/>
              <a:buNone/>
            </a:pPr>
            <a:endParaRPr lang="en-US" dirty="0"/>
          </a:p>
          <a:p>
            <a:pPr eaLnBrk="1" hangingPunct="1">
              <a:buFont typeface="Wingdings 3" pitchFamily="18" charset="2"/>
              <a:buNone/>
            </a:pPr>
            <a:r>
              <a:rPr lang="en-US" dirty="0"/>
              <a:t>We used many terms for disaster management, for example;</a:t>
            </a:r>
          </a:p>
          <a:p>
            <a:pPr eaLnBrk="1" hangingPunct="1">
              <a:buFont typeface="Wingdings 3" pitchFamily="18" charset="2"/>
              <a:buNone/>
            </a:pPr>
            <a:endParaRPr lang="en-US" dirty="0"/>
          </a:p>
          <a:p>
            <a:pPr lvl="1"/>
            <a:r>
              <a:rPr lang="en-US" sz="3200" b="1" dirty="0">
                <a:solidFill>
                  <a:srgbClr val="7030A0"/>
                </a:solidFill>
              </a:rPr>
              <a:t>Disaster</a:t>
            </a:r>
          </a:p>
          <a:p>
            <a:pPr lvl="1"/>
            <a:r>
              <a:rPr lang="en-US" sz="3200" b="1" dirty="0">
                <a:solidFill>
                  <a:srgbClr val="7030A0"/>
                </a:solidFill>
              </a:rPr>
              <a:t>Hazards</a:t>
            </a:r>
          </a:p>
          <a:p>
            <a:pPr lvl="1"/>
            <a:r>
              <a:rPr lang="en-US" sz="3200" dirty="0">
                <a:solidFill>
                  <a:schemeClr val="accent2"/>
                </a:solidFill>
              </a:rPr>
              <a:t>Vulnerability</a:t>
            </a:r>
          </a:p>
          <a:p>
            <a:pPr lvl="1"/>
            <a:r>
              <a:rPr lang="en-US" sz="3200" dirty="0">
                <a:solidFill>
                  <a:schemeClr val="accent2"/>
                </a:solidFill>
              </a:rPr>
              <a:t>Capacity</a:t>
            </a:r>
          </a:p>
          <a:p>
            <a:pPr lvl="1"/>
            <a:r>
              <a:rPr lang="en-US" sz="3200" dirty="0">
                <a:solidFill>
                  <a:schemeClr val="accent2"/>
                </a:solidFill>
              </a:rPr>
              <a:t>Sensitivity</a:t>
            </a:r>
          </a:p>
          <a:p>
            <a:pPr lvl="1"/>
            <a:r>
              <a:rPr lang="en-US" sz="3200" dirty="0">
                <a:solidFill>
                  <a:schemeClr val="accent2"/>
                </a:solidFill>
              </a:rPr>
              <a:t>Risk and Disaster Management</a:t>
            </a:r>
          </a:p>
        </p:txBody>
      </p:sp>
    </p:spTree>
    <p:extLst>
      <p:ext uri="{BB962C8B-B14F-4D97-AF65-F5344CB8AC3E}">
        <p14:creationId xmlns:p14="http://schemas.microsoft.com/office/powerpoint/2010/main" val="118400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538655" y="223236"/>
            <a:ext cx="10515600" cy="501978"/>
          </a:xfrm>
        </p:spPr>
        <p:txBody>
          <a:bodyPr>
            <a:normAutofit fontScale="90000"/>
          </a:bodyPr>
          <a:lstStyle/>
          <a:p>
            <a:r>
              <a:rPr lang="en-US" dirty="0"/>
              <a:t>Now we know</a:t>
            </a:r>
          </a:p>
        </p:txBody>
      </p:sp>
      <p:sp>
        <p:nvSpPr>
          <p:cNvPr id="17410" name="Content Placeholder 2"/>
          <p:cNvSpPr>
            <a:spLocks noGrp="1"/>
          </p:cNvSpPr>
          <p:nvPr>
            <p:ph sz="quarter" idx="1"/>
          </p:nvPr>
        </p:nvSpPr>
        <p:spPr>
          <a:xfrm>
            <a:off x="0" y="914400"/>
            <a:ext cx="12192000" cy="5722883"/>
          </a:xfrm>
          <a:solidFill>
            <a:schemeClr val="bg2"/>
          </a:solidFill>
          <a:ln>
            <a:solidFill>
              <a:schemeClr val="accent1"/>
            </a:solidFill>
          </a:ln>
        </p:spPr>
        <p:txBody>
          <a:bodyPr>
            <a:normAutofit fontScale="70000" lnSpcReduction="20000"/>
          </a:bodyPr>
          <a:lstStyle/>
          <a:p>
            <a:pPr marL="749300" indent="-401638">
              <a:lnSpc>
                <a:spcPct val="150000"/>
              </a:lnSpc>
              <a:spcAft>
                <a:spcPts val="600"/>
              </a:spcAft>
            </a:pPr>
            <a:r>
              <a:rPr lang="en-US" dirty="0"/>
              <a:t>What is a </a:t>
            </a:r>
            <a:r>
              <a:rPr lang="en-US" u="sng" dirty="0">
                <a:solidFill>
                  <a:srgbClr val="7030A0"/>
                </a:solidFill>
              </a:rPr>
              <a:t>Hazard</a:t>
            </a:r>
            <a:r>
              <a:rPr lang="en-US" dirty="0"/>
              <a:t>?</a:t>
            </a:r>
          </a:p>
          <a:p>
            <a:pPr marL="749300" indent="-401638">
              <a:lnSpc>
                <a:spcPct val="150000"/>
              </a:lnSpc>
              <a:spcAft>
                <a:spcPts val="600"/>
              </a:spcAft>
            </a:pPr>
            <a:r>
              <a:rPr lang="en-US" dirty="0"/>
              <a:t>What is a </a:t>
            </a:r>
            <a:r>
              <a:rPr lang="en-US" u="sng" dirty="0">
                <a:solidFill>
                  <a:srgbClr val="7030A0"/>
                </a:solidFill>
              </a:rPr>
              <a:t>Disaster</a:t>
            </a:r>
            <a:r>
              <a:rPr lang="en-US" dirty="0"/>
              <a:t>?</a:t>
            </a:r>
          </a:p>
          <a:p>
            <a:pPr marL="347662" indent="0">
              <a:lnSpc>
                <a:spcPct val="150000"/>
              </a:lnSpc>
              <a:spcAft>
                <a:spcPts val="600"/>
              </a:spcAft>
              <a:buNone/>
            </a:pPr>
            <a:endParaRPr lang="en-US" dirty="0"/>
          </a:p>
          <a:p>
            <a:pPr marL="749300" indent="-401638">
              <a:lnSpc>
                <a:spcPct val="150000"/>
              </a:lnSpc>
              <a:spcAft>
                <a:spcPts val="600"/>
              </a:spcAft>
            </a:pPr>
            <a:endParaRPr lang="en-US" b="1" dirty="0"/>
          </a:p>
          <a:p>
            <a:pPr marL="749300" indent="-401638">
              <a:lnSpc>
                <a:spcPct val="150000"/>
              </a:lnSpc>
              <a:spcAft>
                <a:spcPts val="600"/>
              </a:spcAft>
            </a:pPr>
            <a:r>
              <a:rPr lang="en-US" b="1" dirty="0"/>
              <a:t>What is </a:t>
            </a:r>
            <a:r>
              <a:rPr lang="en-US" b="1" u="sng" dirty="0">
                <a:solidFill>
                  <a:srgbClr val="7030A0"/>
                </a:solidFill>
              </a:rPr>
              <a:t>Hazard profiling</a:t>
            </a:r>
            <a:r>
              <a:rPr lang="en-US" b="1" dirty="0"/>
              <a:t>?</a:t>
            </a:r>
          </a:p>
          <a:p>
            <a:pPr marL="749300" indent="-401638">
              <a:lnSpc>
                <a:spcPct val="150000"/>
              </a:lnSpc>
              <a:spcAft>
                <a:spcPts val="600"/>
              </a:spcAft>
            </a:pPr>
            <a:r>
              <a:rPr lang="en-US" b="1" dirty="0"/>
              <a:t>With example differentiate between </a:t>
            </a:r>
            <a:r>
              <a:rPr lang="en-US" b="1" u="sng" dirty="0">
                <a:solidFill>
                  <a:srgbClr val="7030A0"/>
                </a:solidFill>
              </a:rPr>
              <a:t>vulnerability</a:t>
            </a:r>
            <a:r>
              <a:rPr lang="en-US" b="1" dirty="0"/>
              <a:t> and </a:t>
            </a:r>
            <a:r>
              <a:rPr lang="en-US" b="1" u="sng" dirty="0">
                <a:solidFill>
                  <a:srgbClr val="7030A0"/>
                </a:solidFill>
              </a:rPr>
              <a:t>capacity</a:t>
            </a:r>
          </a:p>
          <a:p>
            <a:pPr marL="749300" indent="-401638">
              <a:lnSpc>
                <a:spcPct val="150000"/>
              </a:lnSpc>
              <a:spcAft>
                <a:spcPts val="600"/>
              </a:spcAft>
            </a:pPr>
            <a:r>
              <a:rPr lang="en-US" b="1" dirty="0"/>
              <a:t>How disasters can be defined in terms of </a:t>
            </a:r>
            <a:r>
              <a:rPr lang="en-US" b="1" u="sng" dirty="0">
                <a:solidFill>
                  <a:srgbClr val="7030A0"/>
                </a:solidFill>
              </a:rPr>
              <a:t>hazard</a:t>
            </a:r>
            <a:r>
              <a:rPr lang="en-US" b="1" dirty="0"/>
              <a:t>, </a:t>
            </a:r>
            <a:r>
              <a:rPr lang="en-US" b="1" u="sng" dirty="0">
                <a:solidFill>
                  <a:srgbClr val="7030A0"/>
                </a:solidFill>
              </a:rPr>
              <a:t>vulnerability,</a:t>
            </a:r>
            <a:r>
              <a:rPr lang="en-US" b="1" dirty="0"/>
              <a:t> and </a:t>
            </a:r>
            <a:r>
              <a:rPr lang="en-US" b="1" u="sng" dirty="0">
                <a:solidFill>
                  <a:srgbClr val="7030A0"/>
                </a:solidFill>
              </a:rPr>
              <a:t>capacity</a:t>
            </a:r>
          </a:p>
          <a:p>
            <a:pPr marL="749300" indent="-401638">
              <a:lnSpc>
                <a:spcPct val="150000"/>
              </a:lnSpc>
              <a:spcAft>
                <a:spcPts val="600"/>
              </a:spcAft>
            </a:pPr>
            <a:r>
              <a:rPr lang="en-US" b="1" dirty="0"/>
              <a:t>How can you relate </a:t>
            </a:r>
            <a:r>
              <a:rPr lang="en-US" b="1" u="sng" dirty="0">
                <a:solidFill>
                  <a:srgbClr val="7030A0"/>
                </a:solidFill>
              </a:rPr>
              <a:t>poverty</a:t>
            </a:r>
            <a:r>
              <a:rPr lang="en-US" b="1" dirty="0"/>
              <a:t> with vulnerability and capacity?</a:t>
            </a:r>
          </a:p>
          <a:p>
            <a:pPr marL="749300" indent="-401638">
              <a:lnSpc>
                <a:spcPct val="150000"/>
              </a:lnSpc>
              <a:spcAft>
                <a:spcPts val="600"/>
              </a:spcAft>
            </a:pPr>
            <a:r>
              <a:rPr lang="en-US" b="1" dirty="0"/>
              <a:t>Examples of Disasters and Disaster Management from ancient history?</a:t>
            </a:r>
          </a:p>
        </p:txBody>
      </p:sp>
      <p:sp>
        <p:nvSpPr>
          <p:cNvPr id="4" name="Title 1"/>
          <p:cNvSpPr txBox="1">
            <a:spLocks/>
          </p:cNvSpPr>
          <p:nvPr/>
        </p:nvSpPr>
        <p:spPr>
          <a:xfrm>
            <a:off x="0" y="2251732"/>
            <a:ext cx="12191999" cy="1027496"/>
          </a:xfrm>
          <a:prstGeom prst="rect">
            <a:avLst/>
          </a:prstGeom>
          <a:solidFill>
            <a:srgbClr val="FFC000"/>
          </a:solidFill>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lang="en-US" sz="4000" b="1" kern="1200" spc="-100" dirty="0">
                <a:ln>
                  <a:noFill/>
                </a:ln>
                <a:solidFill>
                  <a:srgbClr val="0000CC"/>
                </a:solidFill>
                <a:latin typeface="Comic Sans MS" panose="030F0702030302020204" pitchFamily="66" charset="0"/>
                <a:ea typeface="+mj-ea"/>
                <a:cs typeface="Arial" panose="020B0604020202020204" pitchFamily="34" charset="0"/>
              </a:defRPr>
            </a:lvl1pPr>
          </a:lstStyle>
          <a:p>
            <a:r>
              <a:rPr lang="en-US" dirty="0"/>
              <a:t>Today we will discuss</a:t>
            </a:r>
          </a:p>
        </p:txBody>
      </p:sp>
    </p:spTree>
    <p:extLst>
      <p:ext uri="{BB962C8B-B14F-4D97-AF65-F5344CB8AC3E}">
        <p14:creationId xmlns:p14="http://schemas.microsoft.com/office/powerpoint/2010/main" val="290609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9"/>
                                          </p:stCondLst>
                                        </p:cTn>
                                        <p:tgtEl>
                                          <p:spTgt spid="1741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9"/>
                                          </p:stCondLst>
                                        </p:cTn>
                                        <p:tgtEl>
                                          <p:spTgt spid="1741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
                                          </p:stCondLst>
                                        </p:cTn>
                                        <p:tgtEl>
                                          <p:spTgt spid="1741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9"/>
                                          </p:stCondLst>
                                        </p:cTn>
                                        <p:tgtEl>
                                          <p:spTgt spid="1741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9"/>
                                          </p:stCondLst>
                                        </p:cTn>
                                        <p:tgtEl>
                                          <p:spTgt spid="17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0442"/>
            <a:ext cx="10515600" cy="5246521"/>
          </a:xfrm>
        </p:spPr>
        <p:txBody>
          <a:bodyPr/>
          <a:lstStyle/>
          <a:p>
            <a:pPr marL="0" indent="0">
              <a:lnSpc>
                <a:spcPct val="114000"/>
              </a:lnSpc>
              <a:spcBef>
                <a:spcPts val="1200"/>
              </a:spcBef>
              <a:spcAft>
                <a:spcPts val="1200"/>
              </a:spcAft>
              <a:buNone/>
            </a:pPr>
            <a:r>
              <a:rPr lang="en-US" dirty="0"/>
              <a:t>“Hazards are always prevalent, but a hazard becomes a disaster only when the frequency or likelihood of a hazard and the vulnerability of the community </a:t>
            </a:r>
            <a:r>
              <a:rPr lang="en-US" u="sng" dirty="0">
                <a:solidFill>
                  <a:srgbClr val="C00000"/>
                </a:solidFill>
              </a:rPr>
              <a:t>increases the risk of being severely affected</a:t>
            </a:r>
            <a:r>
              <a:rPr lang="en-US" dirty="0"/>
              <a:t>”</a:t>
            </a:r>
          </a:p>
          <a:p>
            <a:pPr marL="0" indent="0">
              <a:lnSpc>
                <a:spcPct val="114000"/>
              </a:lnSpc>
              <a:spcBef>
                <a:spcPts val="1200"/>
              </a:spcBef>
              <a:spcAft>
                <a:spcPts val="1200"/>
              </a:spcAft>
              <a:buNone/>
            </a:pPr>
            <a:endParaRPr lang="en-US" dirty="0"/>
          </a:p>
          <a:p>
            <a:pPr marL="0" indent="0" algn="ctr">
              <a:lnSpc>
                <a:spcPct val="114000"/>
              </a:lnSpc>
              <a:spcBef>
                <a:spcPts val="1200"/>
              </a:spcBef>
              <a:spcAft>
                <a:spcPts val="1200"/>
              </a:spcAft>
              <a:buNone/>
            </a:pPr>
            <a:r>
              <a:rPr lang="en-US" sz="4000" b="1" dirty="0"/>
              <a:t>What is Risk?</a:t>
            </a:r>
          </a:p>
        </p:txBody>
      </p:sp>
    </p:spTree>
    <p:extLst>
      <p:ext uri="{BB962C8B-B14F-4D97-AF65-F5344CB8AC3E}">
        <p14:creationId xmlns:p14="http://schemas.microsoft.com/office/powerpoint/2010/main" val="187304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1752600" y="304800"/>
            <a:ext cx="8991600" cy="685800"/>
          </a:xfrm>
        </p:spPr>
        <p:txBody>
          <a:bodyPr>
            <a:normAutofit/>
          </a:bodyPr>
          <a:lstStyle/>
          <a:p>
            <a:pPr eaLnBrk="1" hangingPunct="1"/>
            <a:r>
              <a:rPr lang="en-US" dirty="0">
                <a:solidFill>
                  <a:schemeClr val="tx1"/>
                </a:solidFill>
              </a:rPr>
              <a:t>Hazard and Risk</a:t>
            </a:r>
          </a:p>
        </p:txBody>
      </p:sp>
      <p:sp>
        <p:nvSpPr>
          <p:cNvPr id="22530" name="Content Placeholder 2"/>
          <p:cNvSpPr>
            <a:spLocks noGrp="1"/>
          </p:cNvSpPr>
          <p:nvPr>
            <p:ph sz="quarter" idx="1"/>
          </p:nvPr>
        </p:nvSpPr>
        <p:spPr>
          <a:xfrm>
            <a:off x="530352" y="1219201"/>
            <a:ext cx="11484864" cy="5638799"/>
          </a:xfrm>
        </p:spPr>
        <p:txBody>
          <a:bodyPr>
            <a:normAutofit/>
          </a:bodyPr>
          <a:lstStyle/>
          <a:p>
            <a:pPr eaLnBrk="1" hangingPunct="1">
              <a:lnSpc>
                <a:spcPct val="114000"/>
              </a:lnSpc>
            </a:pPr>
            <a:r>
              <a:rPr lang="en-US" dirty="0"/>
              <a:t>Each </a:t>
            </a:r>
            <a:r>
              <a:rPr lang="en-US" i="1" u="sng" dirty="0">
                <a:solidFill>
                  <a:srgbClr val="C00000"/>
                </a:solidFill>
              </a:rPr>
              <a:t>Hazard</a:t>
            </a:r>
            <a:r>
              <a:rPr lang="en-US" dirty="0"/>
              <a:t> carries an associated </a:t>
            </a:r>
            <a:r>
              <a:rPr lang="en-US" i="1" u="sng" dirty="0">
                <a:solidFill>
                  <a:srgbClr val="C00000"/>
                </a:solidFill>
              </a:rPr>
              <a:t>Risk.</a:t>
            </a:r>
          </a:p>
          <a:p>
            <a:pPr eaLnBrk="1" hangingPunct="1">
              <a:lnSpc>
                <a:spcPct val="114000"/>
              </a:lnSpc>
            </a:pPr>
            <a:r>
              <a:rPr lang="en-US" dirty="0"/>
              <a:t>Risk depends on </a:t>
            </a:r>
            <a:r>
              <a:rPr lang="en-US" u="sng" dirty="0">
                <a:solidFill>
                  <a:srgbClr val="7030A0"/>
                </a:solidFill>
              </a:rPr>
              <a:t>likelihood</a:t>
            </a:r>
            <a:r>
              <a:rPr lang="en-US" dirty="0"/>
              <a:t> of a hazard leading to an actual disaster and  the </a:t>
            </a:r>
            <a:r>
              <a:rPr lang="en-US" u="sng" dirty="0">
                <a:solidFill>
                  <a:srgbClr val="7030A0"/>
                </a:solidFill>
              </a:rPr>
              <a:t>consequence</a:t>
            </a:r>
            <a:r>
              <a:rPr lang="en-US" dirty="0">
                <a:solidFill>
                  <a:srgbClr val="7030A0"/>
                </a:solidFill>
              </a:rPr>
              <a:t>s</a:t>
            </a:r>
            <a:r>
              <a:rPr lang="en-US" dirty="0"/>
              <a:t> of that disaster.</a:t>
            </a:r>
          </a:p>
          <a:p>
            <a:pPr eaLnBrk="1" hangingPunct="1">
              <a:lnSpc>
                <a:spcPct val="114000"/>
              </a:lnSpc>
            </a:pPr>
            <a:r>
              <a:rPr lang="en-US" dirty="0"/>
              <a:t>When the response requirements for an emergency event exceed the capabilities of available emergency services the event is classified as a </a:t>
            </a:r>
            <a:r>
              <a:rPr lang="en-US" i="1" u="sng" dirty="0">
                <a:solidFill>
                  <a:srgbClr val="C00000"/>
                </a:solidFill>
              </a:rPr>
              <a:t>Disaster.</a:t>
            </a:r>
          </a:p>
          <a:p>
            <a:pPr eaLnBrk="1" hangingPunct="1">
              <a:lnSpc>
                <a:spcPct val="114000"/>
              </a:lnSpc>
            </a:pPr>
            <a:r>
              <a:rPr lang="en-US" dirty="0"/>
              <a:t>Knowledge of </a:t>
            </a:r>
            <a:r>
              <a:rPr lang="en-US" i="1" u="sng" dirty="0">
                <a:solidFill>
                  <a:srgbClr val="C00000"/>
                </a:solidFill>
              </a:rPr>
              <a:t>Risk </a:t>
            </a:r>
            <a:r>
              <a:rPr lang="en-US" dirty="0"/>
              <a:t>is essential for </a:t>
            </a:r>
            <a:r>
              <a:rPr lang="en-US" i="1" u="sng" dirty="0">
                <a:solidFill>
                  <a:srgbClr val="C00000"/>
                </a:solidFill>
              </a:rPr>
              <a:t>Preparedness</a:t>
            </a:r>
            <a:r>
              <a:rPr lang="en-US" dirty="0"/>
              <a:t>, </a:t>
            </a:r>
            <a:r>
              <a:rPr lang="en-US" i="1" u="sng" dirty="0">
                <a:solidFill>
                  <a:srgbClr val="C00000"/>
                </a:solidFill>
              </a:rPr>
              <a:t>Planning </a:t>
            </a:r>
            <a:r>
              <a:rPr lang="en-US" dirty="0"/>
              <a:t>and </a:t>
            </a:r>
            <a:r>
              <a:rPr lang="en-US" i="1" u="sng" dirty="0">
                <a:solidFill>
                  <a:srgbClr val="C00000"/>
                </a:solidFill>
              </a:rPr>
              <a:t>Mitigation</a:t>
            </a:r>
            <a:r>
              <a:rPr lang="en-US" dirty="0"/>
              <a:t> activities.</a:t>
            </a:r>
          </a:p>
        </p:txBody>
      </p:sp>
    </p:spTree>
    <p:extLst>
      <p:ext uri="{BB962C8B-B14F-4D97-AF65-F5344CB8AC3E}">
        <p14:creationId xmlns:p14="http://schemas.microsoft.com/office/powerpoint/2010/main" val="218976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838200" y="512064"/>
            <a:ext cx="10515600" cy="914400"/>
          </a:xfrm>
        </p:spPr>
        <p:txBody>
          <a:bodyPr>
            <a:normAutofit/>
          </a:bodyPr>
          <a:lstStyle/>
          <a:p>
            <a:r>
              <a:rPr lang="en-US" dirty="0"/>
              <a:t>Risk : Definition</a:t>
            </a:r>
          </a:p>
        </p:txBody>
      </p:sp>
      <p:sp>
        <p:nvSpPr>
          <p:cNvPr id="38914" name="Content Placeholder 2"/>
          <p:cNvSpPr>
            <a:spLocks noGrp="1"/>
          </p:cNvSpPr>
          <p:nvPr>
            <p:ph sz="quarter" idx="1"/>
          </p:nvPr>
        </p:nvSpPr>
        <p:spPr>
          <a:xfrm>
            <a:off x="400050" y="1426464"/>
            <a:ext cx="11615166" cy="5107686"/>
          </a:xfrm>
        </p:spPr>
        <p:txBody>
          <a:bodyPr>
            <a:normAutofit fontScale="92500"/>
          </a:bodyPr>
          <a:lstStyle/>
          <a:p>
            <a:pPr>
              <a:lnSpc>
                <a:spcPct val="114000"/>
              </a:lnSpc>
              <a:spcBef>
                <a:spcPts val="1200"/>
              </a:spcBef>
              <a:spcAft>
                <a:spcPts val="1200"/>
              </a:spcAft>
            </a:pPr>
            <a:r>
              <a:rPr lang="en-US" sz="3600" dirty="0"/>
              <a:t>Measure of the expected losses due to a hazard event occurring in a given area over a specific time period.</a:t>
            </a:r>
          </a:p>
          <a:p>
            <a:pPr lvl="1">
              <a:lnSpc>
                <a:spcPct val="114000"/>
              </a:lnSpc>
              <a:spcAft>
                <a:spcPts val="1200"/>
              </a:spcAft>
            </a:pPr>
            <a:r>
              <a:rPr lang="en-US" sz="2800" dirty="0">
                <a:solidFill>
                  <a:srgbClr val="C00000"/>
                </a:solidFill>
              </a:rPr>
              <a:t>Function of the </a:t>
            </a:r>
            <a:r>
              <a:rPr lang="en-US" sz="2800" u="sng" dirty="0">
                <a:solidFill>
                  <a:srgbClr val="C00000"/>
                </a:solidFill>
              </a:rPr>
              <a:t>probability of particular hazardous </a:t>
            </a:r>
            <a:r>
              <a:rPr lang="en-US" sz="2800" dirty="0">
                <a:solidFill>
                  <a:srgbClr val="C00000"/>
                </a:solidFill>
              </a:rPr>
              <a:t>event and the </a:t>
            </a:r>
            <a:r>
              <a:rPr lang="en-US" sz="2800" u="sng" dirty="0">
                <a:solidFill>
                  <a:srgbClr val="C00000"/>
                </a:solidFill>
              </a:rPr>
              <a:t>losses</a:t>
            </a:r>
            <a:r>
              <a:rPr lang="en-US" sz="2800" dirty="0">
                <a:solidFill>
                  <a:srgbClr val="C00000"/>
                </a:solidFill>
              </a:rPr>
              <a:t> each would cause.</a:t>
            </a:r>
          </a:p>
          <a:p>
            <a:pPr>
              <a:lnSpc>
                <a:spcPct val="114000"/>
              </a:lnSpc>
              <a:spcAft>
                <a:spcPts val="1200"/>
              </a:spcAft>
            </a:pPr>
            <a:r>
              <a:rPr lang="en-US" sz="3600" dirty="0"/>
              <a:t>The potential disaster losses, in lives, health status, livelihoods, assets and services, which could occur to a particular community or a society over some specified future time period (UNISDR).</a:t>
            </a:r>
            <a:endParaRPr lang="en-US" sz="3600" dirty="0">
              <a:solidFill>
                <a:srgbClr val="C00000"/>
              </a:solidFill>
            </a:endParaRPr>
          </a:p>
        </p:txBody>
      </p:sp>
    </p:spTree>
    <p:extLst>
      <p:ext uri="{BB962C8B-B14F-4D97-AF65-F5344CB8AC3E}">
        <p14:creationId xmlns:p14="http://schemas.microsoft.com/office/powerpoint/2010/main" val="107170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l="7031" t="26042" r="21875" b="30208"/>
          <a:stretch>
            <a:fillRect/>
          </a:stretch>
        </p:blipFill>
        <p:spPr bwMode="auto">
          <a:xfrm>
            <a:off x="1988288" y="2084056"/>
            <a:ext cx="6934200" cy="3200400"/>
          </a:xfrm>
          <a:prstGeom prst="rect">
            <a:avLst/>
          </a:prstGeom>
          <a:noFill/>
          <a:ln w="9525">
            <a:noFill/>
            <a:miter lim="800000"/>
            <a:headEnd/>
            <a:tailEnd/>
          </a:ln>
        </p:spPr>
      </p:pic>
    </p:spTree>
    <p:extLst>
      <p:ext uri="{BB962C8B-B14F-4D97-AF65-F5344CB8AC3E}">
        <p14:creationId xmlns:p14="http://schemas.microsoft.com/office/powerpoint/2010/main" val="359760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depends on</a:t>
            </a:r>
          </a:p>
        </p:txBody>
      </p:sp>
      <p:sp>
        <p:nvSpPr>
          <p:cNvPr id="3" name="Content Placeholder 2"/>
          <p:cNvSpPr>
            <a:spLocks noGrp="1"/>
          </p:cNvSpPr>
          <p:nvPr>
            <p:ph idx="1"/>
          </p:nvPr>
        </p:nvSpPr>
        <p:spPr/>
        <p:txBody>
          <a:bodyPr/>
          <a:lstStyle/>
          <a:p>
            <a:pPr lvl="1">
              <a:lnSpc>
                <a:spcPct val="100000"/>
              </a:lnSpc>
              <a:spcAft>
                <a:spcPts val="600"/>
              </a:spcAft>
            </a:pPr>
            <a:r>
              <a:rPr lang="en-US" dirty="0">
                <a:solidFill>
                  <a:srgbClr val="7030A0"/>
                </a:solidFill>
              </a:rPr>
              <a:t>Nature of the hazard</a:t>
            </a:r>
          </a:p>
          <a:p>
            <a:pPr lvl="1">
              <a:lnSpc>
                <a:spcPct val="100000"/>
              </a:lnSpc>
              <a:spcAft>
                <a:spcPts val="600"/>
              </a:spcAft>
            </a:pPr>
            <a:r>
              <a:rPr lang="en-US" dirty="0">
                <a:solidFill>
                  <a:srgbClr val="7030A0"/>
                </a:solidFill>
              </a:rPr>
              <a:t>Vulnerability of the elements which are affected</a:t>
            </a:r>
          </a:p>
          <a:p>
            <a:pPr lvl="1">
              <a:lnSpc>
                <a:spcPct val="100000"/>
              </a:lnSpc>
              <a:spcAft>
                <a:spcPts val="600"/>
              </a:spcAft>
            </a:pPr>
            <a:r>
              <a:rPr lang="en-US" dirty="0">
                <a:solidFill>
                  <a:srgbClr val="7030A0"/>
                </a:solidFill>
              </a:rPr>
              <a:t>Capacity to recover</a:t>
            </a:r>
          </a:p>
          <a:p>
            <a:pPr lvl="1">
              <a:lnSpc>
                <a:spcPct val="100000"/>
              </a:lnSpc>
              <a:spcAft>
                <a:spcPts val="600"/>
              </a:spcAft>
            </a:pPr>
            <a:r>
              <a:rPr lang="en-US" dirty="0">
                <a:solidFill>
                  <a:srgbClr val="7030A0"/>
                </a:solidFill>
              </a:rPr>
              <a:t>Economic value of those elements</a:t>
            </a:r>
          </a:p>
          <a:p>
            <a:pPr marL="457200" lvl="1" indent="0">
              <a:lnSpc>
                <a:spcPct val="150000"/>
              </a:lnSpc>
              <a:spcAft>
                <a:spcPts val="600"/>
              </a:spcAft>
              <a:buNone/>
            </a:pPr>
            <a:r>
              <a:rPr lang="en-US" b="1" dirty="0"/>
              <a:t>Disaster risk management </a:t>
            </a:r>
            <a:r>
              <a:rPr lang="en-US" dirty="0"/>
              <a:t>includes all measures which </a:t>
            </a:r>
            <a:r>
              <a:rPr lang="en-US" u="sng" dirty="0"/>
              <a:t>reduce disaster related losses </a:t>
            </a:r>
            <a:r>
              <a:rPr lang="en-US" dirty="0"/>
              <a:t>of life, property, or assets </a:t>
            </a:r>
            <a:r>
              <a:rPr lang="en-US" u="sng" dirty="0"/>
              <a:t>by either reducing the hazard or vulnerability</a:t>
            </a:r>
            <a:r>
              <a:rPr lang="en-US" dirty="0"/>
              <a:t> of the elements at risk. </a:t>
            </a:r>
            <a:endParaRPr lang="en-US" b="1" dirty="0">
              <a:solidFill>
                <a:srgbClr val="FFCC66"/>
              </a:solidFill>
            </a:endParaRPr>
          </a:p>
          <a:p>
            <a:endParaRPr lang="en-US" dirty="0"/>
          </a:p>
        </p:txBody>
      </p:sp>
    </p:spTree>
    <p:extLst>
      <p:ext uri="{BB962C8B-B14F-4D97-AF65-F5344CB8AC3E}">
        <p14:creationId xmlns:p14="http://schemas.microsoft.com/office/powerpoint/2010/main" val="158677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365886" y="0"/>
            <a:ext cx="9664644" cy="6773227"/>
          </a:xfrm>
          <a:prstGeom prst="rect">
            <a:avLst/>
          </a:prstGeom>
        </p:spPr>
      </p:pic>
    </p:spTree>
    <p:extLst>
      <p:ext uri="{BB962C8B-B14F-4D97-AF65-F5344CB8AC3E}">
        <p14:creationId xmlns:p14="http://schemas.microsoft.com/office/powerpoint/2010/main" val="3006200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Hazard and Vulnerability</a:t>
            </a:r>
          </a:p>
        </p:txBody>
      </p:sp>
      <p:sp>
        <p:nvSpPr>
          <p:cNvPr id="33794" name="Content Placeholder 2"/>
          <p:cNvSpPr>
            <a:spLocks noGrp="1"/>
          </p:cNvSpPr>
          <p:nvPr>
            <p:ph idx="1"/>
          </p:nvPr>
        </p:nvSpPr>
        <p:spPr/>
        <p:txBody>
          <a:bodyPr>
            <a:normAutofit/>
          </a:bodyPr>
          <a:lstStyle/>
          <a:p>
            <a:pPr>
              <a:lnSpc>
                <a:spcPct val="114000"/>
              </a:lnSpc>
            </a:pPr>
            <a:r>
              <a:rPr lang="en-US" dirty="0"/>
              <a:t>A disaster happens when a hazard impacts on the vulnerable population and causes damage, casualties and disruption</a:t>
            </a:r>
          </a:p>
          <a:p>
            <a:pPr>
              <a:lnSpc>
                <a:spcPct val="114000"/>
              </a:lnSpc>
            </a:pPr>
            <a:r>
              <a:rPr lang="en-US" dirty="0"/>
              <a:t>Disaster occurs only when </a:t>
            </a:r>
            <a:r>
              <a:rPr lang="en-US" b="1" i="1" dirty="0">
                <a:solidFill>
                  <a:srgbClr val="7030A0"/>
                </a:solidFill>
              </a:rPr>
              <a:t>hazards</a:t>
            </a:r>
            <a:r>
              <a:rPr lang="en-US" dirty="0"/>
              <a:t> and </a:t>
            </a:r>
            <a:r>
              <a:rPr lang="en-US" b="1" i="1" dirty="0">
                <a:solidFill>
                  <a:srgbClr val="7030A0"/>
                </a:solidFill>
              </a:rPr>
              <a:t>vulnerability</a:t>
            </a:r>
            <a:r>
              <a:rPr lang="en-US" dirty="0"/>
              <a:t> meet</a:t>
            </a:r>
          </a:p>
        </p:txBody>
      </p:sp>
    </p:spTree>
    <p:extLst>
      <p:ext uri="{BB962C8B-B14F-4D97-AF65-F5344CB8AC3E}">
        <p14:creationId xmlns:p14="http://schemas.microsoft.com/office/powerpoint/2010/main" val="383804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3" y="1219201"/>
            <a:ext cx="7230533" cy="5418666"/>
          </a:xfrm>
        </p:spPr>
        <p:txBody>
          <a:bodyPr/>
          <a:lstStyle/>
          <a:p>
            <a:endParaRPr lang="en-US" dirty="0"/>
          </a:p>
          <a:p>
            <a:endParaRPr lang="en-US" dirty="0"/>
          </a:p>
          <a:p>
            <a:endParaRPr lang="en-US" dirty="0"/>
          </a:p>
          <a:p>
            <a:endParaRPr lang="en-US" dirty="0"/>
          </a:p>
          <a:p>
            <a:endParaRPr lang="en-US" dirty="0"/>
          </a:p>
          <a:p>
            <a:pPr>
              <a:buFont typeface="Wingdings 3" pitchFamily="18" charset="2"/>
              <a:buNone/>
            </a:pPr>
            <a:r>
              <a:rPr lang="en-US" dirty="0"/>
              <a:t>When Hazard and </a:t>
            </a:r>
            <a:r>
              <a:rPr lang="en-US"/>
              <a:t>risk materialize </a:t>
            </a:r>
            <a:r>
              <a:rPr lang="en-US" dirty="0"/>
              <a:t>then Disaster occurs</a:t>
            </a:r>
          </a:p>
        </p:txBody>
      </p:sp>
      <p:pic>
        <p:nvPicPr>
          <p:cNvPr id="3074" name="Picture 2"/>
          <p:cNvPicPr>
            <a:picLocks noChangeAspect="1" noChangeArrowheads="1"/>
          </p:cNvPicPr>
          <p:nvPr/>
        </p:nvPicPr>
        <p:blipFill>
          <a:blip r:embed="rId3"/>
          <a:srcRect l="7031" t="26042" r="21875" b="30208"/>
          <a:stretch>
            <a:fillRect/>
          </a:stretch>
        </p:blipFill>
        <p:spPr bwMode="auto">
          <a:xfrm>
            <a:off x="457200" y="212726"/>
            <a:ext cx="6934200" cy="3200400"/>
          </a:xfrm>
          <a:prstGeom prst="rect">
            <a:avLst/>
          </a:prstGeom>
          <a:noFill/>
          <a:ln w="9525">
            <a:noFill/>
            <a:miter lim="800000"/>
            <a:headEnd/>
            <a:tailEnd/>
          </a:ln>
        </p:spPr>
      </p:pic>
      <p:pic>
        <p:nvPicPr>
          <p:cNvPr id="3075" name="Picture 3"/>
          <p:cNvPicPr>
            <a:picLocks noChangeAspect="1" noChangeArrowheads="1"/>
          </p:cNvPicPr>
          <p:nvPr/>
        </p:nvPicPr>
        <p:blipFill>
          <a:blip r:embed="rId4"/>
          <a:srcRect l="31250" t="41667" r="19531" b="20833"/>
          <a:stretch>
            <a:fillRect/>
          </a:stretch>
        </p:blipFill>
        <p:spPr bwMode="auto">
          <a:xfrm>
            <a:off x="7391400" y="3894667"/>
            <a:ext cx="4800600" cy="2743200"/>
          </a:xfrm>
          <a:prstGeom prst="rect">
            <a:avLst/>
          </a:prstGeom>
          <a:noFill/>
          <a:ln w="9525">
            <a:noFill/>
            <a:miter lim="800000"/>
            <a:headEnd/>
            <a:tailEnd/>
          </a:ln>
        </p:spPr>
      </p:pic>
    </p:spTree>
    <p:extLst>
      <p:ext uri="{BB962C8B-B14F-4D97-AF65-F5344CB8AC3E}">
        <p14:creationId xmlns:p14="http://schemas.microsoft.com/office/powerpoint/2010/main" val="374473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t>Vulnerability?</a:t>
            </a:r>
          </a:p>
        </p:txBody>
      </p:sp>
      <p:sp>
        <p:nvSpPr>
          <p:cNvPr id="32770" name="Content Placeholder 2"/>
          <p:cNvSpPr>
            <a:spLocks noGrp="1"/>
          </p:cNvSpPr>
          <p:nvPr>
            <p:ph sz="quarter" idx="1"/>
          </p:nvPr>
        </p:nvSpPr>
        <p:spPr>
          <a:xfrm>
            <a:off x="509016" y="1690688"/>
            <a:ext cx="11173968" cy="4974336"/>
          </a:xfrm>
        </p:spPr>
        <p:txBody>
          <a:bodyPr>
            <a:normAutofit/>
          </a:bodyPr>
          <a:lstStyle/>
          <a:p>
            <a:pPr marL="0" indent="0" algn="just">
              <a:lnSpc>
                <a:spcPct val="114000"/>
              </a:lnSpc>
              <a:spcAft>
                <a:spcPts val="600"/>
              </a:spcAft>
              <a:buNone/>
            </a:pPr>
            <a:r>
              <a:rPr lang="en-US" dirty="0"/>
              <a:t>The extent to which a community, structure, services or geographic area is likely to be damaged or disrupted by the impact of a particular hazard, on account of their nature, construction, and proximity to hazardous terrains or a disaster prone area.</a:t>
            </a:r>
          </a:p>
        </p:txBody>
      </p:sp>
    </p:spTree>
    <p:extLst>
      <p:ext uri="{BB962C8B-B14F-4D97-AF65-F5344CB8AC3E}">
        <p14:creationId xmlns:p14="http://schemas.microsoft.com/office/powerpoint/2010/main" val="2404913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lang="en-US"/>
              <a:t>Vulnerability?</a:t>
            </a:r>
          </a:p>
        </p:txBody>
      </p:sp>
      <p:sp>
        <p:nvSpPr>
          <p:cNvPr id="32770" name="Content Placeholder 2"/>
          <p:cNvSpPr>
            <a:spLocks noGrp="1"/>
          </p:cNvSpPr>
          <p:nvPr>
            <p:ph sz="quarter" idx="1"/>
          </p:nvPr>
        </p:nvSpPr>
        <p:spPr>
          <a:xfrm>
            <a:off x="509016" y="1690688"/>
            <a:ext cx="11173968" cy="4974336"/>
          </a:xfrm>
        </p:spPr>
        <p:txBody>
          <a:bodyPr>
            <a:normAutofit/>
          </a:bodyPr>
          <a:lstStyle/>
          <a:p>
            <a:pPr algn="just">
              <a:lnSpc>
                <a:spcPct val="114000"/>
              </a:lnSpc>
              <a:spcBef>
                <a:spcPts val="1200"/>
              </a:spcBef>
              <a:spcAft>
                <a:spcPts val="1200"/>
              </a:spcAft>
            </a:pPr>
            <a:r>
              <a:rPr lang="en-US" dirty="0">
                <a:solidFill>
                  <a:srgbClr val="0070C0"/>
                </a:solidFill>
              </a:rPr>
              <a:t>Physical Vulnerability</a:t>
            </a:r>
          </a:p>
          <a:p>
            <a:pPr lvl="1" algn="just">
              <a:lnSpc>
                <a:spcPct val="114000"/>
              </a:lnSpc>
              <a:spcAft>
                <a:spcPts val="1200"/>
              </a:spcAft>
            </a:pPr>
            <a:r>
              <a:rPr lang="en-US" sz="3600" b="1" u="sng" dirty="0"/>
              <a:t>who</a:t>
            </a:r>
            <a:r>
              <a:rPr lang="en-US" sz="3600" dirty="0"/>
              <a:t> and </a:t>
            </a:r>
            <a:r>
              <a:rPr lang="en-US" sz="3600" b="1" u="sng" dirty="0"/>
              <a:t>what</a:t>
            </a:r>
            <a:r>
              <a:rPr lang="en-US" sz="3600" dirty="0"/>
              <a:t> may be damaged or destroyed by a natural hazard</a:t>
            </a:r>
          </a:p>
          <a:p>
            <a:pPr algn="just">
              <a:lnSpc>
                <a:spcPct val="114000"/>
              </a:lnSpc>
              <a:spcBef>
                <a:spcPts val="1200"/>
              </a:spcBef>
              <a:spcAft>
                <a:spcPts val="1200"/>
              </a:spcAft>
            </a:pPr>
            <a:r>
              <a:rPr lang="en-US" dirty="0">
                <a:solidFill>
                  <a:srgbClr val="0070C0"/>
                </a:solidFill>
              </a:rPr>
              <a:t>Socio Economic Vulnerability</a:t>
            </a:r>
          </a:p>
          <a:p>
            <a:pPr lvl="1" algn="just">
              <a:lnSpc>
                <a:spcPct val="114000"/>
              </a:lnSpc>
              <a:spcAft>
                <a:spcPts val="1200"/>
              </a:spcAft>
            </a:pPr>
            <a:r>
              <a:rPr lang="en-US" sz="3600" dirty="0"/>
              <a:t>socio-economic condition of the people affected by a disaster</a:t>
            </a:r>
          </a:p>
        </p:txBody>
      </p:sp>
      <p:sp>
        <p:nvSpPr>
          <p:cNvPr id="2" name="Explosion 2 1"/>
          <p:cNvSpPr/>
          <p:nvPr/>
        </p:nvSpPr>
        <p:spPr>
          <a:xfrm rot="20459119">
            <a:off x="8370123" y="3183914"/>
            <a:ext cx="4370315" cy="1892969"/>
          </a:xfrm>
          <a:prstGeom prst="irregularSeal2">
            <a:avLst/>
          </a:prstGeom>
          <a:solidFill>
            <a:srgbClr val="5B9BD5">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Poverty -- vulnerability</a:t>
            </a:r>
          </a:p>
        </p:txBody>
      </p:sp>
    </p:spTree>
    <p:extLst>
      <p:ext uri="{BB962C8B-B14F-4D97-AF65-F5344CB8AC3E}">
        <p14:creationId xmlns:p14="http://schemas.microsoft.com/office/powerpoint/2010/main" val="176451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heel(1)">
                                      <p:cBhvr>
                                        <p:cTn id="2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uild="p"/>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 Examples?</a:t>
            </a:r>
          </a:p>
        </p:txBody>
      </p:sp>
      <p:sp>
        <p:nvSpPr>
          <p:cNvPr id="3" name="Content Placeholder 2"/>
          <p:cNvSpPr>
            <a:spLocks noGrp="1"/>
          </p:cNvSpPr>
          <p:nvPr>
            <p:ph idx="1"/>
          </p:nvPr>
        </p:nvSpPr>
        <p:spPr/>
        <p:txBody>
          <a:bodyPr/>
          <a:lstStyle/>
          <a:p>
            <a:r>
              <a:rPr lang="en-US" dirty="0"/>
              <a:t>Share Examples?</a:t>
            </a:r>
          </a:p>
          <a:p>
            <a:pPr marL="514350" indent="-514350">
              <a:lnSpc>
                <a:spcPct val="100000"/>
              </a:lnSpc>
              <a:spcAft>
                <a:spcPts val="1200"/>
              </a:spcAft>
              <a:buFont typeface="+mj-lt"/>
              <a:buAutoNum type="arabicPeriod"/>
            </a:pPr>
            <a:r>
              <a:rPr lang="en-US" dirty="0">
                <a:solidFill>
                  <a:srgbClr val="0070C0"/>
                </a:solidFill>
              </a:rPr>
              <a:t>poor design and construction of buildings </a:t>
            </a:r>
          </a:p>
          <a:p>
            <a:pPr marL="514350" indent="-514350">
              <a:lnSpc>
                <a:spcPct val="100000"/>
              </a:lnSpc>
              <a:spcAft>
                <a:spcPts val="1200"/>
              </a:spcAft>
              <a:buFont typeface="+mj-lt"/>
              <a:buAutoNum type="arabicPeriod"/>
            </a:pPr>
            <a:r>
              <a:rPr lang="en-US" dirty="0">
                <a:solidFill>
                  <a:srgbClr val="0070C0"/>
                </a:solidFill>
              </a:rPr>
              <a:t>inadequate protection of assets</a:t>
            </a:r>
          </a:p>
          <a:p>
            <a:pPr marL="514350" indent="-514350">
              <a:lnSpc>
                <a:spcPct val="100000"/>
              </a:lnSpc>
              <a:spcAft>
                <a:spcPts val="1200"/>
              </a:spcAft>
              <a:buFont typeface="+mj-lt"/>
              <a:buAutoNum type="arabicPeriod"/>
            </a:pPr>
            <a:r>
              <a:rPr lang="en-US" dirty="0">
                <a:solidFill>
                  <a:srgbClr val="0070C0"/>
                </a:solidFill>
              </a:rPr>
              <a:t>lack of public awareness</a:t>
            </a:r>
          </a:p>
          <a:p>
            <a:pPr marL="514350" indent="-514350">
              <a:lnSpc>
                <a:spcPct val="100000"/>
              </a:lnSpc>
              <a:spcAft>
                <a:spcPts val="1200"/>
              </a:spcAft>
              <a:buFont typeface="+mj-lt"/>
              <a:buAutoNum type="arabicPeriod"/>
            </a:pPr>
            <a:r>
              <a:rPr lang="en-US" dirty="0">
                <a:solidFill>
                  <a:srgbClr val="0070C0"/>
                </a:solidFill>
              </a:rPr>
              <a:t>limited recognition of risks and preparedness measures and lack of proper management</a:t>
            </a:r>
          </a:p>
        </p:txBody>
      </p:sp>
    </p:spTree>
    <p:extLst>
      <p:ext uri="{BB962C8B-B14F-4D97-AF65-F5344CB8AC3E}">
        <p14:creationId xmlns:p14="http://schemas.microsoft.com/office/powerpoint/2010/main" val="256707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p:cNvSpPr>
          <p:nvPr>
            <p:ph type="body" idx="1"/>
          </p:nvPr>
        </p:nvSpPr>
        <p:spPr>
          <a:xfrm>
            <a:off x="838200" y="402336"/>
            <a:ext cx="10902696" cy="694944"/>
          </a:xfrm>
        </p:spPr>
        <p:txBody>
          <a:bodyPr/>
          <a:lstStyle/>
          <a:p>
            <a:pPr marL="0" indent="0" eaLnBrk="1" hangingPunct="1">
              <a:buNone/>
            </a:pPr>
            <a:r>
              <a:rPr lang="en-US" dirty="0">
                <a:solidFill>
                  <a:srgbClr val="0070C0"/>
                </a:solidFill>
              </a:rPr>
              <a:t>Disaster occurs when hazard and vulnerability meet</a:t>
            </a:r>
          </a:p>
          <a:p>
            <a:pPr marL="0" indent="0" eaLnBrk="1" hangingPunct="1">
              <a:buNone/>
            </a:pPr>
            <a:endParaRPr lang="en-US" dirty="0">
              <a:solidFill>
                <a:srgbClr val="0070C0"/>
              </a:solidFill>
            </a:endParaRPr>
          </a:p>
        </p:txBody>
      </p:sp>
      <p:pic>
        <p:nvPicPr>
          <p:cNvPr id="30723" name="Picture 4"/>
          <p:cNvPicPr>
            <a:picLocks noChangeAspect="1" noChangeArrowheads="1"/>
          </p:cNvPicPr>
          <p:nvPr/>
        </p:nvPicPr>
        <p:blipFill>
          <a:blip r:embed="rId3"/>
          <a:srcRect l="12500" t="13000" r="8749" b="12000"/>
          <a:stretch>
            <a:fillRect/>
          </a:stretch>
        </p:blipFill>
        <p:spPr bwMode="auto">
          <a:xfrm>
            <a:off x="680642" y="932688"/>
            <a:ext cx="10379304" cy="5925312"/>
          </a:xfrm>
          <a:prstGeom prst="rect">
            <a:avLst/>
          </a:prstGeom>
          <a:noFill/>
          <a:ln w="9525">
            <a:noFill/>
            <a:miter lim="800000"/>
            <a:headEnd/>
            <a:tailEnd/>
          </a:ln>
        </p:spPr>
      </p:pic>
    </p:spTree>
    <p:extLst>
      <p:ext uri="{BB962C8B-B14F-4D97-AF65-F5344CB8AC3E}">
        <p14:creationId xmlns:p14="http://schemas.microsoft.com/office/powerpoint/2010/main" val="281784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p:cNvSpPr>
          <p:nvPr>
            <p:ph sz="quarter" idx="1"/>
          </p:nvPr>
        </p:nvSpPr>
        <p:spPr>
          <a:xfrm>
            <a:off x="1981200" y="1219201"/>
            <a:ext cx="8229600" cy="4937125"/>
          </a:xfrm>
        </p:spPr>
        <p:txBody>
          <a:bodyPr/>
          <a:lstStyle/>
          <a:p>
            <a:pPr eaLnBrk="1" hangingPunct="1"/>
            <a:endParaRPr lang="en-IN"/>
          </a:p>
        </p:txBody>
      </p:sp>
      <p:pic>
        <p:nvPicPr>
          <p:cNvPr id="54275" name="Picture 2"/>
          <p:cNvPicPr>
            <a:picLocks noChangeAspect="1" noChangeArrowheads="1"/>
          </p:cNvPicPr>
          <p:nvPr/>
        </p:nvPicPr>
        <p:blipFill>
          <a:blip r:embed="rId3"/>
          <a:srcRect l="17570" t="12500" r="23865" b="10417"/>
          <a:stretch>
            <a:fillRect/>
          </a:stretch>
        </p:blipFill>
        <p:spPr bwMode="auto">
          <a:xfrm>
            <a:off x="1524000" y="88900"/>
            <a:ext cx="8839200" cy="6540500"/>
          </a:xfrm>
          <a:prstGeom prst="rect">
            <a:avLst/>
          </a:prstGeom>
          <a:noFill/>
          <a:ln w="9525">
            <a:noFill/>
            <a:miter lim="800000"/>
            <a:headEnd/>
            <a:tailEnd/>
          </a:ln>
        </p:spPr>
      </p:pic>
    </p:spTree>
    <p:extLst>
      <p:ext uri="{BB962C8B-B14F-4D97-AF65-F5344CB8AC3E}">
        <p14:creationId xmlns:p14="http://schemas.microsoft.com/office/powerpoint/2010/main" val="3761581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 assessment</a:t>
            </a:r>
          </a:p>
        </p:txBody>
      </p:sp>
      <p:sp>
        <p:nvSpPr>
          <p:cNvPr id="5" name="Content Placeholder 4"/>
          <p:cNvSpPr>
            <a:spLocks noGrp="1"/>
          </p:cNvSpPr>
          <p:nvPr>
            <p:ph idx="1"/>
          </p:nvPr>
        </p:nvSpPr>
        <p:spPr>
          <a:xfrm>
            <a:off x="379562" y="1825624"/>
            <a:ext cx="5624423" cy="4750927"/>
          </a:xfrm>
        </p:spPr>
        <p:txBody>
          <a:bodyPr/>
          <a:lstStyle/>
          <a:p>
            <a:r>
              <a:rPr lang="en-US" dirty="0"/>
              <a:t>Different for different</a:t>
            </a:r>
          </a:p>
          <a:p>
            <a:pPr lvl="1"/>
            <a:r>
              <a:rPr lang="en-US" dirty="0"/>
              <a:t>Hazards</a:t>
            </a:r>
          </a:p>
          <a:p>
            <a:pPr lvl="1"/>
            <a:r>
              <a:rPr lang="en-US" dirty="0"/>
              <a:t>Element at risk</a:t>
            </a:r>
          </a:p>
          <a:p>
            <a:pPr lvl="1"/>
            <a:r>
              <a:rPr lang="en-US" dirty="0"/>
              <a:t>Environment/conditions/location</a:t>
            </a:r>
          </a:p>
          <a:p>
            <a:pPr lvl="1"/>
            <a:r>
              <a:rPr lang="en-US" dirty="0"/>
              <a:t>Etc. </a:t>
            </a:r>
          </a:p>
        </p:txBody>
      </p:sp>
      <p:pic>
        <p:nvPicPr>
          <p:cNvPr id="4" name="Picture 3"/>
          <p:cNvPicPr>
            <a:picLocks noChangeAspect="1"/>
          </p:cNvPicPr>
          <p:nvPr/>
        </p:nvPicPr>
        <p:blipFill>
          <a:blip r:embed="rId3"/>
          <a:stretch>
            <a:fillRect/>
          </a:stretch>
        </p:blipFill>
        <p:spPr>
          <a:xfrm>
            <a:off x="6169325" y="1758155"/>
            <a:ext cx="6022675" cy="4885864"/>
          </a:xfrm>
          <a:prstGeom prst="rect">
            <a:avLst/>
          </a:prstGeom>
        </p:spPr>
      </p:pic>
    </p:spTree>
    <p:extLst>
      <p:ext uri="{BB962C8B-B14F-4D97-AF65-F5344CB8AC3E}">
        <p14:creationId xmlns:p14="http://schemas.microsoft.com/office/powerpoint/2010/main" val="3802333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spc="-100" dirty="0">
                <a:solidFill>
                  <a:srgbClr val="0000CC"/>
                </a:solidFill>
                <a:latin typeface="Comic Sans MS" panose="030F0702030302020204" pitchFamily="66" charset="0"/>
                <a:cs typeface="Arial" panose="020B0604020202020204" pitchFamily="34" charset="0"/>
              </a:rPr>
              <a:t>Vulnerability Maps</a:t>
            </a:r>
          </a:p>
        </p:txBody>
      </p:sp>
      <p:sp>
        <p:nvSpPr>
          <p:cNvPr id="3" name="Subtitle 2"/>
          <p:cNvSpPr>
            <a:spLocks noGrp="1"/>
          </p:cNvSpPr>
          <p:nvPr>
            <p:ph type="subTitle" idx="1"/>
          </p:nvPr>
        </p:nvSpPr>
        <p:spPr/>
        <p:txBody>
          <a:bodyPr>
            <a:normAutofit/>
          </a:bodyPr>
          <a:lstStyle/>
          <a:p>
            <a:r>
              <a:rPr lang="en-US" sz="3600" dirty="0">
                <a:latin typeface="Comic Sans MS" panose="030F0702030302020204" pitchFamily="66" charset="0"/>
              </a:rPr>
              <a:t>Examples</a:t>
            </a:r>
          </a:p>
        </p:txBody>
      </p:sp>
    </p:spTree>
    <p:extLst>
      <p:ext uri="{BB962C8B-B14F-4D97-AF65-F5344CB8AC3E}">
        <p14:creationId xmlns:p14="http://schemas.microsoft.com/office/powerpoint/2010/main" val="3681356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84273" y="399011"/>
            <a:ext cx="9419594" cy="6179859"/>
          </a:xfrm>
          <a:prstGeom prst="rect">
            <a:avLst/>
          </a:prstGeom>
        </p:spPr>
      </p:pic>
    </p:spTree>
    <p:extLst>
      <p:ext uri="{BB962C8B-B14F-4D97-AF65-F5344CB8AC3E}">
        <p14:creationId xmlns:p14="http://schemas.microsoft.com/office/powerpoint/2010/main" val="2100705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41873" y="0"/>
            <a:ext cx="10024450" cy="7053376"/>
          </a:xfrm>
          <a:prstGeom prst="rect">
            <a:avLst/>
          </a:prstGeom>
        </p:spPr>
      </p:pic>
      <p:sp>
        <p:nvSpPr>
          <p:cNvPr id="2" name="Rounded Rectangle 1"/>
          <p:cNvSpPr/>
          <p:nvPr/>
        </p:nvSpPr>
        <p:spPr>
          <a:xfrm>
            <a:off x="9018222" y="2718711"/>
            <a:ext cx="1592826" cy="44245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7395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926080" y="186402"/>
            <a:ext cx="6616931" cy="6768642"/>
          </a:xfrm>
          <a:prstGeom prst="rect">
            <a:avLst/>
          </a:prstGeom>
        </p:spPr>
      </p:pic>
    </p:spTree>
    <p:extLst>
      <p:ext uri="{BB962C8B-B14F-4D97-AF65-F5344CB8AC3E}">
        <p14:creationId xmlns:p14="http://schemas.microsoft.com/office/powerpoint/2010/main" val="3846122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16429" y="27448"/>
            <a:ext cx="10401299" cy="6701408"/>
          </a:xfrm>
          <a:prstGeom prst="rect">
            <a:avLst/>
          </a:prstGeom>
        </p:spPr>
      </p:pic>
    </p:spTree>
    <p:extLst>
      <p:ext uri="{BB962C8B-B14F-4D97-AF65-F5344CB8AC3E}">
        <p14:creationId xmlns:p14="http://schemas.microsoft.com/office/powerpoint/2010/main" val="2758740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02512" y="163540"/>
            <a:ext cx="9802602" cy="6694460"/>
          </a:xfrm>
          <a:prstGeom prst="rect">
            <a:avLst/>
          </a:prstGeom>
        </p:spPr>
      </p:pic>
    </p:spTree>
    <p:extLst>
      <p:ext uri="{BB962C8B-B14F-4D97-AF65-F5344CB8AC3E}">
        <p14:creationId xmlns:p14="http://schemas.microsoft.com/office/powerpoint/2010/main" val="4152130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07294" y="0"/>
            <a:ext cx="10759820" cy="6601781"/>
          </a:xfrm>
          <a:prstGeom prst="rect">
            <a:avLst/>
          </a:prstGeom>
        </p:spPr>
      </p:pic>
    </p:spTree>
    <p:extLst>
      <p:ext uri="{BB962C8B-B14F-4D97-AF65-F5344CB8AC3E}">
        <p14:creationId xmlns:p14="http://schemas.microsoft.com/office/powerpoint/2010/main" val="724829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a:t>
            </a:r>
          </a:p>
        </p:txBody>
      </p:sp>
      <p:sp>
        <p:nvSpPr>
          <p:cNvPr id="3" name="Content Placeholder 2"/>
          <p:cNvSpPr>
            <a:spLocks noGrp="1"/>
          </p:cNvSpPr>
          <p:nvPr>
            <p:ph idx="1"/>
          </p:nvPr>
        </p:nvSpPr>
        <p:spPr>
          <a:xfrm>
            <a:off x="514350" y="1825624"/>
            <a:ext cx="11372850" cy="4822826"/>
          </a:xfrm>
        </p:spPr>
        <p:txBody>
          <a:bodyPr/>
          <a:lstStyle/>
          <a:p>
            <a:pPr marL="0" indent="0">
              <a:spcAft>
                <a:spcPts val="1200"/>
              </a:spcAft>
              <a:buNone/>
            </a:pPr>
            <a:r>
              <a:rPr lang="en-US" sz="4000" dirty="0"/>
              <a:t>IPCC definition (Turner II et al., 2003) </a:t>
            </a:r>
          </a:p>
          <a:p>
            <a:pPr>
              <a:spcAft>
                <a:spcPts val="1200"/>
              </a:spcAft>
            </a:pPr>
            <a:r>
              <a:rPr lang="en-US" dirty="0"/>
              <a:t>is a function of </a:t>
            </a:r>
          </a:p>
          <a:p>
            <a:pPr lvl="1">
              <a:spcAft>
                <a:spcPts val="1200"/>
              </a:spcAft>
            </a:pPr>
            <a:r>
              <a:rPr lang="en-US" sz="3600" dirty="0">
                <a:solidFill>
                  <a:schemeClr val="accent2">
                    <a:lumMod val="50000"/>
                  </a:schemeClr>
                </a:solidFill>
              </a:rPr>
              <a:t>Exposure</a:t>
            </a:r>
          </a:p>
          <a:p>
            <a:pPr lvl="1"/>
            <a:r>
              <a:rPr lang="en-US" sz="3600" dirty="0">
                <a:solidFill>
                  <a:schemeClr val="accent2">
                    <a:lumMod val="50000"/>
                  </a:schemeClr>
                </a:solidFill>
              </a:rPr>
              <a:t>Sensitivity </a:t>
            </a:r>
            <a:r>
              <a:rPr lang="en-US" sz="2000" dirty="0"/>
              <a:t>(of a system to changes in climate and the ability to adapt to system to changes in climate)</a:t>
            </a:r>
          </a:p>
          <a:p>
            <a:pPr lvl="1"/>
            <a:r>
              <a:rPr lang="en-US" sz="3600" dirty="0">
                <a:solidFill>
                  <a:schemeClr val="accent2">
                    <a:lumMod val="50000"/>
                  </a:schemeClr>
                </a:solidFill>
              </a:rPr>
              <a:t>Adaptive capacity</a:t>
            </a:r>
          </a:p>
        </p:txBody>
      </p:sp>
    </p:spTree>
    <p:extLst>
      <p:ext uri="{BB962C8B-B14F-4D97-AF65-F5344CB8AC3E}">
        <p14:creationId xmlns:p14="http://schemas.microsoft.com/office/powerpoint/2010/main" val="425560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 Several definitions and explanations</a:t>
            </a:r>
          </a:p>
        </p:txBody>
      </p:sp>
      <p:sp>
        <p:nvSpPr>
          <p:cNvPr id="3" name="Content Placeholder 2"/>
          <p:cNvSpPr>
            <a:spLocks noGrp="1"/>
          </p:cNvSpPr>
          <p:nvPr>
            <p:ph idx="1"/>
          </p:nvPr>
        </p:nvSpPr>
        <p:spPr>
          <a:xfrm>
            <a:off x="838200" y="1825625"/>
            <a:ext cx="4791891" cy="4351338"/>
          </a:xfrm>
        </p:spPr>
        <p:txBody>
          <a:bodyPr/>
          <a:lstStyle/>
          <a:p>
            <a:r>
              <a:rPr lang="en-US" dirty="0"/>
              <a:t>Look at </a:t>
            </a:r>
          </a:p>
          <a:p>
            <a:r>
              <a:rPr lang="en-US" dirty="0">
                <a:hlinkClick r:id="rId3"/>
              </a:rPr>
              <a:t>https://www.weadapt.org/knowledge-base/vulnerability/vulnerability-definitions</a:t>
            </a:r>
            <a:r>
              <a:rPr lang="en-US" dirty="0"/>
              <a:t> </a:t>
            </a:r>
          </a:p>
        </p:txBody>
      </p:sp>
      <p:pic>
        <p:nvPicPr>
          <p:cNvPr id="4" name="Picture 3"/>
          <p:cNvPicPr>
            <a:picLocks noChangeAspect="1"/>
          </p:cNvPicPr>
          <p:nvPr/>
        </p:nvPicPr>
        <p:blipFill>
          <a:blip r:embed="rId4"/>
          <a:stretch>
            <a:fillRect/>
          </a:stretch>
        </p:blipFill>
        <p:spPr>
          <a:xfrm>
            <a:off x="5815012" y="2043906"/>
            <a:ext cx="6048375" cy="3914775"/>
          </a:xfrm>
          <a:prstGeom prst="rect">
            <a:avLst/>
          </a:prstGeom>
        </p:spPr>
      </p:pic>
      <p:pic>
        <p:nvPicPr>
          <p:cNvPr id="5" name="Picture 4"/>
          <p:cNvPicPr>
            <a:picLocks noChangeAspect="1"/>
          </p:cNvPicPr>
          <p:nvPr/>
        </p:nvPicPr>
        <p:blipFill>
          <a:blip r:embed="rId5"/>
          <a:stretch>
            <a:fillRect/>
          </a:stretch>
        </p:blipFill>
        <p:spPr>
          <a:xfrm>
            <a:off x="300037" y="4176713"/>
            <a:ext cx="5514975" cy="2000250"/>
          </a:xfrm>
          <a:prstGeom prst="rect">
            <a:avLst/>
          </a:prstGeom>
        </p:spPr>
      </p:pic>
    </p:spTree>
    <p:extLst>
      <p:ext uri="{BB962C8B-B14F-4D97-AF65-F5344CB8AC3E}">
        <p14:creationId xmlns:p14="http://schemas.microsoft.com/office/powerpoint/2010/main" val="3941224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dirty="0"/>
              <a:t>Vulnerability Reduction</a:t>
            </a:r>
          </a:p>
        </p:txBody>
      </p:sp>
      <p:sp>
        <p:nvSpPr>
          <p:cNvPr id="34818" name="Content Placeholder 2"/>
          <p:cNvSpPr>
            <a:spLocks noGrp="1"/>
          </p:cNvSpPr>
          <p:nvPr>
            <p:ph sz="quarter" idx="1"/>
          </p:nvPr>
        </p:nvSpPr>
        <p:spPr>
          <a:xfrm>
            <a:off x="658368" y="1920875"/>
            <a:ext cx="11137392" cy="3912997"/>
          </a:xfrm>
        </p:spPr>
        <p:txBody>
          <a:bodyPr>
            <a:normAutofit fontScale="92500"/>
          </a:bodyPr>
          <a:lstStyle/>
          <a:p>
            <a:pPr>
              <a:lnSpc>
                <a:spcPct val="114000"/>
              </a:lnSpc>
              <a:spcBef>
                <a:spcPts val="1200"/>
              </a:spcBef>
              <a:spcAft>
                <a:spcPts val="2400"/>
              </a:spcAft>
            </a:pPr>
            <a:r>
              <a:rPr lang="en-US" sz="4000" dirty="0"/>
              <a:t>Developing “</a:t>
            </a:r>
            <a:r>
              <a:rPr lang="en-US" sz="4000" u="sng" dirty="0">
                <a:solidFill>
                  <a:srgbClr val="7030A0"/>
                </a:solidFill>
              </a:rPr>
              <a:t>disaster resistant</a:t>
            </a:r>
            <a:r>
              <a:rPr lang="en-US" sz="4000" dirty="0"/>
              <a:t>” communities</a:t>
            </a:r>
          </a:p>
          <a:p>
            <a:pPr marL="0" indent="0" algn="ctr">
              <a:lnSpc>
                <a:spcPct val="114000"/>
              </a:lnSpc>
              <a:spcBef>
                <a:spcPts val="1200"/>
              </a:spcBef>
              <a:spcAft>
                <a:spcPts val="1800"/>
              </a:spcAft>
              <a:buNone/>
            </a:pPr>
            <a:r>
              <a:rPr lang="en-US" sz="4000" b="1" dirty="0">
                <a:solidFill>
                  <a:srgbClr val="FF0000"/>
                </a:solidFill>
              </a:rPr>
              <a:t>Any Idea – How?</a:t>
            </a:r>
          </a:p>
          <a:p>
            <a:pPr>
              <a:lnSpc>
                <a:spcPct val="114000"/>
              </a:lnSpc>
              <a:spcBef>
                <a:spcPts val="1200"/>
              </a:spcBef>
              <a:spcAft>
                <a:spcPts val="1800"/>
              </a:spcAft>
            </a:pPr>
            <a:r>
              <a:rPr lang="en-US" sz="4000" dirty="0"/>
              <a:t>How can we design and build our communities in the first place in these hazard-prone areas?</a:t>
            </a:r>
          </a:p>
          <a:p>
            <a:pPr>
              <a:lnSpc>
                <a:spcPct val="114000"/>
              </a:lnSpc>
              <a:spcBef>
                <a:spcPts val="1200"/>
              </a:spcBef>
              <a:spcAft>
                <a:spcPts val="1200"/>
              </a:spcAft>
            </a:pPr>
            <a:endParaRPr lang="en-US" sz="4000" dirty="0"/>
          </a:p>
        </p:txBody>
      </p:sp>
    </p:spTree>
    <p:extLst>
      <p:ext uri="{BB962C8B-B14F-4D97-AF65-F5344CB8AC3E}">
        <p14:creationId xmlns:p14="http://schemas.microsoft.com/office/powerpoint/2010/main" val="44443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4818">
                                            <p:txEl>
                                              <p:pRg st="1" end="1"/>
                                            </p:txEl>
                                          </p:spTgt>
                                        </p:tgtEl>
                                        <p:attrNameLst>
                                          <p:attrName>style.visibility</p:attrName>
                                        </p:attrNameLst>
                                      </p:cBhvr>
                                      <p:to>
                                        <p:strVal val="visible"/>
                                      </p:to>
                                    </p:set>
                                    <p:anim calcmode="lin" valueType="num">
                                      <p:cBhvr>
                                        <p:cTn id="11" dur="500" fill="hold"/>
                                        <p:tgtEl>
                                          <p:spTgt spid="34818">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34818">
                                            <p:txEl>
                                              <p:pRg st="1" end="1"/>
                                            </p:txEl>
                                          </p:spTgt>
                                        </p:tgtEl>
                                        <p:attrNameLst>
                                          <p:attrName>ppt_h</p:attrName>
                                        </p:attrNameLst>
                                      </p:cBhvr>
                                      <p:tavLst>
                                        <p:tav tm="0">
                                          <p:val>
                                            <p:fltVal val="0"/>
                                          </p:val>
                                        </p:tav>
                                        <p:tav tm="100000">
                                          <p:val>
                                            <p:strVal val="#ppt_h"/>
                                          </p:val>
                                        </p:tav>
                                      </p:tavLst>
                                    </p:anim>
                                    <p:animEffect transition="in" filter="fade">
                                      <p:cBhvr>
                                        <p:cTn id="13" dur="500"/>
                                        <p:tgtEl>
                                          <p:spTgt spid="3481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4818">
                                            <p:txEl>
                                              <p:pRg st="2" end="2"/>
                                            </p:txEl>
                                          </p:spTgt>
                                        </p:tgtEl>
                                        <p:attrNameLst>
                                          <p:attrName>style.visibility</p:attrName>
                                        </p:attrNameLst>
                                      </p:cBhvr>
                                      <p:to>
                                        <p:strVal val="visible"/>
                                      </p:to>
                                    </p:set>
                                    <p:anim calcmode="lin" valueType="num">
                                      <p:cBhvr>
                                        <p:cTn id="18" dur="500" fill="hold"/>
                                        <p:tgtEl>
                                          <p:spTgt spid="34818">
                                            <p:txEl>
                                              <p:pRg st="2" end="2"/>
                                            </p:txEl>
                                          </p:spTgt>
                                        </p:tgtEl>
                                        <p:attrNameLst>
                                          <p:attrName>ppt_w</p:attrName>
                                        </p:attrNameLst>
                                      </p:cBhvr>
                                      <p:tavLst>
                                        <p:tav tm="0">
                                          <p:val>
                                            <p:fltVal val="0"/>
                                          </p:val>
                                        </p:tav>
                                        <p:tav tm="100000">
                                          <p:val>
                                            <p:strVal val="#ppt_w"/>
                                          </p:val>
                                        </p:tav>
                                      </p:tavLst>
                                    </p:anim>
                                    <p:anim calcmode="lin" valueType="num">
                                      <p:cBhvr>
                                        <p:cTn id="19" dur="500" fill="hold"/>
                                        <p:tgtEl>
                                          <p:spTgt spid="34818">
                                            <p:txEl>
                                              <p:pRg st="2" end="2"/>
                                            </p:txEl>
                                          </p:spTgt>
                                        </p:tgtEl>
                                        <p:attrNameLst>
                                          <p:attrName>ppt_h</p:attrName>
                                        </p:attrNameLst>
                                      </p:cBhvr>
                                      <p:tavLst>
                                        <p:tav tm="0">
                                          <p:val>
                                            <p:fltVal val="0"/>
                                          </p:val>
                                        </p:tav>
                                        <p:tav tm="100000">
                                          <p:val>
                                            <p:strVal val="#ppt_h"/>
                                          </p:val>
                                        </p:tav>
                                      </p:tavLst>
                                    </p:anim>
                                    <p:animEffect transition="in" filter="fade">
                                      <p:cBhvr>
                                        <p:cTn id="20" dur="500"/>
                                        <p:tgtEl>
                                          <p:spTgt spid="348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Capacity</a:t>
            </a:r>
          </a:p>
        </p:txBody>
      </p:sp>
      <p:sp>
        <p:nvSpPr>
          <p:cNvPr id="3" name="Content Placeholder 2"/>
          <p:cNvSpPr>
            <a:spLocks noGrp="1"/>
          </p:cNvSpPr>
          <p:nvPr>
            <p:ph idx="1"/>
          </p:nvPr>
        </p:nvSpPr>
        <p:spPr/>
        <p:txBody>
          <a:bodyPr/>
          <a:lstStyle/>
          <a:p>
            <a:pPr marL="0" indent="0">
              <a:lnSpc>
                <a:spcPct val="114000"/>
              </a:lnSpc>
              <a:buNone/>
            </a:pPr>
            <a:r>
              <a:rPr lang="en-US" dirty="0"/>
              <a:t>“</a:t>
            </a:r>
            <a:r>
              <a:rPr lang="en-US" u="sng" dirty="0">
                <a:solidFill>
                  <a:srgbClr val="C00000"/>
                </a:solidFill>
              </a:rPr>
              <a:t>Resources, means, and strengths </a:t>
            </a:r>
            <a:r>
              <a:rPr lang="en-US" dirty="0"/>
              <a:t>which exist in communities to enable them to </a:t>
            </a:r>
            <a:r>
              <a:rPr lang="en-US" u="sng" dirty="0">
                <a:solidFill>
                  <a:schemeClr val="accent2">
                    <a:lumMod val="50000"/>
                  </a:schemeClr>
                </a:solidFill>
              </a:rPr>
              <a:t>cope with, withstand, prepare for, prevent, mitigate, or quickly recover from a disaster</a:t>
            </a:r>
            <a:r>
              <a:rPr lang="en-US" dirty="0"/>
              <a:t>”</a:t>
            </a:r>
          </a:p>
        </p:txBody>
      </p:sp>
    </p:spTree>
    <p:extLst>
      <p:ext uri="{BB962C8B-B14F-4D97-AF65-F5344CB8AC3E}">
        <p14:creationId xmlns:p14="http://schemas.microsoft.com/office/powerpoint/2010/main" val="1545708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r>
              <a:rPr lang="en-US"/>
              <a:t>Capacity to Respond and Recover?</a:t>
            </a:r>
          </a:p>
        </p:txBody>
      </p:sp>
      <p:sp>
        <p:nvSpPr>
          <p:cNvPr id="36866" name="Content Placeholder 2"/>
          <p:cNvSpPr>
            <a:spLocks noGrp="1"/>
          </p:cNvSpPr>
          <p:nvPr>
            <p:ph sz="quarter" idx="1"/>
          </p:nvPr>
        </p:nvSpPr>
        <p:spPr>
          <a:xfrm>
            <a:off x="621792" y="1690688"/>
            <a:ext cx="11152632" cy="5010912"/>
          </a:xfrm>
        </p:spPr>
        <p:txBody>
          <a:bodyPr>
            <a:normAutofit/>
          </a:bodyPr>
          <a:lstStyle/>
          <a:p>
            <a:pPr marL="512763" indent="-512763" algn="just">
              <a:lnSpc>
                <a:spcPct val="114000"/>
              </a:lnSpc>
              <a:spcBef>
                <a:spcPts val="1200"/>
              </a:spcBef>
              <a:spcAft>
                <a:spcPts val="1200"/>
              </a:spcAft>
            </a:pPr>
            <a:r>
              <a:rPr lang="en-US" sz="3600" dirty="0"/>
              <a:t>Community to respond to and recover from a hazard in order to reduce its potential impact</a:t>
            </a:r>
          </a:p>
          <a:p>
            <a:pPr marL="512763" indent="-512763" algn="just">
              <a:lnSpc>
                <a:spcPct val="114000"/>
              </a:lnSpc>
              <a:spcBef>
                <a:spcPts val="1200"/>
              </a:spcBef>
              <a:spcAft>
                <a:spcPts val="1200"/>
              </a:spcAft>
            </a:pPr>
            <a:r>
              <a:rPr lang="en-US" sz="3600" dirty="0"/>
              <a:t>The positive managerial capabilities of individuals, households, and communities to confront the threat of disasters (e.g. through awareness raising, early warning, and preparedness planning)</a:t>
            </a:r>
          </a:p>
        </p:txBody>
      </p:sp>
    </p:spTree>
    <p:extLst>
      <p:ext uri="{BB962C8B-B14F-4D97-AF65-F5344CB8AC3E}">
        <p14:creationId xmlns:p14="http://schemas.microsoft.com/office/powerpoint/2010/main" val="3818476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l="7365" t="29375" r="40395" b="21042"/>
          <a:stretch/>
        </p:blipFill>
        <p:spPr>
          <a:xfrm>
            <a:off x="396240" y="365125"/>
            <a:ext cx="11552710" cy="6164898"/>
          </a:xfrm>
          <a:prstGeom prst="rect">
            <a:avLst/>
          </a:prstGeom>
        </p:spPr>
      </p:pic>
    </p:spTree>
    <p:extLst>
      <p:ext uri="{BB962C8B-B14F-4D97-AF65-F5344CB8AC3E}">
        <p14:creationId xmlns:p14="http://schemas.microsoft.com/office/powerpoint/2010/main" val="4240390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r>
              <a:rPr lang="en-US" dirty="0"/>
              <a:t>Capacity to Respond and Recover?</a:t>
            </a:r>
          </a:p>
        </p:txBody>
      </p:sp>
      <p:sp>
        <p:nvSpPr>
          <p:cNvPr id="36866" name="Content Placeholder 2"/>
          <p:cNvSpPr>
            <a:spLocks noGrp="1"/>
          </p:cNvSpPr>
          <p:nvPr>
            <p:ph sz="quarter" idx="1"/>
          </p:nvPr>
        </p:nvSpPr>
        <p:spPr>
          <a:xfrm>
            <a:off x="417576" y="1690688"/>
            <a:ext cx="11356848" cy="5010912"/>
          </a:xfrm>
        </p:spPr>
        <p:txBody>
          <a:bodyPr/>
          <a:lstStyle/>
          <a:p>
            <a:pPr>
              <a:lnSpc>
                <a:spcPct val="114000"/>
              </a:lnSpc>
              <a:spcBef>
                <a:spcPts val="1200"/>
              </a:spcBef>
              <a:spcAft>
                <a:spcPts val="600"/>
              </a:spcAft>
            </a:pPr>
            <a:r>
              <a:rPr lang="en-US" sz="3600" dirty="0">
                <a:solidFill>
                  <a:srgbClr val="0070C0"/>
                </a:solidFill>
              </a:rPr>
              <a:t>Physical Capacity</a:t>
            </a:r>
          </a:p>
          <a:p>
            <a:pPr lvl="1">
              <a:lnSpc>
                <a:spcPct val="114000"/>
              </a:lnSpc>
              <a:spcAft>
                <a:spcPts val="600"/>
              </a:spcAft>
            </a:pPr>
            <a:r>
              <a:rPr lang="en-US" sz="2800" dirty="0"/>
              <a:t>Capacity to salvage things after disasters or skills that may lead to new opportunities.</a:t>
            </a:r>
          </a:p>
          <a:p>
            <a:pPr>
              <a:lnSpc>
                <a:spcPct val="114000"/>
              </a:lnSpc>
              <a:spcBef>
                <a:spcPts val="1200"/>
              </a:spcBef>
              <a:spcAft>
                <a:spcPts val="600"/>
              </a:spcAft>
            </a:pPr>
            <a:r>
              <a:rPr lang="en-US" sz="3600" dirty="0">
                <a:solidFill>
                  <a:srgbClr val="0070C0"/>
                </a:solidFill>
              </a:rPr>
              <a:t>Socio Economic Capacity</a:t>
            </a:r>
          </a:p>
          <a:p>
            <a:pPr lvl="1">
              <a:lnSpc>
                <a:spcPct val="114000"/>
              </a:lnSpc>
              <a:spcAft>
                <a:spcPts val="600"/>
              </a:spcAft>
            </a:pPr>
            <a:r>
              <a:rPr lang="en-US" sz="2800" dirty="0"/>
              <a:t>Capacity to recover soon because of their good socio-economic conditions.</a:t>
            </a:r>
          </a:p>
        </p:txBody>
      </p:sp>
    </p:spTree>
    <p:extLst>
      <p:ext uri="{BB962C8B-B14F-4D97-AF65-F5344CB8AC3E}">
        <p14:creationId xmlns:p14="http://schemas.microsoft.com/office/powerpoint/2010/main" val="100445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Capacity: Examples</a:t>
            </a:r>
          </a:p>
        </p:txBody>
      </p:sp>
      <p:sp>
        <p:nvSpPr>
          <p:cNvPr id="3" name="Content Placeholder 2"/>
          <p:cNvSpPr>
            <a:spLocks noGrp="1"/>
          </p:cNvSpPr>
          <p:nvPr>
            <p:ph idx="1"/>
          </p:nvPr>
        </p:nvSpPr>
        <p:spPr/>
        <p:txBody>
          <a:bodyPr/>
          <a:lstStyle/>
          <a:p>
            <a:r>
              <a:rPr lang="en-US" dirty="0"/>
              <a:t>Please share few examples from your daily life</a:t>
            </a:r>
          </a:p>
        </p:txBody>
      </p:sp>
    </p:spTree>
    <p:extLst>
      <p:ext uri="{BB962C8B-B14F-4D97-AF65-F5344CB8AC3E}">
        <p14:creationId xmlns:p14="http://schemas.microsoft.com/office/powerpoint/2010/main" val="1368332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Terminology by UN International Strategy for Disaster Reduction (UNISDR)</a:t>
            </a:r>
          </a:p>
        </p:txBody>
      </p:sp>
      <p:sp>
        <p:nvSpPr>
          <p:cNvPr id="75778" name="Content Placeholder 2"/>
          <p:cNvSpPr>
            <a:spLocks noGrp="1"/>
          </p:cNvSpPr>
          <p:nvPr>
            <p:ph sz="quarter" idx="1"/>
          </p:nvPr>
        </p:nvSpPr>
        <p:spPr>
          <a:xfrm>
            <a:off x="359229" y="1567544"/>
            <a:ext cx="11443303" cy="5290456"/>
          </a:xfrm>
        </p:spPr>
        <p:txBody>
          <a:bodyPr>
            <a:normAutofit fontScale="77500" lnSpcReduction="20000"/>
          </a:bodyPr>
          <a:lstStyle/>
          <a:p>
            <a:pPr>
              <a:lnSpc>
                <a:spcPct val="120000"/>
              </a:lnSpc>
              <a:spcAft>
                <a:spcPts val="1200"/>
              </a:spcAft>
              <a:buFont typeface="Wingdings 3" pitchFamily="18" charset="2"/>
              <a:buNone/>
            </a:pPr>
            <a:r>
              <a:rPr lang="en-US" dirty="0">
                <a:solidFill>
                  <a:srgbClr val="2D2DD5"/>
                </a:solidFill>
              </a:rPr>
              <a:t>Risk:</a:t>
            </a:r>
            <a:r>
              <a:rPr lang="en-US" dirty="0"/>
              <a:t> The combination of the probability of an event and its negative consequences. </a:t>
            </a:r>
          </a:p>
          <a:p>
            <a:pPr>
              <a:lnSpc>
                <a:spcPct val="120000"/>
              </a:lnSpc>
              <a:spcAft>
                <a:spcPts val="1200"/>
              </a:spcAft>
              <a:buFont typeface="Wingdings 3" pitchFamily="18" charset="2"/>
              <a:buNone/>
            </a:pPr>
            <a:r>
              <a:rPr lang="en-US" dirty="0">
                <a:solidFill>
                  <a:srgbClr val="2D2DD5"/>
                </a:solidFill>
              </a:rPr>
              <a:t>Acceptable risk: </a:t>
            </a:r>
            <a:r>
              <a:rPr lang="en-US" dirty="0"/>
              <a:t>The level of potential losses that a society or community considers acceptable given existing social, economic, political, cultural, technical and environmental conditions. </a:t>
            </a:r>
          </a:p>
          <a:p>
            <a:pPr>
              <a:lnSpc>
                <a:spcPct val="120000"/>
              </a:lnSpc>
              <a:spcAft>
                <a:spcPts val="1200"/>
              </a:spcAft>
              <a:buNone/>
            </a:pPr>
            <a:r>
              <a:rPr lang="en-US" dirty="0">
                <a:solidFill>
                  <a:srgbClr val="2D2DD5"/>
                </a:solidFill>
              </a:rPr>
              <a:t>Disaster risk: </a:t>
            </a:r>
            <a:r>
              <a:rPr lang="en-US" dirty="0"/>
              <a:t>The potential disaster </a:t>
            </a:r>
            <a:r>
              <a:rPr lang="en-US" u="sng" dirty="0"/>
              <a:t>losses</a:t>
            </a:r>
            <a:r>
              <a:rPr lang="en-US" dirty="0"/>
              <a:t>, in lives, health status, livelihoods, assets and services, which could occur to a particular community or a society over some specified future time period. </a:t>
            </a:r>
          </a:p>
          <a:p>
            <a:pPr>
              <a:lnSpc>
                <a:spcPct val="120000"/>
              </a:lnSpc>
              <a:spcAft>
                <a:spcPts val="1200"/>
              </a:spcAft>
              <a:buFont typeface="Wingdings 3" pitchFamily="18" charset="2"/>
              <a:buNone/>
            </a:pPr>
            <a:r>
              <a:rPr lang="en-US" dirty="0">
                <a:solidFill>
                  <a:srgbClr val="2D2DD5"/>
                </a:solidFill>
              </a:rPr>
              <a:t>Capacity: </a:t>
            </a:r>
            <a:r>
              <a:rPr lang="en-US" dirty="0"/>
              <a:t>The combination of all the strengths, attributes, and resources available within a community, society, or organization that can be used to achieve agreed goals.</a:t>
            </a:r>
          </a:p>
        </p:txBody>
      </p:sp>
    </p:spTree>
    <p:extLst>
      <p:ext uri="{BB962C8B-B14F-4D97-AF65-F5344CB8AC3E}">
        <p14:creationId xmlns:p14="http://schemas.microsoft.com/office/powerpoint/2010/main" val="640389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408214"/>
            <a:ext cx="10828867" cy="6302829"/>
          </a:xfrm>
        </p:spPr>
        <p:txBody>
          <a:bodyPr>
            <a:normAutofit fontScale="85000" lnSpcReduction="20000"/>
          </a:bodyPr>
          <a:lstStyle/>
          <a:p>
            <a:pPr>
              <a:lnSpc>
                <a:spcPct val="120000"/>
              </a:lnSpc>
              <a:spcAft>
                <a:spcPts val="1200"/>
              </a:spcAft>
            </a:pPr>
            <a:r>
              <a:rPr lang="en-US" dirty="0">
                <a:solidFill>
                  <a:srgbClr val="2D2DD5"/>
                </a:solidFill>
              </a:rPr>
              <a:t>Vulnerability:</a:t>
            </a:r>
            <a:r>
              <a:rPr lang="en-US" dirty="0"/>
              <a:t> The characteristics and circumstances of a community, system, or asset that make it susceptible to the damaging effects of a hazard. </a:t>
            </a:r>
          </a:p>
          <a:p>
            <a:pPr>
              <a:lnSpc>
                <a:spcPct val="120000"/>
              </a:lnSpc>
              <a:spcAft>
                <a:spcPts val="1200"/>
              </a:spcAft>
            </a:pPr>
            <a:r>
              <a:rPr lang="en-US" dirty="0">
                <a:solidFill>
                  <a:srgbClr val="2D2DD5"/>
                </a:solidFill>
              </a:rPr>
              <a:t>Exposure: </a:t>
            </a:r>
            <a:r>
              <a:rPr lang="en-US" dirty="0"/>
              <a:t>People, property, systems, or other elements present in hazard zones that are subject to potential losses. </a:t>
            </a:r>
          </a:p>
          <a:p>
            <a:pPr>
              <a:lnSpc>
                <a:spcPct val="120000"/>
              </a:lnSpc>
              <a:spcAft>
                <a:spcPts val="1200"/>
              </a:spcAft>
            </a:pPr>
            <a:r>
              <a:rPr lang="en-US" dirty="0">
                <a:solidFill>
                  <a:srgbClr val="2D2DD5"/>
                </a:solidFill>
              </a:rPr>
              <a:t>Forecast: </a:t>
            </a:r>
            <a:r>
              <a:rPr lang="en-US" dirty="0"/>
              <a:t>Definite statement or statistical estimate of the likely occurrence of a future event or conditions for a specific area. </a:t>
            </a:r>
          </a:p>
          <a:p>
            <a:pPr marL="0" indent="0">
              <a:lnSpc>
                <a:spcPct val="120000"/>
              </a:lnSpc>
              <a:spcAft>
                <a:spcPts val="1200"/>
              </a:spcAft>
              <a:buNone/>
            </a:pPr>
            <a:r>
              <a:rPr lang="en-US" sz="2600" dirty="0">
                <a:solidFill>
                  <a:srgbClr val="FF0000"/>
                </a:solidFill>
              </a:rPr>
              <a:t>Comment: In meteorology a forecast refers to a future condition, whereas a warning refers to a </a:t>
            </a:r>
            <a:r>
              <a:rPr lang="en-US" sz="2600" u="sng" dirty="0">
                <a:solidFill>
                  <a:srgbClr val="FF0000"/>
                </a:solidFill>
              </a:rPr>
              <a:t>potentially dangerous</a:t>
            </a:r>
            <a:r>
              <a:rPr lang="en-US" sz="2600" dirty="0">
                <a:solidFill>
                  <a:srgbClr val="FF0000"/>
                </a:solidFill>
              </a:rPr>
              <a:t> future condition.</a:t>
            </a:r>
          </a:p>
          <a:p>
            <a:pPr marL="0" indent="0">
              <a:lnSpc>
                <a:spcPct val="120000"/>
              </a:lnSpc>
              <a:spcAft>
                <a:spcPts val="1200"/>
              </a:spcAft>
              <a:buNone/>
            </a:pPr>
            <a:r>
              <a:rPr lang="en-US" sz="2800" dirty="0">
                <a:solidFill>
                  <a:srgbClr val="2D2DD5"/>
                </a:solidFill>
              </a:rPr>
              <a:t>Prevention:</a:t>
            </a:r>
            <a:r>
              <a:rPr lang="en-US" sz="2800" dirty="0"/>
              <a:t> The outright avoidance of adverse impacts of hazards and related disasters. </a:t>
            </a:r>
          </a:p>
        </p:txBody>
      </p:sp>
    </p:spTree>
    <p:extLst>
      <p:ext uri="{BB962C8B-B14F-4D97-AF65-F5344CB8AC3E}">
        <p14:creationId xmlns:p14="http://schemas.microsoft.com/office/powerpoint/2010/main" val="4208197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55600"/>
            <a:ext cx="11146971" cy="6383866"/>
          </a:xfrm>
        </p:spPr>
        <p:txBody>
          <a:bodyPr>
            <a:normAutofit fontScale="77500" lnSpcReduction="20000"/>
          </a:bodyPr>
          <a:lstStyle/>
          <a:p>
            <a:pPr>
              <a:lnSpc>
                <a:spcPct val="120000"/>
              </a:lnSpc>
              <a:spcAft>
                <a:spcPts val="1200"/>
              </a:spcAft>
            </a:pPr>
            <a:r>
              <a:rPr lang="en-US" dirty="0">
                <a:solidFill>
                  <a:srgbClr val="2D2DD5"/>
                </a:solidFill>
              </a:rPr>
              <a:t>Mitigation:</a:t>
            </a:r>
            <a:r>
              <a:rPr lang="en-US" dirty="0"/>
              <a:t> The lessening or limitation of the adverse impacts of hazards and related disasters. </a:t>
            </a:r>
          </a:p>
          <a:p>
            <a:pPr>
              <a:lnSpc>
                <a:spcPct val="120000"/>
              </a:lnSpc>
              <a:spcAft>
                <a:spcPts val="1200"/>
              </a:spcAft>
            </a:pPr>
            <a:r>
              <a:rPr lang="en-US" dirty="0">
                <a:solidFill>
                  <a:srgbClr val="2D2DD5"/>
                </a:solidFill>
              </a:rPr>
              <a:t>Preparedness:</a:t>
            </a:r>
            <a:r>
              <a:rPr lang="en-US" dirty="0"/>
              <a:t> The knowledge and capacities developed by governments, professional response and recovery organizations, communities and individuals to effectively anticipate, respond to, and recover from, the impacts of likely, imminent, or current hazard events or conditions. </a:t>
            </a:r>
          </a:p>
          <a:p>
            <a:pPr>
              <a:lnSpc>
                <a:spcPct val="120000"/>
              </a:lnSpc>
              <a:spcAft>
                <a:spcPts val="1200"/>
              </a:spcAft>
            </a:pPr>
            <a:r>
              <a:rPr lang="en-US" dirty="0">
                <a:solidFill>
                  <a:srgbClr val="2D2DD5"/>
                </a:solidFill>
              </a:rPr>
              <a:t>Response:</a:t>
            </a:r>
            <a:r>
              <a:rPr lang="en-US" dirty="0"/>
              <a:t> The provision of emergency services and public assistance </a:t>
            </a:r>
            <a:r>
              <a:rPr lang="en-US" u="sng" dirty="0">
                <a:solidFill>
                  <a:srgbClr val="FF0000"/>
                </a:solidFill>
              </a:rPr>
              <a:t>during or immediately </a:t>
            </a:r>
            <a:r>
              <a:rPr lang="en-US" dirty="0"/>
              <a:t>after a disaster in order to save lives, reduce health impacts, ensure public safety, and meet the basic subsistence needs of the people affected. </a:t>
            </a:r>
          </a:p>
          <a:p>
            <a:pPr>
              <a:lnSpc>
                <a:spcPct val="120000"/>
              </a:lnSpc>
              <a:spcAft>
                <a:spcPts val="1200"/>
              </a:spcAft>
            </a:pPr>
            <a:r>
              <a:rPr lang="en-US" dirty="0">
                <a:solidFill>
                  <a:srgbClr val="2D2DD5"/>
                </a:solidFill>
              </a:rPr>
              <a:t>Recovery:</a:t>
            </a:r>
            <a:r>
              <a:rPr lang="en-US" dirty="0"/>
              <a:t> The </a:t>
            </a:r>
            <a:r>
              <a:rPr lang="en-US" u="sng" dirty="0"/>
              <a:t>restoration</a:t>
            </a:r>
            <a:r>
              <a:rPr lang="en-US" dirty="0"/>
              <a:t>, and </a:t>
            </a:r>
            <a:r>
              <a:rPr lang="en-US" u="sng" dirty="0"/>
              <a:t>improvement</a:t>
            </a:r>
            <a:r>
              <a:rPr lang="en-US" dirty="0"/>
              <a:t> where appropriate, of facilities, livelihoods, and living conditions of disaster-affected communities, including efforts to reduce disaster risk factors. </a:t>
            </a:r>
          </a:p>
        </p:txBody>
      </p:sp>
    </p:spTree>
    <p:extLst>
      <p:ext uri="{BB962C8B-B14F-4D97-AF65-F5344CB8AC3E}">
        <p14:creationId xmlns:p14="http://schemas.microsoft.com/office/powerpoint/2010/main" val="998450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5600"/>
            <a:ext cx="10845800" cy="6383866"/>
          </a:xfrm>
        </p:spPr>
        <p:txBody>
          <a:bodyPr>
            <a:normAutofit/>
          </a:bodyPr>
          <a:lstStyle/>
          <a:p>
            <a:pPr>
              <a:lnSpc>
                <a:spcPct val="120000"/>
              </a:lnSpc>
              <a:spcAft>
                <a:spcPts val="1200"/>
              </a:spcAft>
            </a:pPr>
            <a:r>
              <a:rPr lang="en-US" dirty="0">
                <a:solidFill>
                  <a:srgbClr val="2D2DD5"/>
                </a:solidFill>
              </a:rPr>
              <a:t>Resilience:</a:t>
            </a:r>
            <a:r>
              <a:rPr lang="en-US" dirty="0"/>
              <a:t> The ability of a system, community or society exposed to hazards to resist, absorb, accommodate to and recover from the effects of a hazard in a timely and efficient manner, including through the preservation and restoration of its essential basic structures and functions.</a:t>
            </a:r>
          </a:p>
        </p:txBody>
      </p:sp>
    </p:spTree>
    <p:extLst>
      <p:ext uri="{BB962C8B-B14F-4D97-AF65-F5344CB8AC3E}">
        <p14:creationId xmlns:p14="http://schemas.microsoft.com/office/powerpoint/2010/main" val="2453588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5"/>
          <p:cNvSpPr>
            <a:spLocks noGrp="1"/>
          </p:cNvSpPr>
          <p:nvPr>
            <p:ph type="subTitle" idx="1"/>
          </p:nvPr>
        </p:nvSpPr>
        <p:spPr>
          <a:xfrm>
            <a:off x="0" y="0"/>
            <a:ext cx="12192000" cy="6858000"/>
          </a:xfrm>
          <a:solidFill>
            <a:srgbClr val="2D2DD5"/>
          </a:solidFill>
          <a:ln>
            <a:solidFill>
              <a:srgbClr val="2D2DD5"/>
            </a:solidFill>
          </a:ln>
        </p:spPr>
        <p:txBody>
          <a:bodyPr>
            <a:normAutofit/>
          </a:bodyPr>
          <a:lstStyle/>
          <a:p>
            <a:pPr>
              <a:lnSpc>
                <a:spcPct val="114000"/>
              </a:lnSpc>
            </a:pPr>
            <a:endParaRPr lang="en-US" sz="4000" b="1" spc="-100" dirty="0">
              <a:solidFill>
                <a:srgbClr val="0000CC"/>
              </a:solidFill>
              <a:latin typeface="Comic Sans MS" panose="030F0702030302020204" pitchFamily="66" charset="0"/>
              <a:ea typeface="+mj-ea"/>
              <a:cs typeface="Arial" panose="020B0604020202020204" pitchFamily="34" charset="0"/>
            </a:endParaRPr>
          </a:p>
          <a:p>
            <a:pPr>
              <a:lnSpc>
                <a:spcPct val="114000"/>
              </a:lnSpc>
            </a:pPr>
            <a:endParaRPr lang="en-US" sz="4000" b="1" spc="-100" dirty="0">
              <a:solidFill>
                <a:srgbClr val="0000CC"/>
              </a:solidFill>
              <a:latin typeface="Comic Sans MS" panose="030F0702030302020204" pitchFamily="66" charset="0"/>
              <a:ea typeface="+mj-ea"/>
              <a:cs typeface="Arial" panose="020B0604020202020204" pitchFamily="34" charset="0"/>
            </a:endParaRPr>
          </a:p>
          <a:p>
            <a:pPr>
              <a:lnSpc>
                <a:spcPct val="114000"/>
              </a:lnSpc>
            </a:pPr>
            <a:endParaRPr lang="en-US" sz="4000" b="1" spc="-100" dirty="0">
              <a:solidFill>
                <a:srgbClr val="0000CC"/>
              </a:solidFill>
              <a:latin typeface="Comic Sans MS" panose="030F0702030302020204" pitchFamily="66" charset="0"/>
              <a:ea typeface="+mj-ea"/>
              <a:cs typeface="Arial" panose="020B0604020202020204" pitchFamily="34" charset="0"/>
            </a:endParaRPr>
          </a:p>
          <a:p>
            <a:pPr>
              <a:lnSpc>
                <a:spcPct val="114000"/>
              </a:lnSpc>
            </a:pPr>
            <a:r>
              <a:rPr lang="en-US" sz="4000" b="1" spc="-100" dirty="0">
                <a:solidFill>
                  <a:schemeClr val="bg1"/>
                </a:solidFill>
                <a:latin typeface="Comic Sans MS" panose="030F0702030302020204" pitchFamily="66" charset="0"/>
                <a:ea typeface="+mj-ea"/>
                <a:cs typeface="Arial" panose="020B0604020202020204" pitchFamily="34" charset="0"/>
              </a:rPr>
              <a:t>Difference between a disaster </a:t>
            </a:r>
          </a:p>
          <a:p>
            <a:pPr>
              <a:lnSpc>
                <a:spcPct val="114000"/>
              </a:lnSpc>
            </a:pPr>
            <a:r>
              <a:rPr lang="en-US" sz="4000" b="1" spc="-100" dirty="0">
                <a:solidFill>
                  <a:schemeClr val="bg1"/>
                </a:solidFill>
                <a:latin typeface="Comic Sans MS" panose="030F0702030302020204" pitchFamily="66" charset="0"/>
                <a:ea typeface="+mj-ea"/>
                <a:cs typeface="Arial" panose="020B0604020202020204" pitchFamily="34" charset="0"/>
              </a:rPr>
              <a:t>and </a:t>
            </a:r>
          </a:p>
          <a:p>
            <a:pPr>
              <a:lnSpc>
                <a:spcPct val="114000"/>
              </a:lnSpc>
            </a:pPr>
            <a:r>
              <a:rPr lang="en-US" sz="4000" b="1" spc="-100" dirty="0">
                <a:solidFill>
                  <a:schemeClr val="bg1"/>
                </a:solidFill>
                <a:latin typeface="Comic Sans MS" panose="030F0702030302020204" pitchFamily="66" charset="0"/>
                <a:ea typeface="+mj-ea"/>
                <a:cs typeface="Arial" panose="020B0604020202020204" pitchFamily="34" charset="0"/>
              </a:rPr>
              <a:t>an Emergency?</a:t>
            </a:r>
          </a:p>
        </p:txBody>
      </p:sp>
    </p:spTree>
    <p:extLst>
      <p:ext uri="{BB962C8B-B14F-4D97-AF65-F5344CB8AC3E}">
        <p14:creationId xmlns:p14="http://schemas.microsoft.com/office/powerpoint/2010/main" val="167224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idx="4294967295"/>
          </p:nvPr>
        </p:nvSpPr>
        <p:spPr>
          <a:xfrm>
            <a:off x="658368" y="218821"/>
            <a:ext cx="10515600" cy="805307"/>
          </a:xfrm>
        </p:spPr>
        <p:txBody>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Disaster Characteristics </a:t>
            </a:r>
            <a:r>
              <a:rPr lang="en-US" sz="2900" dirty="0"/>
              <a:t>(Dr. Cees Van </a:t>
            </a:r>
            <a:r>
              <a:rPr lang="en-US" sz="2900" dirty="0" err="1"/>
              <a:t>Westen</a:t>
            </a:r>
            <a:r>
              <a:rPr lang="en-US" sz="2900" dirty="0"/>
              <a:t>)</a:t>
            </a:r>
          </a:p>
        </p:txBody>
      </p:sp>
      <p:sp>
        <p:nvSpPr>
          <p:cNvPr id="40962" name="Content Placeholder 2"/>
          <p:cNvSpPr>
            <a:spLocks noGrp="1"/>
          </p:cNvSpPr>
          <p:nvPr>
            <p:ph sz="quarter" idx="4294967295"/>
          </p:nvPr>
        </p:nvSpPr>
        <p:spPr>
          <a:xfrm>
            <a:off x="658368" y="1225296"/>
            <a:ext cx="11393424" cy="5486400"/>
          </a:xfrm>
        </p:spPr>
        <p:txBody>
          <a:bodyPr>
            <a:normAutofit fontScale="92500" lnSpcReduction="20000"/>
          </a:bodyPr>
          <a:lstStyle/>
          <a:p>
            <a:pPr eaLnBrk="1" hangingPunct="1">
              <a:lnSpc>
                <a:spcPct val="110000"/>
              </a:lnSpc>
              <a:spcBef>
                <a:spcPts val="600"/>
              </a:spcBef>
              <a:spcAft>
                <a:spcPts val="600"/>
              </a:spcAft>
              <a:buFont typeface="Wingdings 3" pitchFamily="18" charset="2"/>
              <a:buNone/>
            </a:pPr>
            <a:r>
              <a:rPr lang="en-US" sz="2400" dirty="0">
                <a:latin typeface="Comic Sans MS" panose="030F0702030302020204" pitchFamily="66" charset="0"/>
              </a:rPr>
              <a:t>An extreme phenomenon </a:t>
            </a:r>
          </a:p>
          <a:p>
            <a:pPr eaLnBrk="1" hangingPunct="1">
              <a:lnSpc>
                <a:spcPct val="110000"/>
              </a:lnSpc>
              <a:spcBef>
                <a:spcPts val="600"/>
              </a:spcBef>
              <a:spcAft>
                <a:spcPts val="600"/>
              </a:spcAft>
            </a:pPr>
            <a:r>
              <a:rPr lang="en-US" sz="2400" dirty="0">
                <a:latin typeface="Comic Sans MS" panose="030F0702030302020204" pitchFamily="66" charset="0"/>
              </a:rPr>
              <a:t>of large intensity (e.g. a measurable quantity such as earthquake intensity, water depth)</a:t>
            </a:r>
          </a:p>
          <a:p>
            <a:pPr eaLnBrk="1" hangingPunct="1">
              <a:lnSpc>
                <a:spcPct val="110000"/>
              </a:lnSpc>
              <a:spcBef>
                <a:spcPts val="600"/>
              </a:spcBef>
              <a:spcAft>
                <a:spcPts val="600"/>
              </a:spcAft>
            </a:pPr>
            <a:r>
              <a:rPr lang="en-US" sz="2400" dirty="0">
                <a:latin typeface="Comic Sans MS" panose="030F0702030302020204" pitchFamily="66" charset="0"/>
              </a:rPr>
              <a:t>of limited duration (which can vary from seconds to months, but should be defined in time);</a:t>
            </a:r>
          </a:p>
          <a:p>
            <a:pPr eaLnBrk="1" hangingPunct="1">
              <a:lnSpc>
                <a:spcPct val="110000"/>
              </a:lnSpc>
              <a:spcBef>
                <a:spcPts val="600"/>
              </a:spcBef>
              <a:spcAft>
                <a:spcPts val="600"/>
              </a:spcAft>
            </a:pPr>
            <a:r>
              <a:rPr lang="en-US" sz="2400" dirty="0">
                <a:latin typeface="Comic Sans MS" panose="030F0702030302020204" pitchFamily="66" charset="0"/>
              </a:rPr>
              <a:t>occurring at a certain location (this spatial component will be very important in this course);</a:t>
            </a:r>
          </a:p>
          <a:p>
            <a:pPr eaLnBrk="1" hangingPunct="1">
              <a:lnSpc>
                <a:spcPct val="110000"/>
              </a:lnSpc>
              <a:spcBef>
                <a:spcPts val="600"/>
              </a:spcBef>
              <a:spcAft>
                <a:spcPts val="600"/>
              </a:spcAft>
            </a:pPr>
            <a:r>
              <a:rPr lang="en-US" sz="2400" dirty="0">
                <a:latin typeface="Comic Sans MS" panose="030F0702030302020204" pitchFamily="66" charset="0"/>
              </a:rPr>
              <a:t>involving a complex interplay between physical and human systems;</a:t>
            </a:r>
          </a:p>
          <a:p>
            <a:pPr eaLnBrk="1" hangingPunct="1">
              <a:lnSpc>
                <a:spcPct val="110000"/>
              </a:lnSpc>
              <a:spcBef>
                <a:spcPts val="600"/>
              </a:spcBef>
              <a:spcAft>
                <a:spcPts val="600"/>
              </a:spcAft>
            </a:pPr>
            <a:r>
              <a:rPr lang="en-US" sz="2400" dirty="0">
                <a:latin typeface="Comic Sans MS" panose="030F0702030302020204" pitchFamily="66" charset="0"/>
              </a:rPr>
              <a:t>causing </a:t>
            </a:r>
          </a:p>
          <a:p>
            <a:pPr lvl="1" eaLnBrk="1" hangingPunct="1">
              <a:lnSpc>
                <a:spcPct val="110000"/>
              </a:lnSpc>
              <a:spcBef>
                <a:spcPts val="600"/>
              </a:spcBef>
              <a:spcAft>
                <a:spcPts val="600"/>
              </a:spcAft>
            </a:pPr>
            <a:r>
              <a:rPr lang="en-US" sz="2100" dirty="0">
                <a:solidFill>
                  <a:srgbClr val="0070C0"/>
                </a:solidFill>
                <a:latin typeface="Comic Sans MS" panose="030F0702030302020204" pitchFamily="66" charset="0"/>
              </a:rPr>
              <a:t>loss of lives and threats to public health, as well as physical damage</a:t>
            </a:r>
          </a:p>
          <a:p>
            <a:pPr lvl="1" eaLnBrk="1" hangingPunct="1">
              <a:lnSpc>
                <a:spcPct val="110000"/>
              </a:lnSpc>
              <a:spcBef>
                <a:spcPts val="600"/>
              </a:spcBef>
              <a:spcAft>
                <a:spcPts val="600"/>
              </a:spcAft>
            </a:pPr>
            <a:r>
              <a:rPr lang="en-US" sz="2100" dirty="0">
                <a:solidFill>
                  <a:srgbClr val="0070C0"/>
                </a:solidFill>
                <a:latin typeface="Comic Sans MS" panose="030F0702030302020204" pitchFamily="66" charset="0"/>
              </a:rPr>
              <a:t>disruption of livelihood systems and society;</a:t>
            </a:r>
          </a:p>
          <a:p>
            <a:pPr eaLnBrk="1" hangingPunct="1">
              <a:lnSpc>
                <a:spcPct val="110000"/>
              </a:lnSpc>
              <a:spcBef>
                <a:spcPts val="600"/>
              </a:spcBef>
              <a:spcAft>
                <a:spcPts val="600"/>
              </a:spcAft>
            </a:pPr>
            <a:r>
              <a:rPr lang="en-US" sz="2400" b="1" dirty="0">
                <a:latin typeface="Comic Sans MS" panose="030F0702030302020204" pitchFamily="66" charset="0"/>
              </a:rPr>
              <a:t>exceeding local capacities and resources and requiring outside assistance to cope with</a:t>
            </a:r>
          </a:p>
        </p:txBody>
      </p:sp>
    </p:spTree>
    <p:extLst>
      <p:ext uri="{BB962C8B-B14F-4D97-AF65-F5344CB8AC3E}">
        <p14:creationId xmlns:p14="http://schemas.microsoft.com/office/powerpoint/2010/main" val="204216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t>Emergency?</a:t>
            </a:r>
          </a:p>
        </p:txBody>
      </p:sp>
      <p:sp>
        <p:nvSpPr>
          <p:cNvPr id="44034" name="Content Placeholder 2"/>
          <p:cNvSpPr>
            <a:spLocks noGrp="1"/>
          </p:cNvSpPr>
          <p:nvPr>
            <p:ph sz="quarter" idx="1"/>
          </p:nvPr>
        </p:nvSpPr>
        <p:spPr>
          <a:xfrm>
            <a:off x="621792" y="1828800"/>
            <a:ext cx="11356848" cy="4754880"/>
          </a:xfrm>
        </p:spPr>
        <p:txBody>
          <a:bodyPr>
            <a:normAutofit/>
          </a:bodyPr>
          <a:lstStyle/>
          <a:p>
            <a:pPr eaLnBrk="1" hangingPunct="1">
              <a:lnSpc>
                <a:spcPct val="114000"/>
              </a:lnSpc>
            </a:pPr>
            <a:r>
              <a:rPr lang="en-US" dirty="0"/>
              <a:t>Disaster is an </a:t>
            </a:r>
            <a:r>
              <a:rPr lang="en-US" u="sng" dirty="0"/>
              <a:t>emergency</a:t>
            </a:r>
            <a:r>
              <a:rPr lang="en-US" dirty="0"/>
              <a:t> in which local authorities </a:t>
            </a:r>
            <a:r>
              <a:rPr lang="en-US" u="sng" dirty="0"/>
              <a:t>can not cope</a:t>
            </a:r>
            <a:r>
              <a:rPr lang="en-US" dirty="0"/>
              <a:t> with the impact or scale of the hazard, and therefore, the event is </a:t>
            </a:r>
            <a:r>
              <a:rPr lang="en-US" u="sng" dirty="0"/>
              <a:t>managed outside </a:t>
            </a:r>
            <a:r>
              <a:rPr lang="en-US" dirty="0"/>
              <a:t>the affected communities. </a:t>
            </a:r>
          </a:p>
          <a:p>
            <a:pPr lvl="1" eaLnBrk="1" hangingPunct="1">
              <a:lnSpc>
                <a:spcPct val="114000"/>
              </a:lnSpc>
            </a:pPr>
            <a:r>
              <a:rPr lang="en-US" dirty="0">
                <a:solidFill>
                  <a:srgbClr val="0070C0"/>
                </a:solidFill>
              </a:rPr>
              <a:t>Earthquakes, Hurricanes, Floods, etc.</a:t>
            </a:r>
          </a:p>
          <a:p>
            <a:pPr eaLnBrk="1" hangingPunct="1">
              <a:lnSpc>
                <a:spcPct val="114000"/>
              </a:lnSpc>
            </a:pPr>
            <a:r>
              <a:rPr lang="en-US" dirty="0"/>
              <a:t>Non-disaster Emergencies</a:t>
            </a:r>
          </a:p>
          <a:p>
            <a:pPr lvl="1" eaLnBrk="1" hangingPunct="1">
              <a:lnSpc>
                <a:spcPct val="114000"/>
              </a:lnSpc>
            </a:pPr>
            <a:r>
              <a:rPr lang="en-US" dirty="0">
                <a:solidFill>
                  <a:srgbClr val="0070C0"/>
                </a:solidFill>
              </a:rPr>
              <a:t>Local floods, local epidemics, transport or industrial accidents, environmental pollution etc. </a:t>
            </a:r>
          </a:p>
          <a:p>
            <a:pPr eaLnBrk="1" hangingPunct="1">
              <a:lnSpc>
                <a:spcPct val="114000"/>
              </a:lnSpc>
            </a:pPr>
            <a:endParaRPr lang="en-US" dirty="0">
              <a:solidFill>
                <a:srgbClr val="FFCC66"/>
              </a:solidFill>
            </a:endParaRPr>
          </a:p>
        </p:txBody>
      </p:sp>
    </p:spTree>
    <p:extLst>
      <p:ext uri="{BB962C8B-B14F-4D97-AF65-F5344CB8AC3E}">
        <p14:creationId xmlns:p14="http://schemas.microsoft.com/office/powerpoint/2010/main" val="2213935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p:nvPr>
        </p:nvSpPr>
        <p:spPr/>
        <p:txBody>
          <a:bodyPr/>
          <a:lstStyle/>
          <a:p>
            <a:pPr eaLnBrk="1" hangingPunct="1"/>
            <a:r>
              <a:rPr lang="en-US" dirty="0"/>
              <a:t>Hazard, Emergency and Disaster</a:t>
            </a:r>
          </a:p>
        </p:txBody>
      </p:sp>
      <p:pic>
        <p:nvPicPr>
          <p:cNvPr id="46083" name="Picture 4"/>
          <p:cNvPicPr>
            <a:picLocks noChangeAspect="1" noChangeArrowheads="1"/>
          </p:cNvPicPr>
          <p:nvPr/>
        </p:nvPicPr>
        <p:blipFill>
          <a:blip r:embed="rId3"/>
          <a:srcRect l="12500" t="45001" r="7500" b="37000"/>
          <a:stretch>
            <a:fillRect/>
          </a:stretch>
        </p:blipFill>
        <p:spPr bwMode="auto">
          <a:xfrm>
            <a:off x="367114" y="2621281"/>
            <a:ext cx="11457771" cy="2517647"/>
          </a:xfrm>
          <a:prstGeom prst="rect">
            <a:avLst/>
          </a:prstGeom>
          <a:noFill/>
          <a:ln w="28575">
            <a:solidFill>
              <a:schemeClr val="tx1"/>
            </a:solidFill>
            <a:miter lim="800000"/>
            <a:headEnd/>
            <a:tailEnd/>
          </a:ln>
        </p:spPr>
      </p:pic>
      <p:sp>
        <p:nvSpPr>
          <p:cNvPr id="2" name="TextBox 1"/>
          <p:cNvSpPr txBox="1"/>
          <p:nvPr/>
        </p:nvSpPr>
        <p:spPr>
          <a:xfrm>
            <a:off x="838200" y="5541264"/>
            <a:ext cx="4227576" cy="369332"/>
          </a:xfrm>
          <a:prstGeom prst="rect">
            <a:avLst/>
          </a:prstGeom>
          <a:noFill/>
        </p:spPr>
        <p:txBody>
          <a:bodyPr wrap="square" rtlCol="0">
            <a:spAutoFit/>
          </a:bodyPr>
          <a:lstStyle/>
          <a:p>
            <a:r>
              <a:rPr lang="en-US" dirty="0"/>
              <a:t>Source: FEMA</a:t>
            </a:r>
          </a:p>
        </p:txBody>
      </p:sp>
    </p:spTree>
    <p:extLst>
      <p:ext uri="{BB962C8B-B14F-4D97-AF65-F5344CB8AC3E}">
        <p14:creationId xmlns:p14="http://schemas.microsoft.com/office/powerpoint/2010/main" val="2981477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8129" name="Title 1"/>
          <p:cNvSpPr>
            <a:spLocks noGrp="1"/>
          </p:cNvSpPr>
          <p:nvPr>
            <p:ph type="title" idx="4294967295"/>
          </p:nvPr>
        </p:nvSpPr>
        <p:spPr>
          <a:xfrm>
            <a:off x="838200" y="256033"/>
            <a:ext cx="10515600" cy="1097280"/>
          </a:xfrm>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Define which of the following is a disaster?</a:t>
            </a:r>
          </a:p>
        </p:txBody>
      </p:sp>
      <p:sp>
        <p:nvSpPr>
          <p:cNvPr id="48130" name="Content Placeholder 2"/>
          <p:cNvSpPr>
            <a:spLocks noGrp="1"/>
          </p:cNvSpPr>
          <p:nvPr>
            <p:ph sz="quarter" idx="4294967295"/>
          </p:nvPr>
        </p:nvSpPr>
        <p:spPr>
          <a:xfrm>
            <a:off x="640080" y="1353313"/>
            <a:ext cx="11356848" cy="5504687"/>
          </a:xfrm>
        </p:spPr>
        <p:txBody>
          <a:bodyPr>
            <a:normAutofit fontScale="92500"/>
          </a:bodyPr>
          <a:lstStyle/>
          <a:p>
            <a:pPr marL="514350" indent="-514350">
              <a:lnSpc>
                <a:spcPct val="124000"/>
              </a:lnSpc>
              <a:spcAft>
                <a:spcPts val="600"/>
              </a:spcAft>
              <a:buFont typeface="Bookman Old Style" pitchFamily="18" charset="0"/>
              <a:buAutoNum type="arabicPeriod"/>
            </a:pPr>
            <a:r>
              <a:rPr lang="en-US" dirty="0">
                <a:latin typeface="Comic Sans MS" panose="030F0702030302020204" pitchFamily="66" charset="0"/>
              </a:rPr>
              <a:t>When you become ill, and cannot work anymore?</a:t>
            </a:r>
          </a:p>
          <a:p>
            <a:pPr marL="514350" indent="-514350">
              <a:lnSpc>
                <a:spcPct val="124000"/>
              </a:lnSpc>
              <a:spcAft>
                <a:spcPts val="600"/>
              </a:spcAft>
              <a:buFont typeface="Bookman Old Style" pitchFamily="18" charset="0"/>
              <a:buAutoNum type="arabicPeriod"/>
            </a:pPr>
            <a:r>
              <a:rPr lang="en-US" dirty="0">
                <a:latin typeface="Comic Sans MS" panose="030F0702030302020204" pitchFamily="66" charset="0"/>
              </a:rPr>
              <a:t>When a famous football player is injured and misses the most important match, and his team loses the world championship?</a:t>
            </a:r>
          </a:p>
          <a:p>
            <a:pPr marL="514350" indent="-514350">
              <a:lnSpc>
                <a:spcPct val="124000"/>
              </a:lnSpc>
              <a:spcAft>
                <a:spcPts val="600"/>
              </a:spcAft>
              <a:buFont typeface="Bookman Old Style" pitchFamily="18" charset="0"/>
              <a:buAutoNum type="arabicPeriod"/>
            </a:pPr>
            <a:r>
              <a:rPr lang="en-US" dirty="0">
                <a:latin typeface="Comic Sans MS" panose="030F0702030302020204" pitchFamily="66" charset="0"/>
              </a:rPr>
              <a:t>When does a car accident become a disaster? The annual financial cost of car accidents in the US is estimated to be around 230 Billion dollars, with 2.9 million injuries and around 43,000 casualties.</a:t>
            </a:r>
          </a:p>
          <a:p>
            <a:pPr marL="514350" indent="-514350">
              <a:lnSpc>
                <a:spcPct val="124000"/>
              </a:lnSpc>
              <a:spcAft>
                <a:spcPts val="600"/>
              </a:spcAft>
              <a:buFont typeface="Bookman Old Style" pitchFamily="18" charset="0"/>
              <a:buAutoNum type="arabicPeriod"/>
            </a:pPr>
            <a:r>
              <a:rPr lang="en-US" dirty="0">
                <a:latin typeface="Comic Sans MS" panose="030F0702030302020204" pitchFamily="66" charset="0"/>
              </a:rPr>
              <a:t>The death of 2,974 people in the attack on the Twin Towers on 9/11/2001?</a:t>
            </a:r>
          </a:p>
          <a:p>
            <a:pPr marL="514350" indent="-514350">
              <a:lnSpc>
                <a:spcPct val="124000"/>
              </a:lnSpc>
              <a:spcAft>
                <a:spcPts val="600"/>
              </a:spcAft>
              <a:buFont typeface="Bookman Old Style" pitchFamily="18" charset="0"/>
              <a:buAutoNum type="arabicPeriod"/>
            </a:pPr>
            <a:r>
              <a:rPr lang="en-US" dirty="0">
                <a:latin typeface="Comic Sans MS" panose="030F0702030302020204" pitchFamily="66" charset="0"/>
              </a:rPr>
              <a:t>The big coronavirus (COVID19) that hit the world?</a:t>
            </a:r>
          </a:p>
        </p:txBody>
      </p:sp>
    </p:spTree>
    <p:extLst>
      <p:ext uri="{BB962C8B-B14F-4D97-AF65-F5344CB8AC3E}">
        <p14:creationId xmlns:p14="http://schemas.microsoft.com/office/powerpoint/2010/main" val="313654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1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FC0E-BDE6-235E-BCD8-3ADBC066051F}"/>
              </a:ext>
            </a:extLst>
          </p:cNvPr>
          <p:cNvSpPr>
            <a:spLocks noGrp="1"/>
          </p:cNvSpPr>
          <p:nvPr>
            <p:ph type="title"/>
          </p:nvPr>
        </p:nvSpPr>
        <p:spPr/>
        <p:txBody>
          <a:bodyPr/>
          <a:lstStyle/>
          <a:p>
            <a:r>
              <a:rPr lang="en-US" dirty="0"/>
              <a:t>Homework-2</a:t>
            </a:r>
            <a:endParaRPr lang="en-PK" dirty="0"/>
          </a:p>
        </p:txBody>
      </p:sp>
      <p:sp>
        <p:nvSpPr>
          <p:cNvPr id="3" name="Content Placeholder 2">
            <a:extLst>
              <a:ext uri="{FF2B5EF4-FFF2-40B4-BE49-F238E27FC236}">
                <a16:creationId xmlns:a16="http://schemas.microsoft.com/office/drawing/2014/main" id="{2B8313FF-5F42-BBCE-3810-844BB4871376}"/>
              </a:ext>
            </a:extLst>
          </p:cNvPr>
          <p:cNvSpPr>
            <a:spLocks noGrp="1"/>
          </p:cNvSpPr>
          <p:nvPr>
            <p:ph idx="1"/>
          </p:nvPr>
        </p:nvSpPr>
        <p:spPr/>
        <p:txBody>
          <a:bodyPr/>
          <a:lstStyle/>
          <a:p>
            <a:pPr marL="0" marR="0" lvl="0" indent="0">
              <a:spcAft>
                <a:spcPts val="900"/>
              </a:spcAft>
              <a:buNone/>
            </a:pPr>
            <a:r>
              <a:rPr lang="en-US" sz="3200" b="0" u="none" strike="noStrike" dirty="0">
                <a:effectLst/>
                <a:latin typeface="Google Sans"/>
              </a:rPr>
              <a:t>Answer the following:</a:t>
            </a:r>
          </a:p>
          <a:p>
            <a:pPr marL="342900" marR="0" lvl="0" indent="-342900">
              <a:spcAft>
                <a:spcPts val="900"/>
              </a:spcAft>
              <a:buFont typeface="Arial" panose="020B0604020202020204" pitchFamily="34" charset="0"/>
              <a:buChar char="•"/>
            </a:pPr>
            <a:r>
              <a:rPr lang="en-US" sz="3200" u="none" strike="noStrike" dirty="0">
                <a:effectLst/>
                <a:latin typeface="Google Sans"/>
              </a:rPr>
              <a:t>What are t</a:t>
            </a:r>
            <a:r>
              <a:rPr lang="en-PK" sz="3200" u="none" strike="noStrike" dirty="0">
                <a:effectLst/>
                <a:latin typeface="Google Sans"/>
              </a:rPr>
              <a:t>he legal definitions used by FEMA </a:t>
            </a:r>
            <a:r>
              <a:rPr lang="en-US" sz="3200" u="none" strike="noStrike" dirty="0">
                <a:effectLst/>
                <a:latin typeface="Google Sans"/>
              </a:rPr>
              <a:t>(USA) </a:t>
            </a:r>
            <a:r>
              <a:rPr lang="en-PK" sz="3200" u="none" strike="noStrike" dirty="0">
                <a:effectLst/>
                <a:latin typeface="Google Sans"/>
              </a:rPr>
              <a:t>to declare a major disaster</a:t>
            </a:r>
            <a:r>
              <a:rPr lang="en-US" sz="3200" u="none" strike="noStrike" dirty="0">
                <a:effectLst/>
                <a:latin typeface="Google Sans"/>
              </a:rPr>
              <a:t>?</a:t>
            </a:r>
            <a:endParaRPr lang="en-PK" sz="3200" u="none" strike="noStrike" dirty="0">
              <a:effectLst/>
              <a:latin typeface="Google Sans"/>
            </a:endParaRPr>
          </a:p>
          <a:p>
            <a:pPr marL="342900" marR="0" lvl="0" indent="-342900">
              <a:spcAft>
                <a:spcPts val="900"/>
              </a:spcAft>
              <a:buFont typeface="Arial" panose="020B0604020202020204" pitchFamily="34" charset="0"/>
              <a:buChar char="•"/>
            </a:pPr>
            <a:r>
              <a:rPr lang="en-PK" sz="3200" u="none" strike="noStrike" dirty="0">
                <a:effectLst/>
                <a:latin typeface="Google Sans"/>
              </a:rPr>
              <a:t>How </a:t>
            </a:r>
            <a:r>
              <a:rPr lang="en-US" sz="3200" u="none" strike="noStrike" dirty="0">
                <a:effectLst/>
                <a:latin typeface="Google Sans"/>
              </a:rPr>
              <a:t>do </a:t>
            </a:r>
            <a:r>
              <a:rPr lang="en-PK" sz="3200" u="none" strike="noStrike" dirty="0">
                <a:effectLst/>
                <a:latin typeface="Google Sans"/>
              </a:rPr>
              <a:t>insurance companies differentiate between standard accidents and catastrophic events</a:t>
            </a:r>
            <a:r>
              <a:rPr lang="en-US" sz="3200" u="none" strike="noStrike" dirty="0">
                <a:effectLst/>
                <a:latin typeface="Google Sans"/>
              </a:rPr>
              <a:t>?</a:t>
            </a:r>
          </a:p>
          <a:p>
            <a:pPr marL="342900" marR="0" lvl="0" indent="-342900">
              <a:spcAft>
                <a:spcPts val="900"/>
              </a:spcAft>
              <a:buFont typeface="Arial" panose="020B0604020202020204" pitchFamily="34" charset="0"/>
              <a:buChar char="•"/>
            </a:pPr>
            <a:r>
              <a:rPr lang="en-US" dirty="0">
                <a:latin typeface="Google Sans"/>
              </a:rPr>
              <a:t>How does NDMA define disasters?</a:t>
            </a:r>
            <a:endParaRPr lang="en-PK" sz="3200" u="none" strike="noStrike" dirty="0">
              <a:effectLst/>
              <a:latin typeface="Google Sans"/>
            </a:endParaRPr>
          </a:p>
          <a:p>
            <a:endParaRPr lang="en-PK" dirty="0"/>
          </a:p>
        </p:txBody>
      </p:sp>
    </p:spTree>
    <p:extLst>
      <p:ext uri="{BB962C8B-B14F-4D97-AF65-F5344CB8AC3E}">
        <p14:creationId xmlns:p14="http://schemas.microsoft.com/office/powerpoint/2010/main" val="2922291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normAutofit/>
          </a:bodyPr>
          <a:lstStyle/>
          <a:p>
            <a:pPr eaLnBrk="1" hangingPunct="1">
              <a:defRPr/>
            </a:pPr>
            <a:r>
              <a:rPr lang="en-US" dirty="0"/>
              <a:t>Hazard Profiling</a:t>
            </a:r>
          </a:p>
        </p:txBody>
      </p:sp>
      <p:sp>
        <p:nvSpPr>
          <p:cNvPr id="60418" name="Content Placeholder 2"/>
          <p:cNvSpPr>
            <a:spLocks noGrp="1"/>
          </p:cNvSpPr>
          <p:nvPr>
            <p:ph sz="quarter" idx="1"/>
          </p:nvPr>
        </p:nvSpPr>
        <p:spPr>
          <a:xfrm>
            <a:off x="475488" y="1517904"/>
            <a:ext cx="11411712" cy="5065776"/>
          </a:xfrm>
        </p:spPr>
        <p:txBody>
          <a:bodyPr>
            <a:normAutofit/>
          </a:bodyPr>
          <a:lstStyle/>
          <a:p>
            <a:pPr marL="0" indent="0" eaLnBrk="1" hangingPunct="1">
              <a:lnSpc>
                <a:spcPct val="100000"/>
              </a:lnSpc>
              <a:spcBef>
                <a:spcPts val="1200"/>
              </a:spcBef>
              <a:spcAft>
                <a:spcPts val="1200"/>
              </a:spcAft>
              <a:buNone/>
            </a:pPr>
            <a:r>
              <a:rPr lang="en-US" sz="3600" dirty="0"/>
              <a:t>Identify all hazards that have affected or could affect the area of focus through</a:t>
            </a:r>
          </a:p>
          <a:p>
            <a:pPr lvl="1" eaLnBrk="1" hangingPunct="1">
              <a:lnSpc>
                <a:spcPct val="90000"/>
              </a:lnSpc>
            </a:pPr>
            <a:r>
              <a:rPr lang="en-US" sz="2800" dirty="0">
                <a:solidFill>
                  <a:srgbClr val="2D2DD5"/>
                </a:solidFill>
              </a:rPr>
              <a:t>Historical records</a:t>
            </a:r>
          </a:p>
          <a:p>
            <a:pPr lvl="1" eaLnBrk="1" hangingPunct="1">
              <a:lnSpc>
                <a:spcPct val="90000"/>
              </a:lnSpc>
            </a:pPr>
            <a:r>
              <a:rPr lang="en-US" sz="2800" dirty="0">
                <a:solidFill>
                  <a:srgbClr val="2D2DD5"/>
                </a:solidFill>
              </a:rPr>
              <a:t>Brainstorming</a:t>
            </a:r>
          </a:p>
          <a:p>
            <a:pPr lvl="1" eaLnBrk="1" hangingPunct="1">
              <a:lnSpc>
                <a:spcPct val="90000"/>
              </a:lnSpc>
            </a:pPr>
            <a:r>
              <a:rPr lang="en-US" sz="2800" dirty="0">
                <a:solidFill>
                  <a:srgbClr val="2D2DD5"/>
                </a:solidFill>
              </a:rPr>
              <a:t>Scientific analysis</a:t>
            </a:r>
          </a:p>
          <a:p>
            <a:pPr lvl="1" eaLnBrk="1" hangingPunct="1">
              <a:lnSpc>
                <a:spcPct val="90000"/>
              </a:lnSpc>
            </a:pPr>
            <a:r>
              <a:rPr lang="en-US" sz="2800" dirty="0">
                <a:solidFill>
                  <a:srgbClr val="2D2DD5"/>
                </a:solidFill>
              </a:rPr>
              <a:t>Subject matter expertise</a:t>
            </a:r>
          </a:p>
        </p:txBody>
      </p:sp>
    </p:spTree>
    <p:extLst>
      <p:ext uri="{BB962C8B-B14F-4D97-AF65-F5344CB8AC3E}">
        <p14:creationId xmlns:p14="http://schemas.microsoft.com/office/powerpoint/2010/main" val="179327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lang="en-US" dirty="0"/>
              <a:t>Hazard Identification</a:t>
            </a:r>
          </a:p>
        </p:txBody>
      </p:sp>
      <p:sp>
        <p:nvSpPr>
          <p:cNvPr id="50178" name="Content Placeholder 2"/>
          <p:cNvSpPr>
            <a:spLocks noGrp="1"/>
          </p:cNvSpPr>
          <p:nvPr>
            <p:ph sz="quarter" idx="1"/>
          </p:nvPr>
        </p:nvSpPr>
        <p:spPr>
          <a:xfrm>
            <a:off x="566928" y="1690688"/>
            <a:ext cx="11320272" cy="4801552"/>
          </a:xfrm>
        </p:spPr>
        <p:txBody>
          <a:bodyPr>
            <a:normAutofit/>
          </a:bodyPr>
          <a:lstStyle/>
          <a:p>
            <a:pPr>
              <a:lnSpc>
                <a:spcPct val="114000"/>
              </a:lnSpc>
              <a:spcBef>
                <a:spcPts val="600"/>
              </a:spcBef>
              <a:spcAft>
                <a:spcPts val="600"/>
              </a:spcAft>
            </a:pPr>
            <a:r>
              <a:rPr lang="en-US" dirty="0"/>
              <a:t>Hazard identification is the foundation of all emergency management activities</a:t>
            </a:r>
          </a:p>
          <a:p>
            <a:r>
              <a:rPr lang="en-US" sz="2400" u="sng" dirty="0">
                <a:solidFill>
                  <a:srgbClr val="2D2DD5"/>
                </a:solidFill>
              </a:rPr>
              <a:t>Hazard Profiling</a:t>
            </a:r>
            <a:r>
              <a:rPr lang="en-US" sz="2400" dirty="0">
                <a:solidFill>
                  <a:srgbClr val="2D2DD5"/>
                </a:solidFill>
              </a:rPr>
              <a:t> </a:t>
            </a:r>
            <a:r>
              <a:rPr lang="en-US" sz="2400" dirty="0"/>
              <a:t>is a component of hazard identification where all hazards in a study area are defined</a:t>
            </a:r>
          </a:p>
          <a:p>
            <a:pPr lvl="1"/>
            <a:r>
              <a:rPr lang="en-US" sz="2100" dirty="0"/>
              <a:t>General description of hazard</a:t>
            </a:r>
          </a:p>
          <a:p>
            <a:pPr lvl="1"/>
            <a:r>
              <a:rPr lang="en-US" sz="2100" dirty="0"/>
              <a:t>Location of hazard and spatial extent of its effects</a:t>
            </a:r>
          </a:p>
          <a:p>
            <a:pPr lvl="1"/>
            <a:r>
              <a:rPr lang="en-US" sz="2100" dirty="0"/>
              <a:t>Duration of an event caused by a hazard</a:t>
            </a:r>
          </a:p>
          <a:p>
            <a:pPr lvl="1"/>
            <a:r>
              <a:rPr lang="en-US" sz="2100" dirty="0"/>
              <a:t>Seasonal or time-based patterns followed by the hazard</a:t>
            </a:r>
          </a:p>
          <a:p>
            <a:pPr lvl="1"/>
            <a:r>
              <a:rPr lang="en-US" sz="2100" dirty="0"/>
              <a:t>Speed of </a:t>
            </a:r>
            <a:r>
              <a:rPr lang="en-US" sz="2100" u="sng" dirty="0"/>
              <a:t>onset</a:t>
            </a:r>
            <a:r>
              <a:rPr lang="en-US" sz="2100" dirty="0"/>
              <a:t> of an actual hazard event</a:t>
            </a:r>
          </a:p>
          <a:p>
            <a:pPr lvl="1"/>
            <a:r>
              <a:rPr lang="en-US" sz="2100" dirty="0"/>
              <a:t>Availability of warning for the hazard</a:t>
            </a:r>
          </a:p>
          <a:p>
            <a:pPr>
              <a:lnSpc>
                <a:spcPct val="114000"/>
              </a:lnSpc>
              <a:spcBef>
                <a:spcPts val="600"/>
              </a:spcBef>
              <a:spcAft>
                <a:spcPts val="600"/>
              </a:spcAft>
            </a:pPr>
            <a:endParaRPr lang="en-US" dirty="0"/>
          </a:p>
        </p:txBody>
      </p:sp>
    </p:spTree>
    <p:extLst>
      <p:ext uri="{BB962C8B-B14F-4D97-AF65-F5344CB8AC3E}">
        <p14:creationId xmlns:p14="http://schemas.microsoft.com/office/powerpoint/2010/main" val="3755634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Class-Activity</a:t>
            </a:r>
          </a:p>
        </p:txBody>
      </p:sp>
      <p:sp>
        <p:nvSpPr>
          <p:cNvPr id="3" name="Content Placeholder 2"/>
          <p:cNvSpPr>
            <a:spLocks noGrp="1"/>
          </p:cNvSpPr>
          <p:nvPr>
            <p:ph idx="1"/>
          </p:nvPr>
        </p:nvSpPr>
        <p:spPr/>
        <p:txBody>
          <a:bodyPr/>
          <a:lstStyle/>
          <a:p>
            <a:pPr marL="0" indent="0">
              <a:lnSpc>
                <a:spcPct val="150000"/>
              </a:lnSpc>
              <a:buNone/>
            </a:pPr>
            <a:r>
              <a:rPr lang="en-US" dirty="0"/>
              <a:t>Divide into two groups of students. </a:t>
            </a:r>
          </a:p>
          <a:p>
            <a:pPr marL="0" indent="0">
              <a:lnSpc>
                <a:spcPct val="150000"/>
              </a:lnSpc>
              <a:buNone/>
            </a:pPr>
            <a:r>
              <a:rPr lang="en-US" dirty="0"/>
              <a:t>Prepare a brief hazard profile of </a:t>
            </a:r>
            <a:r>
              <a:rPr lang="en-US"/>
              <a:t>any district of Sindh.  </a:t>
            </a:r>
            <a:endParaRPr lang="en-US" dirty="0"/>
          </a:p>
        </p:txBody>
      </p:sp>
    </p:spTree>
    <p:extLst>
      <p:ext uri="{BB962C8B-B14F-4D97-AF65-F5344CB8AC3E}">
        <p14:creationId xmlns:p14="http://schemas.microsoft.com/office/powerpoint/2010/main" val="41522005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4"/>
          <p:cNvSpPr>
            <a:spLocks noGrp="1"/>
          </p:cNvSpPr>
          <p:nvPr>
            <p:ph type="ctrTitle"/>
          </p:nvPr>
        </p:nvSpPr>
        <p:spPr>
          <a:xfrm>
            <a:off x="4667250" y="1353312"/>
            <a:ext cx="7524750" cy="2029968"/>
          </a:xfrm>
        </p:spPr>
        <p:txBody>
          <a:bodyPr>
            <a:noAutofit/>
          </a:bodyPr>
          <a:lstStyle/>
          <a:p>
            <a:pPr algn="ctr">
              <a:lnSpc>
                <a:spcPct val="114000"/>
              </a:lnSpc>
            </a:pPr>
            <a:r>
              <a:rPr lang="en-US" sz="4400" b="1" spc="-100" dirty="0">
                <a:solidFill>
                  <a:srgbClr val="0000CC"/>
                </a:solidFill>
                <a:latin typeface="Comic Sans MS" panose="030F0702030302020204" pitchFamily="66" charset="0"/>
                <a:cs typeface="Arial" panose="020B0604020202020204" pitchFamily="34" charset="0"/>
              </a:rPr>
              <a:t>Disaster Risk Management</a:t>
            </a:r>
          </a:p>
        </p:txBody>
      </p:sp>
      <p:sp>
        <p:nvSpPr>
          <p:cNvPr id="2" name="Subtitle 1"/>
          <p:cNvSpPr>
            <a:spLocks noGrp="1"/>
          </p:cNvSpPr>
          <p:nvPr>
            <p:ph type="subTitle" idx="1"/>
          </p:nvPr>
        </p:nvSpPr>
        <p:spPr>
          <a:xfrm>
            <a:off x="0" y="3602038"/>
            <a:ext cx="12192000" cy="1655762"/>
          </a:xfrm>
          <a:solidFill>
            <a:srgbClr val="0070C0"/>
          </a:solidFill>
          <a:ln>
            <a:solidFill>
              <a:schemeClr val="accent1"/>
            </a:solidFill>
          </a:ln>
        </p:spPr>
        <p:txBody>
          <a:bodyPr>
            <a:normAutofit/>
          </a:bodyPr>
          <a:lstStyle/>
          <a:p>
            <a:pPr algn="l"/>
            <a:r>
              <a:rPr lang="en-US" sz="4400" dirty="0">
                <a:solidFill>
                  <a:schemeClr val="bg1"/>
                </a:solidFill>
              </a:rPr>
              <a:t>                                       DRM</a:t>
            </a:r>
          </a:p>
        </p:txBody>
      </p:sp>
      <p:pic>
        <p:nvPicPr>
          <p:cNvPr id="1026" name="Picture 2" descr="Image result for disaster risk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04" y="1730692"/>
            <a:ext cx="4667250"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1345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838200" y="228601"/>
            <a:ext cx="10515600" cy="914400"/>
          </a:xfrm>
        </p:spPr>
        <p:txBody>
          <a:bodyPr/>
          <a:lstStyle/>
          <a:p>
            <a:pPr eaLnBrk="1" hangingPunct="1"/>
            <a:r>
              <a:rPr lang="en-US" dirty="0"/>
              <a:t>Disaster Risk Management</a:t>
            </a:r>
          </a:p>
        </p:txBody>
      </p:sp>
      <p:sp>
        <p:nvSpPr>
          <p:cNvPr id="56322" name="Content Placeholder 2"/>
          <p:cNvSpPr>
            <a:spLocks noGrp="1"/>
          </p:cNvSpPr>
          <p:nvPr>
            <p:ph sz="quarter" idx="1"/>
          </p:nvPr>
        </p:nvSpPr>
        <p:spPr>
          <a:xfrm>
            <a:off x="457200" y="1428750"/>
            <a:ext cx="11544300" cy="5429250"/>
          </a:xfrm>
        </p:spPr>
        <p:txBody>
          <a:bodyPr>
            <a:normAutofit fontScale="85000" lnSpcReduction="10000"/>
          </a:bodyPr>
          <a:lstStyle/>
          <a:p>
            <a:pPr>
              <a:lnSpc>
                <a:spcPct val="134000"/>
              </a:lnSpc>
              <a:spcAft>
                <a:spcPts val="600"/>
              </a:spcAft>
            </a:pPr>
            <a:r>
              <a:rPr lang="en-US" b="1" dirty="0"/>
              <a:t>Risk management involves the implementation of the identified risk reduction strategies</a:t>
            </a:r>
          </a:p>
          <a:p>
            <a:pPr eaLnBrk="1" hangingPunct="1">
              <a:lnSpc>
                <a:spcPct val="134000"/>
              </a:lnSpc>
              <a:spcAft>
                <a:spcPts val="600"/>
              </a:spcAft>
            </a:pPr>
            <a:r>
              <a:rPr lang="en-US" dirty="0"/>
              <a:t>The systematic process of using administrative directives, organizations, and operational skills and capacities to implement </a:t>
            </a:r>
            <a:r>
              <a:rPr lang="en-US" dirty="0">
                <a:solidFill>
                  <a:schemeClr val="accent2">
                    <a:lumMod val="75000"/>
                  </a:schemeClr>
                </a:solidFill>
              </a:rPr>
              <a:t>strategies, policies </a:t>
            </a:r>
            <a:r>
              <a:rPr lang="en-US" dirty="0"/>
              <a:t>and </a:t>
            </a:r>
            <a:r>
              <a:rPr lang="en-US" dirty="0">
                <a:solidFill>
                  <a:schemeClr val="accent2">
                    <a:lumMod val="75000"/>
                  </a:schemeClr>
                </a:solidFill>
              </a:rPr>
              <a:t>improved coping capacities </a:t>
            </a:r>
            <a:r>
              <a:rPr lang="en-US" dirty="0"/>
              <a:t>to </a:t>
            </a:r>
            <a:r>
              <a:rPr lang="en-US" dirty="0">
                <a:solidFill>
                  <a:schemeClr val="accent2">
                    <a:lumMod val="75000"/>
                  </a:schemeClr>
                </a:solidFill>
              </a:rPr>
              <a:t>lessen the adverse impacts of hazards </a:t>
            </a:r>
            <a:r>
              <a:rPr lang="en-US" dirty="0"/>
              <a:t>and the </a:t>
            </a:r>
            <a:r>
              <a:rPr lang="en-US" dirty="0">
                <a:solidFill>
                  <a:schemeClr val="accent2">
                    <a:lumMod val="75000"/>
                  </a:schemeClr>
                </a:solidFill>
              </a:rPr>
              <a:t>possibility of a disaster</a:t>
            </a:r>
          </a:p>
          <a:p>
            <a:pPr>
              <a:lnSpc>
                <a:spcPct val="134000"/>
              </a:lnSpc>
              <a:spcAft>
                <a:spcPts val="600"/>
              </a:spcAft>
            </a:pPr>
            <a:r>
              <a:rPr lang="en-US" i="1" u="sng" dirty="0"/>
              <a:t>Decision Support Systems </a:t>
            </a:r>
            <a:r>
              <a:rPr lang="en-US" dirty="0"/>
              <a:t>to help decision makers whether to accept, reduce, or minimize the identified risks by the implementation strategies.</a:t>
            </a:r>
          </a:p>
        </p:txBody>
      </p:sp>
    </p:spTree>
    <p:extLst>
      <p:ext uri="{BB962C8B-B14F-4D97-AF65-F5344CB8AC3E}">
        <p14:creationId xmlns:p14="http://schemas.microsoft.com/office/powerpoint/2010/main" val="866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8369" name="Title 1"/>
          <p:cNvSpPr>
            <a:spLocks noGrp="1"/>
          </p:cNvSpPr>
          <p:nvPr>
            <p:ph type="title" idx="4294967295"/>
          </p:nvPr>
        </p:nvSpPr>
        <p:spPr>
          <a:xfrm>
            <a:off x="800100" y="212725"/>
            <a:ext cx="10515600" cy="1325563"/>
          </a:xfrm>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The Historical Context</a:t>
            </a:r>
            <a:endParaRPr lang="en-IN" sz="4000" b="1" spc="-100" dirty="0">
              <a:solidFill>
                <a:srgbClr val="0000CC"/>
              </a:solidFill>
              <a:latin typeface="Comic Sans MS" panose="030F0702030302020204" pitchFamily="66" charset="0"/>
              <a:cs typeface="Arial" panose="020B0604020202020204" pitchFamily="34" charset="0"/>
            </a:endParaRPr>
          </a:p>
        </p:txBody>
      </p:sp>
      <p:sp>
        <p:nvSpPr>
          <p:cNvPr id="58370" name="Content Placeholder 2"/>
          <p:cNvSpPr>
            <a:spLocks noGrp="1"/>
          </p:cNvSpPr>
          <p:nvPr>
            <p:ph sz="quarter" idx="4294967295"/>
          </p:nvPr>
        </p:nvSpPr>
        <p:spPr>
          <a:xfrm>
            <a:off x="647700" y="1809750"/>
            <a:ext cx="11372850" cy="4895850"/>
          </a:xfrm>
        </p:spPr>
        <p:txBody>
          <a:bodyPr>
            <a:noAutofit/>
          </a:bodyPr>
          <a:lstStyle/>
          <a:p>
            <a:pPr>
              <a:lnSpc>
                <a:spcPct val="114000"/>
              </a:lnSpc>
              <a:spcBef>
                <a:spcPts val="1200"/>
              </a:spcBef>
              <a:spcAft>
                <a:spcPts val="1200"/>
              </a:spcAft>
            </a:pPr>
            <a:r>
              <a:rPr lang="en-US" sz="3400" dirty="0">
                <a:latin typeface="Comic Sans MS" panose="030F0702030302020204" pitchFamily="66" charset="0"/>
              </a:rPr>
              <a:t>We do not realize the value of emergency management until we have a major disaster in our community</a:t>
            </a:r>
          </a:p>
          <a:p>
            <a:pPr>
              <a:lnSpc>
                <a:spcPct val="114000"/>
              </a:lnSpc>
              <a:spcBef>
                <a:spcPts val="1200"/>
              </a:spcBef>
              <a:spcAft>
                <a:spcPts val="1200"/>
              </a:spcAft>
            </a:pPr>
            <a:r>
              <a:rPr lang="en-US" sz="3400" dirty="0">
                <a:latin typeface="Comic Sans MS" panose="030F0702030302020204" pitchFamily="66" charset="0"/>
              </a:rPr>
              <a:t>The current disaster-prone environment we live in has increased the potential of floods, earthquakes, cyclones, hurricanes, wildfires, and terrorist attacks </a:t>
            </a:r>
            <a:r>
              <a:rPr lang="en-US" sz="3400" dirty="0">
                <a:solidFill>
                  <a:srgbClr val="7030A0"/>
                </a:solidFill>
                <a:latin typeface="Comic Sans MS" panose="030F0702030302020204" pitchFamily="66" charset="0"/>
              </a:rPr>
              <a:t>(Agree or not?)</a:t>
            </a:r>
          </a:p>
        </p:txBody>
      </p:sp>
    </p:spTree>
    <p:extLst>
      <p:ext uri="{BB962C8B-B14F-4D97-AF65-F5344CB8AC3E}">
        <p14:creationId xmlns:p14="http://schemas.microsoft.com/office/powerpoint/2010/main" val="114221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9393" name="Title 1"/>
          <p:cNvSpPr>
            <a:spLocks noGrp="1"/>
          </p:cNvSpPr>
          <p:nvPr>
            <p:ph type="title" idx="4294967295"/>
          </p:nvPr>
        </p:nvSpPr>
        <p:spPr>
          <a:xfrm>
            <a:off x="838200" y="193675"/>
            <a:ext cx="10515600" cy="1325563"/>
          </a:xfrm>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Historical Context: Early History</a:t>
            </a:r>
            <a:endParaRPr lang="en-IN" sz="4000" b="1" spc="-100" dirty="0">
              <a:solidFill>
                <a:srgbClr val="0000CC"/>
              </a:solidFill>
              <a:latin typeface="Comic Sans MS" panose="030F0702030302020204" pitchFamily="66" charset="0"/>
              <a:cs typeface="Arial" panose="020B0604020202020204" pitchFamily="34" charset="0"/>
            </a:endParaRPr>
          </a:p>
        </p:txBody>
      </p:sp>
      <p:sp>
        <p:nvSpPr>
          <p:cNvPr id="59394" name="Content Placeholder 2"/>
          <p:cNvSpPr>
            <a:spLocks noGrp="1"/>
          </p:cNvSpPr>
          <p:nvPr>
            <p:ph sz="quarter" idx="4294967295"/>
          </p:nvPr>
        </p:nvSpPr>
        <p:spPr>
          <a:xfrm>
            <a:off x="419100" y="1189263"/>
            <a:ext cx="11353800" cy="5472793"/>
          </a:xfrm>
        </p:spPr>
        <p:txBody>
          <a:bodyPr>
            <a:noAutofit/>
          </a:bodyPr>
          <a:lstStyle/>
          <a:p>
            <a:pPr marL="0" indent="0">
              <a:lnSpc>
                <a:spcPct val="114000"/>
              </a:lnSpc>
              <a:spcBef>
                <a:spcPts val="1200"/>
              </a:spcBef>
              <a:spcAft>
                <a:spcPts val="1200"/>
              </a:spcAft>
              <a:buNone/>
            </a:pPr>
            <a:r>
              <a:rPr lang="en-US" sz="3200" b="1" dirty="0">
                <a:latin typeface="Comic Sans MS" panose="030F0702030302020204" pitchFamily="66" charset="0"/>
              </a:rPr>
              <a:t>Has ancient roots</a:t>
            </a:r>
          </a:p>
          <a:p>
            <a:pPr>
              <a:lnSpc>
                <a:spcPct val="114000"/>
              </a:lnSpc>
              <a:spcBef>
                <a:spcPts val="1200"/>
              </a:spcBef>
              <a:spcAft>
                <a:spcPts val="1200"/>
              </a:spcAft>
            </a:pPr>
            <a:r>
              <a:rPr lang="en-US" sz="3500" dirty="0">
                <a:latin typeface="Comic Sans MS" panose="030F0702030302020204" pitchFamily="66" charset="0"/>
              </a:rPr>
              <a:t>At different time in history the concept of disaster management have been applied differently. </a:t>
            </a:r>
            <a:endParaRPr lang="en-IN" sz="3500" dirty="0">
              <a:latin typeface="Comic Sans MS" panose="030F0702030302020204" pitchFamily="66" charset="0"/>
            </a:endParaRPr>
          </a:p>
          <a:p>
            <a:pPr eaLnBrk="1" hangingPunct="1">
              <a:lnSpc>
                <a:spcPct val="114000"/>
              </a:lnSpc>
              <a:spcBef>
                <a:spcPts val="1200"/>
              </a:spcBef>
              <a:spcAft>
                <a:spcPts val="1200"/>
              </a:spcAft>
            </a:pPr>
            <a:r>
              <a:rPr lang="en-US" sz="3500" dirty="0">
                <a:latin typeface="Comic Sans MS" panose="030F0702030302020204" pitchFamily="66" charset="0"/>
              </a:rPr>
              <a:t>Initially, whenever there were disasters, individuals and communities tried to do something about them.</a:t>
            </a:r>
          </a:p>
          <a:p>
            <a:pPr eaLnBrk="1" hangingPunct="1">
              <a:lnSpc>
                <a:spcPct val="114000"/>
              </a:lnSpc>
              <a:spcBef>
                <a:spcPts val="1200"/>
              </a:spcBef>
              <a:spcAft>
                <a:spcPts val="1200"/>
              </a:spcAft>
            </a:pPr>
            <a:r>
              <a:rPr lang="en-US" sz="3500" dirty="0">
                <a:latin typeface="Comic Sans MS" panose="030F0702030302020204" pitchFamily="66" charset="0"/>
              </a:rPr>
              <a:t>But organized attempts at dealing with disasters did not occur until much later in modern history.</a:t>
            </a:r>
          </a:p>
        </p:txBody>
      </p:sp>
    </p:spTree>
    <p:extLst>
      <p:ext uri="{BB962C8B-B14F-4D97-AF65-F5344CB8AC3E}">
        <p14:creationId xmlns:p14="http://schemas.microsoft.com/office/powerpoint/2010/main" val="122415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8369" name="Title 1"/>
          <p:cNvSpPr>
            <a:spLocks noGrp="1"/>
          </p:cNvSpPr>
          <p:nvPr>
            <p:ph type="title" idx="4294967295"/>
          </p:nvPr>
        </p:nvSpPr>
        <p:spPr>
          <a:xfrm>
            <a:off x="800100" y="212725"/>
            <a:ext cx="10515600" cy="1325563"/>
          </a:xfrm>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The Historical Context</a:t>
            </a:r>
            <a:endParaRPr lang="en-IN" sz="4000" b="1" spc="-100" dirty="0">
              <a:solidFill>
                <a:srgbClr val="0000CC"/>
              </a:solidFill>
              <a:latin typeface="Comic Sans MS" panose="030F0702030302020204" pitchFamily="66" charset="0"/>
              <a:cs typeface="Arial" panose="020B0604020202020204" pitchFamily="34" charset="0"/>
            </a:endParaRPr>
          </a:p>
        </p:txBody>
      </p:sp>
      <p:sp>
        <p:nvSpPr>
          <p:cNvPr id="58370" name="Content Placeholder 2"/>
          <p:cNvSpPr>
            <a:spLocks noGrp="1"/>
          </p:cNvSpPr>
          <p:nvPr>
            <p:ph sz="quarter" idx="4294967295"/>
          </p:nvPr>
        </p:nvSpPr>
        <p:spPr>
          <a:xfrm>
            <a:off x="598715" y="1538288"/>
            <a:ext cx="11258550" cy="4762500"/>
          </a:xfrm>
        </p:spPr>
        <p:txBody>
          <a:bodyPr>
            <a:normAutofit lnSpcReduction="10000"/>
          </a:bodyPr>
          <a:lstStyle/>
          <a:p>
            <a:pPr marL="0" indent="0" algn="just" eaLnBrk="1" hangingPunct="1">
              <a:lnSpc>
                <a:spcPct val="114000"/>
              </a:lnSpc>
              <a:spcBef>
                <a:spcPts val="1200"/>
              </a:spcBef>
              <a:spcAft>
                <a:spcPts val="1200"/>
              </a:spcAft>
              <a:buNone/>
            </a:pPr>
            <a:r>
              <a:rPr lang="en-US" sz="3200" dirty="0">
                <a:latin typeface="Comic Sans MS" panose="030F0702030302020204" pitchFamily="66" charset="0"/>
              </a:rPr>
              <a:t>Emergency management was once all about </a:t>
            </a:r>
            <a:r>
              <a:rPr lang="en-US" sz="3200" u="sng" dirty="0">
                <a:latin typeface="Comic Sans MS" panose="030F0702030302020204" pitchFamily="66" charset="0"/>
              </a:rPr>
              <a:t>response</a:t>
            </a:r>
            <a:r>
              <a:rPr lang="en-US" sz="3200" dirty="0">
                <a:latin typeface="Comic Sans MS" panose="030F0702030302020204" pitchFamily="66" charset="0"/>
              </a:rPr>
              <a:t> to disasters and social and economic </a:t>
            </a:r>
            <a:r>
              <a:rPr lang="en-US" sz="3200" u="sng" dirty="0">
                <a:latin typeface="Comic Sans MS" panose="030F0702030302020204" pitchFamily="66" charset="0"/>
              </a:rPr>
              <a:t>recovery</a:t>
            </a:r>
          </a:p>
          <a:p>
            <a:pPr eaLnBrk="1" hangingPunct="1">
              <a:lnSpc>
                <a:spcPct val="114000"/>
              </a:lnSpc>
              <a:spcBef>
                <a:spcPts val="1200"/>
              </a:spcBef>
              <a:spcAft>
                <a:spcPts val="1200"/>
              </a:spcAft>
            </a:pPr>
            <a:r>
              <a:rPr lang="en-US" sz="3200" dirty="0">
                <a:latin typeface="Comic Sans MS" panose="030F0702030302020204" pitchFamily="66" charset="0"/>
              </a:rPr>
              <a:t>Now, it also focuses on </a:t>
            </a:r>
            <a:r>
              <a:rPr lang="en-US" sz="3200" u="sng" dirty="0">
                <a:latin typeface="Comic Sans MS" panose="030F0702030302020204" pitchFamily="66" charset="0"/>
              </a:rPr>
              <a:t>risk analysis </a:t>
            </a:r>
            <a:r>
              <a:rPr lang="en-US" sz="3200" dirty="0">
                <a:latin typeface="Comic Sans MS" panose="030F0702030302020204" pitchFamily="66" charset="0"/>
              </a:rPr>
              <a:t>and </a:t>
            </a:r>
            <a:r>
              <a:rPr lang="en-US" sz="3200" u="sng" dirty="0">
                <a:latin typeface="Comic Sans MS" panose="030F0702030302020204" pitchFamily="66" charset="0"/>
              </a:rPr>
              <a:t>disaster reduction and mitigation</a:t>
            </a:r>
          </a:p>
          <a:p>
            <a:pPr eaLnBrk="1" hangingPunct="1">
              <a:lnSpc>
                <a:spcPct val="114000"/>
              </a:lnSpc>
              <a:spcBef>
                <a:spcPts val="1200"/>
              </a:spcBef>
              <a:spcAft>
                <a:spcPts val="1200"/>
              </a:spcAft>
            </a:pPr>
            <a:r>
              <a:rPr lang="en-US" sz="3200" dirty="0">
                <a:latin typeface="Comic Sans MS" panose="030F0702030302020204" pitchFamily="66" charset="0"/>
              </a:rPr>
              <a:t>Disaster management is now a </a:t>
            </a:r>
            <a:r>
              <a:rPr lang="en-US" sz="3200" b="1" u="sng" dirty="0">
                <a:solidFill>
                  <a:srgbClr val="2D2DD5"/>
                </a:solidFill>
                <a:latin typeface="Comic Sans MS" panose="030F0702030302020204" pitchFamily="66" charset="0"/>
              </a:rPr>
              <a:t>proactive and multidisciplinary approach</a:t>
            </a:r>
          </a:p>
          <a:p>
            <a:pPr marL="0" indent="0" eaLnBrk="1" hangingPunct="1">
              <a:lnSpc>
                <a:spcPct val="114000"/>
              </a:lnSpc>
              <a:spcBef>
                <a:spcPts val="1200"/>
              </a:spcBef>
              <a:spcAft>
                <a:spcPts val="1200"/>
              </a:spcAft>
              <a:buNone/>
            </a:pPr>
            <a:r>
              <a:rPr lang="en-US" sz="3200" u="sng" dirty="0">
                <a:solidFill>
                  <a:srgbClr val="7030A0"/>
                </a:solidFill>
                <a:latin typeface="Comic Sans MS" panose="030F0702030302020204" pitchFamily="66" charset="0"/>
              </a:rPr>
              <a:t>The multidisciplinary nature of DRM?</a:t>
            </a:r>
            <a:endParaRPr lang="en-IN" sz="3200" u="sng" dirty="0">
              <a:solidFill>
                <a:srgbClr val="7030A0"/>
              </a:solidFill>
              <a:latin typeface="Comic Sans MS" panose="030F0702030302020204" pitchFamily="66" charset="0"/>
            </a:endParaRPr>
          </a:p>
        </p:txBody>
      </p:sp>
    </p:spTree>
    <p:extLst>
      <p:ext uri="{BB962C8B-B14F-4D97-AF65-F5344CB8AC3E}">
        <p14:creationId xmlns:p14="http://schemas.microsoft.com/office/powerpoint/2010/main" val="239548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p:txBody>
          <a:bodyPr>
            <a:normAutofit/>
          </a:bodyPr>
          <a:lstStyle/>
          <a:p>
            <a:pPr>
              <a:defRPr/>
            </a:pPr>
            <a:r>
              <a:rPr lang="en-US" dirty="0"/>
              <a:t>Disasters are Increasing Worldwide?</a:t>
            </a:r>
          </a:p>
        </p:txBody>
      </p:sp>
      <p:sp>
        <p:nvSpPr>
          <p:cNvPr id="18434" name="Rectangle 3"/>
          <p:cNvSpPr>
            <a:spLocks noGrp="1"/>
          </p:cNvSpPr>
          <p:nvPr>
            <p:ph type="body" idx="1"/>
          </p:nvPr>
        </p:nvSpPr>
        <p:spPr>
          <a:xfrm>
            <a:off x="838200" y="1920240"/>
            <a:ext cx="10299192" cy="4209098"/>
          </a:xfrm>
        </p:spPr>
        <p:txBody>
          <a:bodyPr/>
          <a:lstStyle/>
          <a:p>
            <a:r>
              <a:rPr lang="en-US" dirty="0"/>
              <a:t>Why?</a:t>
            </a:r>
          </a:p>
          <a:p>
            <a:pPr lvl="1"/>
            <a:r>
              <a:rPr lang="en-US" sz="2800" dirty="0"/>
              <a:t>Increase in vulnerability</a:t>
            </a:r>
          </a:p>
          <a:p>
            <a:pPr lvl="1"/>
            <a:r>
              <a:rPr lang="en-US" sz="2800" dirty="0"/>
              <a:t>Factors leading to higher number of hazardous events.</a:t>
            </a:r>
          </a:p>
          <a:p>
            <a:pPr lvl="2"/>
            <a:r>
              <a:rPr lang="en-US" dirty="0"/>
              <a:t>Examples???</a:t>
            </a:r>
          </a:p>
        </p:txBody>
      </p:sp>
    </p:spTree>
    <p:extLst>
      <p:ext uri="{BB962C8B-B14F-4D97-AF65-F5344CB8AC3E}">
        <p14:creationId xmlns:p14="http://schemas.microsoft.com/office/powerpoint/2010/main" val="366951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562100" cy="6111875"/>
          </a:xfrm>
        </p:spPr>
        <p:txBody>
          <a:bodyPr vert="vert270"/>
          <a:lstStyle/>
          <a:p>
            <a:r>
              <a:rPr lang="en-US" dirty="0"/>
              <a:t>DISCUSS</a:t>
            </a:r>
          </a:p>
        </p:txBody>
      </p:sp>
      <p:pic>
        <p:nvPicPr>
          <p:cNvPr id="4" name="Picture 3"/>
          <p:cNvPicPr>
            <a:picLocks noChangeAspect="1"/>
          </p:cNvPicPr>
          <p:nvPr/>
        </p:nvPicPr>
        <p:blipFill>
          <a:blip r:embed="rId2"/>
          <a:stretch>
            <a:fillRect/>
          </a:stretch>
        </p:blipFill>
        <p:spPr>
          <a:xfrm>
            <a:off x="2171700" y="86844"/>
            <a:ext cx="9944100" cy="6656856"/>
          </a:xfrm>
          <a:prstGeom prst="rect">
            <a:avLst/>
          </a:prstGeom>
        </p:spPr>
      </p:pic>
    </p:spTree>
    <p:extLst>
      <p:ext uri="{BB962C8B-B14F-4D97-AF65-F5344CB8AC3E}">
        <p14:creationId xmlns:p14="http://schemas.microsoft.com/office/powerpoint/2010/main" val="11641152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694944" y="365125"/>
            <a:ext cx="10658856" cy="854075"/>
          </a:xfrm>
        </p:spPr>
        <p:txBody>
          <a:bodyPr>
            <a:normAutofit/>
          </a:bodyPr>
          <a:lstStyle/>
          <a:p>
            <a:r>
              <a:rPr lang="en-US" sz="4800" b="1" dirty="0">
                <a:solidFill>
                  <a:srgbClr val="FF0000"/>
                </a:solidFill>
              </a:rPr>
              <a:t>Discuss!!!</a:t>
            </a:r>
          </a:p>
        </p:txBody>
      </p:sp>
      <p:pic>
        <p:nvPicPr>
          <p:cNvPr id="19458" name="Picture 2"/>
          <p:cNvPicPr>
            <a:picLocks noChangeAspect="1" noChangeArrowheads="1"/>
          </p:cNvPicPr>
          <p:nvPr/>
        </p:nvPicPr>
        <p:blipFill>
          <a:blip r:embed="rId3"/>
          <a:srcRect l="21875" t="43750" r="21875" b="14583"/>
          <a:stretch>
            <a:fillRect/>
          </a:stretch>
        </p:blipFill>
        <p:spPr bwMode="auto">
          <a:xfrm>
            <a:off x="1981201" y="1219200"/>
            <a:ext cx="8093075" cy="4495800"/>
          </a:xfrm>
          <a:prstGeom prst="rect">
            <a:avLst/>
          </a:prstGeom>
          <a:noFill/>
          <a:ln w="9525">
            <a:noFill/>
            <a:miter lim="800000"/>
            <a:headEnd/>
            <a:tailEnd/>
          </a:ln>
        </p:spPr>
      </p:pic>
      <p:sp>
        <p:nvSpPr>
          <p:cNvPr id="5" name="TextBox 4"/>
          <p:cNvSpPr txBox="1"/>
          <p:nvPr/>
        </p:nvSpPr>
        <p:spPr>
          <a:xfrm>
            <a:off x="2209800" y="5943600"/>
            <a:ext cx="8269224" cy="461665"/>
          </a:xfrm>
          <a:prstGeom prst="rect">
            <a:avLst/>
          </a:prstGeom>
          <a:solidFill>
            <a:schemeClr val="bg1">
              <a:lumMod val="95000"/>
            </a:schemeClr>
          </a:solidFill>
        </p:spPr>
        <p:txBody>
          <a:bodyPr wrap="square">
            <a:spAutoFit/>
          </a:bodyPr>
          <a:lstStyle/>
          <a:p>
            <a:pPr>
              <a:defRPr/>
            </a:pPr>
            <a:r>
              <a:rPr lang="en-US" sz="2400" b="1" dirty="0">
                <a:solidFill>
                  <a:srgbClr val="FF0000"/>
                </a:solidFill>
              </a:rPr>
              <a:t>Red dotted line: economic losses in relative terms (% of GDP)</a:t>
            </a:r>
          </a:p>
        </p:txBody>
      </p:sp>
    </p:spTree>
    <p:extLst>
      <p:ext uri="{BB962C8B-B14F-4D97-AF65-F5344CB8AC3E}">
        <p14:creationId xmlns:p14="http://schemas.microsoft.com/office/powerpoint/2010/main" val="415031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p:cNvSpPr>
          <p:nvPr>
            <p:ph type="title"/>
          </p:nvPr>
        </p:nvSpPr>
        <p:spPr>
          <a:xfrm>
            <a:off x="838200" y="255397"/>
            <a:ext cx="10515600" cy="951611"/>
          </a:xfrm>
        </p:spPr>
        <p:txBody>
          <a:bodyPr>
            <a:normAutofit/>
          </a:bodyPr>
          <a:lstStyle/>
          <a:p>
            <a:pPr>
              <a:defRPr/>
            </a:pPr>
            <a:r>
              <a:rPr lang="en-US" dirty="0"/>
              <a:t>Increased Vulnerability</a:t>
            </a:r>
          </a:p>
        </p:txBody>
      </p:sp>
      <p:sp>
        <p:nvSpPr>
          <p:cNvPr id="19458" name="Rectangle 3"/>
          <p:cNvSpPr>
            <a:spLocks noGrp="1"/>
          </p:cNvSpPr>
          <p:nvPr>
            <p:ph type="body" idx="1"/>
          </p:nvPr>
        </p:nvSpPr>
        <p:spPr>
          <a:xfrm>
            <a:off x="420624" y="1207008"/>
            <a:ext cx="11521440" cy="5650992"/>
          </a:xfrm>
        </p:spPr>
        <p:txBody>
          <a:bodyPr>
            <a:normAutofit/>
          </a:bodyPr>
          <a:lstStyle/>
          <a:p>
            <a:pPr>
              <a:lnSpc>
                <a:spcPct val="100000"/>
              </a:lnSpc>
            </a:pPr>
            <a:r>
              <a:rPr lang="en-US" dirty="0"/>
              <a:t>Factors:</a:t>
            </a:r>
          </a:p>
          <a:p>
            <a:pPr lvl="1">
              <a:lnSpc>
                <a:spcPct val="100000"/>
              </a:lnSpc>
            </a:pPr>
            <a:r>
              <a:rPr lang="en-US" dirty="0"/>
              <a:t>Rapid increase of the world population.</a:t>
            </a:r>
          </a:p>
          <a:p>
            <a:pPr lvl="1">
              <a:lnSpc>
                <a:spcPct val="100000"/>
              </a:lnSpc>
            </a:pPr>
            <a:r>
              <a:rPr lang="en-US" dirty="0"/>
              <a:t>Large urbanization rate (related to the population pressure).</a:t>
            </a:r>
          </a:p>
          <a:p>
            <a:pPr lvl="1">
              <a:lnSpc>
                <a:spcPct val="100000"/>
              </a:lnSpc>
            </a:pPr>
            <a:r>
              <a:rPr lang="en-US" dirty="0"/>
              <a:t>Human settlements in areas that are susceptible to natural hazards (related to population pressure).</a:t>
            </a:r>
          </a:p>
          <a:p>
            <a:pPr lvl="1">
              <a:lnSpc>
                <a:spcPct val="100000"/>
              </a:lnSpc>
            </a:pPr>
            <a:r>
              <a:rPr lang="en-US" b="1" dirty="0"/>
              <a:t>Most of the world's population lives in hazardous regions, either in coastal zones or in seismically active regions.</a:t>
            </a:r>
          </a:p>
          <a:p>
            <a:pPr lvl="1">
              <a:lnSpc>
                <a:spcPct val="100000"/>
              </a:lnSpc>
            </a:pPr>
            <a:r>
              <a:rPr lang="en-US" dirty="0"/>
              <a:t>Development of highly sensitive technologies and the growing susceptibility of modern industrial societies to breakdowns in their infrastructure.</a:t>
            </a:r>
          </a:p>
          <a:p>
            <a:pPr lvl="1">
              <a:lnSpc>
                <a:spcPct val="100000"/>
              </a:lnSpc>
            </a:pPr>
            <a:r>
              <a:rPr lang="en-US" dirty="0"/>
              <a:t>Developing countries with lower insurance coverage.</a:t>
            </a:r>
          </a:p>
        </p:txBody>
      </p:sp>
    </p:spTree>
    <p:extLst>
      <p:ext uri="{BB962C8B-B14F-4D97-AF65-F5344CB8AC3E}">
        <p14:creationId xmlns:p14="http://schemas.microsoft.com/office/powerpoint/2010/main" val="245934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5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p:cNvSpPr>
          <p:nvPr>
            <p:ph type="title"/>
          </p:nvPr>
        </p:nvSpPr>
        <p:spPr>
          <a:xfrm>
            <a:off x="549442" y="365125"/>
            <a:ext cx="10515600" cy="1325563"/>
          </a:xfrm>
        </p:spPr>
        <p:txBody>
          <a:bodyPr>
            <a:normAutofit/>
          </a:bodyPr>
          <a:lstStyle/>
          <a:p>
            <a:pPr>
              <a:defRPr/>
            </a:pPr>
            <a:r>
              <a:rPr lang="en-US" dirty="0"/>
              <a:t>Frequency of Destructive Events</a:t>
            </a:r>
          </a:p>
        </p:txBody>
      </p:sp>
      <p:sp>
        <p:nvSpPr>
          <p:cNvPr id="21506" name="Rectangle 3"/>
          <p:cNvSpPr>
            <a:spLocks noGrp="1"/>
          </p:cNvSpPr>
          <p:nvPr>
            <p:ph type="body" idx="1"/>
          </p:nvPr>
        </p:nvSpPr>
        <p:spPr>
          <a:xfrm>
            <a:off x="549442" y="2011680"/>
            <a:ext cx="11189369" cy="4117658"/>
          </a:xfrm>
        </p:spPr>
        <p:txBody>
          <a:bodyPr/>
          <a:lstStyle/>
          <a:p>
            <a:pPr>
              <a:lnSpc>
                <a:spcPct val="114000"/>
              </a:lnSpc>
              <a:spcBef>
                <a:spcPts val="1200"/>
              </a:spcBef>
              <a:spcAft>
                <a:spcPts val="1200"/>
              </a:spcAft>
            </a:pPr>
            <a:r>
              <a:rPr lang="en-US" dirty="0"/>
              <a:t>Related to atmospheric extremes are increasing.</a:t>
            </a:r>
          </a:p>
          <a:p>
            <a:pPr>
              <a:lnSpc>
                <a:spcPct val="114000"/>
              </a:lnSpc>
              <a:spcBef>
                <a:spcPts val="1200"/>
              </a:spcBef>
              <a:spcAft>
                <a:spcPts val="1200"/>
              </a:spcAft>
            </a:pPr>
            <a:r>
              <a:rPr lang="en-US" dirty="0"/>
              <a:t>Climate change is negatively related to the occurrence of natural disasters.</a:t>
            </a:r>
          </a:p>
        </p:txBody>
      </p:sp>
    </p:spTree>
    <p:extLst>
      <p:ext uri="{BB962C8B-B14F-4D97-AF65-F5344CB8AC3E}">
        <p14:creationId xmlns:p14="http://schemas.microsoft.com/office/powerpoint/2010/main" val="34172437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859536" y="328549"/>
            <a:ext cx="10515600" cy="823595"/>
          </a:xfrm>
        </p:spPr>
        <p:txBody>
          <a:bodyPr/>
          <a:lstStyle/>
          <a:p>
            <a:pPr>
              <a:defRPr/>
            </a:pPr>
            <a:r>
              <a:rPr lang="en-US" dirty="0">
                <a:effectLst>
                  <a:outerShdw blurRad="38100" dist="38100" dir="2700000" algn="tl">
                    <a:srgbClr val="000000"/>
                  </a:outerShdw>
                </a:effectLst>
              </a:rPr>
              <a:t>Risk Reduction</a:t>
            </a:r>
          </a:p>
        </p:txBody>
      </p:sp>
      <p:sp>
        <p:nvSpPr>
          <p:cNvPr id="50178" name="Content Placeholder 2"/>
          <p:cNvSpPr>
            <a:spLocks noGrp="1"/>
          </p:cNvSpPr>
          <p:nvPr>
            <p:ph sz="quarter" idx="1"/>
          </p:nvPr>
        </p:nvSpPr>
        <p:spPr>
          <a:xfrm>
            <a:off x="676656" y="1280160"/>
            <a:ext cx="11192256" cy="5431536"/>
          </a:xfrm>
        </p:spPr>
        <p:txBody>
          <a:bodyPr>
            <a:normAutofit/>
          </a:bodyPr>
          <a:lstStyle/>
          <a:p>
            <a:pPr marL="0" indent="0" eaLnBrk="1" hangingPunct="1">
              <a:lnSpc>
                <a:spcPct val="114000"/>
              </a:lnSpc>
              <a:spcBef>
                <a:spcPts val="1200"/>
              </a:spcBef>
              <a:spcAft>
                <a:spcPts val="1200"/>
              </a:spcAft>
              <a:buNone/>
            </a:pPr>
            <a:r>
              <a:rPr lang="en-US" dirty="0"/>
              <a:t>There are </a:t>
            </a:r>
            <a:r>
              <a:rPr lang="en-US" u="sng" dirty="0"/>
              <a:t>three</a:t>
            </a:r>
            <a:r>
              <a:rPr lang="en-US" dirty="0"/>
              <a:t> major components to be considered in disaster management </a:t>
            </a:r>
            <a:r>
              <a:rPr lang="en-US" sz="2400" dirty="0">
                <a:solidFill>
                  <a:srgbClr val="FF0000"/>
                </a:solidFill>
              </a:rPr>
              <a:t>(Hazard, Vulnerability, and Capacity)</a:t>
            </a:r>
          </a:p>
          <a:p>
            <a:pPr marL="0" indent="0" eaLnBrk="1" hangingPunct="1">
              <a:lnSpc>
                <a:spcPct val="114000"/>
              </a:lnSpc>
              <a:spcBef>
                <a:spcPts val="1200"/>
              </a:spcBef>
              <a:spcAft>
                <a:spcPts val="1200"/>
              </a:spcAft>
              <a:buNone/>
            </a:pPr>
            <a:r>
              <a:rPr lang="en-US" sz="3600" b="1" dirty="0"/>
              <a:t>Therefore, disaster risk can be reduced through systematic efforts of </a:t>
            </a:r>
          </a:p>
          <a:p>
            <a:pPr lvl="1" eaLnBrk="1" hangingPunct="1">
              <a:lnSpc>
                <a:spcPct val="114000"/>
              </a:lnSpc>
              <a:spcAft>
                <a:spcPts val="1200"/>
              </a:spcAft>
            </a:pPr>
            <a:r>
              <a:rPr lang="en-US" sz="2800" dirty="0">
                <a:solidFill>
                  <a:srgbClr val="0070C0"/>
                </a:solidFill>
              </a:rPr>
              <a:t>reducing hazard exposure, </a:t>
            </a:r>
          </a:p>
          <a:p>
            <a:pPr lvl="1" eaLnBrk="1" hangingPunct="1">
              <a:lnSpc>
                <a:spcPct val="114000"/>
              </a:lnSpc>
              <a:spcAft>
                <a:spcPts val="1200"/>
              </a:spcAft>
            </a:pPr>
            <a:r>
              <a:rPr lang="en-US" sz="2800" dirty="0">
                <a:solidFill>
                  <a:srgbClr val="0070C0"/>
                </a:solidFill>
              </a:rPr>
              <a:t>lessening vulnerability and </a:t>
            </a:r>
          </a:p>
          <a:p>
            <a:pPr lvl="1" eaLnBrk="1" hangingPunct="1">
              <a:lnSpc>
                <a:spcPct val="114000"/>
              </a:lnSpc>
              <a:spcAft>
                <a:spcPts val="1200"/>
              </a:spcAft>
            </a:pPr>
            <a:r>
              <a:rPr lang="en-US" sz="2800" dirty="0">
                <a:solidFill>
                  <a:srgbClr val="0070C0"/>
                </a:solidFill>
              </a:rPr>
              <a:t>developing greater capacity to face these disasters</a:t>
            </a:r>
          </a:p>
          <a:p>
            <a:pPr eaLnBrk="1" hangingPunct="1">
              <a:lnSpc>
                <a:spcPct val="114000"/>
              </a:lnSpc>
              <a:spcBef>
                <a:spcPts val="1200"/>
              </a:spcBef>
              <a:spcAft>
                <a:spcPts val="1200"/>
              </a:spcAft>
            </a:pPr>
            <a:endParaRPr lang="en-US" dirty="0"/>
          </a:p>
          <a:p>
            <a:pPr lvl="1" eaLnBrk="1" hangingPunct="1">
              <a:lnSpc>
                <a:spcPct val="114000"/>
              </a:lnSpc>
              <a:spcAft>
                <a:spcPts val="1200"/>
              </a:spcAft>
            </a:pPr>
            <a:endParaRPr lang="en-US" dirty="0"/>
          </a:p>
        </p:txBody>
      </p:sp>
    </p:spTree>
    <p:extLst>
      <p:ext uri="{BB962C8B-B14F-4D97-AF65-F5344CB8AC3E}">
        <p14:creationId xmlns:p14="http://schemas.microsoft.com/office/powerpoint/2010/main" val="52096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178">
                                            <p:txEl>
                                              <p:pRg st="1" end="1"/>
                                            </p:txEl>
                                          </p:spTgt>
                                        </p:tgtEl>
                                        <p:attrNameLst>
                                          <p:attrName>style.visibility</p:attrName>
                                        </p:attrNameLst>
                                      </p:cBhvr>
                                      <p:to>
                                        <p:strVal val="visible"/>
                                      </p:to>
                                    </p:set>
                                    <p:anim calcmode="lin" valueType="num">
                                      <p:cBhvr additive="base">
                                        <p:cTn id="7" dur="500" fill="hold"/>
                                        <p:tgtEl>
                                          <p:spTgt spid="50178">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0178">
                                            <p:txEl>
                                              <p:pRg st="2" end="2"/>
                                            </p:txEl>
                                          </p:spTgt>
                                        </p:tgtEl>
                                        <p:attrNameLst>
                                          <p:attrName>style.visibility</p:attrName>
                                        </p:attrNameLst>
                                      </p:cBhvr>
                                      <p:to>
                                        <p:strVal val="visible"/>
                                      </p:to>
                                    </p:set>
                                    <p:anim calcmode="lin" valueType="num">
                                      <p:cBhvr additive="base">
                                        <p:cTn id="13" dur="500" fill="hold"/>
                                        <p:tgtEl>
                                          <p:spTgt spid="50178">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01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0178">
                                            <p:txEl>
                                              <p:pRg st="3" end="3"/>
                                            </p:txEl>
                                          </p:spTgt>
                                        </p:tgtEl>
                                        <p:attrNameLst>
                                          <p:attrName>style.visibility</p:attrName>
                                        </p:attrNameLst>
                                      </p:cBhvr>
                                      <p:to>
                                        <p:strVal val="visible"/>
                                      </p:to>
                                    </p:set>
                                    <p:anim calcmode="lin" valueType="num">
                                      <p:cBhvr additive="base">
                                        <p:cTn id="19" dur="500" fill="hold"/>
                                        <p:tgtEl>
                                          <p:spTgt spid="50178">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017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0178">
                                            <p:txEl>
                                              <p:pRg st="4" end="4"/>
                                            </p:txEl>
                                          </p:spTgt>
                                        </p:tgtEl>
                                        <p:attrNameLst>
                                          <p:attrName>style.visibility</p:attrName>
                                        </p:attrNameLst>
                                      </p:cBhvr>
                                      <p:to>
                                        <p:strVal val="visible"/>
                                      </p:to>
                                    </p:set>
                                    <p:anim calcmode="lin" valueType="num">
                                      <p:cBhvr additive="base">
                                        <p:cTn id="25" dur="500" fill="hold"/>
                                        <p:tgtEl>
                                          <p:spTgt spid="50178">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017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0456" y="88752"/>
            <a:ext cx="10515600" cy="1115568"/>
          </a:xfrm>
        </p:spPr>
        <p:txBody>
          <a:bodyPr anchor="ctr">
            <a:normAutofit/>
          </a:bodyPr>
          <a:lstStyle/>
          <a:p>
            <a:pPr algn="ctr">
              <a:defRPr/>
            </a:pPr>
            <a:r>
              <a:rPr lang="en-US" sz="4000" b="1" spc="-100" dirty="0">
                <a:solidFill>
                  <a:srgbClr val="0000CC"/>
                </a:solidFill>
                <a:effectLst>
                  <a:outerShdw blurRad="38100" dist="38100" dir="2700000" algn="tl">
                    <a:srgbClr val="000000"/>
                  </a:outerShdw>
                </a:effectLst>
                <a:latin typeface="Comic Sans MS" panose="030F0702030302020204" pitchFamily="66" charset="0"/>
                <a:cs typeface="Arial" panose="020B0604020202020204" pitchFamily="34" charset="0"/>
              </a:rPr>
              <a:t>Determinant of Risk</a:t>
            </a:r>
          </a:p>
        </p:txBody>
      </p:sp>
      <p:sp>
        <p:nvSpPr>
          <p:cNvPr id="52226" name="Content Placeholder 2"/>
          <p:cNvSpPr>
            <a:spLocks noGrp="1"/>
          </p:cNvSpPr>
          <p:nvPr>
            <p:ph idx="4294967295"/>
          </p:nvPr>
        </p:nvSpPr>
        <p:spPr>
          <a:xfrm>
            <a:off x="838200" y="1280161"/>
            <a:ext cx="11103864" cy="5340095"/>
          </a:xfrm>
        </p:spPr>
        <p:txBody>
          <a:bodyPr>
            <a:noAutofit/>
          </a:bodyPr>
          <a:lstStyle/>
          <a:p>
            <a:pPr marL="82550" indent="0">
              <a:lnSpc>
                <a:spcPct val="100000"/>
              </a:lnSpc>
              <a:spcBef>
                <a:spcPts val="600"/>
              </a:spcBef>
              <a:spcAft>
                <a:spcPts val="1200"/>
              </a:spcAft>
              <a:buNone/>
            </a:pPr>
            <a:r>
              <a:rPr lang="en-US" sz="3200" u="sng" dirty="0">
                <a:latin typeface="Comic Sans MS" panose="030F0702030302020204" pitchFamily="66" charset="0"/>
              </a:rPr>
              <a:t>Five</a:t>
            </a:r>
            <a:r>
              <a:rPr lang="en-US" sz="3200" dirty="0">
                <a:latin typeface="Comic Sans MS" panose="030F0702030302020204" pitchFamily="66" charset="0"/>
              </a:rPr>
              <a:t> elements of a community</a:t>
            </a:r>
          </a:p>
          <a:p>
            <a:pPr marL="1298575" lvl="2" indent="-438150">
              <a:lnSpc>
                <a:spcPct val="100000"/>
              </a:lnSpc>
              <a:spcBef>
                <a:spcPts val="600"/>
              </a:spcBef>
              <a:spcAft>
                <a:spcPts val="1200"/>
              </a:spcAft>
              <a:buFont typeface="Wingdings 3" pitchFamily="18" charset="2"/>
              <a:buAutoNum type="arabicPeriod"/>
            </a:pPr>
            <a:r>
              <a:rPr lang="en-US" sz="2800" dirty="0">
                <a:solidFill>
                  <a:srgbClr val="7030A0"/>
                </a:solidFill>
                <a:latin typeface="Comic Sans MS" panose="030F0702030302020204" pitchFamily="66" charset="0"/>
              </a:rPr>
              <a:t>People</a:t>
            </a:r>
          </a:p>
          <a:p>
            <a:pPr marL="1298575" lvl="2" indent="-438150">
              <a:lnSpc>
                <a:spcPct val="100000"/>
              </a:lnSpc>
              <a:spcBef>
                <a:spcPts val="600"/>
              </a:spcBef>
              <a:spcAft>
                <a:spcPts val="1200"/>
              </a:spcAft>
              <a:buFont typeface="Wingdings 3" pitchFamily="18" charset="2"/>
              <a:buAutoNum type="arabicPeriod"/>
            </a:pPr>
            <a:r>
              <a:rPr lang="en-US" sz="2800" dirty="0">
                <a:solidFill>
                  <a:srgbClr val="7030A0"/>
                </a:solidFill>
                <a:latin typeface="Comic Sans MS" panose="030F0702030302020204" pitchFamily="66" charset="0"/>
              </a:rPr>
              <a:t>Property</a:t>
            </a:r>
          </a:p>
          <a:p>
            <a:pPr marL="1298575" lvl="2" indent="-438150">
              <a:lnSpc>
                <a:spcPct val="100000"/>
              </a:lnSpc>
              <a:spcBef>
                <a:spcPts val="600"/>
              </a:spcBef>
              <a:spcAft>
                <a:spcPts val="1200"/>
              </a:spcAft>
              <a:buFont typeface="Wingdings 3" pitchFamily="18" charset="2"/>
              <a:buAutoNum type="arabicPeriod"/>
            </a:pPr>
            <a:r>
              <a:rPr lang="en-US" sz="2800" dirty="0">
                <a:solidFill>
                  <a:srgbClr val="7030A0"/>
                </a:solidFill>
                <a:latin typeface="Comic Sans MS" panose="030F0702030302020204" pitchFamily="66" charset="0"/>
              </a:rPr>
              <a:t>Services</a:t>
            </a:r>
          </a:p>
          <a:p>
            <a:pPr marL="1298575" lvl="2" indent="-438150">
              <a:lnSpc>
                <a:spcPct val="100000"/>
              </a:lnSpc>
              <a:spcBef>
                <a:spcPts val="600"/>
              </a:spcBef>
              <a:spcAft>
                <a:spcPts val="1200"/>
              </a:spcAft>
              <a:buFont typeface="Wingdings 3" pitchFamily="18" charset="2"/>
              <a:buAutoNum type="arabicPeriod"/>
            </a:pPr>
            <a:r>
              <a:rPr lang="en-US" sz="2800" dirty="0">
                <a:solidFill>
                  <a:srgbClr val="7030A0"/>
                </a:solidFill>
                <a:latin typeface="Comic Sans MS" panose="030F0702030302020204" pitchFamily="66" charset="0"/>
              </a:rPr>
              <a:t>Livelihood </a:t>
            </a:r>
          </a:p>
          <a:p>
            <a:pPr marL="1298575" lvl="2" indent="-438150">
              <a:lnSpc>
                <a:spcPct val="100000"/>
              </a:lnSpc>
              <a:spcBef>
                <a:spcPts val="600"/>
              </a:spcBef>
              <a:spcAft>
                <a:spcPts val="1200"/>
              </a:spcAft>
              <a:buFont typeface="Wingdings 3" pitchFamily="18" charset="2"/>
              <a:buAutoNum type="arabicPeriod"/>
            </a:pPr>
            <a:r>
              <a:rPr lang="en-US" sz="2800" dirty="0">
                <a:solidFill>
                  <a:srgbClr val="7030A0"/>
                </a:solidFill>
                <a:latin typeface="Comic Sans MS" panose="030F0702030302020204" pitchFamily="66" charset="0"/>
              </a:rPr>
              <a:t>Environment</a:t>
            </a:r>
          </a:p>
          <a:p>
            <a:pPr marL="82550" indent="0">
              <a:lnSpc>
                <a:spcPct val="100000"/>
              </a:lnSpc>
              <a:spcBef>
                <a:spcPts val="600"/>
              </a:spcBef>
              <a:spcAft>
                <a:spcPts val="1200"/>
              </a:spcAft>
              <a:buNone/>
            </a:pPr>
            <a:r>
              <a:rPr lang="en-US" sz="3200" dirty="0">
                <a:latin typeface="Comic Sans MS" panose="030F0702030302020204" pitchFamily="66" charset="0"/>
              </a:rPr>
              <a:t>Each of the above has </a:t>
            </a:r>
            <a:r>
              <a:rPr lang="en-US" sz="3200" u="sng" dirty="0">
                <a:latin typeface="Comic Sans MS" panose="030F0702030302020204" pitchFamily="66" charset="0"/>
              </a:rPr>
              <a:t>specific</a:t>
            </a:r>
            <a:r>
              <a:rPr lang="en-US" sz="3200" dirty="0">
                <a:latin typeface="Comic Sans MS" panose="030F0702030302020204" pitchFamily="66" charset="0"/>
              </a:rPr>
              <a:t> vulnerability to </a:t>
            </a:r>
            <a:r>
              <a:rPr lang="en-US" sz="3200" u="sng" dirty="0">
                <a:latin typeface="Comic Sans MS" panose="030F0702030302020204" pitchFamily="66" charset="0"/>
              </a:rPr>
              <a:t>specific</a:t>
            </a:r>
            <a:r>
              <a:rPr lang="en-US" sz="3200" dirty="0">
                <a:latin typeface="Comic Sans MS" panose="030F0702030302020204" pitchFamily="66" charset="0"/>
              </a:rPr>
              <a:t> hazard</a:t>
            </a:r>
          </a:p>
        </p:txBody>
      </p:sp>
    </p:spTree>
    <p:extLst>
      <p:ext uri="{BB962C8B-B14F-4D97-AF65-F5344CB8AC3E}">
        <p14:creationId xmlns:p14="http://schemas.microsoft.com/office/powerpoint/2010/main" val="116197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2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2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2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effectLst>
                  <a:outerShdw blurRad="38100" dist="38100" dir="2700000" algn="tl">
                    <a:srgbClr val="000000"/>
                  </a:outerShdw>
                </a:effectLst>
              </a:rPr>
              <a:t>Risk Assessment and Analysis</a:t>
            </a:r>
          </a:p>
        </p:txBody>
      </p:sp>
      <p:sp>
        <p:nvSpPr>
          <p:cNvPr id="54274" name="Content Placeholder 2"/>
          <p:cNvSpPr>
            <a:spLocks noGrp="1"/>
          </p:cNvSpPr>
          <p:nvPr>
            <p:ph idx="1"/>
          </p:nvPr>
        </p:nvSpPr>
        <p:spPr>
          <a:xfrm>
            <a:off x="1097280" y="1828800"/>
            <a:ext cx="10735056" cy="5029200"/>
          </a:xfrm>
        </p:spPr>
        <p:txBody>
          <a:bodyPr/>
          <a:lstStyle/>
          <a:p>
            <a:r>
              <a:rPr lang="en-US" dirty="0"/>
              <a:t>What is at Risk? – consequence of Hazards</a:t>
            </a:r>
          </a:p>
          <a:p>
            <a:pPr lvl="1"/>
            <a:r>
              <a:rPr lang="en-US" sz="3200" dirty="0"/>
              <a:t>Personal Injury</a:t>
            </a:r>
          </a:p>
          <a:p>
            <a:pPr lvl="1"/>
            <a:r>
              <a:rPr lang="en-US" sz="3200" dirty="0"/>
              <a:t>Destruction of property</a:t>
            </a:r>
          </a:p>
          <a:p>
            <a:pPr lvl="2"/>
            <a:r>
              <a:rPr lang="en-US" sz="3200" dirty="0">
                <a:solidFill>
                  <a:srgbClr val="FF0000"/>
                </a:solidFill>
              </a:rPr>
              <a:t>Poor building material and maintenance </a:t>
            </a:r>
          </a:p>
          <a:p>
            <a:pPr lvl="1"/>
            <a:r>
              <a:rPr lang="en-US" sz="3200" dirty="0"/>
              <a:t>Damage local economy</a:t>
            </a:r>
          </a:p>
          <a:p>
            <a:pPr lvl="1"/>
            <a:r>
              <a:rPr lang="en-US" sz="3200" dirty="0">
                <a:solidFill>
                  <a:schemeClr val="accent1">
                    <a:lumMod val="50000"/>
                  </a:schemeClr>
                </a:solidFill>
              </a:rPr>
              <a:t>Opportunity Loss: </a:t>
            </a:r>
            <a:r>
              <a:rPr lang="en-US" sz="3200" dirty="0"/>
              <a:t>diversion of economic resources to recovery efforts</a:t>
            </a:r>
          </a:p>
        </p:txBody>
      </p:sp>
    </p:spTree>
    <p:extLst>
      <p:ext uri="{BB962C8B-B14F-4D97-AF65-F5344CB8AC3E}">
        <p14:creationId xmlns:p14="http://schemas.microsoft.com/office/powerpoint/2010/main" val="205524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 calcmode="lin" valueType="num">
                                      <p:cBhvr additive="base">
                                        <p:cTn id="7" dur="500" fill="hold"/>
                                        <p:tgtEl>
                                          <p:spTgt spid="542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42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4274">
                                            <p:txEl>
                                              <p:pRg st="1" end="1"/>
                                            </p:txEl>
                                          </p:spTgt>
                                        </p:tgtEl>
                                        <p:attrNameLst>
                                          <p:attrName>style.visibility</p:attrName>
                                        </p:attrNameLst>
                                      </p:cBhvr>
                                      <p:to>
                                        <p:strVal val="visible"/>
                                      </p:to>
                                    </p:set>
                                    <p:anim calcmode="lin" valueType="num">
                                      <p:cBhvr additive="base">
                                        <p:cTn id="13" dur="500" fill="hold"/>
                                        <p:tgtEl>
                                          <p:spTgt spid="542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427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4274">
                                            <p:txEl>
                                              <p:pRg st="2" end="2"/>
                                            </p:txEl>
                                          </p:spTgt>
                                        </p:tgtEl>
                                        <p:attrNameLst>
                                          <p:attrName>style.visibility</p:attrName>
                                        </p:attrNameLst>
                                      </p:cBhvr>
                                      <p:to>
                                        <p:strVal val="visible"/>
                                      </p:to>
                                    </p:set>
                                    <p:anim calcmode="lin" valueType="num">
                                      <p:cBhvr additive="base">
                                        <p:cTn id="19" dur="500" fill="hold"/>
                                        <p:tgtEl>
                                          <p:spTgt spid="5427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4274">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4274">
                                            <p:txEl>
                                              <p:pRg st="3" end="3"/>
                                            </p:txEl>
                                          </p:spTgt>
                                        </p:tgtEl>
                                        <p:attrNameLst>
                                          <p:attrName>style.visibility</p:attrName>
                                        </p:attrNameLst>
                                      </p:cBhvr>
                                      <p:to>
                                        <p:strVal val="visible"/>
                                      </p:to>
                                    </p:set>
                                    <p:anim calcmode="lin" valueType="num">
                                      <p:cBhvr additive="base">
                                        <p:cTn id="23" dur="500" fill="hold"/>
                                        <p:tgtEl>
                                          <p:spTgt spid="54274">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427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4274">
                                            <p:txEl>
                                              <p:pRg st="4" end="4"/>
                                            </p:txEl>
                                          </p:spTgt>
                                        </p:tgtEl>
                                        <p:attrNameLst>
                                          <p:attrName>style.visibility</p:attrName>
                                        </p:attrNameLst>
                                      </p:cBhvr>
                                      <p:to>
                                        <p:strVal val="visible"/>
                                      </p:to>
                                    </p:set>
                                    <p:anim calcmode="lin" valueType="num">
                                      <p:cBhvr additive="base">
                                        <p:cTn id="29" dur="500" fill="hold"/>
                                        <p:tgtEl>
                                          <p:spTgt spid="54274">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427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54274">
                                            <p:txEl>
                                              <p:pRg st="5" end="5"/>
                                            </p:txEl>
                                          </p:spTgt>
                                        </p:tgtEl>
                                        <p:attrNameLst>
                                          <p:attrName>style.visibility</p:attrName>
                                        </p:attrNameLst>
                                      </p:cBhvr>
                                      <p:to>
                                        <p:strVal val="visible"/>
                                      </p:to>
                                    </p:set>
                                    <p:anim calcmode="lin" valueType="num">
                                      <p:cBhvr additive="base">
                                        <p:cTn id="35" dur="500" fill="hold"/>
                                        <p:tgtEl>
                                          <p:spTgt spid="54274">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427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2"/>
          <p:cNvPicPr>
            <a:picLocks noChangeAspect="1" noChangeArrowheads="1"/>
          </p:cNvPicPr>
          <p:nvPr/>
        </p:nvPicPr>
        <p:blipFill>
          <a:blip r:embed="rId3" cstate="print"/>
          <a:srcRect l="4395" t="34180" r="6250" b="17969"/>
          <a:stretch>
            <a:fillRect/>
          </a:stretch>
        </p:blipFill>
        <p:spPr bwMode="auto">
          <a:xfrm>
            <a:off x="1666875" y="1357314"/>
            <a:ext cx="8858250" cy="4929187"/>
          </a:xfrm>
          <a:prstGeom prst="rect">
            <a:avLst/>
          </a:prstGeom>
          <a:noFill/>
          <a:ln w="9525">
            <a:noFill/>
            <a:miter lim="800000"/>
            <a:headEnd/>
            <a:tailEnd/>
          </a:ln>
        </p:spPr>
      </p:pic>
      <p:sp>
        <p:nvSpPr>
          <p:cNvPr id="3" name="Title 2"/>
          <p:cNvSpPr>
            <a:spLocks noGrp="1"/>
          </p:cNvSpPr>
          <p:nvPr>
            <p:ph type="title"/>
          </p:nvPr>
        </p:nvSpPr>
        <p:spPr/>
        <p:txBody>
          <a:bodyPr/>
          <a:lstStyle/>
          <a:p>
            <a:pPr>
              <a:defRPr/>
            </a:pPr>
            <a:r>
              <a:rPr lang="en-US" dirty="0">
                <a:effectLst>
                  <a:outerShdw blurRad="38100" dist="38100" dir="2700000" algn="tl">
                    <a:srgbClr val="000000"/>
                  </a:outerShdw>
                </a:effectLst>
              </a:rPr>
              <a:t>Risk and Risk Assessment</a:t>
            </a:r>
          </a:p>
        </p:txBody>
      </p:sp>
    </p:spTree>
    <p:extLst>
      <p:ext uri="{BB962C8B-B14F-4D97-AF65-F5344CB8AC3E}">
        <p14:creationId xmlns:p14="http://schemas.microsoft.com/office/powerpoint/2010/main" val="372524247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3"/>
          <a:stretch>
            <a:fillRect/>
          </a:stretch>
        </p:blipFill>
        <p:spPr>
          <a:xfrm>
            <a:off x="1023742" y="0"/>
            <a:ext cx="9837091" cy="6858000"/>
          </a:xfrm>
          <a:prstGeom prst="rect">
            <a:avLst/>
          </a:prstGeom>
        </p:spPr>
      </p:pic>
    </p:spTree>
    <p:extLst>
      <p:ext uri="{BB962C8B-B14F-4D97-AF65-F5344CB8AC3E}">
        <p14:creationId xmlns:p14="http://schemas.microsoft.com/office/powerpoint/2010/main" val="11744540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nchor="ctr">
            <a:normAutofit/>
          </a:bodyPr>
          <a:lstStyle/>
          <a:p>
            <a:pPr algn="ctr">
              <a:defRPr/>
            </a:pPr>
            <a:r>
              <a:rPr lang="en-US" sz="4000" b="1" spc="-100" dirty="0">
                <a:solidFill>
                  <a:srgbClr val="0000CC"/>
                </a:solidFill>
                <a:effectLst>
                  <a:outerShdw blurRad="38100" dist="38100" dir="2700000" algn="tl">
                    <a:srgbClr val="000000"/>
                  </a:outerShdw>
                </a:effectLst>
                <a:latin typeface="Comic Sans MS" panose="030F0702030302020204" pitchFamily="66" charset="0"/>
                <a:cs typeface="Arial" panose="020B0604020202020204" pitchFamily="34" charset="0"/>
              </a:rPr>
              <a:t>Purpose of Risk Analysis </a:t>
            </a:r>
          </a:p>
        </p:txBody>
      </p:sp>
      <p:sp>
        <p:nvSpPr>
          <p:cNvPr id="49154" name="Content Placeholder 2"/>
          <p:cNvSpPr>
            <a:spLocks noGrp="1"/>
          </p:cNvSpPr>
          <p:nvPr>
            <p:ph idx="4294967295"/>
          </p:nvPr>
        </p:nvSpPr>
        <p:spPr/>
        <p:txBody>
          <a:bodyPr>
            <a:normAutofit/>
          </a:bodyPr>
          <a:lstStyle/>
          <a:p>
            <a:pPr marL="365125" indent="-282575">
              <a:lnSpc>
                <a:spcPct val="114000"/>
              </a:lnSpc>
              <a:spcBef>
                <a:spcPts val="1200"/>
              </a:spcBef>
              <a:spcAft>
                <a:spcPts val="1200"/>
              </a:spcAft>
            </a:pPr>
            <a:r>
              <a:rPr lang="en-US" sz="3600" dirty="0">
                <a:latin typeface="Comic Sans MS" panose="030F0702030302020204" pitchFamily="66" charset="0"/>
              </a:rPr>
              <a:t>To plan for public safety by developing</a:t>
            </a:r>
          </a:p>
          <a:p>
            <a:pPr marL="1146175" lvl="1" indent="-742950">
              <a:lnSpc>
                <a:spcPct val="114000"/>
              </a:lnSpc>
              <a:spcBef>
                <a:spcPts val="1200"/>
              </a:spcBef>
              <a:spcAft>
                <a:spcPts val="1200"/>
              </a:spcAft>
              <a:buFont typeface="+mj-lt"/>
              <a:buAutoNum type="arabicPeriod"/>
            </a:pPr>
            <a:r>
              <a:rPr lang="en-US" sz="3600" dirty="0">
                <a:solidFill>
                  <a:srgbClr val="9650B2"/>
                </a:solidFill>
                <a:latin typeface="Comic Sans MS" panose="030F0702030302020204" pitchFamily="66" charset="0"/>
              </a:rPr>
              <a:t>Hazard reduction plans</a:t>
            </a:r>
          </a:p>
          <a:p>
            <a:pPr marL="1146175" lvl="1" indent="-742950">
              <a:lnSpc>
                <a:spcPct val="114000"/>
              </a:lnSpc>
              <a:spcBef>
                <a:spcPts val="1200"/>
              </a:spcBef>
              <a:spcAft>
                <a:spcPts val="1200"/>
              </a:spcAft>
              <a:buFont typeface="+mj-lt"/>
              <a:buAutoNum type="arabicPeriod"/>
            </a:pPr>
            <a:r>
              <a:rPr lang="en-US" sz="3600" dirty="0">
                <a:solidFill>
                  <a:srgbClr val="9650B2"/>
                </a:solidFill>
                <a:latin typeface="Comic Sans MS" panose="030F0702030302020204" pitchFamily="66" charset="0"/>
              </a:rPr>
              <a:t>Vulnerability reduction plans</a:t>
            </a:r>
          </a:p>
          <a:p>
            <a:pPr marL="1146175" lvl="1" indent="-742950">
              <a:lnSpc>
                <a:spcPct val="114000"/>
              </a:lnSpc>
              <a:spcBef>
                <a:spcPts val="1200"/>
              </a:spcBef>
              <a:spcAft>
                <a:spcPts val="1200"/>
              </a:spcAft>
              <a:buFont typeface="+mj-lt"/>
              <a:buAutoNum type="arabicPeriod"/>
            </a:pPr>
            <a:r>
              <a:rPr lang="en-US" sz="3600" dirty="0">
                <a:solidFill>
                  <a:srgbClr val="9650B2"/>
                </a:solidFill>
                <a:latin typeface="Comic Sans MS" panose="030F0702030302020204" pitchFamily="66" charset="0"/>
              </a:rPr>
              <a:t>Emergency Preparedness plans</a:t>
            </a:r>
          </a:p>
        </p:txBody>
      </p:sp>
      <p:sp>
        <p:nvSpPr>
          <p:cNvPr id="3" name="Rectangle 2"/>
          <p:cNvSpPr/>
          <p:nvPr/>
        </p:nvSpPr>
        <p:spPr>
          <a:xfrm>
            <a:off x="0" y="5573459"/>
            <a:ext cx="12192000" cy="1207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1638"/>
            <a:endParaRPr lang="en-US" sz="36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301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1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circle(in)">
                                      <p:cBhvr>
                                        <p:cTn id="2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182881"/>
            <a:ext cx="10515600" cy="1078992"/>
          </a:xfrm>
        </p:spPr>
        <p:txBody>
          <a:bodyPr anchor="ctr">
            <a:normAutofit/>
          </a:bodyPr>
          <a:lstStyle/>
          <a:p>
            <a:pPr algn="ctr">
              <a:defRPr/>
            </a:pPr>
            <a:r>
              <a:rPr lang="en-US" sz="4000" b="1" spc="-100" dirty="0">
                <a:solidFill>
                  <a:srgbClr val="0000CC"/>
                </a:solidFill>
                <a:effectLst>
                  <a:outerShdw blurRad="38100" dist="38100" dir="2700000" algn="tl">
                    <a:srgbClr val="000000"/>
                  </a:outerShdw>
                </a:effectLst>
                <a:latin typeface="Comic Sans MS" panose="030F0702030302020204" pitchFamily="66" charset="0"/>
                <a:cs typeface="Arial" panose="020B0604020202020204" pitchFamily="34" charset="0"/>
              </a:rPr>
              <a:t>Risk Analysis Steps</a:t>
            </a:r>
          </a:p>
        </p:txBody>
      </p:sp>
      <p:sp>
        <p:nvSpPr>
          <p:cNvPr id="55298" name="Content Placeholder 2"/>
          <p:cNvSpPr>
            <a:spLocks noGrp="1"/>
          </p:cNvSpPr>
          <p:nvPr>
            <p:ph idx="4294967295"/>
          </p:nvPr>
        </p:nvSpPr>
        <p:spPr>
          <a:xfrm>
            <a:off x="838200" y="1499616"/>
            <a:ext cx="11158728" cy="5010911"/>
          </a:xfrm>
        </p:spPr>
        <p:txBody>
          <a:bodyPr>
            <a:normAutofit lnSpcReduction="10000"/>
          </a:bodyPr>
          <a:lstStyle/>
          <a:p>
            <a:pPr marL="365125" indent="-282575">
              <a:lnSpc>
                <a:spcPct val="100000"/>
              </a:lnSpc>
              <a:spcBef>
                <a:spcPts val="1200"/>
              </a:spcBef>
              <a:spcAft>
                <a:spcPts val="1200"/>
              </a:spcAft>
            </a:pPr>
            <a:r>
              <a:rPr lang="en-US" sz="3200" dirty="0">
                <a:latin typeface="Comic Sans MS" panose="030F0702030302020204" pitchFamily="66" charset="0"/>
              </a:rPr>
              <a:t>Identify a Hazard</a:t>
            </a:r>
          </a:p>
          <a:p>
            <a:pPr marL="365125" indent="-282575">
              <a:lnSpc>
                <a:spcPct val="100000"/>
              </a:lnSpc>
              <a:spcBef>
                <a:spcPts val="1200"/>
              </a:spcBef>
              <a:spcAft>
                <a:spcPts val="1200"/>
              </a:spcAft>
            </a:pPr>
            <a:r>
              <a:rPr lang="en-US" sz="3200" dirty="0">
                <a:latin typeface="Comic Sans MS" panose="030F0702030302020204" pitchFamily="66" charset="0"/>
              </a:rPr>
              <a:t>Identify the communities exposed to that hazard</a:t>
            </a:r>
          </a:p>
          <a:p>
            <a:pPr marL="365125" indent="-282575">
              <a:lnSpc>
                <a:spcPct val="100000"/>
              </a:lnSpc>
              <a:spcBef>
                <a:spcPts val="1200"/>
              </a:spcBef>
              <a:spcAft>
                <a:spcPts val="1200"/>
              </a:spcAft>
            </a:pPr>
            <a:r>
              <a:rPr lang="en-US" sz="3200" dirty="0">
                <a:latin typeface="Comic Sans MS" panose="030F0702030302020204" pitchFamily="66" charset="0"/>
              </a:rPr>
              <a:t>Predict the consequences or impact of the hazard on communities exposed</a:t>
            </a:r>
          </a:p>
          <a:p>
            <a:pPr marL="365125" indent="-282575">
              <a:lnSpc>
                <a:spcPct val="100000"/>
              </a:lnSpc>
              <a:spcBef>
                <a:spcPts val="1200"/>
              </a:spcBef>
              <a:spcAft>
                <a:spcPts val="1200"/>
              </a:spcAft>
            </a:pPr>
            <a:r>
              <a:rPr lang="en-US" sz="3200" dirty="0">
                <a:latin typeface="Comic Sans MS" panose="030F0702030302020204" pitchFamily="66" charset="0"/>
              </a:rPr>
              <a:t>Determine the vulnerabilities of the </a:t>
            </a:r>
            <a:r>
              <a:rPr lang="en-US" sz="3200" u="sng" dirty="0">
                <a:latin typeface="Comic Sans MS" panose="030F0702030302020204" pitchFamily="66" charset="0"/>
              </a:rPr>
              <a:t>five</a:t>
            </a:r>
            <a:r>
              <a:rPr lang="en-US" sz="3200" dirty="0">
                <a:latin typeface="Comic Sans MS" panose="030F0702030302020204" pitchFamily="66" charset="0"/>
              </a:rPr>
              <a:t> elements of these communities</a:t>
            </a:r>
          </a:p>
          <a:p>
            <a:pPr marL="365125" indent="-282575">
              <a:lnSpc>
                <a:spcPct val="100000"/>
              </a:lnSpc>
              <a:spcBef>
                <a:spcPts val="1200"/>
              </a:spcBef>
              <a:spcAft>
                <a:spcPts val="1200"/>
              </a:spcAft>
            </a:pPr>
            <a:r>
              <a:rPr lang="en-US" sz="3200" dirty="0">
                <a:latin typeface="Comic Sans MS" panose="030F0702030302020204" pitchFamily="66" charset="0"/>
              </a:rPr>
              <a:t>Identify the capacities of the communities to respond to that hazard</a:t>
            </a:r>
          </a:p>
        </p:txBody>
      </p:sp>
    </p:spTree>
    <p:extLst>
      <p:ext uri="{BB962C8B-B14F-4D97-AF65-F5344CB8AC3E}">
        <p14:creationId xmlns:p14="http://schemas.microsoft.com/office/powerpoint/2010/main" val="149861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2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2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29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5"/>
          <p:cNvPicPr>
            <a:picLocks noChangeAspect="1" noChangeArrowheads="1"/>
          </p:cNvPicPr>
          <p:nvPr/>
        </p:nvPicPr>
        <p:blipFill>
          <a:blip r:embed="rId3" cstate="print"/>
          <a:srcRect l="21249" t="24001" r="23750" b="14000"/>
          <a:stretch>
            <a:fillRect/>
          </a:stretch>
        </p:blipFill>
        <p:spPr bwMode="auto">
          <a:xfrm>
            <a:off x="1164774" y="140639"/>
            <a:ext cx="9533705" cy="6717361"/>
          </a:xfrm>
          <a:prstGeom prst="rect">
            <a:avLst/>
          </a:prstGeom>
          <a:noFill/>
          <a:ln w="9525">
            <a:noFill/>
            <a:miter lim="800000"/>
            <a:headEnd/>
            <a:tailEnd/>
          </a:ln>
        </p:spPr>
      </p:pic>
    </p:spTree>
    <p:extLst>
      <p:ext uri="{BB962C8B-B14F-4D97-AF65-F5344CB8AC3E}">
        <p14:creationId xmlns:p14="http://schemas.microsoft.com/office/powerpoint/2010/main" val="2331175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pPr eaLnBrk="1" hangingPunct="1">
              <a:defRPr/>
            </a:pPr>
            <a:r>
              <a:rPr lang="en-US" dirty="0">
                <a:effectLst>
                  <a:outerShdw blurRad="38100" dist="38100" dir="2700000" algn="tl">
                    <a:srgbClr val="000000"/>
                  </a:outerShdw>
                </a:effectLst>
              </a:rPr>
              <a:t>Risk Assessment Methodology</a:t>
            </a:r>
          </a:p>
        </p:txBody>
      </p:sp>
      <p:sp>
        <p:nvSpPr>
          <p:cNvPr id="64514" name="Content Placeholder 2"/>
          <p:cNvSpPr>
            <a:spLocks noGrp="1"/>
          </p:cNvSpPr>
          <p:nvPr>
            <p:ph sz="quarter" idx="1"/>
          </p:nvPr>
        </p:nvSpPr>
        <p:spPr>
          <a:xfrm>
            <a:off x="1024128" y="1993392"/>
            <a:ext cx="10643616" cy="4700016"/>
          </a:xfrm>
        </p:spPr>
        <p:txBody>
          <a:bodyPr>
            <a:normAutofit/>
          </a:bodyPr>
          <a:lstStyle/>
          <a:p>
            <a:pPr eaLnBrk="1" hangingPunct="1">
              <a:lnSpc>
                <a:spcPct val="100000"/>
              </a:lnSpc>
              <a:spcBef>
                <a:spcPts val="1200"/>
              </a:spcBef>
              <a:spcAft>
                <a:spcPts val="1200"/>
              </a:spcAft>
            </a:pPr>
            <a:r>
              <a:rPr lang="en-US" sz="3600" dirty="0"/>
              <a:t>Both Qualitative and Quantitative</a:t>
            </a:r>
          </a:p>
          <a:p>
            <a:pPr eaLnBrk="1" hangingPunct="1">
              <a:lnSpc>
                <a:spcPct val="100000"/>
              </a:lnSpc>
              <a:spcBef>
                <a:spcPts val="1200"/>
              </a:spcBef>
              <a:spcAft>
                <a:spcPts val="1200"/>
              </a:spcAft>
            </a:pPr>
            <a:r>
              <a:rPr lang="en-US" sz="3600" dirty="0"/>
              <a:t>Various computer-based models</a:t>
            </a:r>
          </a:p>
          <a:p>
            <a:pPr eaLnBrk="1" hangingPunct="1">
              <a:lnSpc>
                <a:spcPct val="100000"/>
              </a:lnSpc>
              <a:spcBef>
                <a:spcPts val="1200"/>
              </a:spcBef>
              <a:spcAft>
                <a:spcPts val="1200"/>
              </a:spcAft>
            </a:pPr>
            <a:r>
              <a:rPr lang="en-US" sz="3600" dirty="0"/>
              <a:t>Risk assessment outcomes depend on quality and availability of data</a:t>
            </a:r>
          </a:p>
        </p:txBody>
      </p:sp>
    </p:spTree>
    <p:extLst>
      <p:ext uri="{BB962C8B-B14F-4D97-AF65-F5344CB8AC3E}">
        <p14:creationId xmlns:p14="http://schemas.microsoft.com/office/powerpoint/2010/main" val="23695015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p:txBody>
          <a:bodyPr/>
          <a:lstStyle/>
          <a:p>
            <a:endParaRPr lang="en-US"/>
          </a:p>
        </p:txBody>
      </p:sp>
      <p:sp>
        <p:nvSpPr>
          <p:cNvPr id="57346" name="Rectangle 3"/>
          <p:cNvSpPr>
            <a:spLocks noGrp="1"/>
          </p:cNvSpPr>
          <p:nvPr>
            <p:ph type="body" idx="1"/>
          </p:nvPr>
        </p:nvSpPr>
        <p:spPr>
          <a:xfrm>
            <a:off x="1981200" y="1219200"/>
            <a:ext cx="8229600" cy="4910138"/>
          </a:xfrm>
        </p:spPr>
        <p:txBody>
          <a:bodyPr/>
          <a:lstStyle/>
          <a:p>
            <a:endParaRPr lang="en-US"/>
          </a:p>
        </p:txBody>
      </p:sp>
      <p:pic>
        <p:nvPicPr>
          <p:cNvPr id="57347" name="Picture 4"/>
          <p:cNvPicPr>
            <a:picLocks noChangeAspect="1" noChangeArrowheads="1"/>
          </p:cNvPicPr>
          <p:nvPr/>
        </p:nvPicPr>
        <p:blipFill>
          <a:blip r:embed="rId2" cstate="print"/>
          <a:srcRect l="16927" t="15764" r="12500" b="8417"/>
          <a:stretch>
            <a:fillRect/>
          </a:stretch>
        </p:blipFill>
        <p:spPr bwMode="auto">
          <a:xfrm>
            <a:off x="1524000" y="0"/>
            <a:ext cx="9144000" cy="6858000"/>
          </a:xfrm>
          <a:prstGeom prst="rect">
            <a:avLst/>
          </a:prstGeom>
          <a:noFill/>
          <a:ln w="9525">
            <a:noFill/>
            <a:miter lim="800000"/>
            <a:headEnd/>
            <a:tailEnd/>
          </a:ln>
        </p:spPr>
      </p:pic>
    </p:spTree>
    <p:extLst>
      <p:ext uri="{BB962C8B-B14F-4D97-AF65-F5344CB8AC3E}">
        <p14:creationId xmlns:p14="http://schemas.microsoft.com/office/powerpoint/2010/main" val="264011378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pPr eaLnBrk="1" hangingPunct="1">
              <a:defRPr/>
            </a:pPr>
            <a:r>
              <a:rPr lang="en-US" dirty="0">
                <a:effectLst>
                  <a:outerShdw blurRad="38100" dist="38100" dir="2700000" algn="tl">
                    <a:srgbClr val="000000"/>
                  </a:outerShdw>
                </a:effectLst>
              </a:rPr>
              <a:t>Hazard Risk Assessment</a:t>
            </a:r>
          </a:p>
        </p:txBody>
      </p:sp>
      <p:sp>
        <p:nvSpPr>
          <p:cNvPr id="62466" name="Content Placeholder 2"/>
          <p:cNvSpPr>
            <a:spLocks noGrp="1"/>
          </p:cNvSpPr>
          <p:nvPr>
            <p:ph sz="quarter" idx="1"/>
          </p:nvPr>
        </p:nvSpPr>
        <p:spPr>
          <a:xfrm>
            <a:off x="838200" y="1617785"/>
            <a:ext cx="11353800" cy="5078437"/>
          </a:xfrm>
        </p:spPr>
        <p:txBody>
          <a:bodyPr>
            <a:normAutofit/>
          </a:bodyPr>
          <a:lstStyle/>
          <a:p>
            <a:pPr eaLnBrk="1" hangingPunct="1">
              <a:spcAft>
                <a:spcPts val="600"/>
              </a:spcAft>
            </a:pPr>
            <a:r>
              <a:rPr lang="en-US" sz="3000" dirty="0"/>
              <a:t>Process by which threat posed by each identified hazard is investigated</a:t>
            </a:r>
          </a:p>
          <a:p>
            <a:pPr eaLnBrk="1" hangingPunct="1">
              <a:spcAft>
                <a:spcPts val="600"/>
              </a:spcAft>
            </a:pPr>
            <a:r>
              <a:rPr lang="en-US" sz="3000" dirty="0"/>
              <a:t>Risk depends on </a:t>
            </a:r>
            <a:r>
              <a:rPr lang="en-US" sz="3000" u="sng" dirty="0"/>
              <a:t>Hazard likelihood </a:t>
            </a:r>
            <a:r>
              <a:rPr lang="en-US" sz="3000" dirty="0"/>
              <a:t>and </a:t>
            </a:r>
            <a:r>
              <a:rPr lang="en-US" sz="3000" u="sng" dirty="0"/>
              <a:t>hazard consequences</a:t>
            </a:r>
          </a:p>
          <a:p>
            <a:pPr eaLnBrk="1" hangingPunct="1">
              <a:spcAft>
                <a:spcPts val="600"/>
              </a:spcAft>
            </a:pPr>
            <a:r>
              <a:rPr lang="en-US" sz="3000" dirty="0"/>
              <a:t>The above two factors are constantly changing as a result of changing environment</a:t>
            </a:r>
          </a:p>
          <a:p>
            <a:pPr eaLnBrk="1" hangingPunct="1">
              <a:spcAft>
                <a:spcPts val="600"/>
              </a:spcAft>
            </a:pPr>
            <a:r>
              <a:rPr lang="en-US" sz="3000" dirty="0">
                <a:solidFill>
                  <a:srgbClr val="FF0000"/>
                </a:solidFill>
              </a:rPr>
              <a:t>High-likelihood/high-consequence</a:t>
            </a:r>
            <a:r>
              <a:rPr lang="en-US" sz="3000" dirty="0"/>
              <a:t> hazards are of special consideration</a:t>
            </a:r>
          </a:p>
          <a:p>
            <a:pPr eaLnBrk="1" hangingPunct="1">
              <a:spcAft>
                <a:spcPts val="600"/>
              </a:spcAft>
            </a:pPr>
            <a:r>
              <a:rPr lang="en-US" sz="3000" dirty="0"/>
              <a:t>A comprehensive </a:t>
            </a:r>
            <a:r>
              <a:rPr lang="en-US" sz="3000" b="1" dirty="0">
                <a:solidFill>
                  <a:schemeClr val="accent2">
                    <a:lumMod val="50000"/>
                  </a:schemeClr>
                </a:solidFill>
              </a:rPr>
              <a:t>Risk Management Program</a:t>
            </a:r>
            <a:r>
              <a:rPr lang="en-US" sz="3000" dirty="0"/>
              <a:t> can greatly reduce life and property losses</a:t>
            </a:r>
          </a:p>
        </p:txBody>
      </p:sp>
    </p:spTree>
    <p:extLst>
      <p:ext uri="{BB962C8B-B14F-4D97-AF65-F5344CB8AC3E}">
        <p14:creationId xmlns:p14="http://schemas.microsoft.com/office/powerpoint/2010/main" val="18095284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 calcmode="lin" valueType="num">
                                      <p:cBhvr additive="base">
                                        <p:cTn id="7" dur="500" fill="hold"/>
                                        <p:tgtEl>
                                          <p:spTgt spid="624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4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66">
                                            <p:txEl>
                                              <p:pRg st="1" end="1"/>
                                            </p:txEl>
                                          </p:spTgt>
                                        </p:tgtEl>
                                        <p:attrNameLst>
                                          <p:attrName>style.visibility</p:attrName>
                                        </p:attrNameLst>
                                      </p:cBhvr>
                                      <p:to>
                                        <p:strVal val="visible"/>
                                      </p:to>
                                    </p:set>
                                    <p:anim calcmode="lin" valueType="num">
                                      <p:cBhvr additive="base">
                                        <p:cTn id="13" dur="500" fill="hold"/>
                                        <p:tgtEl>
                                          <p:spTgt spid="624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24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66">
                                            <p:txEl>
                                              <p:pRg st="2" end="2"/>
                                            </p:txEl>
                                          </p:spTgt>
                                        </p:tgtEl>
                                        <p:attrNameLst>
                                          <p:attrName>style.visibility</p:attrName>
                                        </p:attrNameLst>
                                      </p:cBhvr>
                                      <p:to>
                                        <p:strVal val="visible"/>
                                      </p:to>
                                    </p:set>
                                    <p:anim calcmode="lin" valueType="num">
                                      <p:cBhvr additive="base">
                                        <p:cTn id="19" dur="500" fill="hold"/>
                                        <p:tgtEl>
                                          <p:spTgt spid="6246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24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466">
                                            <p:txEl>
                                              <p:pRg st="3" end="3"/>
                                            </p:txEl>
                                          </p:spTgt>
                                        </p:tgtEl>
                                        <p:attrNameLst>
                                          <p:attrName>style.visibility</p:attrName>
                                        </p:attrNameLst>
                                      </p:cBhvr>
                                      <p:to>
                                        <p:strVal val="visible"/>
                                      </p:to>
                                    </p:set>
                                    <p:anim calcmode="lin" valueType="num">
                                      <p:cBhvr additive="base">
                                        <p:cTn id="25" dur="500" fill="hold"/>
                                        <p:tgtEl>
                                          <p:spTgt spid="6246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246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2466">
                                            <p:txEl>
                                              <p:pRg st="4" end="4"/>
                                            </p:txEl>
                                          </p:spTgt>
                                        </p:tgtEl>
                                        <p:attrNameLst>
                                          <p:attrName>style.visibility</p:attrName>
                                        </p:attrNameLst>
                                      </p:cBhvr>
                                      <p:to>
                                        <p:strVal val="visible"/>
                                      </p:to>
                                    </p:set>
                                    <p:anim calcmode="lin" valueType="num">
                                      <p:cBhvr additive="base">
                                        <p:cTn id="31" dur="500" fill="hold"/>
                                        <p:tgtEl>
                                          <p:spTgt spid="6246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246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ffectLst>
                  <a:outerShdw blurRad="38100" dist="38100" dir="2700000" algn="tl">
                    <a:srgbClr val="000000"/>
                  </a:outerShdw>
                </a:effectLst>
              </a:rPr>
              <a:t>Vulnerability Assessment</a:t>
            </a:r>
          </a:p>
        </p:txBody>
      </p:sp>
      <p:sp>
        <p:nvSpPr>
          <p:cNvPr id="65538" name="Content Placeholder 2"/>
          <p:cNvSpPr>
            <a:spLocks noGrp="1"/>
          </p:cNvSpPr>
          <p:nvPr>
            <p:ph idx="1"/>
          </p:nvPr>
        </p:nvSpPr>
        <p:spPr>
          <a:xfrm>
            <a:off x="1097280" y="2066544"/>
            <a:ext cx="10661904" cy="4498848"/>
          </a:xfrm>
        </p:spPr>
        <p:txBody>
          <a:bodyPr/>
          <a:lstStyle/>
          <a:p>
            <a:pPr>
              <a:lnSpc>
                <a:spcPct val="150000"/>
              </a:lnSpc>
              <a:spcAft>
                <a:spcPts val="1200"/>
              </a:spcAft>
            </a:pPr>
            <a:r>
              <a:rPr lang="en-US" dirty="0"/>
              <a:t>Vulnerability indices</a:t>
            </a:r>
          </a:p>
          <a:p>
            <a:pPr>
              <a:lnSpc>
                <a:spcPct val="150000"/>
              </a:lnSpc>
              <a:spcAft>
                <a:spcPts val="1200"/>
              </a:spcAft>
            </a:pPr>
            <a:r>
              <a:rPr lang="en-US" dirty="0"/>
              <a:t>Vulnerability curves</a:t>
            </a:r>
          </a:p>
          <a:p>
            <a:pPr>
              <a:lnSpc>
                <a:spcPct val="150000"/>
              </a:lnSpc>
              <a:spcAft>
                <a:spcPts val="1200"/>
              </a:spcAft>
            </a:pPr>
            <a:r>
              <a:rPr lang="en-US" dirty="0"/>
              <a:t>Fragility curves</a:t>
            </a:r>
          </a:p>
          <a:p>
            <a:pPr>
              <a:lnSpc>
                <a:spcPct val="150000"/>
              </a:lnSpc>
              <a:spcAft>
                <a:spcPts val="1200"/>
              </a:spcAft>
            </a:pPr>
            <a:r>
              <a:rPr lang="en-US" dirty="0"/>
              <a:t>Vulnerability table:</a:t>
            </a:r>
          </a:p>
        </p:txBody>
      </p:sp>
    </p:spTree>
    <p:extLst>
      <p:ext uri="{BB962C8B-B14F-4D97-AF65-F5344CB8AC3E}">
        <p14:creationId xmlns:p14="http://schemas.microsoft.com/office/powerpoint/2010/main" val="36670129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2134"/>
          </a:xfrm>
        </p:spPr>
        <p:txBody>
          <a:bodyPr/>
          <a:lstStyle/>
          <a:p>
            <a:pPr eaLnBrk="1" hangingPunct="1">
              <a:defRPr/>
            </a:pPr>
            <a:r>
              <a:rPr lang="en-US" dirty="0">
                <a:effectLst>
                  <a:outerShdw blurRad="38100" dist="38100" dir="2700000" algn="tl">
                    <a:srgbClr val="000000"/>
                  </a:outerShdw>
                </a:effectLst>
              </a:rPr>
              <a:t>Vulnerability Curve</a:t>
            </a:r>
          </a:p>
        </p:txBody>
      </p:sp>
      <p:pic>
        <p:nvPicPr>
          <p:cNvPr id="66562" name="Picture 2"/>
          <p:cNvPicPr>
            <a:picLocks noGrp="1" noChangeAspect="1" noChangeArrowheads="1"/>
          </p:cNvPicPr>
          <p:nvPr>
            <p:ph idx="1"/>
          </p:nvPr>
        </p:nvPicPr>
        <p:blipFill>
          <a:blip r:embed="rId2" cstate="print"/>
          <a:srcRect l="50000" t="45457" r="9593" b="17503"/>
          <a:stretch>
            <a:fillRect/>
          </a:stretch>
        </p:blipFill>
        <p:spPr>
          <a:xfrm>
            <a:off x="2008632" y="1237259"/>
            <a:ext cx="8174736" cy="5620741"/>
          </a:xfrm>
        </p:spPr>
      </p:pic>
    </p:spTree>
    <p:extLst>
      <p:ext uri="{BB962C8B-B14F-4D97-AF65-F5344CB8AC3E}">
        <p14:creationId xmlns:p14="http://schemas.microsoft.com/office/powerpoint/2010/main" val="17795264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idx="4294967295"/>
          </p:nvPr>
        </p:nvSpPr>
        <p:spPr/>
        <p:txBody>
          <a:bodyPr>
            <a:normAutofit/>
          </a:bodyPr>
          <a:lstStyle/>
          <a:p>
            <a:pPr eaLnBrk="1" hangingPunct="1">
              <a:defRPr/>
            </a:pPr>
            <a:r>
              <a:rPr lang="en-US" sz="4000" b="1" spc="-100" dirty="0">
                <a:solidFill>
                  <a:srgbClr val="0000CC"/>
                </a:solidFill>
                <a:effectLst>
                  <a:outerShdw blurRad="38100" dist="38100" dir="2700000" algn="tl">
                    <a:srgbClr val="000000"/>
                  </a:outerShdw>
                </a:effectLst>
                <a:latin typeface="Comic Sans MS" panose="030F0702030302020204" pitchFamily="66" charset="0"/>
                <a:cs typeface="Arial" panose="020B0604020202020204" pitchFamily="34" charset="0"/>
              </a:rPr>
              <a:t>Risk and Vulnerability Index/indicators</a:t>
            </a:r>
          </a:p>
        </p:txBody>
      </p:sp>
      <p:sp>
        <p:nvSpPr>
          <p:cNvPr id="67586" name="Rectangle 3"/>
          <p:cNvSpPr>
            <a:spLocks noGrp="1"/>
          </p:cNvSpPr>
          <p:nvPr>
            <p:ph type="body" idx="4294967295"/>
          </p:nvPr>
        </p:nvSpPr>
        <p:spPr>
          <a:xfrm>
            <a:off x="512064" y="1825624"/>
            <a:ext cx="10841736" cy="4886071"/>
          </a:xfrm>
        </p:spPr>
        <p:txBody>
          <a:bodyPr>
            <a:normAutofit fontScale="92500" lnSpcReduction="10000"/>
          </a:bodyPr>
          <a:lstStyle/>
          <a:p>
            <a:pPr>
              <a:lnSpc>
                <a:spcPct val="100000"/>
              </a:lnSpc>
              <a:spcBef>
                <a:spcPts val="1200"/>
              </a:spcBef>
              <a:spcAft>
                <a:spcPts val="1200"/>
              </a:spcAft>
            </a:pPr>
            <a:r>
              <a:rPr lang="en-US" sz="3300" dirty="0">
                <a:latin typeface="Comic Sans MS" panose="030F0702030302020204" pitchFamily="66" charset="0"/>
              </a:rPr>
              <a:t>Various indices defined by</a:t>
            </a:r>
          </a:p>
          <a:p>
            <a:pPr marL="742950" lvl="1" indent="-285750">
              <a:lnSpc>
                <a:spcPct val="100000"/>
              </a:lnSpc>
              <a:spcBef>
                <a:spcPts val="1200"/>
              </a:spcBef>
              <a:spcAft>
                <a:spcPts val="1200"/>
              </a:spcAft>
            </a:pPr>
            <a:r>
              <a:rPr lang="en-US" sz="2600" dirty="0">
                <a:latin typeface="Comic Sans MS" panose="030F0702030302020204" pitchFamily="66" charset="0"/>
              </a:rPr>
              <a:t>World Bank Hotspot</a:t>
            </a:r>
          </a:p>
          <a:p>
            <a:pPr marL="742950" lvl="1" indent="-285750">
              <a:lnSpc>
                <a:spcPct val="100000"/>
              </a:lnSpc>
              <a:spcBef>
                <a:spcPts val="1200"/>
              </a:spcBef>
              <a:spcAft>
                <a:spcPts val="1200"/>
              </a:spcAft>
            </a:pPr>
            <a:r>
              <a:rPr lang="en-US" sz="2600" dirty="0">
                <a:latin typeface="Comic Sans MS" panose="030F0702030302020204" pitchFamily="66" charset="0"/>
              </a:rPr>
              <a:t>UNDP Disaster Risk Index</a:t>
            </a:r>
          </a:p>
          <a:p>
            <a:pPr marL="742950" lvl="1" indent="-285750">
              <a:lnSpc>
                <a:spcPct val="100000"/>
              </a:lnSpc>
              <a:spcBef>
                <a:spcPts val="1200"/>
              </a:spcBef>
              <a:spcAft>
                <a:spcPts val="1200"/>
              </a:spcAft>
            </a:pPr>
            <a:r>
              <a:rPr lang="en-US" sz="2600" dirty="0">
                <a:latin typeface="Comic Sans MS" panose="030F0702030302020204" pitchFamily="66" charset="0"/>
              </a:rPr>
              <a:t>World Economic Forum Environmental Sustainability Indicators</a:t>
            </a:r>
          </a:p>
          <a:p>
            <a:pPr marL="742950" lvl="1" indent="-285750">
              <a:lnSpc>
                <a:spcPct val="100000"/>
              </a:lnSpc>
              <a:spcBef>
                <a:spcPts val="1200"/>
              </a:spcBef>
              <a:spcAft>
                <a:spcPts val="1200"/>
              </a:spcAft>
            </a:pPr>
            <a:r>
              <a:rPr lang="en-US" sz="2600" dirty="0">
                <a:latin typeface="Comic Sans MS" panose="030F0702030302020204" pitchFamily="66" charset="0"/>
              </a:rPr>
              <a:t>International Federation of the Red Cross and Red Crescent Societies (IFRC) World Disaster Reports</a:t>
            </a:r>
          </a:p>
          <a:p>
            <a:pPr marL="742950" lvl="1" indent="-285750">
              <a:lnSpc>
                <a:spcPct val="100000"/>
              </a:lnSpc>
              <a:spcBef>
                <a:spcPts val="1200"/>
              </a:spcBef>
              <a:spcAft>
                <a:spcPts val="1200"/>
              </a:spcAft>
            </a:pPr>
            <a:r>
              <a:rPr lang="en-US" sz="2600" dirty="0">
                <a:latin typeface="Comic Sans MS" panose="030F0702030302020204" pitchFamily="66" charset="0"/>
              </a:rPr>
              <a:t>CRED (Center for Research and Epidemiology of Disasters</a:t>
            </a:r>
          </a:p>
          <a:p>
            <a:pPr marL="742950" lvl="1" indent="-285750">
              <a:lnSpc>
                <a:spcPct val="100000"/>
              </a:lnSpc>
              <a:spcBef>
                <a:spcPts val="1200"/>
              </a:spcBef>
              <a:spcAft>
                <a:spcPts val="1200"/>
              </a:spcAft>
            </a:pPr>
            <a:r>
              <a:rPr lang="en-US" sz="2600" dirty="0">
                <a:latin typeface="Comic Sans MS" panose="030F0702030302020204" pitchFamily="66" charset="0"/>
              </a:rPr>
              <a:t>More…..</a:t>
            </a:r>
          </a:p>
          <a:p>
            <a:pPr marL="742950" lvl="1" indent="-285750">
              <a:lnSpc>
                <a:spcPct val="100000"/>
              </a:lnSpc>
              <a:spcBef>
                <a:spcPts val="1200"/>
              </a:spcBef>
              <a:spcAft>
                <a:spcPts val="1200"/>
              </a:spcAft>
            </a:pPr>
            <a:endParaRPr lang="en-US" dirty="0">
              <a:solidFill>
                <a:srgbClr val="FF9900"/>
              </a:solidFill>
              <a:latin typeface="Comic Sans MS" panose="030F0702030302020204" pitchFamily="66" charset="0"/>
            </a:endParaRPr>
          </a:p>
          <a:p>
            <a:pPr marL="742950" lvl="1" indent="-285750">
              <a:lnSpc>
                <a:spcPct val="100000"/>
              </a:lnSpc>
              <a:spcBef>
                <a:spcPts val="1200"/>
              </a:spcBef>
              <a:spcAft>
                <a:spcPts val="1200"/>
              </a:spcAft>
            </a:pPr>
            <a:endParaRPr lang="en-US" dirty="0">
              <a:solidFill>
                <a:srgbClr val="FF9900"/>
              </a:solidFill>
              <a:latin typeface="Comic Sans MS" panose="030F0702030302020204" pitchFamily="66" charset="0"/>
            </a:endParaRPr>
          </a:p>
        </p:txBody>
      </p:sp>
    </p:spTree>
    <p:extLst>
      <p:ext uri="{BB962C8B-B14F-4D97-AF65-F5344CB8AC3E}">
        <p14:creationId xmlns:p14="http://schemas.microsoft.com/office/powerpoint/2010/main" val="9905201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a:lstStyle/>
          <a:p>
            <a:endParaRPr lang="en-US"/>
          </a:p>
        </p:txBody>
      </p:sp>
      <p:sp>
        <p:nvSpPr>
          <p:cNvPr id="69634" name="Rectangle 3"/>
          <p:cNvSpPr>
            <a:spLocks noGrp="1"/>
          </p:cNvSpPr>
          <p:nvPr>
            <p:ph type="body" idx="1"/>
          </p:nvPr>
        </p:nvSpPr>
        <p:spPr>
          <a:xfrm>
            <a:off x="1981200" y="1219200"/>
            <a:ext cx="8229600" cy="4910138"/>
          </a:xfrm>
        </p:spPr>
        <p:txBody>
          <a:bodyPr/>
          <a:lstStyle/>
          <a:p>
            <a:endParaRPr lang="en-US"/>
          </a:p>
        </p:txBody>
      </p:sp>
      <p:pic>
        <p:nvPicPr>
          <p:cNvPr id="69635" name="Picture 4"/>
          <p:cNvPicPr>
            <a:picLocks noChangeAspect="1" noChangeArrowheads="1"/>
          </p:cNvPicPr>
          <p:nvPr/>
        </p:nvPicPr>
        <p:blipFill>
          <a:blip r:embed="rId3" cstate="print"/>
          <a:srcRect l="15157" t="14084" r="12500" b="7480"/>
          <a:stretch>
            <a:fillRect/>
          </a:stretch>
        </p:blipFill>
        <p:spPr bwMode="auto">
          <a:xfrm>
            <a:off x="1319085" y="0"/>
            <a:ext cx="9785007" cy="6858000"/>
          </a:xfrm>
          <a:prstGeom prst="rect">
            <a:avLst/>
          </a:prstGeom>
          <a:noFill/>
          <a:ln w="9525">
            <a:noFill/>
            <a:miter lim="800000"/>
            <a:headEnd/>
            <a:tailEnd/>
          </a:ln>
        </p:spPr>
      </p:pic>
    </p:spTree>
    <p:extLst>
      <p:ext uri="{BB962C8B-B14F-4D97-AF65-F5344CB8AC3E}">
        <p14:creationId xmlns:p14="http://schemas.microsoft.com/office/powerpoint/2010/main" val="40314989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a:lstStyle/>
          <a:p>
            <a:pPr eaLnBrk="1" hangingPunct="1">
              <a:defRPr/>
            </a:pPr>
            <a:r>
              <a:rPr lang="en-US" dirty="0">
                <a:effectLst>
                  <a:outerShdw blurRad="38100" dist="38100" dir="2700000" algn="tl">
                    <a:srgbClr val="000000"/>
                  </a:outerShdw>
                </a:effectLst>
              </a:rPr>
              <a:t>Risk Curve</a:t>
            </a:r>
          </a:p>
        </p:txBody>
      </p:sp>
      <p:pic>
        <p:nvPicPr>
          <p:cNvPr id="70659" name="Picture 4"/>
          <p:cNvPicPr>
            <a:picLocks noChangeAspect="1" noChangeArrowheads="1"/>
          </p:cNvPicPr>
          <p:nvPr/>
        </p:nvPicPr>
        <p:blipFill>
          <a:blip r:embed="rId3" cstate="print"/>
          <a:srcRect l="9843" t="32042" r="48816" b="18813"/>
          <a:stretch>
            <a:fillRect/>
          </a:stretch>
        </p:blipFill>
        <p:spPr bwMode="auto">
          <a:xfrm>
            <a:off x="3017837" y="1351778"/>
            <a:ext cx="6546787" cy="4863666"/>
          </a:xfrm>
          <a:prstGeom prst="rect">
            <a:avLst/>
          </a:prstGeom>
          <a:noFill/>
          <a:ln w="9525">
            <a:noFill/>
            <a:miter lim="800000"/>
            <a:headEnd/>
            <a:tailEnd/>
          </a:ln>
        </p:spPr>
      </p:pic>
      <p:sp>
        <p:nvSpPr>
          <p:cNvPr id="2" name="TextBox 1"/>
          <p:cNvSpPr txBox="1"/>
          <p:nvPr/>
        </p:nvSpPr>
        <p:spPr>
          <a:xfrm>
            <a:off x="2556172" y="2116736"/>
            <a:ext cx="553998" cy="3045814"/>
          </a:xfrm>
          <a:prstGeom prst="rect">
            <a:avLst/>
          </a:prstGeom>
          <a:noFill/>
        </p:spPr>
        <p:txBody>
          <a:bodyPr vert="vert270" wrap="square" rtlCol="0">
            <a:spAutoFit/>
          </a:bodyPr>
          <a:lstStyle/>
          <a:p>
            <a:r>
              <a:rPr lang="en-US" sz="2400" dirty="0">
                <a:latin typeface="Georgia" panose="02040502050405020303" pitchFamily="18" charset="0"/>
              </a:rPr>
              <a:t>Flood Frequency </a:t>
            </a:r>
          </a:p>
        </p:txBody>
      </p:sp>
      <p:sp>
        <p:nvSpPr>
          <p:cNvPr id="3" name="TextBox 2"/>
          <p:cNvSpPr txBox="1"/>
          <p:nvPr/>
        </p:nvSpPr>
        <p:spPr>
          <a:xfrm>
            <a:off x="5676900" y="6215444"/>
            <a:ext cx="3352800" cy="461665"/>
          </a:xfrm>
          <a:prstGeom prst="rect">
            <a:avLst/>
          </a:prstGeom>
          <a:noFill/>
        </p:spPr>
        <p:txBody>
          <a:bodyPr wrap="square" rtlCol="0">
            <a:spAutoFit/>
          </a:bodyPr>
          <a:lstStyle/>
          <a:p>
            <a:r>
              <a:rPr lang="en-US" sz="2400" dirty="0">
                <a:latin typeface="Georgia" panose="02040502050405020303" pitchFamily="18" charset="0"/>
              </a:rPr>
              <a:t>Losses</a:t>
            </a:r>
          </a:p>
        </p:txBody>
      </p:sp>
    </p:spTree>
    <p:extLst>
      <p:ext uri="{BB962C8B-B14F-4D97-AF65-F5344CB8AC3E}">
        <p14:creationId xmlns:p14="http://schemas.microsoft.com/office/powerpoint/2010/main" val="25632131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p:txBody>
          <a:bodyPr/>
          <a:lstStyle/>
          <a:p>
            <a:pPr eaLnBrk="1" hangingPunct="1"/>
            <a:endParaRPr lang="en-US"/>
          </a:p>
        </p:txBody>
      </p:sp>
      <p:sp>
        <p:nvSpPr>
          <p:cNvPr id="73730" name="Content Placeholder 2"/>
          <p:cNvSpPr>
            <a:spLocks noGrp="1"/>
          </p:cNvSpPr>
          <p:nvPr>
            <p:ph sz="quarter" idx="1"/>
          </p:nvPr>
        </p:nvSpPr>
        <p:spPr>
          <a:xfrm>
            <a:off x="1981200" y="1219201"/>
            <a:ext cx="8229600" cy="4937125"/>
          </a:xfrm>
        </p:spPr>
        <p:txBody>
          <a:bodyPr/>
          <a:lstStyle/>
          <a:p>
            <a:pPr eaLnBrk="1" hangingPunct="1"/>
            <a:endParaRPr lang="en-US"/>
          </a:p>
        </p:txBody>
      </p:sp>
      <p:pic>
        <p:nvPicPr>
          <p:cNvPr id="73731" name="Picture 2"/>
          <p:cNvPicPr>
            <a:picLocks noChangeAspect="1" noChangeArrowheads="1"/>
          </p:cNvPicPr>
          <p:nvPr/>
        </p:nvPicPr>
        <p:blipFill>
          <a:blip r:embed="rId2" cstate="print"/>
          <a:srcRect l="10156" t="11459" r="9375" b="10417"/>
          <a:stretch>
            <a:fillRect/>
          </a:stretch>
        </p:blipFill>
        <p:spPr bwMode="auto">
          <a:xfrm>
            <a:off x="1677988" y="228600"/>
            <a:ext cx="8685212" cy="6172200"/>
          </a:xfrm>
          <a:prstGeom prst="rect">
            <a:avLst/>
          </a:prstGeom>
          <a:noFill/>
          <a:ln w="38100">
            <a:solidFill>
              <a:schemeClr val="accent1"/>
            </a:solidFill>
            <a:miter lim="800000"/>
            <a:headEnd/>
            <a:tailEnd/>
          </a:ln>
        </p:spPr>
      </p:pic>
      <p:sp>
        <p:nvSpPr>
          <p:cNvPr id="73732" name="TextBox 4"/>
          <p:cNvSpPr txBox="1">
            <a:spLocks noChangeArrowheads="1"/>
          </p:cNvSpPr>
          <p:nvPr/>
        </p:nvSpPr>
        <p:spPr bwMode="auto">
          <a:xfrm>
            <a:off x="1981200" y="6477001"/>
            <a:ext cx="3581400" cy="307975"/>
          </a:xfrm>
          <a:prstGeom prst="rect">
            <a:avLst/>
          </a:prstGeom>
          <a:noFill/>
          <a:ln w="9525">
            <a:noFill/>
            <a:miter lim="800000"/>
            <a:headEnd/>
            <a:tailEnd/>
          </a:ln>
        </p:spPr>
        <p:txBody>
          <a:bodyPr>
            <a:spAutoFit/>
          </a:bodyPr>
          <a:lstStyle/>
          <a:p>
            <a:r>
              <a:rPr lang="en-US" sz="1400">
                <a:latin typeface="Gill Sans MT" pitchFamily="34" charset="0"/>
              </a:rPr>
              <a:t>Source:  Cees Van Westen, ITC</a:t>
            </a:r>
          </a:p>
        </p:txBody>
      </p:sp>
    </p:spTree>
    <p:extLst>
      <p:ext uri="{BB962C8B-B14F-4D97-AF65-F5344CB8AC3E}">
        <p14:creationId xmlns:p14="http://schemas.microsoft.com/office/powerpoint/2010/main" val="13119587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idx="4294967295"/>
          </p:nvPr>
        </p:nvSpPr>
        <p:spPr>
          <a:xfrm>
            <a:off x="1390650" y="228600"/>
            <a:ext cx="9963150" cy="762000"/>
          </a:xfrm>
        </p:spPr>
        <p:txBody>
          <a:bodyPr>
            <a:no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Disaster Management: New Concepts</a:t>
            </a:r>
          </a:p>
        </p:txBody>
      </p:sp>
      <p:pic>
        <p:nvPicPr>
          <p:cNvPr id="61443" name="Picture 2"/>
          <p:cNvPicPr>
            <a:picLocks noChangeAspect="1" noChangeArrowheads="1"/>
          </p:cNvPicPr>
          <p:nvPr/>
        </p:nvPicPr>
        <p:blipFill>
          <a:blip r:embed="rId3"/>
          <a:srcRect l="26563" t="20833" r="24219" b="16000"/>
          <a:stretch>
            <a:fillRect/>
          </a:stretch>
        </p:blipFill>
        <p:spPr bwMode="auto">
          <a:xfrm>
            <a:off x="3429000" y="1052514"/>
            <a:ext cx="5867400" cy="5647372"/>
          </a:xfrm>
          <a:prstGeom prst="rect">
            <a:avLst/>
          </a:prstGeom>
          <a:noFill/>
          <a:ln w="9525">
            <a:noFill/>
            <a:miter lim="800000"/>
            <a:headEnd/>
            <a:tailEnd/>
          </a:ln>
        </p:spPr>
      </p:pic>
    </p:spTree>
    <p:extLst>
      <p:ext uri="{BB962C8B-B14F-4D97-AF65-F5344CB8AC3E}">
        <p14:creationId xmlns:p14="http://schemas.microsoft.com/office/powerpoint/2010/main" val="21463762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p:txBody>
          <a:bodyPr/>
          <a:lstStyle/>
          <a:p>
            <a:r>
              <a:rPr lang="en-US" dirty="0"/>
              <a:t>Disaster Management Phases</a:t>
            </a:r>
          </a:p>
        </p:txBody>
      </p:sp>
      <p:sp>
        <p:nvSpPr>
          <p:cNvPr id="65538" name="Rectangle 3"/>
          <p:cNvSpPr>
            <a:spLocks noGrp="1"/>
          </p:cNvSpPr>
          <p:nvPr>
            <p:ph type="body" idx="1"/>
          </p:nvPr>
        </p:nvSpPr>
        <p:spPr>
          <a:xfrm>
            <a:off x="838200" y="1962150"/>
            <a:ext cx="10763250" cy="4686300"/>
          </a:xfrm>
        </p:spPr>
        <p:txBody>
          <a:bodyPr>
            <a:normAutofit/>
          </a:bodyPr>
          <a:lstStyle/>
          <a:p>
            <a:pPr eaLnBrk="1" hangingPunct="1">
              <a:lnSpc>
                <a:spcPct val="114000"/>
              </a:lnSpc>
              <a:spcBef>
                <a:spcPts val="1200"/>
              </a:spcBef>
              <a:spcAft>
                <a:spcPts val="1200"/>
              </a:spcAft>
            </a:pPr>
            <a:r>
              <a:rPr lang="en-US" sz="3100" b="1" dirty="0"/>
              <a:t>Mitigation</a:t>
            </a:r>
            <a:r>
              <a:rPr lang="en-US" sz="3100" i="1" dirty="0"/>
              <a:t>—</a:t>
            </a:r>
            <a:r>
              <a:rPr lang="en-US" sz="3100" dirty="0"/>
              <a:t>Taking sustained actions to reduce or eliminate long-term risk to people and property from hazards and their effects.</a:t>
            </a:r>
          </a:p>
          <a:p>
            <a:pPr eaLnBrk="1" hangingPunct="1">
              <a:lnSpc>
                <a:spcPct val="114000"/>
              </a:lnSpc>
              <a:spcBef>
                <a:spcPts val="1200"/>
              </a:spcBef>
              <a:spcAft>
                <a:spcPts val="1200"/>
              </a:spcAft>
            </a:pPr>
            <a:r>
              <a:rPr lang="en-US" sz="3100" b="1" dirty="0"/>
              <a:t>Preparedness</a:t>
            </a:r>
            <a:r>
              <a:rPr lang="en-US" sz="3100" b="1" i="1" dirty="0"/>
              <a:t>—</a:t>
            </a:r>
            <a:r>
              <a:rPr lang="en-US" sz="3100" dirty="0"/>
              <a:t>Building the emergency management function to respond effectively to and recover from any hazard.</a:t>
            </a:r>
          </a:p>
        </p:txBody>
      </p:sp>
    </p:spTree>
    <p:extLst>
      <p:ext uri="{BB962C8B-B14F-4D97-AF65-F5344CB8AC3E}">
        <p14:creationId xmlns:p14="http://schemas.microsoft.com/office/powerpoint/2010/main" val="27160109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a:xfrm>
            <a:off x="838200" y="250825"/>
            <a:ext cx="10515600" cy="1325563"/>
          </a:xfrm>
        </p:spPr>
        <p:txBody>
          <a:bodyPr/>
          <a:lstStyle/>
          <a:p>
            <a:r>
              <a:rPr lang="en-US" dirty="0"/>
              <a:t>Disaster Management Phases</a:t>
            </a:r>
          </a:p>
        </p:txBody>
      </p:sp>
      <p:sp>
        <p:nvSpPr>
          <p:cNvPr id="65538" name="Rectangle 3"/>
          <p:cNvSpPr>
            <a:spLocks noGrp="1"/>
          </p:cNvSpPr>
          <p:nvPr>
            <p:ph type="body" idx="1"/>
          </p:nvPr>
        </p:nvSpPr>
        <p:spPr>
          <a:xfrm>
            <a:off x="571500" y="1614488"/>
            <a:ext cx="11277600" cy="4957762"/>
          </a:xfrm>
        </p:spPr>
        <p:txBody>
          <a:bodyPr>
            <a:noAutofit/>
          </a:bodyPr>
          <a:lstStyle/>
          <a:p>
            <a:pPr eaLnBrk="1" hangingPunct="1">
              <a:lnSpc>
                <a:spcPct val="114000"/>
              </a:lnSpc>
              <a:spcBef>
                <a:spcPts val="1200"/>
              </a:spcBef>
              <a:spcAft>
                <a:spcPts val="1200"/>
              </a:spcAft>
            </a:pPr>
            <a:r>
              <a:rPr lang="en-US" sz="3000" b="1" dirty="0"/>
              <a:t>Response</a:t>
            </a:r>
            <a:r>
              <a:rPr lang="en-US" sz="3000" i="1" dirty="0"/>
              <a:t>—</a:t>
            </a:r>
            <a:r>
              <a:rPr lang="en-US" sz="3000" dirty="0"/>
              <a:t>Conducting emergency operations to save lives and property by taking action to reduce the hazard to acceptable levels (or eliminate it entirely); </a:t>
            </a:r>
          </a:p>
          <a:p>
            <a:pPr lvl="1">
              <a:lnSpc>
                <a:spcPct val="114000"/>
              </a:lnSpc>
              <a:spcAft>
                <a:spcPts val="1200"/>
              </a:spcAft>
            </a:pPr>
            <a:r>
              <a:rPr lang="en-US" dirty="0">
                <a:solidFill>
                  <a:schemeClr val="accent2">
                    <a:lumMod val="50000"/>
                  </a:schemeClr>
                </a:solidFill>
              </a:rPr>
              <a:t>evacuating potential victims; providing food, water, shelter, and medical care to those in need; and restoring critical public services</a:t>
            </a:r>
          </a:p>
          <a:p>
            <a:pPr eaLnBrk="1" hangingPunct="1">
              <a:lnSpc>
                <a:spcPct val="114000"/>
              </a:lnSpc>
              <a:spcBef>
                <a:spcPts val="1200"/>
              </a:spcBef>
              <a:spcAft>
                <a:spcPts val="1200"/>
              </a:spcAft>
            </a:pPr>
            <a:r>
              <a:rPr lang="en-US" sz="3000" b="1" dirty="0"/>
              <a:t>Recovery</a:t>
            </a:r>
            <a:r>
              <a:rPr lang="en-US" sz="3000" b="1" i="1" dirty="0"/>
              <a:t>—</a:t>
            </a:r>
            <a:r>
              <a:rPr lang="en-US" sz="3000" dirty="0"/>
              <a:t>Rebuilding communities so that individuals, businesses, and governments can function on their own, return to normal life, and protect against future hazards </a:t>
            </a:r>
          </a:p>
        </p:txBody>
      </p:sp>
    </p:spTree>
    <p:extLst>
      <p:ext uri="{BB962C8B-B14F-4D97-AF65-F5344CB8AC3E}">
        <p14:creationId xmlns:p14="http://schemas.microsoft.com/office/powerpoint/2010/main" val="31083216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p:cNvSpPr>
          <p:nvPr>
            <p:ph type="title"/>
          </p:nvPr>
        </p:nvSpPr>
        <p:spPr>
          <a:xfrm>
            <a:off x="838200" y="184150"/>
            <a:ext cx="10515600" cy="549275"/>
          </a:xfrm>
        </p:spPr>
        <p:txBody>
          <a:bodyPr>
            <a:normAutofit fontScale="90000"/>
          </a:bodyPr>
          <a:lstStyle/>
          <a:p>
            <a:r>
              <a:rPr lang="en-US" dirty="0"/>
              <a:t>Disaster Management Cycle</a:t>
            </a:r>
          </a:p>
        </p:txBody>
      </p:sp>
      <p:sp>
        <p:nvSpPr>
          <p:cNvPr id="67586" name="Rectangle 3"/>
          <p:cNvSpPr>
            <a:spLocks noGrp="1"/>
          </p:cNvSpPr>
          <p:nvPr>
            <p:ph type="body" idx="1"/>
          </p:nvPr>
        </p:nvSpPr>
        <p:spPr>
          <a:xfrm>
            <a:off x="285750" y="914400"/>
            <a:ext cx="11620500" cy="552450"/>
          </a:xfrm>
        </p:spPr>
        <p:txBody>
          <a:bodyPr>
            <a:normAutofit/>
          </a:bodyPr>
          <a:lstStyle/>
          <a:p>
            <a:pPr marL="0" indent="0">
              <a:buNone/>
            </a:pPr>
            <a:r>
              <a:rPr lang="en-US" sz="2800" dirty="0"/>
              <a:t>Critical Phases, Related Activities and Timing</a:t>
            </a:r>
          </a:p>
          <a:p>
            <a:pPr marL="0" indent="0">
              <a:buNone/>
            </a:pPr>
            <a:endParaRPr lang="en-US" sz="2800" dirty="0"/>
          </a:p>
        </p:txBody>
      </p:sp>
      <p:graphicFrame>
        <p:nvGraphicFramePr>
          <p:cNvPr id="46123" name="Group 43"/>
          <p:cNvGraphicFramePr>
            <a:graphicFrameLocks noGrp="1"/>
          </p:cNvGraphicFramePr>
          <p:nvPr>
            <p:extLst>
              <p:ext uri="{D42A27DB-BD31-4B8C-83A1-F6EECF244321}">
                <p14:modId xmlns:p14="http://schemas.microsoft.com/office/powerpoint/2010/main" val="1809149327"/>
              </p:ext>
            </p:extLst>
          </p:nvPr>
        </p:nvGraphicFramePr>
        <p:xfrm>
          <a:off x="285750" y="1466850"/>
          <a:ext cx="11620500" cy="5236744"/>
        </p:xfrm>
        <a:graphic>
          <a:graphicData uri="http://schemas.openxmlformats.org/drawingml/2006/table">
            <a:tbl>
              <a:tblPr/>
              <a:tblGrid>
                <a:gridCol w="63627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0489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Phase</a:t>
                      </a:r>
                      <a:endParaRPr kumimoji="0" lang="en-US" sz="2100" b="1" i="0" u="none" strike="noStrike" cap="none" normalizeH="0" baseline="0" dirty="0">
                        <a:ln>
                          <a:noFill/>
                        </a:ln>
                        <a:solidFill>
                          <a:schemeClr val="bg1"/>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Time</a:t>
                      </a:r>
                      <a:endParaRPr kumimoji="0" lang="en-US" sz="2100" b="1" i="0" u="none" strike="noStrike" cap="none" normalizeH="0" baseline="0" dirty="0">
                        <a:ln>
                          <a:noFill/>
                        </a:ln>
                        <a:solidFill>
                          <a:schemeClr val="bg1"/>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911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Mitigation</a:t>
                      </a:r>
                      <a:endParaRPr kumimoji="0" lang="en-US" sz="2100" b="0" i="0" u="none" strike="noStrike" cap="none" normalizeH="0" baseline="0" dirty="0">
                        <a:ln>
                          <a:noFill/>
                        </a:ln>
                        <a:solidFill>
                          <a:schemeClr val="bg1"/>
                        </a:solidFill>
                        <a:effectLst/>
                        <a:latin typeface="Tahoma"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Building codes and hazard/risk zoning, vulnerability analysis, public education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Activities that </a:t>
                      </a:r>
                      <a:r>
                        <a:rPr kumimoji="0" lang="en-US" sz="2100" b="0" i="0" u="sng" strike="noStrike" cap="none" normalizeH="0" baseline="0" dirty="0">
                          <a:ln>
                            <a:noFill/>
                          </a:ln>
                          <a:solidFill>
                            <a:schemeClr val="bg1"/>
                          </a:solidFill>
                          <a:effectLst/>
                          <a:latin typeface="Tahoma" pitchFamily="34" charset="0"/>
                          <a:cs typeface="Times New Roman" pitchFamily="18" charset="0"/>
                        </a:rPr>
                        <a:t>reduce the effects of disaster before disaster</a:t>
                      </a:r>
                      <a:endParaRPr kumimoji="0" lang="en-US" sz="2100" b="0" i="0" u="sng" strike="noStrike" cap="none" normalizeH="0" baseline="0" dirty="0">
                        <a:ln>
                          <a:noFill/>
                        </a:ln>
                        <a:solidFill>
                          <a:schemeClr val="bg1"/>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116337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Preparedness</a:t>
                      </a:r>
                      <a:endParaRPr kumimoji="0" lang="en-US" sz="2100" b="0" i="0" u="none" strike="noStrike" cap="none" normalizeH="0" baseline="0" dirty="0">
                        <a:ln>
                          <a:noFill/>
                        </a:ln>
                        <a:solidFill>
                          <a:schemeClr val="bg1"/>
                        </a:solidFill>
                        <a:effectLst/>
                        <a:latin typeface="Tahoma"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vulnerability analysis, pre-disaster planning, preparedness plans, warning systems</a:t>
                      </a:r>
                      <a:endParaRPr kumimoji="0" lang="en-US" sz="2100" b="0" i="0" u="none" strike="noStrike" cap="none" normalizeH="0" baseline="0" dirty="0">
                        <a:ln>
                          <a:noFill/>
                        </a:ln>
                        <a:solidFill>
                          <a:srgbClr val="FFCC66"/>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Activities </a:t>
                      </a:r>
                      <a:r>
                        <a:rPr kumimoji="0" lang="en-US" sz="2100" b="0" i="0" u="sng" strike="noStrike" cap="none" normalizeH="0" baseline="0" dirty="0">
                          <a:ln>
                            <a:noFill/>
                          </a:ln>
                          <a:solidFill>
                            <a:schemeClr val="bg1"/>
                          </a:solidFill>
                          <a:effectLst/>
                          <a:latin typeface="Tahoma" pitchFamily="34" charset="0"/>
                          <a:cs typeface="Times New Roman" pitchFamily="18" charset="0"/>
                        </a:rPr>
                        <a:t>prior to a disaster</a:t>
                      </a:r>
                      <a:endParaRPr kumimoji="0" lang="en-US" sz="2100" b="0" i="0" u="sng" strike="noStrike" cap="none" normalizeH="0" baseline="0" dirty="0">
                        <a:ln>
                          <a:noFill/>
                        </a:ln>
                        <a:solidFill>
                          <a:schemeClr val="bg1"/>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2"/>
                  </a:ext>
                </a:extLst>
              </a:tr>
              <a:tr h="99114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Response </a:t>
                      </a:r>
                      <a:endParaRPr kumimoji="0" lang="en-US" sz="2100" b="0" i="0" u="none" strike="noStrike" cap="none" normalizeH="0" baseline="0" dirty="0">
                        <a:ln>
                          <a:noFill/>
                        </a:ln>
                        <a:solidFill>
                          <a:schemeClr val="bg1"/>
                        </a:solidFill>
                        <a:effectLst/>
                        <a:latin typeface="Tahoma"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emergency operations and relief activities, search and rescue, damage assessment</a:t>
                      </a:r>
                      <a:endParaRPr kumimoji="0" lang="en-US" sz="2100" b="0" i="0" u="none" strike="noStrike" cap="none" normalizeH="0" baseline="0" dirty="0">
                        <a:ln>
                          <a:noFill/>
                        </a:ln>
                        <a:solidFill>
                          <a:srgbClr val="FFCC66"/>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0" i="0" u="none" strike="noStrike" kern="1200" cap="none" normalizeH="0" baseline="0" dirty="0">
                          <a:ln>
                            <a:noFill/>
                          </a:ln>
                          <a:solidFill>
                            <a:srgbClr val="FFCC66"/>
                          </a:solidFill>
                          <a:effectLst/>
                          <a:latin typeface="Tahoma" pitchFamily="34" charset="0"/>
                          <a:ea typeface="+mn-ea"/>
                          <a:cs typeface="Times New Roman" pitchFamily="18" charset="0"/>
                        </a:rPr>
                        <a:t>Activities </a:t>
                      </a:r>
                      <a:r>
                        <a:rPr kumimoji="0" lang="en-US" sz="2100" b="0" i="0" u="sng" strike="noStrike" kern="1200" cap="none" normalizeH="0" baseline="0" dirty="0">
                          <a:ln>
                            <a:noFill/>
                          </a:ln>
                          <a:solidFill>
                            <a:schemeClr val="bg1"/>
                          </a:solidFill>
                          <a:effectLst/>
                          <a:latin typeface="Tahoma" pitchFamily="34" charset="0"/>
                          <a:ea typeface="+mn-ea"/>
                          <a:cs typeface="Times New Roman" pitchFamily="18" charset="0"/>
                        </a:rPr>
                        <a:t>during a disaster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3"/>
                  </a:ext>
                </a:extLst>
              </a:tr>
              <a:tr h="155877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1" i="0" u="none" strike="noStrike" cap="none" normalizeH="0" baseline="0" dirty="0">
                          <a:ln>
                            <a:noFill/>
                          </a:ln>
                          <a:solidFill>
                            <a:schemeClr val="bg1"/>
                          </a:solidFill>
                          <a:effectLst/>
                          <a:latin typeface="Tahoma" pitchFamily="34" charset="0"/>
                          <a:cs typeface="Times New Roman" pitchFamily="18" charset="0"/>
                        </a:rPr>
                        <a:t>Recovery</a:t>
                      </a:r>
                      <a:endParaRPr kumimoji="0" lang="en-US" sz="2100" b="0" i="0" u="none" strike="noStrike" cap="none" normalizeH="0" baseline="0" dirty="0">
                        <a:ln>
                          <a:noFill/>
                        </a:ln>
                        <a:solidFill>
                          <a:schemeClr val="bg1"/>
                        </a:solidFill>
                        <a:effectLst/>
                        <a:latin typeface="Tahoma"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early recovery (temporary houses), claims processing and grants, medical care and counseling, rehabilitation, reconstruction, post disaster planning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100" b="0" i="0" u="none" strike="noStrike" cap="none" normalizeH="0" baseline="0" dirty="0">
                          <a:ln>
                            <a:noFill/>
                          </a:ln>
                          <a:solidFill>
                            <a:srgbClr val="FFCC66"/>
                          </a:solidFill>
                          <a:effectLst/>
                          <a:latin typeface="Tahoma" pitchFamily="34" charset="0"/>
                          <a:cs typeface="Times New Roman" pitchFamily="18" charset="0"/>
                        </a:rPr>
                        <a:t>Activities </a:t>
                      </a:r>
                      <a:r>
                        <a:rPr kumimoji="0" lang="en-US" sz="2100" b="0" i="0" u="sng" strike="noStrike" cap="none" normalizeH="0" baseline="0" dirty="0">
                          <a:ln>
                            <a:noFill/>
                          </a:ln>
                          <a:solidFill>
                            <a:schemeClr val="bg1"/>
                          </a:solidFill>
                          <a:effectLst/>
                          <a:latin typeface="Tahoma" pitchFamily="34" charset="0"/>
                          <a:cs typeface="Times New Roman" pitchFamily="18" charset="0"/>
                        </a:rPr>
                        <a:t>following a disaster</a:t>
                      </a:r>
                      <a:endParaRPr kumimoji="0" lang="en-US" sz="2100" b="0" i="0" u="sng" strike="noStrike" cap="none" normalizeH="0" baseline="0" dirty="0">
                        <a:ln>
                          <a:noFill/>
                        </a:ln>
                        <a:solidFill>
                          <a:schemeClr val="bg1"/>
                        </a:solidFill>
                        <a:effectLst/>
                        <a:latin typeface="Tahoma" pitchFamily="34"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920794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3" name="Group 5"/>
          <p:cNvGrpSpPr>
            <a:grpSpLocks/>
          </p:cNvGrpSpPr>
          <p:nvPr/>
        </p:nvGrpSpPr>
        <p:grpSpPr bwMode="auto">
          <a:xfrm>
            <a:off x="1504950" y="1099457"/>
            <a:ext cx="9163050" cy="5867400"/>
            <a:chOff x="2971800" y="1447800"/>
            <a:chExt cx="5791200" cy="3429000"/>
          </a:xfrm>
        </p:grpSpPr>
        <p:pic>
          <p:nvPicPr>
            <p:cNvPr id="69635" name="Picture 2"/>
            <p:cNvPicPr>
              <a:picLocks noChangeAspect="1" noChangeArrowheads="1"/>
            </p:cNvPicPr>
            <p:nvPr/>
          </p:nvPicPr>
          <p:blipFill>
            <a:blip r:embed="rId3"/>
            <a:srcRect l="30469" t="19792" r="28906" b="33333"/>
            <a:stretch>
              <a:fillRect/>
            </a:stretch>
          </p:blipFill>
          <p:spPr bwMode="auto">
            <a:xfrm>
              <a:off x="2971800" y="1447800"/>
              <a:ext cx="3962400" cy="3429000"/>
            </a:xfrm>
            <a:prstGeom prst="rect">
              <a:avLst/>
            </a:prstGeom>
            <a:noFill/>
            <a:ln w="9525">
              <a:noFill/>
              <a:miter lim="800000"/>
              <a:headEnd/>
              <a:tailEnd/>
            </a:ln>
          </p:spPr>
        </p:pic>
        <p:pic>
          <p:nvPicPr>
            <p:cNvPr id="69636" name="Picture 2"/>
            <p:cNvPicPr>
              <a:picLocks noChangeAspect="1" noChangeArrowheads="1"/>
            </p:cNvPicPr>
            <p:nvPr/>
          </p:nvPicPr>
          <p:blipFill>
            <a:blip r:embed="rId3"/>
            <a:srcRect l="32813" t="66667" r="30469" b="12500"/>
            <a:stretch>
              <a:fillRect/>
            </a:stretch>
          </p:blipFill>
          <p:spPr bwMode="auto">
            <a:xfrm rot="5400000">
              <a:off x="6147435" y="2234565"/>
              <a:ext cx="3402330" cy="1828800"/>
            </a:xfrm>
            <a:prstGeom prst="rect">
              <a:avLst/>
            </a:prstGeom>
            <a:noFill/>
            <a:ln w="9525">
              <a:noFill/>
              <a:miter lim="800000"/>
              <a:headEnd/>
              <a:tailEnd/>
            </a:ln>
          </p:spPr>
        </p:pic>
      </p:grpSp>
      <p:sp>
        <p:nvSpPr>
          <p:cNvPr id="69634" name="Title 6"/>
          <p:cNvSpPr>
            <a:spLocks noGrp="1"/>
          </p:cNvSpPr>
          <p:nvPr>
            <p:ph type="title"/>
          </p:nvPr>
        </p:nvSpPr>
        <p:spPr>
          <a:xfrm>
            <a:off x="1181100" y="228600"/>
            <a:ext cx="9029700" cy="609600"/>
          </a:xfrm>
        </p:spPr>
        <p:txBody>
          <a:bodyPr>
            <a:normAutofit/>
          </a:bodyPr>
          <a:lstStyle/>
          <a:p>
            <a:r>
              <a:rPr lang="en-US" sz="3600" b="1" spc="-100" dirty="0">
                <a:solidFill>
                  <a:srgbClr val="0000CC"/>
                </a:solidFill>
                <a:latin typeface="Comic Sans MS" panose="030F0702030302020204" pitchFamily="66" charset="0"/>
                <a:cs typeface="Arial" panose="020B0604020202020204" pitchFamily="34" charset="0"/>
              </a:rPr>
              <a:t>4 Phases</a:t>
            </a:r>
          </a:p>
        </p:txBody>
      </p:sp>
    </p:spTree>
    <p:extLst>
      <p:ext uri="{BB962C8B-B14F-4D97-AF65-F5344CB8AC3E}">
        <p14:creationId xmlns:p14="http://schemas.microsoft.com/office/powerpoint/2010/main" val="18002178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idx="4294967295"/>
          </p:nvPr>
        </p:nvSpPr>
        <p:spPr>
          <a:xfrm>
            <a:off x="2152650" y="495300"/>
            <a:ext cx="8229600" cy="666750"/>
          </a:xfrm>
        </p:spPr>
        <p:txBody>
          <a:bodyPr vert="horz" lIns="0" tIns="45720" rIns="0" bIns="0" rtlCol="0" anchor="ctr">
            <a:normAutofit/>
          </a:bodyPr>
          <a:lstStyle/>
          <a:p>
            <a:pPr algn="ctr" eaLnBrk="1" hangingPunct="1"/>
            <a:r>
              <a:rPr lang="en-US" sz="4000" b="1" spc="-100" dirty="0">
                <a:solidFill>
                  <a:srgbClr val="0000CC"/>
                </a:solidFill>
                <a:latin typeface="Comic Sans MS" panose="030F0702030302020204" pitchFamily="66" charset="0"/>
                <a:cs typeface="Arial" panose="020B0604020202020204" pitchFamily="34" charset="0"/>
              </a:rPr>
              <a:t>Disaster Management Cycle</a:t>
            </a:r>
          </a:p>
        </p:txBody>
      </p:sp>
      <p:pic>
        <p:nvPicPr>
          <p:cNvPr id="72706" name="Picture 3"/>
          <p:cNvPicPr>
            <a:picLocks noChangeAspect="1" noChangeArrowheads="1"/>
          </p:cNvPicPr>
          <p:nvPr/>
        </p:nvPicPr>
        <p:blipFill>
          <a:blip r:embed="rId2"/>
          <a:srcRect l="38524" t="15384" r="11397" b="7692"/>
          <a:stretch>
            <a:fillRect/>
          </a:stretch>
        </p:blipFill>
        <p:spPr bwMode="auto">
          <a:xfrm>
            <a:off x="2895600" y="1295401"/>
            <a:ext cx="5562600" cy="5349875"/>
          </a:xfrm>
          <a:prstGeom prst="rect">
            <a:avLst/>
          </a:prstGeom>
          <a:noFill/>
          <a:ln w="9525">
            <a:noFill/>
            <a:miter lim="800000"/>
            <a:headEnd/>
            <a:tailEnd/>
          </a:ln>
        </p:spPr>
      </p:pic>
    </p:spTree>
    <p:extLst>
      <p:ext uri="{BB962C8B-B14F-4D97-AF65-F5344CB8AC3E}">
        <p14:creationId xmlns:p14="http://schemas.microsoft.com/office/powerpoint/2010/main" val="757950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4"/>
          <p:cNvPicPr>
            <a:picLocks noChangeAspect="1" noChangeArrowheads="1"/>
          </p:cNvPicPr>
          <p:nvPr/>
        </p:nvPicPr>
        <p:blipFill>
          <a:blip r:embed="rId3"/>
          <a:srcRect l="7706" t="18462" r="3691" b="7692"/>
          <a:stretch>
            <a:fillRect/>
          </a:stretch>
        </p:blipFill>
        <p:spPr bwMode="auto">
          <a:xfrm>
            <a:off x="962025" y="1062669"/>
            <a:ext cx="10382250" cy="5416435"/>
          </a:xfrm>
          <a:prstGeom prst="rect">
            <a:avLst/>
          </a:prstGeom>
          <a:noFill/>
          <a:ln w="9525">
            <a:noFill/>
            <a:miter lim="800000"/>
            <a:headEnd/>
            <a:tailEnd/>
          </a:ln>
        </p:spPr>
      </p:pic>
      <p:sp>
        <p:nvSpPr>
          <p:cNvPr id="73730" name="Title 1"/>
          <p:cNvSpPr>
            <a:spLocks/>
          </p:cNvSpPr>
          <p:nvPr/>
        </p:nvSpPr>
        <p:spPr bwMode="auto">
          <a:xfrm>
            <a:off x="1981200" y="152400"/>
            <a:ext cx="8229600" cy="781050"/>
          </a:xfrm>
          <a:prstGeom prst="rect">
            <a:avLst/>
          </a:prstGeom>
          <a:noFill/>
          <a:ln w="9525">
            <a:noFill/>
            <a:miter lim="800000"/>
            <a:headEnd/>
            <a:tailEnd/>
          </a:ln>
        </p:spPr>
        <p:txBody>
          <a:bodyPr anchor="b"/>
          <a:lstStyle/>
          <a:p>
            <a:pPr eaLnBrk="0" hangingPunct="0"/>
            <a:r>
              <a:rPr lang="en-US" sz="4000" b="1" spc="-100" dirty="0">
                <a:solidFill>
                  <a:srgbClr val="0000CC"/>
                </a:solidFill>
                <a:latin typeface="Comic Sans MS" panose="030F0702030302020204" pitchFamily="66" charset="0"/>
                <a:ea typeface="+mj-ea"/>
                <a:cs typeface="Arial" panose="020B0604020202020204" pitchFamily="34" charset="0"/>
              </a:rPr>
              <a:t>Risk Management: Key Elements </a:t>
            </a:r>
            <a:endParaRPr lang="en-IN" sz="4000" b="1" spc="-100" dirty="0">
              <a:solidFill>
                <a:srgbClr val="0000CC"/>
              </a:solidFill>
              <a:latin typeface="Comic Sans MS" panose="030F0702030302020204" pitchFamily="66" charset="0"/>
              <a:ea typeface="+mj-ea"/>
              <a:cs typeface="Arial" panose="020B0604020202020204" pitchFamily="34" charset="0"/>
            </a:endParaRPr>
          </a:p>
        </p:txBody>
      </p:sp>
      <p:sp>
        <p:nvSpPr>
          <p:cNvPr id="2" name="TextBox 1"/>
          <p:cNvSpPr txBox="1"/>
          <p:nvPr/>
        </p:nvSpPr>
        <p:spPr>
          <a:xfrm>
            <a:off x="1466850" y="6479104"/>
            <a:ext cx="4629150" cy="369332"/>
          </a:xfrm>
          <a:prstGeom prst="rect">
            <a:avLst/>
          </a:prstGeom>
          <a:noFill/>
        </p:spPr>
        <p:txBody>
          <a:bodyPr wrap="square" rtlCol="0">
            <a:spAutoFit/>
          </a:bodyPr>
          <a:lstStyle/>
          <a:p>
            <a:r>
              <a:rPr lang="en-US" dirty="0"/>
              <a:t>Source: Inter-American Development Bank</a:t>
            </a:r>
          </a:p>
        </p:txBody>
      </p:sp>
    </p:spTree>
    <p:extLst>
      <p:ext uri="{BB962C8B-B14F-4D97-AF65-F5344CB8AC3E}">
        <p14:creationId xmlns:p14="http://schemas.microsoft.com/office/powerpoint/2010/main" val="26597677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Disaster Management, Disaster Risk Reduction, and Risk Transfer</a:t>
            </a:r>
          </a:p>
        </p:txBody>
      </p:sp>
      <p:sp>
        <p:nvSpPr>
          <p:cNvPr id="4" name="Content Placeholder 3"/>
          <p:cNvSpPr>
            <a:spLocks noGrp="1"/>
          </p:cNvSpPr>
          <p:nvPr>
            <p:ph idx="1"/>
          </p:nvPr>
        </p:nvSpPr>
        <p:spPr>
          <a:xfrm>
            <a:off x="838200" y="1825624"/>
            <a:ext cx="11049000" cy="5032375"/>
          </a:xfrm>
        </p:spPr>
        <p:txBody>
          <a:bodyPr>
            <a:normAutofit fontScale="92500"/>
          </a:bodyPr>
          <a:lstStyle/>
          <a:p>
            <a:pPr>
              <a:lnSpc>
                <a:spcPct val="120000"/>
              </a:lnSpc>
            </a:pPr>
            <a:r>
              <a:rPr lang="en-US" dirty="0"/>
              <a:t>Risk transfer refers to the process of formally or informally shifting the financial consequences of particular risks from one party to another. </a:t>
            </a:r>
          </a:p>
          <a:p>
            <a:pPr>
              <a:lnSpc>
                <a:spcPct val="120000"/>
              </a:lnSpc>
            </a:pPr>
            <a:r>
              <a:rPr lang="en-US" dirty="0"/>
              <a:t>Disaster risk transfer mechanisms comprise a component of both disaster management and disaster risk reduction. </a:t>
            </a:r>
          </a:p>
          <a:p>
            <a:pPr lvl="1">
              <a:lnSpc>
                <a:spcPct val="120000"/>
              </a:lnSpc>
            </a:pPr>
            <a:r>
              <a:rPr lang="en-US" dirty="0"/>
              <a:t>In the former case, financial provision is made to face up to the impacts and consequences of disaster once this materializes. </a:t>
            </a:r>
          </a:p>
          <a:p>
            <a:pPr lvl="1">
              <a:lnSpc>
                <a:spcPct val="120000"/>
              </a:lnSpc>
            </a:pPr>
            <a:r>
              <a:rPr lang="en-US" dirty="0"/>
              <a:t>In the latter case, adequate insurance premiums, for example, can promote and encourage disaster risk reduction measures in the insured elements. </a:t>
            </a:r>
          </a:p>
        </p:txBody>
      </p:sp>
    </p:spTree>
    <p:extLst>
      <p:ext uri="{BB962C8B-B14F-4D97-AF65-F5344CB8AC3E}">
        <p14:creationId xmlns:p14="http://schemas.microsoft.com/office/powerpoint/2010/main" val="41846687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838200" y="365125"/>
            <a:ext cx="10515600" cy="930275"/>
          </a:xfrm>
        </p:spPr>
        <p:txBody>
          <a:bodyPr>
            <a:normAutofit/>
          </a:bodyPr>
          <a:lstStyle/>
          <a:p>
            <a:r>
              <a:rPr lang="en-US" sz="4000" b="1" spc="-100" dirty="0">
                <a:solidFill>
                  <a:srgbClr val="0000CC"/>
                </a:solidFill>
                <a:latin typeface="Comic Sans MS" panose="030F0702030302020204" pitchFamily="66" charset="0"/>
                <a:cs typeface="Arial" panose="020B0604020202020204" pitchFamily="34" charset="0"/>
              </a:rPr>
              <a:t>Spectrum of Disaster Management Actions</a:t>
            </a:r>
          </a:p>
        </p:txBody>
      </p:sp>
      <p:pic>
        <p:nvPicPr>
          <p:cNvPr id="75778" name="Picture 2"/>
          <p:cNvPicPr>
            <a:picLocks noChangeAspect="1" noChangeArrowheads="1"/>
          </p:cNvPicPr>
          <p:nvPr/>
        </p:nvPicPr>
        <p:blipFill>
          <a:blip r:embed="rId3"/>
          <a:srcRect l="14063" t="28125" r="15625" b="22705"/>
          <a:stretch>
            <a:fillRect/>
          </a:stretch>
        </p:blipFill>
        <p:spPr bwMode="auto">
          <a:xfrm>
            <a:off x="1118914" y="1295400"/>
            <a:ext cx="10501586" cy="5507991"/>
          </a:xfrm>
          <a:prstGeom prst="rect">
            <a:avLst/>
          </a:prstGeom>
          <a:noFill/>
          <a:ln w="9525">
            <a:noFill/>
            <a:miter lim="800000"/>
            <a:headEnd/>
            <a:tailEnd/>
          </a:ln>
        </p:spPr>
      </p:pic>
    </p:spTree>
    <p:extLst>
      <p:ext uri="{BB962C8B-B14F-4D97-AF65-F5344CB8AC3E}">
        <p14:creationId xmlns:p14="http://schemas.microsoft.com/office/powerpoint/2010/main" val="37480509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Assignment</a:t>
            </a:r>
          </a:p>
        </p:txBody>
      </p:sp>
      <p:sp>
        <p:nvSpPr>
          <p:cNvPr id="3" name="Content Placeholder 2"/>
          <p:cNvSpPr>
            <a:spLocks noGrp="1"/>
          </p:cNvSpPr>
          <p:nvPr>
            <p:ph idx="1"/>
          </p:nvPr>
        </p:nvSpPr>
        <p:spPr/>
        <p:txBody>
          <a:bodyPr/>
          <a:lstStyle/>
          <a:p>
            <a:r>
              <a:rPr lang="en-US" dirty="0"/>
              <a:t>Introduction to International Disaster Management By Damon P. Coppola, Third Edition 2015 </a:t>
            </a:r>
          </a:p>
          <a:p>
            <a:pPr lvl="1"/>
            <a:r>
              <a:rPr lang="en-US" dirty="0"/>
              <a:t>Chapter 1 &amp; 2 (link is provided)</a:t>
            </a:r>
          </a:p>
          <a:p>
            <a:r>
              <a:rPr lang="en-US" dirty="0" err="1"/>
              <a:t>Westen</a:t>
            </a:r>
            <a:r>
              <a:rPr lang="en-US" dirty="0"/>
              <a:t> Guide Book 1</a:t>
            </a:r>
          </a:p>
        </p:txBody>
      </p:sp>
    </p:spTree>
    <p:extLst>
      <p:ext uri="{BB962C8B-B14F-4D97-AF65-F5344CB8AC3E}">
        <p14:creationId xmlns:p14="http://schemas.microsoft.com/office/powerpoint/2010/main" val="8017261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9800" y="457200"/>
            <a:ext cx="7543800" cy="762000"/>
          </a:xfrm>
        </p:spPr>
        <p:txBody>
          <a:bodyPr/>
          <a:lstStyle/>
          <a:p>
            <a:pPr>
              <a:defRPr/>
            </a:pPr>
            <a:r>
              <a:rPr lang="en-US" sz="4000" b="1" dirty="0">
                <a:solidFill>
                  <a:srgbClr val="0000CC"/>
                </a:solidFill>
                <a:latin typeface="Comic Sans MS" panose="030F0702030302020204" pitchFamily="66" charset="0"/>
                <a:cs typeface="Arial" panose="020B0604020202020204" pitchFamily="34" charset="0"/>
              </a:rPr>
              <a:t>Discussion/Comment/Question</a:t>
            </a:r>
          </a:p>
        </p:txBody>
      </p:sp>
      <p:pic>
        <p:nvPicPr>
          <p:cNvPr id="44035" name="Picture 4" descr="3d characters around a table assembling a jigsaw puzz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700" y="1752601"/>
            <a:ext cx="6096000" cy="403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758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27587</TotalTime>
  <Words>5111</Words>
  <Application>Microsoft Office PowerPoint</Application>
  <PresentationFormat>Widescreen</PresentationFormat>
  <Paragraphs>501</Paragraphs>
  <Slides>85</Slides>
  <Notes>69</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85</vt:i4>
      </vt:variant>
    </vt:vector>
  </HeadingPairs>
  <TitlesOfParts>
    <vt:vector size="96" baseType="lpstr">
      <vt:lpstr>Arial</vt:lpstr>
      <vt:lpstr>Bookman Old Style</vt:lpstr>
      <vt:lpstr>Calibri</vt:lpstr>
      <vt:lpstr>Calibri Light</vt:lpstr>
      <vt:lpstr>Comic Sans MS</vt:lpstr>
      <vt:lpstr>Georgia</vt:lpstr>
      <vt:lpstr>Gill Sans MT</vt:lpstr>
      <vt:lpstr>Google Sans</vt:lpstr>
      <vt:lpstr>Tahoma</vt:lpstr>
      <vt:lpstr>Wingdings 3</vt:lpstr>
      <vt:lpstr>Office Theme</vt:lpstr>
      <vt:lpstr>PowerPoint Presentation</vt:lpstr>
      <vt:lpstr>Learning Objective</vt:lpstr>
      <vt:lpstr>Quick Quiz</vt:lpstr>
      <vt:lpstr>PowerPoint Presentation</vt:lpstr>
      <vt:lpstr>Now we know</vt:lpstr>
      <vt:lpstr>PowerPoint Presentation</vt:lpstr>
      <vt:lpstr>Hazard and Risk</vt:lpstr>
      <vt:lpstr>Risk : Definition</vt:lpstr>
      <vt:lpstr>PowerPoint Presentation</vt:lpstr>
      <vt:lpstr>Risk depends on</vt:lpstr>
      <vt:lpstr>PowerPoint Presentation</vt:lpstr>
      <vt:lpstr>Hazard and Vulnerability</vt:lpstr>
      <vt:lpstr>PowerPoint Presentation</vt:lpstr>
      <vt:lpstr>Vulnerability?</vt:lpstr>
      <vt:lpstr>Vulnerability?</vt:lpstr>
      <vt:lpstr>Vulnerability Examples?</vt:lpstr>
      <vt:lpstr>PowerPoint Presentation</vt:lpstr>
      <vt:lpstr>PowerPoint Presentation</vt:lpstr>
      <vt:lpstr>Vulnerability assessment</vt:lpstr>
      <vt:lpstr>Vulnerability Maps</vt:lpstr>
      <vt:lpstr>PowerPoint Presentation</vt:lpstr>
      <vt:lpstr>PowerPoint Presentation</vt:lpstr>
      <vt:lpstr>PowerPoint Presentation</vt:lpstr>
      <vt:lpstr>PowerPoint Presentation</vt:lpstr>
      <vt:lpstr>PowerPoint Presentation</vt:lpstr>
      <vt:lpstr>PowerPoint Presentation</vt:lpstr>
      <vt:lpstr>Vulnerability</vt:lpstr>
      <vt:lpstr>Vulnerability: Several definitions and explanations</vt:lpstr>
      <vt:lpstr>Vulnerability Reduction</vt:lpstr>
      <vt:lpstr>Capacity</vt:lpstr>
      <vt:lpstr>Capacity to Respond and Recover?</vt:lpstr>
      <vt:lpstr>PowerPoint Presentation</vt:lpstr>
      <vt:lpstr>Capacity to Respond and Recover?</vt:lpstr>
      <vt:lpstr>Capacity: Examples</vt:lpstr>
      <vt:lpstr>Terminology by UN International Strategy for Disaster Reduction (UNISDR)</vt:lpstr>
      <vt:lpstr>PowerPoint Presentation</vt:lpstr>
      <vt:lpstr>PowerPoint Presentation</vt:lpstr>
      <vt:lpstr>PowerPoint Presentation</vt:lpstr>
      <vt:lpstr>PowerPoint Presentation</vt:lpstr>
      <vt:lpstr>Disaster Characteristics (Dr. Cees Van Westen)</vt:lpstr>
      <vt:lpstr>Emergency?</vt:lpstr>
      <vt:lpstr>Hazard, Emergency and Disaster</vt:lpstr>
      <vt:lpstr>Define which of the following is a disaster?</vt:lpstr>
      <vt:lpstr>Homework-2</vt:lpstr>
      <vt:lpstr>Hazard Profiling</vt:lpstr>
      <vt:lpstr>Hazard Identification</vt:lpstr>
      <vt:lpstr>Class-Activity</vt:lpstr>
      <vt:lpstr>Disaster Risk Management</vt:lpstr>
      <vt:lpstr>Disaster Risk Management</vt:lpstr>
      <vt:lpstr>The Historical Context</vt:lpstr>
      <vt:lpstr>Historical Context: Early History</vt:lpstr>
      <vt:lpstr>The Historical Context</vt:lpstr>
      <vt:lpstr>Disasters are Increasing Worldwide?</vt:lpstr>
      <vt:lpstr>DISCUSS</vt:lpstr>
      <vt:lpstr>Discuss!!!</vt:lpstr>
      <vt:lpstr>Increased Vulnerability</vt:lpstr>
      <vt:lpstr>Frequency of Destructive Events</vt:lpstr>
      <vt:lpstr>Risk Reduction</vt:lpstr>
      <vt:lpstr>Determinant of Risk</vt:lpstr>
      <vt:lpstr>Risk Assessment and Analysis</vt:lpstr>
      <vt:lpstr>Risk and Risk Assessment</vt:lpstr>
      <vt:lpstr>PowerPoint Presentation</vt:lpstr>
      <vt:lpstr>Purpose of Risk Analysis </vt:lpstr>
      <vt:lpstr>Risk Analysis Steps</vt:lpstr>
      <vt:lpstr>PowerPoint Presentation</vt:lpstr>
      <vt:lpstr>Risk Assessment Methodology</vt:lpstr>
      <vt:lpstr>PowerPoint Presentation</vt:lpstr>
      <vt:lpstr>Hazard Risk Assessment</vt:lpstr>
      <vt:lpstr>Vulnerability Assessment</vt:lpstr>
      <vt:lpstr>Vulnerability Curve</vt:lpstr>
      <vt:lpstr>Risk and Vulnerability Index/indicators</vt:lpstr>
      <vt:lpstr>PowerPoint Presentation</vt:lpstr>
      <vt:lpstr>Risk Curve</vt:lpstr>
      <vt:lpstr>PowerPoint Presentation</vt:lpstr>
      <vt:lpstr>Disaster Management: New Concepts</vt:lpstr>
      <vt:lpstr>Disaster Management Phases</vt:lpstr>
      <vt:lpstr>Disaster Management Phases</vt:lpstr>
      <vt:lpstr>Disaster Management Cycle</vt:lpstr>
      <vt:lpstr>4 Phases</vt:lpstr>
      <vt:lpstr>Disaster Management Cycle</vt:lpstr>
      <vt:lpstr>PowerPoint Presentation</vt:lpstr>
      <vt:lpstr>Disaster Management, Disaster Risk Reduction, and Risk Transfer</vt:lpstr>
      <vt:lpstr>Spectrum of Disaster Management Actions</vt:lpstr>
      <vt:lpstr>Reading Assignment</vt:lpstr>
      <vt:lpstr>Discussion/Comment/Question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Arjumand</dc:creator>
  <cp:lastModifiedBy>Arjumand Zaidi</cp:lastModifiedBy>
  <cp:revision>392</cp:revision>
  <dcterms:created xsi:type="dcterms:W3CDTF">2016-08-22T06:10:37Z</dcterms:created>
  <dcterms:modified xsi:type="dcterms:W3CDTF">2026-09-02T06:10:50Z</dcterms:modified>
</cp:coreProperties>
</file>