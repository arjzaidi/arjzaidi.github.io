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0" r:id="rId10"/>
    <p:sldId id="264" r:id="rId11"/>
    <p:sldId id="271" r:id="rId12"/>
    <p:sldId id="265" r:id="rId13"/>
    <p:sldId id="272" r:id="rId14"/>
    <p:sldId id="266" r:id="rId15"/>
    <p:sldId id="267" r:id="rId16"/>
    <p:sldId id="268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2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107" d="100"/>
          <a:sy n="107" d="100"/>
        </p:scale>
        <p:origin x="176" y="76"/>
      </p:cViewPr>
      <p:guideLst>
        <p:guide orient="horz" pos="2112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1.xml"/><Relationship Id="rId4" Type="http://schemas.openxmlformats.org/officeDocument/2006/relationships/tags" Target="../tags/tag10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6.xml"/><Relationship Id="rId4" Type="http://schemas.openxmlformats.org/officeDocument/2006/relationships/tags" Target="../tags/tag15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21.xml"/><Relationship Id="rId4" Type="http://schemas.openxmlformats.org/officeDocument/2006/relationships/tags" Target="../tags/tag20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24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6" Type="http://schemas.openxmlformats.org/officeDocument/2006/relationships/tags" Target="../tags/tag27.xml"/><Relationship Id="rId5" Type="http://schemas.openxmlformats.org/officeDocument/2006/relationships/tags" Target="../tags/tag26.xml"/><Relationship Id="rId4" Type="http://schemas.openxmlformats.org/officeDocument/2006/relationships/tags" Target="../tags/tag25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35.xml"/><Relationship Id="rId3" Type="http://schemas.openxmlformats.org/officeDocument/2006/relationships/tags" Target="../tags/tag30.xml"/><Relationship Id="rId7" Type="http://schemas.openxmlformats.org/officeDocument/2006/relationships/tags" Target="../tags/tag34.xml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9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tags" Target="../tags/tag36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39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42.xml"/><Relationship Id="rId2" Type="http://schemas.openxmlformats.org/officeDocument/2006/relationships/tags" Target="../tags/tag41.xml"/><Relationship Id="rId1" Type="http://schemas.openxmlformats.org/officeDocument/2006/relationships/tags" Target="../tags/tag40.xml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45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44.xml"/><Relationship Id="rId1" Type="http://schemas.openxmlformats.org/officeDocument/2006/relationships/tags" Target="../tags/tag43.xml"/><Relationship Id="rId6" Type="http://schemas.openxmlformats.org/officeDocument/2006/relationships/tags" Target="../tags/tag48.xml"/><Relationship Id="rId5" Type="http://schemas.openxmlformats.org/officeDocument/2006/relationships/tags" Target="../tags/tag47.xml"/><Relationship Id="rId4" Type="http://schemas.openxmlformats.org/officeDocument/2006/relationships/tags" Target="../tags/tag46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tags" Target="../tags/tag49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3.xml"/><Relationship Id="rId4" Type="http://schemas.openxmlformats.org/officeDocument/2006/relationships/tags" Target="../tags/tag5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56.xml"/><Relationship Id="rId2" Type="http://schemas.openxmlformats.org/officeDocument/2006/relationships/tags" Target="../tags/tag55.xml"/><Relationship Id="rId1" Type="http://schemas.openxmlformats.org/officeDocument/2006/relationships/tags" Target="../tags/tag54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57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tags" Target="../tags/tag60.xml"/><Relationship Id="rId2" Type="http://schemas.openxmlformats.org/officeDocument/2006/relationships/tags" Target="../tags/tag59.xml"/><Relationship Id="rId1" Type="http://schemas.openxmlformats.org/officeDocument/2006/relationships/tags" Target="../tags/tag58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62.xml"/><Relationship Id="rId4" Type="http://schemas.openxmlformats.org/officeDocument/2006/relationships/tags" Target="../tags/tag6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  <p:custDataLst>
              <p:tags r:id="rId2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  <a:t>9/21/2026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  <p:custDataLst>
              <p:tags r:id="rId1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en-US"/>
              <a:t>Click to edit title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en-US"/>
              <a:t>Click to edit title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  <p:custDataLst>
              <p:tags r:id="rId5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1.xml"/><Relationship Id="rId18" Type="http://schemas.openxmlformats.org/officeDocument/2006/relationships/tags" Target="../tags/tag6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tags" Target="../tags/tag5.xml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3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en-US" smtClean="0"/>
              <a:t>‹#›</a:t>
            </a:fld>
            <a:endParaRPr lang="en-US" dirty="0"/>
          </a:p>
        </p:txBody>
      </p:sp>
    </p:spTree>
    <p:custDataLst>
      <p:tags r:id="rId13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68.xml"/><Relationship Id="rId2" Type="http://schemas.openxmlformats.org/officeDocument/2006/relationships/tags" Target="../tags/tag67.xml"/><Relationship Id="rId1" Type="http://schemas.openxmlformats.org/officeDocument/2006/relationships/tags" Target="../tags/tag66.xml"/><Relationship Id="rId5" Type="http://schemas.openxmlformats.org/officeDocument/2006/relationships/image" Target="../media/image3.GIF"/><Relationship Id="rId4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71.xml"/><Relationship Id="rId2" Type="http://schemas.openxmlformats.org/officeDocument/2006/relationships/tags" Target="../tags/tag70.xml"/><Relationship Id="rId1" Type="http://schemas.openxmlformats.org/officeDocument/2006/relationships/tags" Target="../tags/tag69.xml"/><Relationship Id="rId5" Type="http://schemas.openxmlformats.org/officeDocument/2006/relationships/image" Target="../media/image4.GIF"/><Relationship Id="rId4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" Type="http://schemas.openxmlformats.org/officeDocument/2006/relationships/tags" Target="../tags/tag72.xml"/><Relationship Id="rId6" Type="http://schemas.openxmlformats.org/officeDocument/2006/relationships/image" Target="../media/image6.png"/><Relationship Id="rId5" Type="http://schemas.openxmlformats.org/officeDocument/2006/relationships/image" Target="../media/image5.GIF"/><Relationship Id="rId4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tags" Target="../tags/tag77.xml"/><Relationship Id="rId2" Type="http://schemas.openxmlformats.org/officeDocument/2006/relationships/tags" Target="../tags/tag76.xml"/><Relationship Id="rId1" Type="http://schemas.openxmlformats.org/officeDocument/2006/relationships/tags" Target="../tags/tag75.xml"/><Relationship Id="rId5" Type="http://schemas.openxmlformats.org/officeDocument/2006/relationships/image" Target="../media/image7.GIF"/><Relationship Id="rId4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9.xml"/><Relationship Id="rId1" Type="http://schemas.openxmlformats.org/officeDocument/2006/relationships/tags" Target="../tags/tag78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82.xml"/><Relationship Id="rId2" Type="http://schemas.openxmlformats.org/officeDocument/2006/relationships/tags" Target="../tags/tag81.xml"/><Relationship Id="rId1" Type="http://schemas.openxmlformats.org/officeDocument/2006/relationships/tags" Target="../tags/tag80.xml"/><Relationship Id="rId5" Type="http://schemas.openxmlformats.org/officeDocument/2006/relationships/image" Target="../media/image9.png"/><Relationship Id="rId4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tags" Target="../tags/tag85.xml"/><Relationship Id="rId2" Type="http://schemas.openxmlformats.org/officeDocument/2006/relationships/tags" Target="../tags/tag84.xml"/><Relationship Id="rId1" Type="http://schemas.openxmlformats.org/officeDocument/2006/relationships/tags" Target="../tags/tag83.xml"/><Relationship Id="rId4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tags" Target="../tags/tag88.xml"/><Relationship Id="rId2" Type="http://schemas.openxmlformats.org/officeDocument/2006/relationships/tags" Target="../tags/tag87.xml"/><Relationship Id="rId1" Type="http://schemas.openxmlformats.org/officeDocument/2006/relationships/tags" Target="../tags/tag86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8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tags" Target="../tags/tag92.xml"/><Relationship Id="rId2" Type="http://schemas.openxmlformats.org/officeDocument/2006/relationships/tags" Target="../tags/tag91.xml"/><Relationship Id="rId1" Type="http://schemas.openxmlformats.org/officeDocument/2006/relationships/tags" Target="../tags/tag90.xml"/><Relationship Id="rId4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tags" Target="../tags/tag95.xml"/><Relationship Id="rId2" Type="http://schemas.openxmlformats.org/officeDocument/2006/relationships/tags" Target="../tags/tag94.xml"/><Relationship Id="rId1" Type="http://schemas.openxmlformats.org/officeDocument/2006/relationships/tags" Target="../tags/tag93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9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tags" Target="../tags/tag99.xml"/><Relationship Id="rId2" Type="http://schemas.openxmlformats.org/officeDocument/2006/relationships/tags" Target="../tags/tag98.xml"/><Relationship Id="rId1" Type="http://schemas.openxmlformats.org/officeDocument/2006/relationships/tags" Target="../tags/tag97.xml"/><Relationship Id="rId4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tags" Target="../tags/tag102.xml"/><Relationship Id="rId2" Type="http://schemas.openxmlformats.org/officeDocument/2006/relationships/tags" Target="../tags/tag101.xml"/><Relationship Id="rId1" Type="http://schemas.openxmlformats.org/officeDocument/2006/relationships/tags" Target="../tags/tag100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0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tags" Target="../tags/tag106.xml"/><Relationship Id="rId2" Type="http://schemas.openxmlformats.org/officeDocument/2006/relationships/tags" Target="../tags/tag105.xml"/><Relationship Id="rId1" Type="http://schemas.openxmlformats.org/officeDocument/2006/relationships/tags" Target="../tags/tag104.xml"/><Relationship Id="rId4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tags" Target="../tags/tag109.xml"/><Relationship Id="rId2" Type="http://schemas.openxmlformats.org/officeDocument/2006/relationships/tags" Target="../tags/tag108.xml"/><Relationship Id="rId1" Type="http://schemas.openxmlformats.org/officeDocument/2006/relationships/tags" Target="../tags/tag107.xml"/><Relationship Id="rId4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11.xml"/><Relationship Id="rId1" Type="http://schemas.openxmlformats.org/officeDocument/2006/relationships/tags" Target="../tags/tag110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80" y="1037590"/>
            <a:ext cx="9799320" cy="1765935"/>
          </a:xfrm>
        </p:spPr>
        <p:txBody>
          <a:bodyPr/>
          <a:lstStyle/>
          <a:p>
            <a:r>
              <a:rPr lang="en-US" b="1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+mn-ea"/>
              </a:rPr>
              <a:t>Artificial Intelligence</a:t>
            </a:r>
            <a:endParaRPr lang="en-US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+mn-ea"/>
              </a:rPr>
              <a:t>An Introduction to Artificial Intelligence, Machine Learning</a:t>
            </a:r>
            <a:endParaRPr lang="en-US" b="1" dirty="0">
              <a:solidFill>
                <a:schemeClr val="accent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+mn-ea"/>
              </a:rPr>
              <a:t>and Deep Learning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+mn-ea"/>
              </a:rPr>
              <a:t>Ms. Rubab (IWRM)</a:t>
            </a:r>
          </a:p>
        </p:txBody>
      </p:sp>
      <p:pic>
        <p:nvPicPr>
          <p:cNvPr id="65" name="Picture 5"/>
          <p:cNvPicPr>
            <a:picLocks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495" y="482600"/>
            <a:ext cx="1161652" cy="11616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" name="Picture 15" descr="images-removebg-preview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45233" y="464820"/>
            <a:ext cx="1159933" cy="1159933"/>
          </a:xfrm>
          <a:prstGeom prst="rect">
            <a:avLst/>
          </a:prstGeom>
        </p:spPr>
      </p:pic>
      <p:sp>
        <p:nvSpPr>
          <p:cNvPr id="4" name="Text Box 3"/>
          <p:cNvSpPr txBox="1"/>
          <p:nvPr/>
        </p:nvSpPr>
        <p:spPr>
          <a:xfrm>
            <a:off x="479425" y="5372100"/>
            <a:ext cx="11225530" cy="9677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+mn-ea"/>
              </a:rPr>
              <a:t>U.S.-Pakistan Center for Advanced Studies in Water</a:t>
            </a:r>
            <a:endParaRPr lang="en-US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+mn-ea"/>
            </a:endParaRPr>
          </a:p>
          <a:p>
            <a:pPr algn="ctr"/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+mn-ea"/>
              </a:rPr>
              <a:t>Mehran University of Engineering and Technology Jamshoro, Sindh, Pakistan</a:t>
            </a:r>
            <a:endParaRPr lang="en-US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+mn-ea"/>
            </a:endParaRPr>
          </a:p>
          <a:p>
            <a:endParaRPr lang="en-US" dirty="0"/>
          </a:p>
        </p:txBody>
      </p:sp>
      <p:sp>
        <p:nvSpPr>
          <p:cNvPr id="5" name="Text Box 4"/>
          <p:cNvSpPr txBox="1"/>
          <p:nvPr/>
        </p:nvSpPr>
        <p:spPr>
          <a:xfrm>
            <a:off x="0" y="6125845"/>
            <a:ext cx="12191365" cy="73152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r"/>
            <a:r>
              <a:rPr lang="en-US" b="1">
                <a:solidFill>
                  <a:schemeClr val="tx1"/>
                </a:solidFill>
              </a:rPr>
              <a:t>01</a:t>
            </a: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779135" y="608330"/>
            <a:ext cx="5798185" cy="1664970"/>
          </a:xfrm>
        </p:spPr>
        <p:txBody>
          <a:bodyPr>
            <a:noAutofit/>
          </a:bodyPr>
          <a:lstStyle/>
          <a:p>
            <a:r>
              <a:rPr lang="en-US" altLang="en-US" sz="44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Learning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5986145" y="2272665"/>
            <a:ext cx="5591175" cy="3977005"/>
          </a:xfrm>
        </p:spPr>
        <p:txBody>
          <a:bodyPr/>
          <a:lstStyle/>
          <a:p>
            <a:r>
              <a:rPr lang="en-US" altLang="en-US" sz="2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Machine Learning and its Types</a:t>
            </a:r>
          </a:p>
          <a:p>
            <a:r>
              <a:rPr lang="en-US" altLang="en-US" sz="2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Deep Learning and </a:t>
            </a:r>
            <a:r>
              <a:rPr lang="en-US" altLang="en-US" sz="2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+mn-ea"/>
              </a:rPr>
              <a:t>its Types</a:t>
            </a:r>
          </a:p>
        </p:txBody>
      </p:sp>
      <p:pic>
        <p:nvPicPr>
          <p:cNvPr id="4" name="Picture 3" descr="04eba44b89ec18680db3a64e44f9c9e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635" y="381000"/>
            <a:ext cx="5780405" cy="6096000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0" y="6125845"/>
            <a:ext cx="12191365" cy="73152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r"/>
            <a:r>
              <a:rPr lang="en-US" b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02</a:t>
            </a:r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730885" y="608330"/>
            <a:ext cx="6030595" cy="705485"/>
          </a:xfrm>
        </p:spPr>
        <p:txBody>
          <a:bodyPr/>
          <a:lstStyle/>
          <a:p>
            <a:r>
              <a:rPr lang="en-US" b="1" dirty="0">
                <a:latin typeface="Calibri" panose="020F0502020204030204" charset="0"/>
                <a:cs typeface="Calibri" panose="020F0502020204030204" charset="0"/>
              </a:rPr>
              <a:t>Artificial Intelligence</a:t>
            </a:r>
          </a:p>
        </p:txBody>
      </p:sp>
      <p:pic>
        <p:nvPicPr>
          <p:cNvPr id="4" name="Content Placeholder 3" descr="1673777871105"/>
          <p:cNvPicPr>
            <a:picLocks noGrp="1" noChangeAspect="1"/>
          </p:cNvPicPr>
          <p:nvPr>
            <p:ph idx="1"/>
            <p:custDataLst>
              <p:tags r:id="rId3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7831455" y="0"/>
            <a:ext cx="4360545" cy="6125210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0" y="6125845"/>
            <a:ext cx="12191365" cy="73152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r"/>
            <a:r>
              <a:rPr lang="en-US" b="1">
                <a:solidFill>
                  <a:schemeClr val="tx1"/>
                </a:solidFill>
              </a:rPr>
              <a:t>03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730885" y="1475105"/>
            <a:ext cx="6254750" cy="22910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US" sz="2800">
                <a:latin typeface="Calibri" panose="020F0502020204030204" charset="0"/>
                <a:cs typeface="Calibri" panose="020F0502020204030204" charset="0"/>
              </a:rPr>
              <a:t>Artificial Intelligence is the field of creating computer systems that can perform tasks requiring human-like abilities such as learning, reasoning, perception, and decision-making.</a:t>
            </a:r>
          </a:p>
        </p:txBody>
      </p:sp>
      <p:sp>
        <p:nvSpPr>
          <p:cNvPr id="8" name="Text Box 7"/>
          <p:cNvSpPr txBox="1"/>
          <p:nvPr/>
        </p:nvSpPr>
        <p:spPr>
          <a:xfrm>
            <a:off x="730885" y="3860800"/>
            <a:ext cx="2974975" cy="153924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spcAft>
                <a:spcPct val="60000"/>
              </a:spcAft>
            </a:pPr>
            <a:r>
              <a:rPr sz="2200" b="1"/>
              <a:t>1. 🗺️ Google Maps</a:t>
            </a:r>
          </a:p>
          <a:p>
            <a:pPr algn="ctr"/>
            <a:r>
              <a:rPr sz="2000"/>
              <a:t>AI → Traffic + Route Prediction → Best Route</a:t>
            </a:r>
          </a:p>
        </p:txBody>
      </p:sp>
      <p:sp>
        <p:nvSpPr>
          <p:cNvPr id="9" name="Text Box 8"/>
          <p:cNvSpPr txBox="1"/>
          <p:nvPr/>
        </p:nvSpPr>
        <p:spPr>
          <a:xfrm>
            <a:off x="3858260" y="3820795"/>
            <a:ext cx="3981450" cy="178308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spcAft>
                <a:spcPct val="60000"/>
              </a:spcAft>
            </a:pPr>
            <a:r>
              <a:rPr sz="2200" b="1"/>
              <a:t>2. 📱 Face Unlock</a:t>
            </a:r>
          </a:p>
          <a:p>
            <a:pPr algn="ctr"/>
            <a:r>
              <a:rPr sz="2000"/>
              <a:t>📷 Camera → AI/Face Recognition → 🔓 Phone Unlocked</a:t>
            </a:r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021580" y="471170"/>
            <a:ext cx="6354445" cy="705485"/>
          </a:xfrm>
        </p:spPr>
        <p:txBody>
          <a:bodyPr/>
          <a:lstStyle/>
          <a:p>
            <a:pPr algn="l">
              <a:buClrTx/>
              <a:buSzTx/>
              <a:buFontTx/>
            </a:pPr>
            <a:r>
              <a:rPr lang="en-US" b="1">
                <a:latin typeface="Calibri" panose="020F0502020204030204" charset="0"/>
                <a:cs typeface="Calibri" panose="020F0502020204030204" charset="0"/>
              </a:rPr>
              <a:t>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5021580" y="1104265"/>
            <a:ext cx="6834505" cy="2850515"/>
          </a:xfrm>
        </p:spPr>
        <p:txBody>
          <a:bodyPr>
            <a:normAutofit/>
          </a:bodyPr>
          <a:lstStyle/>
          <a:p>
            <a:pPr marL="0" indent="0">
              <a:buFont typeface="Wingdings" panose="05000000000000000000" charset="0"/>
              <a:buNone/>
            </a:pPr>
            <a:r>
              <a:rPr lang="en-US" altLang="en-US" sz="280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Machine Learning is a type of AI that allows computers to learn from data and make predictions or decisions without being directly programmed for every task.</a:t>
            </a:r>
          </a:p>
        </p:txBody>
      </p:sp>
      <p:sp>
        <p:nvSpPr>
          <p:cNvPr id="5" name="Text Box 4"/>
          <p:cNvSpPr txBox="1"/>
          <p:nvPr/>
        </p:nvSpPr>
        <p:spPr>
          <a:xfrm>
            <a:off x="0" y="6125845"/>
            <a:ext cx="12191365" cy="73152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r"/>
            <a:r>
              <a:rPr lang="en-US" b="1">
                <a:solidFill>
                  <a:schemeClr val="tx1"/>
                </a:solidFill>
              </a:rPr>
              <a:t>04</a:t>
            </a:r>
          </a:p>
        </p:txBody>
      </p:sp>
      <p:pic>
        <p:nvPicPr>
          <p:cNvPr id="4" name="Picture 3"/>
          <p:cNvPicPr/>
          <p:nvPr/>
        </p:nvPicPr>
        <p:blipFill>
          <a:blip r:embed="rId5"/>
          <a:stretch>
            <a:fillRect/>
          </a:stretch>
        </p:blipFill>
        <p:spPr>
          <a:xfrm>
            <a:off x="335915" y="608330"/>
            <a:ext cx="4124325" cy="5332095"/>
          </a:xfrm>
          <a:prstGeom prst="rect">
            <a:avLst/>
          </a:prstGeom>
        </p:spPr>
      </p:pic>
      <p:pic>
        <p:nvPicPr>
          <p:cNvPr id="7" name="Picture 6"/>
          <p:cNvPicPr/>
          <p:nvPr/>
        </p:nvPicPr>
        <p:blipFill>
          <a:blip r:embed="rId6"/>
          <a:stretch>
            <a:fillRect/>
          </a:stretch>
        </p:blipFill>
        <p:spPr>
          <a:xfrm>
            <a:off x="5530215" y="3878580"/>
            <a:ext cx="1332230" cy="1362075"/>
          </a:xfrm>
          <a:prstGeom prst="rect">
            <a:avLst/>
          </a:prstGeom>
        </p:spPr>
      </p:pic>
      <p:sp>
        <p:nvSpPr>
          <p:cNvPr id="9" name="Text Box 8"/>
          <p:cNvSpPr txBox="1"/>
          <p:nvPr/>
        </p:nvSpPr>
        <p:spPr>
          <a:xfrm>
            <a:off x="4979670" y="5203825"/>
            <a:ext cx="243586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en-US">
                <a:sym typeface="+mn-ea"/>
              </a:rPr>
              <a:t>Recommending </a:t>
            </a:r>
            <a:endParaRPr lang="en-US" altLang="en-US"/>
          </a:p>
          <a:p>
            <a:pPr algn="ctr"/>
            <a:r>
              <a:rPr lang="en-US" altLang="en-US">
                <a:sym typeface="+mn-ea"/>
              </a:rPr>
              <a:t>shows based on </a:t>
            </a:r>
            <a:endParaRPr lang="en-US" altLang="en-US"/>
          </a:p>
          <a:p>
            <a:pPr algn="ctr"/>
            <a:r>
              <a:rPr lang="en-US" altLang="en-US">
                <a:sym typeface="+mn-ea"/>
              </a:rPr>
              <a:t>what you watch.</a:t>
            </a:r>
            <a:endParaRPr lang="en-US" altLang="en-US"/>
          </a:p>
        </p:txBody>
      </p:sp>
      <p:sp>
        <p:nvSpPr>
          <p:cNvPr id="11" name="Text Box 10"/>
          <p:cNvSpPr txBox="1"/>
          <p:nvPr/>
        </p:nvSpPr>
        <p:spPr>
          <a:xfrm>
            <a:off x="9330055" y="3954780"/>
            <a:ext cx="1466215" cy="1189990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sz="7200"/>
              <a:t>🛒</a:t>
            </a:r>
          </a:p>
        </p:txBody>
      </p:sp>
      <p:sp>
        <p:nvSpPr>
          <p:cNvPr id="12" name="Text Box 11"/>
          <p:cNvSpPr txBox="1"/>
          <p:nvPr/>
        </p:nvSpPr>
        <p:spPr>
          <a:xfrm>
            <a:off x="8922385" y="5229860"/>
            <a:ext cx="2639695" cy="8959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US"/>
              <a:t>Online shopping </a:t>
            </a:r>
          </a:p>
          <a:p>
            <a:r>
              <a:rPr lang="en-US" altLang="en-US"/>
              <a:t>sites showing you </a:t>
            </a:r>
          </a:p>
          <a:p>
            <a:r>
              <a:rPr lang="en-US" altLang="en-US"/>
              <a:t>products you </a:t>
            </a:r>
            <a:r>
              <a:rPr lang="en-US" altLang="en-US">
                <a:sym typeface="+mn-ea"/>
              </a:rPr>
              <a:t>might like.</a:t>
            </a:r>
            <a:endParaRPr lang="en-US" altLang="en-US"/>
          </a:p>
          <a:p>
            <a:r>
              <a:rPr lang="en-US" altLang="en-US"/>
              <a:t> </a:t>
            </a:r>
          </a:p>
          <a:p>
            <a:endParaRPr lang="en-US" altLang="en-US"/>
          </a:p>
        </p:txBody>
      </p: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330" y="532130"/>
            <a:ext cx="4142740" cy="705485"/>
          </a:xfrm>
        </p:spPr>
        <p:txBody>
          <a:bodyPr/>
          <a:lstStyle/>
          <a:p>
            <a:r>
              <a:rPr lang="en-US" b="1">
                <a:latin typeface="Calibri" panose="020F0502020204030204" charset="0"/>
                <a:cs typeface="Calibri" panose="020F0502020204030204" charset="0"/>
              </a:rPr>
              <a:t>Deep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330" y="1490345"/>
            <a:ext cx="5659120" cy="2979420"/>
          </a:xfrm>
        </p:spPr>
        <p:txBody>
          <a:bodyPr/>
          <a:lstStyle/>
          <a:p>
            <a:pPr marL="0" indent="0">
              <a:buFont typeface="Wingdings" panose="05000000000000000000" charset="0"/>
              <a:buNone/>
            </a:pPr>
            <a:r>
              <a:rPr lang="en-US" altLang="en-US" sz="280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Deep Learning is a type of Machine Learning that uses neural networks with multiple layers to learn complex patterns from large amounts of data.</a:t>
            </a:r>
          </a:p>
        </p:txBody>
      </p:sp>
      <p:sp>
        <p:nvSpPr>
          <p:cNvPr id="5" name="Text Box 4"/>
          <p:cNvSpPr txBox="1"/>
          <p:nvPr/>
        </p:nvSpPr>
        <p:spPr>
          <a:xfrm>
            <a:off x="0" y="6125845"/>
            <a:ext cx="12191365" cy="73152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r"/>
            <a:r>
              <a:rPr lang="en-US" b="1">
                <a:solidFill>
                  <a:schemeClr val="tx1"/>
                </a:solidFill>
              </a:rPr>
              <a:t>05</a:t>
            </a:r>
          </a:p>
        </p:txBody>
      </p:sp>
      <p:sp>
        <p:nvSpPr>
          <p:cNvPr id="4" name="Text Box 3"/>
          <p:cNvSpPr txBox="1"/>
          <p:nvPr/>
        </p:nvSpPr>
        <p:spPr>
          <a:xfrm>
            <a:off x="608330" y="4722495"/>
            <a:ext cx="6059805" cy="708660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sz="2000"/>
              <a:t>📷 Image → 🧠 Deep Learning → 👤 Face Recognition</a:t>
            </a:r>
          </a:p>
        </p:txBody>
      </p:sp>
      <p:pic>
        <p:nvPicPr>
          <p:cNvPr id="6" name="Picture 5"/>
          <p:cNvPicPr/>
          <p:nvPr/>
        </p:nvPicPr>
        <p:blipFill>
          <a:blip r:embed="rId5"/>
          <a:stretch>
            <a:fillRect/>
          </a:stretch>
        </p:blipFill>
        <p:spPr>
          <a:xfrm>
            <a:off x="6667500" y="0"/>
            <a:ext cx="5523865" cy="612521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330" y="824865"/>
            <a:ext cx="6294120" cy="4805680"/>
          </a:xfrm>
        </p:spPr>
        <p:txBody>
          <a:bodyPr>
            <a:normAutofit/>
          </a:bodyPr>
          <a:lstStyle/>
          <a:p>
            <a:pPr>
              <a:buFont typeface="Wingdings" panose="05000000000000000000" charset="0"/>
              <a:buChar char="Ø"/>
            </a:pPr>
            <a:r>
              <a:rPr lang="en-US" altLang="en-US" sz="3200" dirty="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AI – Whole Brain</a:t>
            </a:r>
          </a:p>
          <a:p>
            <a:pPr>
              <a:buFont typeface="Wingdings" panose="05000000000000000000" charset="0"/>
              <a:buChar char="Ø"/>
            </a:pPr>
            <a:r>
              <a:rPr lang="en-US" altLang="en-US" sz="3200" dirty="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ML – Teaching the brain to learn from experience</a:t>
            </a:r>
          </a:p>
          <a:p>
            <a:pPr>
              <a:buFont typeface="Wingdings" panose="05000000000000000000" charset="0"/>
              <a:buChar char="Ø"/>
            </a:pPr>
            <a:r>
              <a:rPr lang="en-US" altLang="en-US" sz="3200" dirty="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DL – Teaching the brain by showing it lots and lots of examples</a:t>
            </a:r>
          </a:p>
        </p:txBody>
      </p:sp>
      <p:sp>
        <p:nvSpPr>
          <p:cNvPr id="5" name="Text Box 4"/>
          <p:cNvSpPr txBox="1"/>
          <p:nvPr/>
        </p:nvSpPr>
        <p:spPr>
          <a:xfrm>
            <a:off x="0" y="6125845"/>
            <a:ext cx="12191365" cy="73152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r"/>
            <a:r>
              <a:rPr lang="en-US" b="1">
                <a:solidFill>
                  <a:schemeClr val="tx1"/>
                </a:solidFill>
              </a:rPr>
              <a:t>06</a:t>
            </a:r>
          </a:p>
        </p:txBody>
      </p:sp>
      <p:pic>
        <p:nvPicPr>
          <p:cNvPr id="7" name="Picture 6" descr="This-figure-illustrates-the-relationships-between-AI-ML-and-DL-DL-is-a-subfield-of-ML"/>
          <p:cNvPicPr>
            <a:picLocks noChangeAspect="1"/>
          </p:cNvPicPr>
          <p:nvPr/>
        </p:nvPicPr>
        <p:blipFill>
          <a:blip r:embed="rId4"/>
          <a:srcRect l="2065" t="1544" r="4797" b="3440"/>
          <a:stretch>
            <a:fillRect/>
          </a:stretch>
        </p:blipFill>
        <p:spPr>
          <a:xfrm>
            <a:off x="6257290" y="594360"/>
            <a:ext cx="5934075" cy="541591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35" y="635"/>
            <a:ext cx="12190095" cy="1517015"/>
          </a:xfrm>
        </p:spPr>
        <p:txBody>
          <a:bodyPr/>
          <a:lstStyle/>
          <a:p>
            <a:pPr algn="ctr"/>
            <a:r>
              <a:rPr lang="en-US" b="1">
                <a:latin typeface="Calibri" panose="020F0502020204030204" charset="0"/>
                <a:cs typeface="Calibri" panose="020F0502020204030204" charset="0"/>
              </a:rPr>
              <a:t>TYPES OF ML</a:t>
            </a:r>
          </a:p>
        </p:txBody>
      </p:sp>
      <p:pic>
        <p:nvPicPr>
          <p:cNvPr id="4" name="Content Placeholder 3" descr="Screenshot-2022-08-16-at-12.04.13"/>
          <p:cNvPicPr>
            <a:picLocks noGrp="1" noChangeAspect="1"/>
          </p:cNvPicPr>
          <p:nvPr>
            <p:ph idx="1"/>
            <p:custDataLst>
              <p:tags r:id="rId3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635" y="1265555"/>
            <a:ext cx="12190095" cy="4582795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0" y="6125845"/>
            <a:ext cx="12191365" cy="73152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r"/>
            <a:r>
              <a:rPr lang="en-US" b="1">
                <a:solidFill>
                  <a:schemeClr val="tx1"/>
                </a:solidFill>
              </a:rPr>
              <a:t>07</a:t>
            </a:r>
          </a:p>
        </p:txBody>
      </p:sp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-1200"/>
            <a:ext cx="10969200" cy="705600"/>
          </a:xfrm>
        </p:spPr>
        <p:txBody>
          <a:bodyPr/>
          <a:lstStyle/>
          <a:p>
            <a:pPr algn="ctr"/>
            <a:r>
              <a:rPr lang="en-US" b="1">
                <a:latin typeface="Calibri" panose="020F0502020204030204" charset="0"/>
                <a:cs typeface="Calibri" panose="020F0502020204030204" charset="0"/>
                <a:sym typeface="+mn-ea"/>
              </a:rPr>
              <a:t>TYPES OF ML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330" y="652145"/>
            <a:ext cx="10968990" cy="5473700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zh-CN" altLang="en-US" sz="3200" b="1" dirty="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1. 🎓 </a:t>
            </a:r>
            <a:r>
              <a:rPr lang="en-US" altLang="en-US" sz="3200" b="1" dirty="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Supervised Learning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en-US" sz="2800" dirty="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Model learns from labeled data.</a:t>
            </a:r>
          </a:p>
          <a:p>
            <a:pPr marL="0" indent="0">
              <a:lnSpc>
                <a:spcPct val="100000"/>
              </a:lnSpc>
              <a:spcAft>
                <a:spcPts val="1800"/>
              </a:spcAft>
              <a:buNone/>
            </a:pPr>
            <a:r>
              <a:rPr lang="en-US" altLang="en-US" sz="2800" b="1" dirty="0">
                <a:solidFill>
                  <a:schemeClr val="accent1"/>
                </a:solidFill>
                <a:latin typeface="Calibri" panose="020F0502020204030204" charset="0"/>
                <a:cs typeface="Calibri" panose="020F0502020204030204" charset="0"/>
              </a:rPr>
              <a:t>Example: </a:t>
            </a:r>
            <a:r>
              <a:rPr lang="en-US" altLang="en-US" sz="2800" dirty="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Predicting river stage from temperature, rainfall, soil moisture, and evaporation.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en-US" sz="2800" b="1" dirty="0">
                <a:solidFill>
                  <a:schemeClr val="accent1"/>
                </a:solidFill>
                <a:latin typeface="Calibri" panose="020F0502020204030204" charset="0"/>
                <a:cs typeface="Calibri" panose="020F0502020204030204" charset="0"/>
              </a:rPr>
              <a:t>ML Models: </a:t>
            </a:r>
            <a:r>
              <a:rPr lang="en-US" altLang="en-US" sz="2800" b="1" dirty="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Regression, Classification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en-US" sz="2800" b="1" dirty="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Regression:</a:t>
            </a:r>
            <a:r>
              <a:rPr lang="en-US" altLang="en-US" sz="2800" dirty="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2400" dirty="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Predicts a continuous numerical value. </a:t>
            </a:r>
            <a:r>
              <a:rPr lang="zh-CN" altLang="en-US" sz="2400" dirty="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📈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en-US" sz="2400" dirty="0">
                <a:solidFill>
                  <a:schemeClr val="accent1"/>
                </a:solidFill>
                <a:latin typeface="Calibri" panose="020F0502020204030204" charset="0"/>
                <a:cs typeface="Calibri" panose="020F0502020204030204" charset="0"/>
              </a:rPr>
              <a:t>Example: </a:t>
            </a:r>
            <a:r>
              <a:rPr lang="en-US" altLang="en-US" sz="2400" dirty="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Predicting river stage = 5.8 m.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en-US" sz="2800" b="1" dirty="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Classification:</a:t>
            </a:r>
            <a:r>
              <a:rPr lang="en-US" altLang="en-US" sz="2400" dirty="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 Predicts a category or class. </a:t>
            </a:r>
            <a:r>
              <a:rPr lang="zh-CN" altLang="en-US" sz="2400" dirty="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🏷️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en-US" sz="2400" dirty="0">
                <a:solidFill>
                  <a:schemeClr val="accent1"/>
                </a:solidFill>
                <a:latin typeface="Calibri" panose="020F0502020204030204" charset="0"/>
                <a:cs typeface="Calibri" panose="020F0502020204030204" charset="0"/>
              </a:rPr>
              <a:t>Example: </a:t>
            </a:r>
            <a:r>
              <a:rPr lang="en-US" altLang="en-US" sz="2400" dirty="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Flood risk = Low, Medium, or High.</a:t>
            </a:r>
          </a:p>
        </p:txBody>
      </p:sp>
      <p:sp>
        <p:nvSpPr>
          <p:cNvPr id="5" name="Text Box 4"/>
          <p:cNvSpPr txBox="1"/>
          <p:nvPr/>
        </p:nvSpPr>
        <p:spPr>
          <a:xfrm>
            <a:off x="0" y="6125845"/>
            <a:ext cx="12191365" cy="73152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r"/>
            <a:r>
              <a:rPr lang="en-US" b="1">
                <a:solidFill>
                  <a:schemeClr val="tx1"/>
                </a:solidFill>
              </a:rPr>
              <a:t>08</a:t>
            </a:r>
          </a:p>
        </p:txBody>
      </p:sp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pPr algn="ctr"/>
            <a:r>
              <a:rPr lang="en-US" altLang="en-US" b="1" dirty="0">
                <a:latin typeface="Calibri" panose="020F0502020204030204" charset="0"/>
                <a:cs typeface="Calibri" panose="020F0502020204030204" charset="0"/>
              </a:rPr>
              <a:t>Supervised Learning: </a:t>
            </a:r>
            <a:r>
              <a:rPr lang="en-US" b="1" dirty="0">
                <a:latin typeface="Calibri" panose="020F0502020204030204" charset="0"/>
                <a:cs typeface="Calibri" panose="020F0502020204030204" charset="0"/>
              </a:rPr>
              <a:t>Common </a:t>
            </a:r>
            <a:r>
              <a:rPr lang="en-US" altLang="en-US" b="1" dirty="0">
                <a:latin typeface="Calibri" panose="020F0502020204030204" charset="0"/>
                <a:cs typeface="Calibri" panose="020F0502020204030204" charset="0"/>
              </a:rPr>
              <a:t>Algorithms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sz="280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📈 </a:t>
            </a:r>
            <a:r>
              <a:rPr lang="en-US" altLang="en-US" sz="2800" b="1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Linear Regression</a:t>
            </a:r>
            <a:r>
              <a:rPr lang="en-US" altLang="en-US" sz="280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 → Predicts numerical values</a:t>
            </a:r>
          </a:p>
          <a:p>
            <a:pPr marL="0" indent="0">
              <a:buNone/>
            </a:pPr>
            <a:r>
              <a:rPr lang="zh-CN" altLang="en-US" sz="280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🔢 </a:t>
            </a:r>
            <a:r>
              <a:rPr lang="en-US" altLang="en-US" sz="2800" b="1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Logistic Regression</a:t>
            </a:r>
            <a:r>
              <a:rPr lang="en-US" altLang="en-US" sz="280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 → Predicts categories</a:t>
            </a:r>
          </a:p>
          <a:p>
            <a:pPr marL="0" indent="0">
              <a:buNone/>
            </a:pPr>
            <a:r>
              <a:rPr lang="zh-CN" altLang="en-US" sz="280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🌳</a:t>
            </a:r>
            <a:r>
              <a:rPr lang="zh-CN" altLang="en-US" sz="2800" b="1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2800" b="1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Decision Tree</a:t>
            </a:r>
            <a:r>
              <a:rPr lang="en-US" altLang="en-US" sz="280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 → Makes decisions using a tree structure</a:t>
            </a:r>
          </a:p>
          <a:p>
            <a:pPr marL="0" indent="0">
              <a:buNone/>
            </a:pPr>
            <a:r>
              <a:rPr lang="zh-CN" altLang="en-US" sz="280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🌲 </a:t>
            </a:r>
            <a:r>
              <a:rPr lang="en-US" altLang="en-US" sz="2800" b="1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Random Forest </a:t>
            </a:r>
            <a:r>
              <a:rPr lang="en-US" altLang="en-US" sz="280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→ Uses many decision trees together</a:t>
            </a:r>
          </a:p>
          <a:p>
            <a:pPr marL="0" indent="0">
              <a:buNone/>
            </a:pPr>
            <a:r>
              <a:rPr lang="zh-CN" altLang="en-US" sz="280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🎯 </a:t>
            </a:r>
            <a:r>
              <a:rPr lang="en-US" altLang="en-US" sz="2800" b="1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KNN (K-Nearest Neighbors)</a:t>
            </a:r>
            <a:r>
              <a:rPr lang="en-US" altLang="en-US" sz="280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 → Predicts using similar data points</a:t>
            </a:r>
          </a:p>
          <a:p>
            <a:pPr marL="0" indent="0">
              <a:buNone/>
            </a:pPr>
            <a:r>
              <a:rPr lang="zh-CN" altLang="en-US" sz="280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📐 </a:t>
            </a:r>
            <a:r>
              <a:rPr lang="en-US" altLang="en-US" sz="2800" b="1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SVM (Support Vector Machine)</a:t>
            </a:r>
            <a:r>
              <a:rPr lang="en-US" altLang="en-US" sz="280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 → Separates data into classes</a:t>
            </a:r>
          </a:p>
        </p:txBody>
      </p:sp>
      <p:sp>
        <p:nvSpPr>
          <p:cNvPr id="5" name="Text Box 4"/>
          <p:cNvSpPr txBox="1"/>
          <p:nvPr/>
        </p:nvSpPr>
        <p:spPr>
          <a:xfrm>
            <a:off x="0" y="6125845"/>
            <a:ext cx="12191365" cy="73152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r"/>
            <a:r>
              <a:rPr lang="en-US" b="1">
                <a:solidFill>
                  <a:schemeClr val="tx1"/>
                </a:solidFill>
              </a:rPr>
              <a:t>09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7333467-311E-01BD-2D74-8DCABDE17FDB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>
          <a:xfrm>
            <a:off x="455300" y="157431"/>
            <a:ext cx="10969200" cy="450969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rm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3600" b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+mj-ea"/>
                <a:cs typeface="+mj-cs"/>
              </a:defRPr>
            </a:lvl1pPr>
          </a:lstStyle>
          <a:p>
            <a:r>
              <a:rPr lang="en-US" sz="1400" b="1" dirty="0">
                <a:latin typeface="Calibri" panose="020F0502020204030204" charset="0"/>
                <a:cs typeface="Calibri" panose="020F0502020204030204" charset="0"/>
                <a:sym typeface="+mn-ea"/>
              </a:rPr>
              <a:t>TYPES OF ML</a:t>
            </a:r>
            <a:endParaRPr lang="en-US" sz="1400" dirty="0"/>
          </a:p>
        </p:txBody>
      </p:sp>
    </p:spTree>
    <p:custDataLst>
      <p:tags r:id="rId1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542736" y="513875"/>
            <a:ext cx="11095990" cy="33350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3200" b="1" dirty="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2. 🔍 </a:t>
            </a:r>
            <a:r>
              <a:rPr lang="en-US" altLang="en-US" sz="3200" b="1" dirty="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Unsupervised Learning</a:t>
            </a:r>
          </a:p>
          <a:p>
            <a:pPr marL="0" indent="0">
              <a:buNone/>
            </a:pPr>
            <a:r>
              <a:rPr lang="en-US" altLang="en-US" sz="2800" dirty="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Model finds hidden patterns or groups in data.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altLang="en-US" sz="2800" b="1" dirty="0">
                <a:solidFill>
                  <a:schemeClr val="accent1"/>
                </a:solidFill>
                <a:latin typeface="Calibri" panose="020F0502020204030204" charset="0"/>
                <a:cs typeface="Calibri" panose="020F0502020204030204" charset="0"/>
              </a:rPr>
              <a:t>Example:</a:t>
            </a:r>
            <a:r>
              <a:rPr lang="en-US" altLang="en-US" sz="2800" dirty="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 Grouping areas based on similar rainfall or temperature patterns.</a:t>
            </a:r>
          </a:p>
          <a:p>
            <a:pPr marL="0" indent="0">
              <a:buNone/>
            </a:pPr>
            <a:r>
              <a:rPr lang="en-US" altLang="en-US" sz="2800" b="1" dirty="0">
                <a:solidFill>
                  <a:schemeClr val="accent1"/>
                </a:solidFill>
                <a:latin typeface="Calibri" panose="020F0502020204030204" charset="0"/>
                <a:cs typeface="Calibri" panose="020F0502020204030204" charset="0"/>
              </a:rPr>
              <a:t>ML Models: </a:t>
            </a:r>
            <a:r>
              <a:rPr lang="en-US" altLang="en-US" sz="2800" b="1" dirty="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Clustering, Dimensionality Reduction</a:t>
            </a:r>
          </a:p>
          <a:p>
            <a:pPr marL="0" indent="0">
              <a:buNone/>
            </a:pPr>
            <a:endParaRPr lang="en-US" altLang="en-US" sz="2800" dirty="0">
              <a:solidFill>
                <a:schemeClr val="tx1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marL="0" indent="0">
              <a:buNone/>
            </a:pPr>
            <a:endParaRPr lang="en-US" altLang="en-US" sz="2800" dirty="0">
              <a:solidFill>
                <a:schemeClr val="tx1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0" y="6125845"/>
            <a:ext cx="12191365" cy="73152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r"/>
            <a:r>
              <a:rPr lang="en-US" b="1">
                <a:solidFill>
                  <a:schemeClr val="tx1"/>
                </a:solidFill>
              </a:rPr>
              <a:t>10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542736" y="3713753"/>
            <a:ext cx="10871835" cy="241209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14000"/>
              </a:lnSpc>
            </a:pPr>
            <a:r>
              <a:rPr lang="en-US" altLang="en-US" sz="2800" b="1" dirty="0">
                <a:latin typeface="Calibri" panose="020F0502020204030204" charset="0"/>
                <a:cs typeface="Calibri" panose="020F0502020204030204" charset="0"/>
              </a:rPr>
              <a:t>Clustering:</a:t>
            </a:r>
            <a:r>
              <a:rPr lang="en-US" altLang="en-US" sz="2400" dirty="0">
                <a:latin typeface="Calibri" panose="020F0502020204030204" charset="0"/>
                <a:cs typeface="Calibri" panose="020F0502020204030204" charset="0"/>
              </a:rPr>
              <a:t> Groups similar data points together without predefined labels. </a:t>
            </a:r>
            <a:r>
              <a:rPr lang="zh-CN" altLang="en-US" sz="2400" dirty="0">
                <a:latin typeface="Calibri" panose="020F0502020204030204" charset="0"/>
                <a:cs typeface="Calibri" panose="020F0502020204030204" charset="0"/>
              </a:rPr>
              <a:t>🔍</a:t>
            </a:r>
          </a:p>
          <a:p>
            <a:pPr>
              <a:lnSpc>
                <a:spcPct val="114000"/>
              </a:lnSpc>
            </a:pPr>
            <a:r>
              <a:rPr lang="en-US" altLang="en-US" sz="2400" dirty="0">
                <a:solidFill>
                  <a:schemeClr val="accent1"/>
                </a:solidFill>
                <a:latin typeface="Calibri" panose="020F0502020204030204" charset="0"/>
                <a:cs typeface="Calibri" panose="020F0502020204030204" charset="0"/>
              </a:rPr>
              <a:t>Example: </a:t>
            </a:r>
            <a:r>
              <a:rPr lang="en-US" altLang="en-US" sz="2400" dirty="0">
                <a:latin typeface="Calibri" panose="020F0502020204030204" charset="0"/>
                <a:cs typeface="Calibri" panose="020F0502020204030204" charset="0"/>
              </a:rPr>
              <a:t>Grouping areas with similar rainfall patterns.</a:t>
            </a:r>
          </a:p>
          <a:p>
            <a:pPr>
              <a:lnSpc>
                <a:spcPct val="114000"/>
              </a:lnSpc>
            </a:pPr>
            <a:r>
              <a:rPr lang="en-US" altLang="en-US" sz="2800" b="1" dirty="0">
                <a:latin typeface="Calibri" panose="020F0502020204030204" charset="0"/>
                <a:cs typeface="Calibri" panose="020F0502020204030204" charset="0"/>
              </a:rPr>
              <a:t>Dimensionality Reduction: </a:t>
            </a:r>
            <a:r>
              <a:rPr lang="en-US" altLang="en-US" sz="2400" dirty="0">
                <a:latin typeface="Calibri" panose="020F0502020204030204" charset="0"/>
                <a:cs typeface="Calibri" panose="020F0502020204030204" charset="0"/>
              </a:rPr>
              <a:t>Reduces the number of variables while keeping the most important information. </a:t>
            </a:r>
            <a:r>
              <a:rPr lang="zh-CN" altLang="en-US" sz="2400" dirty="0">
                <a:latin typeface="Calibri" panose="020F0502020204030204" charset="0"/>
                <a:cs typeface="Calibri" panose="020F0502020204030204" charset="0"/>
              </a:rPr>
              <a:t>📉</a:t>
            </a:r>
          </a:p>
          <a:p>
            <a:pPr>
              <a:lnSpc>
                <a:spcPct val="114000"/>
              </a:lnSpc>
            </a:pPr>
            <a:r>
              <a:rPr lang="en-US" altLang="en-US" sz="2400" dirty="0">
                <a:solidFill>
                  <a:schemeClr val="accent1"/>
                </a:solidFill>
                <a:latin typeface="Calibri" panose="020F0502020204030204" charset="0"/>
                <a:cs typeface="Calibri" panose="020F0502020204030204" charset="0"/>
              </a:rPr>
              <a:t>Example: </a:t>
            </a:r>
            <a:r>
              <a:rPr lang="en-US" altLang="en-US" sz="2400" dirty="0">
                <a:latin typeface="Calibri" panose="020F0502020204030204" charset="0"/>
                <a:cs typeface="Calibri" panose="020F0502020204030204" charset="0"/>
              </a:rPr>
              <a:t>Reducing 20 climate variables to 3 important ones.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A8ABCE-DF2A-D91E-EB91-6A7DE675236E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324673" y="55277"/>
            <a:ext cx="10969200" cy="450969"/>
          </a:xfrm>
        </p:spPr>
        <p:txBody>
          <a:bodyPr>
            <a:normAutofit/>
          </a:bodyPr>
          <a:lstStyle/>
          <a:p>
            <a:r>
              <a:rPr lang="en-US" sz="1400" b="1" dirty="0">
                <a:latin typeface="Calibri" panose="020F0502020204030204" charset="0"/>
                <a:cs typeface="Calibri" panose="020F0502020204030204" charset="0"/>
                <a:sym typeface="+mn-ea"/>
              </a:rPr>
              <a:t>TYPES OF ML</a:t>
            </a:r>
            <a:endParaRPr lang="en-US" sz="1400" dirty="0"/>
          </a:p>
        </p:txBody>
      </p:sp>
    </p:spTree>
    <p:custDataLst>
      <p:tags r:id="rId1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pPr algn="ctr"/>
            <a:r>
              <a:rPr lang="en-US" altLang="en-US" b="1" dirty="0">
                <a:latin typeface="Calibri" panose="020F0502020204030204" charset="0"/>
                <a:cs typeface="Calibri" panose="020F0502020204030204" charset="0"/>
                <a:sym typeface="+mn-ea"/>
              </a:rPr>
              <a:t>Unsupervised Learning: </a:t>
            </a:r>
            <a:r>
              <a:rPr lang="en-US" b="1" dirty="0">
                <a:latin typeface="Calibri" panose="020F0502020204030204" charset="0"/>
                <a:cs typeface="Calibri" panose="020F0502020204030204" charset="0"/>
                <a:sym typeface="+mn-ea"/>
              </a:rPr>
              <a:t>Common </a:t>
            </a:r>
            <a:r>
              <a:rPr lang="en-US" altLang="en-US" b="1" dirty="0">
                <a:latin typeface="Calibri" panose="020F0502020204030204" charset="0"/>
                <a:cs typeface="Calibri" panose="020F0502020204030204" charset="0"/>
                <a:sym typeface="+mn-ea"/>
              </a:rPr>
              <a:t>Algorithms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zh-CN" altLang="en-US" sz="2800" dirty="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🔵 </a:t>
            </a:r>
            <a:r>
              <a:rPr lang="en-US" altLang="en-US" sz="2800" b="1" dirty="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K-Means Clustering</a:t>
            </a:r>
            <a:r>
              <a:rPr lang="en-US" altLang="en-US" sz="2800" dirty="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 → Groups similar data</a:t>
            </a:r>
          </a:p>
          <a:p>
            <a:pPr marL="0" indent="0">
              <a:buNone/>
            </a:pPr>
            <a:r>
              <a:rPr lang="zh-CN" altLang="en-US" sz="2800" dirty="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🌳 </a:t>
            </a:r>
            <a:r>
              <a:rPr lang="en-US" altLang="en-US" sz="2800" b="1" dirty="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Hierarchical Clustering</a:t>
            </a:r>
            <a:r>
              <a:rPr lang="en-US" altLang="en-US" sz="2800" dirty="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 → Creates groups in a hierarchy</a:t>
            </a:r>
          </a:p>
          <a:p>
            <a:pPr marL="0" indent="0">
              <a:buNone/>
            </a:pPr>
            <a:r>
              <a:rPr lang="zh-CN" altLang="en-US" sz="2800" dirty="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🔎 </a:t>
            </a:r>
            <a:r>
              <a:rPr lang="en-US" altLang="en-US" sz="2800" b="1" dirty="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DBSCAN</a:t>
            </a:r>
            <a:r>
              <a:rPr lang="en-US" altLang="en-US" sz="2800" dirty="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 → Finds natural groups and unusual points</a:t>
            </a:r>
          </a:p>
          <a:p>
            <a:pPr marL="0" indent="0">
              <a:buNone/>
            </a:pPr>
            <a:r>
              <a:rPr lang="zh-CN" altLang="en-US" sz="2800" dirty="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📉 </a:t>
            </a:r>
            <a:r>
              <a:rPr lang="en-US" altLang="en-US" sz="2800" b="1" dirty="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PCA (Principal Component Analysis</a:t>
            </a:r>
            <a:r>
              <a:rPr lang="en-US" altLang="en-US" sz="2800" dirty="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) → Reduces many variables into fewer important variables</a:t>
            </a:r>
          </a:p>
          <a:p>
            <a:pPr marL="0" indent="0">
              <a:buNone/>
            </a:pPr>
            <a:r>
              <a:rPr lang="en-US" altLang="en-US" sz="2800" b="1" dirty="0">
                <a:solidFill>
                  <a:schemeClr val="accent1"/>
                </a:solidFill>
                <a:latin typeface="Calibri" panose="020F0502020204030204" charset="0"/>
                <a:cs typeface="Calibri" panose="020F0502020204030204" charset="0"/>
              </a:rPr>
              <a:t>Example:</a:t>
            </a:r>
          </a:p>
          <a:p>
            <a:pPr marL="0" indent="0">
              <a:buNone/>
            </a:pPr>
            <a:r>
              <a:rPr lang="zh-CN" altLang="en-US" sz="2800" dirty="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🌧️ </a:t>
            </a:r>
            <a:r>
              <a:rPr lang="en-US" altLang="en-US" sz="2800" dirty="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Rainfall + </a:t>
            </a:r>
            <a:r>
              <a:rPr lang="zh-CN" altLang="en-US" sz="2800" dirty="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🌡️ </a:t>
            </a:r>
            <a:r>
              <a:rPr lang="en-US" altLang="en-US" sz="2800" dirty="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Temperature + </a:t>
            </a:r>
            <a:r>
              <a:rPr lang="zh-CN" altLang="en-US" sz="2800" dirty="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💧 </a:t>
            </a:r>
            <a:r>
              <a:rPr lang="en-US" altLang="en-US" sz="2800" dirty="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Soil Moisture → </a:t>
            </a:r>
            <a:r>
              <a:rPr lang="zh-CN" altLang="en-US" sz="2800" dirty="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🤖 </a:t>
            </a:r>
            <a:r>
              <a:rPr lang="en-US" altLang="en-US" sz="2800" dirty="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ML → Similar Climate Groups</a:t>
            </a:r>
          </a:p>
        </p:txBody>
      </p:sp>
      <p:sp>
        <p:nvSpPr>
          <p:cNvPr id="5" name="Text Box 4"/>
          <p:cNvSpPr txBox="1"/>
          <p:nvPr/>
        </p:nvSpPr>
        <p:spPr>
          <a:xfrm>
            <a:off x="0" y="6125845"/>
            <a:ext cx="12191365" cy="73152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r"/>
            <a:r>
              <a:rPr lang="en-US" b="1">
                <a:solidFill>
                  <a:schemeClr val="tx1"/>
                </a:solidFill>
              </a:rPr>
              <a:t>11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3BDF64A-F80E-1779-1F91-5E96279D0107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>
          <a:xfrm>
            <a:off x="680932" y="148735"/>
            <a:ext cx="10969200" cy="450969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rm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3600" b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+mj-ea"/>
                <a:cs typeface="+mj-cs"/>
              </a:defRPr>
            </a:lvl1pPr>
          </a:lstStyle>
          <a:p>
            <a:r>
              <a:rPr lang="en-US" sz="1400" b="1" dirty="0">
                <a:latin typeface="Calibri" panose="020F0502020204030204" charset="0"/>
                <a:cs typeface="Calibri" panose="020F0502020204030204" charset="0"/>
                <a:sym typeface="+mn-ea"/>
              </a:rPr>
              <a:t>TYPES OF ML</a:t>
            </a:r>
            <a:endParaRPr lang="en-US" sz="1400" dirty="0"/>
          </a:p>
        </p:txBody>
      </p:sp>
    </p:spTree>
    <p:custDataLst>
      <p:tags r:id="rId1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14470" y="540374"/>
            <a:ext cx="10969200" cy="4759200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3200" b="1" dirty="0">
                <a:latin typeface="Calibri" panose="020F0502020204030204" charset="0"/>
                <a:cs typeface="Calibri" panose="020F0502020204030204" charset="0"/>
              </a:rPr>
              <a:t>3. 🎮 </a:t>
            </a:r>
            <a:r>
              <a:rPr lang="en-US" altLang="en-US" sz="3200" b="1" dirty="0">
                <a:latin typeface="Calibri" panose="020F0502020204030204" charset="0"/>
                <a:cs typeface="Calibri" panose="020F0502020204030204" charset="0"/>
              </a:rPr>
              <a:t>Reinforcement Learning</a:t>
            </a:r>
          </a:p>
          <a:p>
            <a:pPr marL="0" indent="0">
              <a:buNone/>
            </a:pPr>
            <a:r>
              <a:rPr lang="en-US" altLang="en-US" sz="2800" dirty="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Reinforcement learning is a branch of machine learning in which an AI agent learns to make optimal decisions through trial and error to maximize cumulative reward.</a:t>
            </a:r>
          </a:p>
          <a:p>
            <a:pPr marL="0" indent="0">
              <a:buNone/>
            </a:pPr>
            <a:endParaRPr lang="en-US" altLang="en-US" sz="2800" dirty="0">
              <a:solidFill>
                <a:schemeClr val="tx1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0" y="6125845"/>
            <a:ext cx="12191365" cy="73152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r"/>
            <a:r>
              <a:rPr lang="en-US" b="1">
                <a:solidFill>
                  <a:schemeClr val="tx1"/>
                </a:solidFill>
              </a:rPr>
              <a:t>12</a:t>
            </a:r>
          </a:p>
        </p:txBody>
      </p:sp>
      <p:sp>
        <p:nvSpPr>
          <p:cNvPr id="4" name="Text Box 3"/>
          <p:cNvSpPr txBox="1"/>
          <p:nvPr/>
        </p:nvSpPr>
        <p:spPr>
          <a:xfrm>
            <a:off x="608330" y="3579734"/>
            <a:ext cx="10163175" cy="15199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2800" b="1" dirty="0">
                <a:solidFill>
                  <a:schemeClr val="accent1"/>
                </a:solidFill>
                <a:latin typeface="Calibri" panose="020F0502020204030204" charset="0"/>
                <a:cs typeface="Calibri" panose="020F0502020204030204" charset="0"/>
              </a:rPr>
              <a:t>Example:</a:t>
            </a:r>
          </a:p>
          <a:p>
            <a:pPr>
              <a:lnSpc>
                <a:spcPct val="120000"/>
              </a:lnSpc>
            </a:pPr>
            <a:r>
              <a:rPr lang="zh-CN" altLang="en-US" sz="2800" dirty="0">
                <a:latin typeface="Calibri" panose="020F0502020204030204" charset="0"/>
                <a:cs typeface="Calibri" panose="020F0502020204030204" charset="0"/>
              </a:rPr>
              <a:t>🚗 </a:t>
            </a:r>
            <a:r>
              <a:rPr lang="en-US" altLang="zh-CN" sz="28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2800" dirty="0">
                <a:latin typeface="Calibri" panose="020F0502020204030204" charset="0"/>
                <a:cs typeface="Calibri" panose="020F0502020204030204" charset="0"/>
              </a:rPr>
              <a:t>Correctly stops at a red light → ✅ Reward</a:t>
            </a:r>
          </a:p>
          <a:p>
            <a:pPr>
              <a:lnSpc>
                <a:spcPct val="120000"/>
              </a:lnSpc>
            </a:pPr>
            <a:r>
              <a:rPr lang="zh-CN" altLang="en-US" sz="2800" dirty="0">
                <a:latin typeface="Calibri" panose="020F0502020204030204" charset="0"/>
                <a:cs typeface="Calibri" panose="020F0502020204030204" charset="0"/>
              </a:rPr>
              <a:t>🚗 </a:t>
            </a:r>
            <a:r>
              <a:rPr lang="en-US" altLang="zh-CN" sz="28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2800" dirty="0">
                <a:latin typeface="Calibri" panose="020F0502020204030204" charset="0"/>
                <a:cs typeface="Calibri" panose="020F0502020204030204" charset="0"/>
              </a:rPr>
              <a:t>Makes a wrong move → ❌ Penalty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948668F2-06F7-322F-314C-5F3E256030BD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680932" y="148735"/>
            <a:ext cx="10969200" cy="450969"/>
          </a:xfrm>
        </p:spPr>
        <p:txBody>
          <a:bodyPr>
            <a:normAutofit/>
          </a:bodyPr>
          <a:lstStyle/>
          <a:p>
            <a:r>
              <a:rPr lang="en-US" sz="1400" b="1" dirty="0">
                <a:latin typeface="Calibri" panose="020F0502020204030204" charset="0"/>
                <a:cs typeface="Calibri" panose="020F0502020204030204" charset="0"/>
                <a:sym typeface="+mn-ea"/>
              </a:rPr>
              <a:t>TYPES OF ML</a:t>
            </a:r>
            <a:endParaRPr lang="en-US" sz="1400" dirty="0"/>
          </a:p>
        </p:txBody>
      </p:sp>
    </p:spTree>
    <p:custDataLst>
      <p:tags r:id="rId1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pPr algn="ctr"/>
            <a:r>
              <a:rPr lang="en-US" altLang="en-US" b="1" dirty="0">
                <a:latin typeface="Calibri" panose="020F0502020204030204" charset="0"/>
                <a:cs typeface="Calibri" panose="020F0502020204030204" charset="0"/>
                <a:sym typeface="+mn-ea"/>
              </a:rPr>
              <a:t>Reinforcement Learning: </a:t>
            </a:r>
            <a:r>
              <a:rPr lang="en-US" b="1" dirty="0">
                <a:latin typeface="Calibri" panose="020F0502020204030204" charset="0"/>
                <a:cs typeface="Calibri" panose="020F0502020204030204" charset="0"/>
                <a:sym typeface="+mn-ea"/>
              </a:rPr>
              <a:t>Common </a:t>
            </a:r>
            <a:r>
              <a:rPr lang="en-US" altLang="en-US" b="1" dirty="0">
                <a:latin typeface="Calibri" panose="020F0502020204030204" charset="0"/>
                <a:cs typeface="Calibri" panose="020F0502020204030204" charset="0"/>
                <a:sym typeface="+mn-ea"/>
              </a:rPr>
              <a:t>Algorithms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sz="2800" dirty="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🎯 </a:t>
            </a:r>
            <a:r>
              <a:rPr lang="en-US" altLang="en-US" sz="2800" b="1" dirty="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Q-Learning</a:t>
            </a:r>
            <a:r>
              <a:rPr lang="en-US" altLang="en-US" sz="2800" dirty="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 → Learns the best action through rewards</a:t>
            </a:r>
          </a:p>
          <a:p>
            <a:pPr marL="0" indent="0">
              <a:buNone/>
            </a:pPr>
            <a:r>
              <a:rPr lang="zh-CN" altLang="en-US" sz="2800" dirty="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🔄 </a:t>
            </a:r>
            <a:r>
              <a:rPr lang="en-US" altLang="en-US" sz="2800" b="1" dirty="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SARSA</a:t>
            </a:r>
            <a:r>
              <a:rPr lang="en-US" altLang="en-US" sz="2800" dirty="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 → Learns from actions and their rewards</a:t>
            </a:r>
          </a:p>
          <a:p>
            <a:pPr marL="0" indent="0">
              <a:buNone/>
            </a:pPr>
            <a:r>
              <a:rPr lang="zh-CN" altLang="en-US" sz="2800" dirty="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🧠 </a:t>
            </a:r>
            <a:r>
              <a:rPr lang="en-US" altLang="en-US" sz="2800" b="1" dirty="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DQN (Deep Q-Network)</a:t>
            </a:r>
            <a:r>
              <a:rPr lang="en-US" altLang="en-US" sz="2800" dirty="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 → Uses deep learning for decision-making</a:t>
            </a:r>
          </a:p>
          <a:p>
            <a:pPr marL="0" indent="0">
              <a:buNone/>
            </a:pPr>
            <a:r>
              <a:rPr lang="en-US" altLang="en-US" sz="2800" b="1" dirty="0">
                <a:solidFill>
                  <a:schemeClr val="accent1"/>
                </a:solidFill>
                <a:latin typeface="Calibri" panose="020F0502020204030204" charset="0"/>
                <a:cs typeface="Calibri" panose="020F0502020204030204" charset="0"/>
              </a:rPr>
              <a:t>Example:</a:t>
            </a:r>
          </a:p>
          <a:p>
            <a:pPr marL="0" indent="0">
              <a:buNone/>
            </a:pPr>
            <a:r>
              <a:rPr lang="zh-CN" altLang="en-US" sz="2800" dirty="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🤖 </a:t>
            </a:r>
            <a:r>
              <a:rPr lang="en-US" altLang="en-US" sz="2800" dirty="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Robot → </a:t>
            </a:r>
            <a:r>
              <a:rPr lang="zh-CN" altLang="en-US" sz="2800" dirty="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🚶 </a:t>
            </a:r>
            <a:r>
              <a:rPr lang="en-US" altLang="en-US" sz="2800" dirty="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Action → ⭐ Reward / ❌ Penalty → </a:t>
            </a:r>
            <a:r>
              <a:rPr lang="zh-CN" altLang="en-US" sz="2800" dirty="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🧠 </a:t>
            </a:r>
            <a:r>
              <a:rPr lang="en-US" altLang="en-US" sz="2800" dirty="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Learns the best action</a:t>
            </a:r>
          </a:p>
        </p:txBody>
      </p:sp>
      <p:sp>
        <p:nvSpPr>
          <p:cNvPr id="5" name="Text Box 4"/>
          <p:cNvSpPr txBox="1"/>
          <p:nvPr/>
        </p:nvSpPr>
        <p:spPr>
          <a:xfrm>
            <a:off x="0" y="6125845"/>
            <a:ext cx="12191365" cy="73152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r"/>
            <a:r>
              <a:rPr lang="en-US" b="1">
                <a:solidFill>
                  <a:schemeClr val="tx1"/>
                </a:solidFill>
              </a:rPr>
              <a:t>13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500F97E-AF23-9CDE-B3A6-89F9C6FFBAD6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>
          <a:xfrm>
            <a:off x="680932" y="148735"/>
            <a:ext cx="10969200" cy="450969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rm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3600" b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+mj-ea"/>
                <a:cs typeface="+mj-cs"/>
              </a:defRPr>
            </a:lvl1pPr>
          </a:lstStyle>
          <a:p>
            <a:r>
              <a:rPr lang="en-US" sz="1400" b="1" dirty="0">
                <a:latin typeface="Calibri" panose="020F0502020204030204" charset="0"/>
                <a:cs typeface="Calibri" panose="020F0502020204030204" charset="0"/>
                <a:sym typeface="+mn-ea"/>
              </a:rPr>
              <a:t>TYPES OF ML</a:t>
            </a:r>
            <a:endParaRPr lang="en-US" sz="1400" dirty="0"/>
          </a:p>
        </p:txBody>
      </p:sp>
    </p:spTree>
    <p:custDataLst>
      <p:tags r:id="rId1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pPr algn="ctr"/>
            <a:r>
              <a:rPr lang="en-US" b="1">
                <a:latin typeface="Calibri" panose="020F0502020204030204" charset="0"/>
                <a:cs typeface="Calibri" panose="020F0502020204030204" charset="0"/>
                <a:sym typeface="+mn-ea"/>
              </a:rPr>
              <a:t>TYPES OF DL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zh-CN" altLang="en-US" sz="2400" b="1" dirty="0"/>
              <a:t>🧠 </a:t>
            </a:r>
            <a:r>
              <a:rPr lang="en-US" altLang="zh-CN" sz="2400" b="1" dirty="0">
                <a:solidFill>
                  <a:schemeClr val="tx1"/>
                </a:solidFill>
              </a:rPr>
              <a:t> </a:t>
            </a:r>
            <a:r>
              <a:rPr lang="en-US" altLang="en-US" sz="2800" b="1" dirty="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ANN – Artificial Neural Network</a:t>
            </a:r>
            <a:endParaRPr lang="en-US" altLang="en-US" sz="2400" b="1" dirty="0"/>
          </a:p>
          <a:p>
            <a:pPr marL="0" indent="0">
              <a:buNone/>
            </a:pPr>
            <a:r>
              <a:rPr lang="en-US" altLang="en-US" sz="2800" dirty="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Learns patterns from data to make predictions.</a:t>
            </a:r>
          </a:p>
          <a:p>
            <a:pPr marL="0" indent="0">
              <a:buNone/>
            </a:pPr>
            <a:r>
              <a:rPr lang="en-US" altLang="en-US" sz="2800" b="1" dirty="0">
                <a:solidFill>
                  <a:schemeClr val="accent1"/>
                </a:solidFill>
                <a:latin typeface="Calibri" panose="020F0502020204030204" charset="0"/>
                <a:cs typeface="Calibri" panose="020F0502020204030204" charset="0"/>
              </a:rPr>
              <a:t>Example: </a:t>
            </a:r>
            <a:r>
              <a:rPr lang="en-US" altLang="en-US" sz="2800" dirty="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Predicting house prices from area, number of rooms, and location</a:t>
            </a:r>
            <a:r>
              <a:rPr lang="en-US" altLang="en-US" sz="2800" b="1" dirty="0">
                <a:latin typeface="Calibri" panose="020F0502020204030204" charset="0"/>
                <a:cs typeface="Calibri" panose="020F0502020204030204" charset="0"/>
              </a:rPr>
              <a:t>.</a:t>
            </a:r>
            <a:endParaRPr lang="en-US" altLang="en-US" sz="2400" b="1" dirty="0"/>
          </a:p>
          <a:p>
            <a:pPr marL="0" indent="0">
              <a:buNone/>
            </a:pPr>
            <a:r>
              <a:rPr lang="zh-CN" altLang="en-US" sz="2800" b="1" dirty="0"/>
              <a:t>🖼</a:t>
            </a:r>
            <a:r>
              <a:rPr lang="en-US" altLang="zh-CN" sz="2800" b="1" dirty="0"/>
              <a:t>  </a:t>
            </a:r>
            <a:r>
              <a:rPr lang="en-US" altLang="en-US" sz="2800" b="1" dirty="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CNN – Convolutional Neural Network</a:t>
            </a:r>
            <a:endParaRPr lang="en-US" altLang="en-US" sz="2800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 sz="2800" dirty="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Learns from images and recognizes objects or patterns.</a:t>
            </a:r>
          </a:p>
          <a:p>
            <a:pPr marL="0" indent="0">
              <a:buNone/>
            </a:pPr>
            <a:r>
              <a:rPr lang="en-US" altLang="en-US" sz="2800" b="1" dirty="0">
                <a:solidFill>
                  <a:schemeClr val="accent1"/>
                </a:solidFill>
                <a:latin typeface="Calibri" panose="020F0502020204030204" charset="0"/>
                <a:cs typeface="Calibri" panose="020F0502020204030204" charset="0"/>
              </a:rPr>
              <a:t>Example:</a:t>
            </a:r>
            <a:r>
              <a:rPr lang="en-US" altLang="en-US" sz="2800" dirty="0">
                <a:solidFill>
                  <a:schemeClr val="accent1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2800" dirty="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Identifying whether an image contains a cat </a:t>
            </a:r>
            <a:r>
              <a:rPr lang="zh-CN" altLang="en-US" sz="2800" dirty="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🐱 </a:t>
            </a:r>
            <a:r>
              <a:rPr lang="en-US" altLang="en-US" sz="2800" dirty="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or a dog 🐶.</a:t>
            </a:r>
            <a:endParaRPr lang="zh-CN" altLang="en-US" sz="2800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altLang="en-US" sz="2800" b="1" dirty="0">
              <a:solidFill>
                <a:schemeClr val="tx1"/>
              </a:solidFill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0" y="6125845"/>
            <a:ext cx="12191365" cy="73152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r"/>
            <a:r>
              <a:rPr lang="en-US" b="1">
                <a:solidFill>
                  <a:schemeClr val="tx1"/>
                </a:solidFill>
              </a:rPr>
              <a:t>14</a:t>
            </a:r>
          </a:p>
        </p:txBody>
      </p:sp>
    </p:spTree>
    <p:custDataLst>
      <p:tags r:id="rId1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80932" y="148735"/>
            <a:ext cx="10969200" cy="450969"/>
          </a:xfrm>
        </p:spPr>
        <p:txBody>
          <a:bodyPr>
            <a:normAutofit/>
          </a:bodyPr>
          <a:lstStyle/>
          <a:p>
            <a:r>
              <a:rPr lang="en-US" sz="1400" b="1" dirty="0">
                <a:latin typeface="Calibri" panose="020F0502020204030204" charset="0"/>
                <a:cs typeface="Calibri" panose="020F0502020204030204" charset="0"/>
                <a:sym typeface="+mn-ea"/>
              </a:rPr>
              <a:t>TYPES OF DL</a:t>
            </a:r>
            <a:endParaRPr lang="en-US" sz="1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80932" y="827504"/>
            <a:ext cx="10968990" cy="294513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zh-CN" altLang="en-US" sz="2400" b="1" dirty="0">
                <a:sym typeface="+mn-ea"/>
              </a:rPr>
              <a:t>🔄 </a:t>
            </a:r>
            <a:r>
              <a:rPr lang="en-US" altLang="zh-CN" sz="2400" b="1" dirty="0">
                <a:sym typeface="+mn-ea"/>
              </a:rPr>
              <a:t> </a:t>
            </a:r>
            <a:r>
              <a:rPr lang="en-US" altLang="en-US" sz="2800" b="1" dirty="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  <a:sym typeface="+mn-ea"/>
              </a:rPr>
              <a:t>RNN – Recurrent Neural Network</a:t>
            </a:r>
            <a:endParaRPr lang="en-US" altLang="en-US" sz="2400" b="1" dirty="0">
              <a:solidFill>
                <a:schemeClr val="tx1"/>
              </a:solidFill>
              <a:sym typeface="+mn-ea"/>
            </a:endParaRPr>
          </a:p>
          <a:p>
            <a:pPr marL="0" indent="0">
              <a:buNone/>
            </a:pPr>
            <a:r>
              <a:rPr lang="en-US" altLang="en-US" sz="2800" dirty="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  <a:sym typeface="+mn-ea"/>
              </a:rPr>
              <a:t>Learns from data that comes in sequence.</a:t>
            </a:r>
          </a:p>
          <a:p>
            <a:pPr marL="0" indent="0">
              <a:buNone/>
            </a:pPr>
            <a:r>
              <a:rPr lang="en-US" altLang="en-US" sz="2800" b="1" dirty="0">
                <a:solidFill>
                  <a:schemeClr val="accent1"/>
                </a:solidFill>
                <a:latin typeface="Calibri" panose="020F0502020204030204" charset="0"/>
                <a:cs typeface="Calibri" panose="020F0502020204030204" charset="0"/>
                <a:sym typeface="+mn-ea"/>
              </a:rPr>
              <a:t>Example:</a:t>
            </a:r>
            <a:r>
              <a:rPr lang="en-US" altLang="en-US" sz="2800" dirty="0">
                <a:solidFill>
                  <a:schemeClr val="accent1"/>
                </a:solidFill>
                <a:latin typeface="Calibri" panose="020F0502020204030204" charset="0"/>
                <a:cs typeface="Calibri" panose="020F0502020204030204" charset="0"/>
                <a:sym typeface="+mn-ea"/>
              </a:rPr>
              <a:t> </a:t>
            </a:r>
            <a:r>
              <a:rPr lang="en-US" altLang="en-US" sz="2800" dirty="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  <a:sym typeface="+mn-ea"/>
              </a:rPr>
              <a:t>Predicting tomorrow's temperature using previous days' temperatures.</a:t>
            </a:r>
            <a:endParaRPr lang="en-US" altLang="en-US" sz="2400" b="1" dirty="0"/>
          </a:p>
          <a:p>
            <a:pPr marL="0" indent="0">
              <a:buNone/>
            </a:pPr>
            <a:r>
              <a:rPr lang="en-US" altLang="en-US" sz="2400" b="1" dirty="0">
                <a:sym typeface="+mn-ea"/>
              </a:rPr>
              <a:t> </a:t>
            </a:r>
            <a:endParaRPr lang="en-US" sz="2400" dirty="0"/>
          </a:p>
        </p:txBody>
      </p:sp>
      <p:sp>
        <p:nvSpPr>
          <p:cNvPr id="5" name="Text Box 4"/>
          <p:cNvSpPr txBox="1"/>
          <p:nvPr/>
        </p:nvSpPr>
        <p:spPr>
          <a:xfrm>
            <a:off x="0" y="6125845"/>
            <a:ext cx="12191365" cy="73152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r"/>
            <a:r>
              <a:rPr lang="en-US" b="1">
                <a:solidFill>
                  <a:schemeClr val="tx1"/>
                </a:solidFill>
              </a:rPr>
              <a:t>15</a:t>
            </a:r>
          </a:p>
        </p:txBody>
      </p:sp>
      <p:sp>
        <p:nvSpPr>
          <p:cNvPr id="4" name="Text Box 3"/>
          <p:cNvSpPr txBox="1"/>
          <p:nvPr/>
        </p:nvSpPr>
        <p:spPr>
          <a:xfrm>
            <a:off x="680932" y="3429000"/>
            <a:ext cx="10823575" cy="260149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20000"/>
              </a:lnSpc>
            </a:pPr>
            <a:r>
              <a:rPr lang="en-US" altLang="en-US" sz="2800" b="1" dirty="0">
                <a:sym typeface="+mn-ea"/>
              </a:rPr>
              <a:t>⏳ LSTM – Long Short-Term Memory</a:t>
            </a:r>
            <a:endParaRPr lang="en-US" altLang="en-US" sz="2800" spc="150" dirty="0">
              <a:uFillTx/>
              <a:latin typeface="Calibri" panose="020F0502020204030204" charset="0"/>
              <a:cs typeface="Calibri" panose="020F0502020204030204" charset="0"/>
            </a:endParaRPr>
          </a:p>
          <a:p>
            <a:pPr>
              <a:lnSpc>
                <a:spcPct val="120000"/>
              </a:lnSpc>
            </a:pPr>
            <a:r>
              <a:rPr lang="en-US" altLang="en-US" sz="2800" spc="150" dirty="0">
                <a:uFillTx/>
                <a:latin typeface="Calibri" panose="020F0502020204030204" charset="0"/>
                <a:cs typeface="Calibri" panose="020F0502020204030204" charset="0"/>
              </a:rPr>
              <a:t>Learns from sequences while remembering important past information.</a:t>
            </a:r>
          </a:p>
          <a:p>
            <a:pPr>
              <a:lnSpc>
                <a:spcPct val="120000"/>
              </a:lnSpc>
            </a:pPr>
            <a:r>
              <a:rPr lang="en-US" altLang="en-US" sz="2800" b="1" spc="150" dirty="0">
                <a:solidFill>
                  <a:schemeClr val="accent1"/>
                </a:solidFill>
                <a:uFillTx/>
                <a:latin typeface="Calibri" panose="020F0502020204030204" charset="0"/>
                <a:cs typeface="Calibri" panose="020F0502020204030204" charset="0"/>
              </a:rPr>
              <a:t>Example:</a:t>
            </a:r>
            <a:r>
              <a:rPr lang="en-US" altLang="en-US" sz="2800" spc="150" dirty="0">
                <a:solidFill>
                  <a:schemeClr val="accent1"/>
                </a:solidFill>
                <a:uFillTx/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2800" spc="150" dirty="0">
                <a:uFillTx/>
                <a:latin typeface="Calibri" panose="020F0502020204030204" charset="0"/>
                <a:cs typeface="Calibri" panose="020F0502020204030204" charset="0"/>
              </a:rPr>
              <a:t>Predicting river stage using previous river stages, rainfall, temperature, and soil moisture.</a:t>
            </a:r>
          </a:p>
        </p:txBody>
      </p:sp>
    </p:spTree>
    <p:custDataLst>
      <p:tags r:id="rId1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 descr="pngtree-thank-you-text-with-blue-watercolor-background-transparent-editable-font-png-image_6227625"/>
          <p:cNvPicPr>
            <a:picLocks noGrp="1" noChangeAspect="1"/>
          </p:cNvPicPr>
          <p:nvPr>
            <p:ph idx="1"/>
            <p:custDataLst>
              <p:tags r:id="rId2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-635" y="-635"/>
            <a:ext cx="12192635" cy="68580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767</Words>
  <Application>Microsoft Office PowerPoint</Application>
  <PresentationFormat>Widescreen</PresentationFormat>
  <Paragraphs>109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Wingdings</vt:lpstr>
      <vt:lpstr>WPS</vt:lpstr>
      <vt:lpstr>Artificial Intelligence</vt:lpstr>
      <vt:lpstr>Learning Objectives</vt:lpstr>
      <vt:lpstr>Artificial Intelligence</vt:lpstr>
      <vt:lpstr>Machine Learning</vt:lpstr>
      <vt:lpstr>Deep Learning</vt:lpstr>
      <vt:lpstr>PowerPoint Presentation</vt:lpstr>
      <vt:lpstr>TYPES OF ML</vt:lpstr>
      <vt:lpstr>TYPES OF ML</vt:lpstr>
      <vt:lpstr>Supervised Learning: Common Algorithms</vt:lpstr>
      <vt:lpstr>TYPES OF ML</vt:lpstr>
      <vt:lpstr>Unsupervised Learning: Common Algorithms</vt:lpstr>
      <vt:lpstr>TYPES OF ML</vt:lpstr>
      <vt:lpstr>Reinforcement Learning: Common Algorithms</vt:lpstr>
      <vt:lpstr>TYPES OF DL</vt:lpstr>
      <vt:lpstr>TYPES OF DL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Artificial Intelligence</dc:title>
  <dc:creator>CYBER-LAPTOP</dc:creator>
  <cp:lastModifiedBy>Arjumand Zaidi</cp:lastModifiedBy>
  <cp:revision>7</cp:revision>
  <dcterms:created xsi:type="dcterms:W3CDTF">2026-09-14T19:56:36Z</dcterms:created>
  <dcterms:modified xsi:type="dcterms:W3CDTF">2026-09-21T05:54:54Z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521C923323EC4CB19C0003C4D1182C9D_11</vt:lpwstr>
  </property>
</Properties>
</file>