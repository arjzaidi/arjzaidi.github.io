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83" r:id="rId3"/>
    <p:sldId id="312" r:id="rId4"/>
    <p:sldId id="324" r:id="rId5"/>
    <p:sldId id="327" r:id="rId6"/>
    <p:sldId id="313" r:id="rId7"/>
    <p:sldId id="314" r:id="rId8"/>
    <p:sldId id="315" r:id="rId9"/>
    <p:sldId id="316" r:id="rId10"/>
    <p:sldId id="317" r:id="rId11"/>
    <p:sldId id="318" r:id="rId12"/>
    <p:sldId id="319" r:id="rId13"/>
    <p:sldId id="320" r:id="rId14"/>
    <p:sldId id="321" r:id="rId15"/>
    <p:sldId id="323" r:id="rId16"/>
    <p:sldId id="322" r:id="rId17"/>
    <p:sldId id="331" r:id="rId18"/>
    <p:sldId id="328" r:id="rId19"/>
    <p:sldId id="330" r:id="rId20"/>
    <p:sldId id="333" r:id="rId21"/>
    <p:sldId id="332" r:id="rId22"/>
    <p:sldId id="334" r:id="rId23"/>
    <p:sldId id="329" r:id="rId24"/>
    <p:sldId id="336" r:id="rId25"/>
    <p:sldId id="335" r:id="rId26"/>
    <p:sldId id="258" r:id="rId27"/>
    <p:sldId id="31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7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1669" autoAdjust="0"/>
  </p:normalViewPr>
  <p:slideViewPr>
    <p:cSldViewPr snapToGrid="0">
      <p:cViewPr>
        <p:scale>
          <a:sx n="88" d="100"/>
          <a:sy n="88" d="100"/>
        </p:scale>
        <p:origin x="860" y="44"/>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31722-D206-4971-92B1-74FD0661D76A}"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5ACB9B-3486-44B3-8F4C-CE1EE2693DCF}" type="slidenum">
              <a:rPr lang="en-US" smtClean="0"/>
              <a:t>‹#›</a:t>
            </a:fld>
            <a:endParaRPr lang="en-US"/>
          </a:p>
        </p:txBody>
      </p:sp>
    </p:spTree>
    <p:extLst>
      <p:ext uri="{BB962C8B-B14F-4D97-AF65-F5344CB8AC3E}">
        <p14:creationId xmlns:p14="http://schemas.microsoft.com/office/powerpoint/2010/main" val="713017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5ACB9B-3486-44B3-8F4C-CE1EE2693DCF}" type="slidenum">
              <a:rPr lang="en-US" smtClean="0"/>
              <a:t>1</a:t>
            </a:fld>
            <a:endParaRPr lang="en-US"/>
          </a:p>
        </p:txBody>
      </p:sp>
    </p:spTree>
    <p:extLst>
      <p:ext uri="{BB962C8B-B14F-4D97-AF65-F5344CB8AC3E}">
        <p14:creationId xmlns:p14="http://schemas.microsoft.com/office/powerpoint/2010/main" val="519540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5ACB9B-3486-44B3-8F4C-CE1EE2693DCF}" type="slidenum">
              <a:rPr lang="en-US" smtClean="0"/>
              <a:t>3</a:t>
            </a:fld>
            <a:endParaRPr lang="en-US"/>
          </a:p>
        </p:txBody>
      </p:sp>
    </p:spTree>
    <p:extLst>
      <p:ext uri="{BB962C8B-B14F-4D97-AF65-F5344CB8AC3E}">
        <p14:creationId xmlns:p14="http://schemas.microsoft.com/office/powerpoint/2010/main" val="1354083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laymen's terms an unsigned </a:t>
            </a:r>
            <a:r>
              <a:rPr lang="en-US" dirty="0" err="1"/>
              <a:t>int</a:t>
            </a:r>
            <a:r>
              <a:rPr lang="en-US" dirty="0"/>
              <a:t> is an integer that can not be negative and thus has a higher range of positive values that it can assume. A signed </a:t>
            </a:r>
            <a:r>
              <a:rPr lang="en-US" dirty="0" err="1"/>
              <a:t>int</a:t>
            </a:r>
            <a:r>
              <a:rPr lang="en-US" dirty="0"/>
              <a:t> is an integer that can be negative but has a lower positive range in exchange for more negative values it can assume.</a:t>
            </a:r>
          </a:p>
        </p:txBody>
      </p:sp>
      <p:sp>
        <p:nvSpPr>
          <p:cNvPr id="4" name="Slide Number Placeholder 3"/>
          <p:cNvSpPr>
            <a:spLocks noGrp="1"/>
          </p:cNvSpPr>
          <p:nvPr>
            <p:ph type="sldNum" sz="quarter" idx="10"/>
          </p:nvPr>
        </p:nvSpPr>
        <p:spPr/>
        <p:txBody>
          <a:bodyPr/>
          <a:lstStyle/>
          <a:p>
            <a:fld id="{705ACB9B-3486-44B3-8F4C-CE1EE2693DCF}" type="slidenum">
              <a:rPr lang="en-US" smtClean="0"/>
              <a:t>4</a:t>
            </a:fld>
            <a:endParaRPr lang="en-US"/>
          </a:p>
        </p:txBody>
      </p:sp>
    </p:spTree>
    <p:extLst>
      <p:ext uri="{BB962C8B-B14F-4D97-AF65-F5344CB8AC3E}">
        <p14:creationId xmlns:p14="http://schemas.microsoft.com/office/powerpoint/2010/main" val="2242915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2C = in 2024</a:t>
            </a:r>
          </a:p>
          <a:p>
            <a:r>
              <a:rPr lang="en-US" dirty="0"/>
              <a:t>2D = in 2025</a:t>
            </a:r>
          </a:p>
        </p:txBody>
      </p:sp>
      <p:sp>
        <p:nvSpPr>
          <p:cNvPr id="4" name="Slide Number Placeholder 3"/>
          <p:cNvSpPr>
            <a:spLocks noGrp="1"/>
          </p:cNvSpPr>
          <p:nvPr>
            <p:ph type="sldNum" sz="quarter" idx="10"/>
          </p:nvPr>
        </p:nvSpPr>
        <p:spPr/>
        <p:txBody>
          <a:bodyPr/>
          <a:lstStyle/>
          <a:p>
            <a:fld id="{705ACB9B-3486-44B3-8F4C-CE1EE2693DCF}" type="slidenum">
              <a:rPr lang="en-US" smtClean="0"/>
              <a:t>5</a:t>
            </a:fld>
            <a:endParaRPr lang="en-US"/>
          </a:p>
        </p:txBody>
      </p:sp>
    </p:spTree>
    <p:extLst>
      <p:ext uri="{BB962C8B-B14F-4D97-AF65-F5344CB8AC3E}">
        <p14:creationId xmlns:p14="http://schemas.microsoft.com/office/powerpoint/2010/main" val="650005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5ACB9B-3486-44B3-8F4C-CE1EE2693DCF}" type="slidenum">
              <a:rPr lang="en-US" smtClean="0"/>
              <a:t>15</a:t>
            </a:fld>
            <a:endParaRPr lang="en-US"/>
          </a:p>
        </p:txBody>
      </p:sp>
    </p:spTree>
    <p:extLst>
      <p:ext uri="{BB962C8B-B14F-4D97-AF65-F5344CB8AC3E}">
        <p14:creationId xmlns:p14="http://schemas.microsoft.com/office/powerpoint/2010/main" val="1100631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Reflectance values for Sentinel-2 products range from 0 to 3000. </a:t>
            </a:r>
          </a:p>
        </p:txBody>
      </p:sp>
      <p:sp>
        <p:nvSpPr>
          <p:cNvPr id="4" name="Slide Number Placeholder 3"/>
          <p:cNvSpPr>
            <a:spLocks noGrp="1"/>
          </p:cNvSpPr>
          <p:nvPr>
            <p:ph type="sldNum" sz="quarter" idx="10"/>
          </p:nvPr>
        </p:nvSpPr>
        <p:spPr/>
        <p:txBody>
          <a:bodyPr/>
          <a:lstStyle/>
          <a:p>
            <a:fld id="{705ACB9B-3486-44B3-8F4C-CE1EE2693DCF}" type="slidenum">
              <a:rPr lang="en-US" smtClean="0"/>
              <a:t>19</a:t>
            </a:fld>
            <a:endParaRPr lang="en-US"/>
          </a:p>
        </p:txBody>
      </p:sp>
    </p:spTree>
    <p:extLst>
      <p:ext uri="{BB962C8B-B14F-4D97-AF65-F5344CB8AC3E}">
        <p14:creationId xmlns:p14="http://schemas.microsoft.com/office/powerpoint/2010/main" val="307736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NDVI</a:t>
            </a:r>
            <a:r>
              <a:rPr lang="en-US"/>
              <a:t>: https://code.earthengine.google.com/b0167f59887fd0b46c2f8c5dc88cd5d8</a:t>
            </a:r>
            <a:endParaRPr lang="en-PK" dirty="0"/>
          </a:p>
        </p:txBody>
      </p:sp>
      <p:sp>
        <p:nvSpPr>
          <p:cNvPr id="4" name="Slide Number Placeholder 3"/>
          <p:cNvSpPr>
            <a:spLocks noGrp="1"/>
          </p:cNvSpPr>
          <p:nvPr>
            <p:ph type="sldNum" sz="quarter" idx="5"/>
          </p:nvPr>
        </p:nvSpPr>
        <p:spPr/>
        <p:txBody>
          <a:bodyPr/>
          <a:lstStyle/>
          <a:p>
            <a:fld id="{705ACB9B-3486-44B3-8F4C-CE1EE2693DCF}" type="slidenum">
              <a:rPr lang="en-US" smtClean="0"/>
              <a:t>20</a:t>
            </a:fld>
            <a:endParaRPr lang="en-US"/>
          </a:p>
        </p:txBody>
      </p:sp>
    </p:spTree>
    <p:extLst>
      <p:ext uri="{BB962C8B-B14F-4D97-AF65-F5344CB8AC3E}">
        <p14:creationId xmlns:p14="http://schemas.microsoft.com/office/powerpoint/2010/main" val="3163774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5ACB9B-3486-44B3-8F4C-CE1EE2693DCF}" type="slidenum">
              <a:rPr lang="en-US" smtClean="0"/>
              <a:t>23</a:t>
            </a:fld>
            <a:endParaRPr lang="en-US"/>
          </a:p>
        </p:txBody>
      </p:sp>
    </p:spTree>
    <p:extLst>
      <p:ext uri="{BB962C8B-B14F-4D97-AF65-F5344CB8AC3E}">
        <p14:creationId xmlns:p14="http://schemas.microsoft.com/office/powerpoint/2010/main" val="3733517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5ACB9B-3486-44B3-8F4C-CE1EE2693DCF}" type="slidenum">
              <a:rPr lang="en-US" smtClean="0"/>
              <a:t>24</a:t>
            </a:fld>
            <a:endParaRPr lang="en-US"/>
          </a:p>
        </p:txBody>
      </p:sp>
    </p:spTree>
    <p:extLst>
      <p:ext uri="{BB962C8B-B14F-4D97-AF65-F5344CB8AC3E}">
        <p14:creationId xmlns:p14="http://schemas.microsoft.com/office/powerpoint/2010/main" val="2376761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200" b="1" i="0" kern="1200" dirty="0">
                <a:solidFill>
                  <a:schemeClr val="tx1"/>
                </a:solidFill>
                <a:effectLst/>
                <a:latin typeface="+mn-lt"/>
                <a:ea typeface="+mn-ea"/>
                <a:cs typeface="+mn-cs"/>
              </a:rPr>
              <a:t>NDWI = (Green – NIR)/(Green + NIR)</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SAVI = </a:t>
            </a:r>
            <a:r>
              <a:rPr lang="es-ES" sz="1200" b="1" i="0" kern="1200" dirty="0">
                <a:solidFill>
                  <a:schemeClr val="tx1"/>
                </a:solidFill>
                <a:effectLst/>
                <a:latin typeface="+mn-lt"/>
                <a:ea typeface="+mn-ea"/>
                <a:cs typeface="+mn-cs"/>
              </a:rPr>
              <a:t>( NIR − Red ) ( 1 + L ) / ( NIR + Red + L ) </a:t>
            </a:r>
            <a:r>
              <a:rPr lang="es-ES" sz="1200" b="1" i="0" kern="1200" dirty="0" err="1">
                <a:solidFill>
                  <a:schemeClr val="tx1"/>
                </a:solidFill>
                <a:effectLst/>
                <a:latin typeface="+mn-lt"/>
                <a:ea typeface="+mn-ea"/>
                <a:cs typeface="+mn-cs"/>
              </a:rPr>
              <a:t>take</a:t>
            </a:r>
            <a:r>
              <a:rPr lang="es-ES" sz="1200" b="1" i="0" kern="1200" dirty="0">
                <a:solidFill>
                  <a:schemeClr val="tx1"/>
                </a:solidFill>
                <a:effectLst/>
                <a:latin typeface="+mn-lt"/>
                <a:ea typeface="+mn-ea"/>
                <a:cs typeface="+mn-cs"/>
              </a:rPr>
              <a:t> L=0.5</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s-ES" sz="1200" b="1" i="0" kern="1200" dirty="0">
                <a:solidFill>
                  <a:schemeClr val="tx1"/>
                </a:solidFill>
                <a:effectLst/>
                <a:latin typeface="+mn-lt"/>
                <a:ea typeface="+mn-ea"/>
                <a:cs typeface="+mn-cs"/>
              </a:rPr>
              <a:t>AVI = [NIR * (1-Red) * (NIR-Red)] </a:t>
            </a:r>
            <a:r>
              <a:rPr lang="es-ES" sz="1200" b="1" i="0" kern="1200" baseline="30000" dirty="0">
                <a:solidFill>
                  <a:schemeClr val="tx1"/>
                </a:solidFill>
                <a:effectLst/>
                <a:latin typeface="+mn-lt"/>
                <a:ea typeface="+mn-ea"/>
                <a:cs typeface="+mn-cs"/>
              </a:rPr>
              <a:t>1/3, </a:t>
            </a:r>
            <a:r>
              <a:rPr lang="it-IT" sz="1200" b="1" i="0" kern="1200" baseline="30000" dirty="0">
                <a:solidFill>
                  <a:schemeClr val="tx1"/>
                </a:solidFill>
                <a:effectLst/>
                <a:latin typeface="+mn-lt"/>
                <a:ea typeface="+mn-ea"/>
                <a:cs typeface="+mn-cs"/>
              </a:rPr>
              <a:t>AVI (Sentinel 2) = [B8 * (1 – B4)*(B8 – B4)]1/3</a:t>
            </a:r>
            <a:r>
              <a:rPr lang="es-ES" sz="1200" b="0" i="0" kern="1200" baseline="0" dirty="0">
                <a:solidFill>
                  <a:schemeClr val="tx1"/>
                </a:solidFill>
                <a:effectLst/>
                <a:latin typeface="+mn-lt"/>
                <a:ea typeface="+mn-ea"/>
                <a:cs typeface="+mn-cs"/>
              </a:rPr>
              <a:t>, </a:t>
            </a:r>
            <a:r>
              <a:rPr lang="it-IT" sz="1200" b="0" i="0" kern="1200" dirty="0">
                <a:solidFill>
                  <a:schemeClr val="tx1"/>
                </a:solidFill>
                <a:effectLst/>
                <a:latin typeface="+mn-lt"/>
                <a:ea typeface="+mn-ea"/>
                <a:cs typeface="+mn-cs"/>
              </a:rPr>
              <a:t>AVI (Sentinel 2) = [B8 * (1 – B4)*(B8 – B4)]</a:t>
            </a:r>
            <a:r>
              <a:rPr lang="it-IT" sz="1200" b="0" i="0" kern="1200" baseline="30000" dirty="0">
                <a:solidFill>
                  <a:schemeClr val="tx1"/>
                </a:solidFill>
                <a:effectLst/>
                <a:latin typeface="+mn-lt"/>
                <a:ea typeface="+mn-ea"/>
                <a:cs typeface="+mn-cs"/>
              </a:rPr>
              <a:t>1/3</a:t>
            </a:r>
            <a:endParaRPr lang="it-IT"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pt-BR" sz="1200" b="1" i="0" kern="1200" dirty="0">
                <a:solidFill>
                  <a:schemeClr val="tx1"/>
                </a:solidFill>
                <a:effectLst/>
                <a:latin typeface="+mn-lt"/>
                <a:ea typeface="+mn-ea"/>
                <a:cs typeface="+mn-cs"/>
              </a:rPr>
              <a:t>EVI = G * ((NIR – R) / (NIR + C1 * R – C2 * B + L)), </a:t>
            </a:r>
            <a:r>
              <a:rPr lang="it-IT" sz="1200" b="0" i="0" kern="1200" dirty="0">
                <a:solidFill>
                  <a:schemeClr val="tx1"/>
                </a:solidFill>
                <a:effectLst/>
                <a:latin typeface="+mn-lt"/>
                <a:ea typeface="+mn-ea"/>
                <a:cs typeface="+mn-cs"/>
              </a:rPr>
              <a:t>EVI (Sentinel 2) = 2.5 * ((B8 – B4) / (B8 + 6 * B4 – 7.5 * B2 + 1))</a:t>
            </a:r>
            <a:endParaRPr lang="pt-BR" sz="1200" b="0" i="0" kern="1200" dirty="0">
              <a:solidFill>
                <a:schemeClr val="tx1"/>
              </a:solidFill>
              <a:effectLst/>
              <a:latin typeface="+mn-lt"/>
              <a:ea typeface="+mn-ea"/>
              <a:cs typeface="+mn-cs"/>
            </a:endParaRPr>
          </a:p>
          <a:p>
            <a:r>
              <a:rPr lang="en-US" dirty="0"/>
              <a:t>DVI= NIR - R </a:t>
            </a:r>
          </a:p>
        </p:txBody>
      </p:sp>
      <p:sp>
        <p:nvSpPr>
          <p:cNvPr id="4" name="Slide Number Placeholder 3"/>
          <p:cNvSpPr>
            <a:spLocks noGrp="1"/>
          </p:cNvSpPr>
          <p:nvPr>
            <p:ph type="sldNum" sz="quarter" idx="10"/>
          </p:nvPr>
        </p:nvSpPr>
        <p:spPr/>
        <p:txBody>
          <a:bodyPr/>
          <a:lstStyle/>
          <a:p>
            <a:fld id="{705ACB9B-3486-44B3-8F4C-CE1EE2693DCF}" type="slidenum">
              <a:rPr lang="en-US" smtClean="0"/>
              <a:t>25</a:t>
            </a:fld>
            <a:endParaRPr lang="en-US"/>
          </a:p>
        </p:txBody>
      </p:sp>
    </p:spTree>
    <p:extLst>
      <p:ext uri="{BB962C8B-B14F-4D97-AF65-F5344CB8AC3E}">
        <p14:creationId xmlns:p14="http://schemas.microsoft.com/office/powerpoint/2010/main" val="3046977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BA2119-139B-46A7-B9B4-6BD4DFF42F4F}" type="datetime1">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598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marL="0">
              <a:defRPr sz="4400">
                <a:latin typeface="Comic Sans MS" panose="030F0702030302020204" pitchFamily="66" charset="0"/>
              </a:defRPr>
            </a:lvl1pPr>
          </a:lstStyle>
          <a:p>
            <a:r>
              <a:rPr lang="en-US" dirty="0"/>
              <a:t>Click to edit Master title style</a:t>
            </a:r>
          </a:p>
        </p:txBody>
      </p:sp>
      <p:sp>
        <p:nvSpPr>
          <p:cNvPr id="3" name="Content Placeholder 2"/>
          <p:cNvSpPr>
            <a:spLocks noGrp="1"/>
          </p:cNvSpPr>
          <p:nvPr>
            <p:ph idx="1"/>
          </p:nvPr>
        </p:nvSpPr>
        <p:spPr/>
        <p:txBody>
          <a:bodyPr/>
          <a:lstStyle>
            <a:lvl1pPr>
              <a:lnSpc>
                <a:spcPct val="100000"/>
              </a:lnSpc>
              <a:defRPr sz="3000"/>
            </a:lvl1pPr>
            <a:lvl2pPr>
              <a:lnSpc>
                <a:spcPct val="100000"/>
              </a:lnSpc>
              <a:defRPr sz="2800">
                <a:solidFill>
                  <a:srgbClr val="0070C0"/>
                </a:solidFill>
              </a:defRPr>
            </a:lvl2pPr>
            <a:lvl3pPr>
              <a:lnSpc>
                <a:spcPct val="100000"/>
              </a:lnSpc>
              <a:defRPr sz="2000"/>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E63EA8-AAF2-4D0F-9343-40685A3F554C}" type="datetime1">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252163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ECCDF4-3DC0-42A8-98B0-3C15EDA1D5B9}" type="datetime1">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5655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EA3674-089E-40AD-AB71-1AE3562DB11F}" type="datetime1">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4267374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740AB3-3594-47D1-BF56-6E6EB66D7CD7}" type="datetime1">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342910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4F7C18-55DD-47DA-B23F-7E261D10849C}" type="datetime1">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711046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94B19-F412-4025-8271-DE352D70DD32}" type="datetime1">
              <a:rPr lang="en-US" smtClean="0"/>
              <a:t>8/25/2026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3416478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C3CE9F6-14FF-4669-8EC9-9EDCF0F54DE2}" type="datetime1">
              <a:rPr lang="en-US" smtClean="0"/>
              <a:t>8/25/2026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B412F84-AA69-4185-A895-1AC6C3BCB519}" type="slidenum">
              <a:rPr lang="en-US" smtClean="0"/>
              <a:t>‹#›</a:t>
            </a:fld>
            <a:endParaRPr lang="en-US"/>
          </a:p>
        </p:txBody>
      </p:sp>
    </p:spTree>
    <p:extLst>
      <p:ext uri="{BB962C8B-B14F-4D97-AF65-F5344CB8AC3E}">
        <p14:creationId xmlns:p14="http://schemas.microsoft.com/office/powerpoint/2010/main" val="3864844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A9C4E3-5B6C-459A-A998-C6D6302C029C}" type="datetime1">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3549050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06623-2E4A-4052-8853-9B9618D61543}" type="datetime1">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863939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E2FB85-B862-4298-818E-2F5F2827B821}" type="datetime1">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1661668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AB4E53C-DAAC-4B25-BEC6-EEDE1152D07E}" type="datetime1">
              <a:rPr lang="en-US" smtClean="0"/>
              <a:t>8/25/2026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B412F84-AA69-4185-A895-1AC6C3BCB51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83710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code.earthengine.google.com/baeed711e6960beb8cf691c8e81bb6ec"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code.earthengine.google.com/2970513a29120fb7b6347ae3a9b2b07a" TargetMode="Externa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4181" y="391886"/>
            <a:ext cx="11076038" cy="3608614"/>
          </a:xfrm>
          <a:solidFill>
            <a:schemeClr val="bg2"/>
          </a:solidFill>
        </p:spPr>
        <p:txBody>
          <a:bodyPr>
            <a:normAutofit fontScale="90000"/>
          </a:bodyPr>
          <a:lstStyle/>
          <a:p>
            <a:br>
              <a:rPr lang="en-US" sz="5400" dirty="0"/>
            </a:br>
            <a:br>
              <a:rPr lang="en-US" sz="5400" dirty="0"/>
            </a:br>
            <a:br>
              <a:rPr lang="en-US" sz="5400" dirty="0"/>
            </a:br>
            <a:br>
              <a:rPr lang="en-US" sz="5400" dirty="0"/>
            </a:br>
            <a:r>
              <a:rPr lang="en-US" sz="5400" b="1" dirty="0"/>
              <a:t>WORKING WITH GOOGLE ERATH ENGINE 2</a:t>
            </a:r>
          </a:p>
        </p:txBody>
      </p:sp>
      <p:sp>
        <p:nvSpPr>
          <p:cNvPr id="3" name="Subtitle 2"/>
          <p:cNvSpPr>
            <a:spLocks noGrp="1"/>
          </p:cNvSpPr>
          <p:nvPr>
            <p:ph type="subTitle" idx="1"/>
          </p:nvPr>
        </p:nvSpPr>
        <p:spPr>
          <a:xfrm>
            <a:off x="1100051" y="4455620"/>
            <a:ext cx="10058400" cy="981794"/>
          </a:xfrm>
        </p:spPr>
        <p:txBody>
          <a:bodyPr/>
          <a:lstStyle/>
          <a:p>
            <a:r>
              <a:rPr lang="en-US" b="1" dirty="0">
                <a:solidFill>
                  <a:schemeClr val="accent1"/>
                </a:solidFill>
              </a:rPr>
              <a:t>to search, find and visualize a broad range of remotely sensed datasets</a:t>
            </a:r>
          </a:p>
        </p:txBody>
      </p:sp>
      <p:sp>
        <p:nvSpPr>
          <p:cNvPr id="5" name="Slide Number Placeholder 4"/>
          <p:cNvSpPr>
            <a:spLocks noGrp="1"/>
          </p:cNvSpPr>
          <p:nvPr>
            <p:ph type="sldNum" sz="quarter" idx="12"/>
          </p:nvPr>
        </p:nvSpPr>
        <p:spPr/>
        <p:txBody>
          <a:bodyPr/>
          <a:lstStyle/>
          <a:p>
            <a:fld id="{5B412F84-AA69-4185-A895-1AC6C3BCB519}" type="slidenum">
              <a:rPr lang="en-US" smtClean="0"/>
              <a:t>1</a:t>
            </a:fld>
            <a:endParaRPr lang="en-US"/>
          </a:p>
        </p:txBody>
      </p:sp>
    </p:spTree>
    <p:extLst>
      <p:ext uri="{BB962C8B-B14F-4D97-AF65-F5344CB8AC3E}">
        <p14:creationId xmlns:p14="http://schemas.microsoft.com/office/powerpoint/2010/main" val="3194339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6600" dirty="0"/>
              <a:t>Adding Multi-Image Data</a:t>
            </a:r>
          </a:p>
        </p:txBody>
      </p:sp>
      <p:sp>
        <p:nvSpPr>
          <p:cNvPr id="6" name="Text Placeholder 5"/>
          <p:cNvSpPr>
            <a:spLocks noGrp="1"/>
          </p:cNvSpPr>
          <p:nvPr>
            <p:ph type="body" idx="1"/>
          </p:nvPr>
        </p:nvSpPr>
        <p:spPr/>
        <p:txBody>
          <a:bodyPr/>
          <a:lstStyle/>
          <a:p>
            <a:r>
              <a:rPr lang="en-US" dirty="0"/>
              <a:t>Sentinel 2 imageries</a:t>
            </a:r>
          </a:p>
        </p:txBody>
      </p:sp>
      <p:sp>
        <p:nvSpPr>
          <p:cNvPr id="4" name="Slide Number Placeholder 3"/>
          <p:cNvSpPr>
            <a:spLocks noGrp="1"/>
          </p:cNvSpPr>
          <p:nvPr>
            <p:ph type="sldNum" sz="quarter" idx="12"/>
          </p:nvPr>
        </p:nvSpPr>
        <p:spPr/>
        <p:txBody>
          <a:bodyPr/>
          <a:lstStyle/>
          <a:p>
            <a:fld id="{5B412F84-AA69-4185-A895-1AC6C3BCB519}" type="slidenum">
              <a:rPr lang="en-US" smtClean="0"/>
              <a:t>2</a:t>
            </a:fld>
            <a:endParaRPr lang="en-US"/>
          </a:p>
        </p:txBody>
      </p:sp>
    </p:spTree>
    <p:extLst>
      <p:ext uri="{BB962C8B-B14F-4D97-AF65-F5344CB8AC3E}">
        <p14:creationId xmlns:p14="http://schemas.microsoft.com/office/powerpoint/2010/main" val="2128596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0998ED22-BDEF-44FA-A4B2-F305095DB442}" type="slidenum">
              <a:rPr lang="en-US" smtClean="0"/>
              <a:t>3</a:t>
            </a:fld>
            <a:endParaRPr lang="en-US"/>
          </a:p>
        </p:txBody>
      </p:sp>
      <p:pic>
        <p:nvPicPr>
          <p:cNvPr id="4" name="Picture 3"/>
          <p:cNvPicPr>
            <a:picLocks noChangeAspect="1"/>
          </p:cNvPicPr>
          <p:nvPr/>
        </p:nvPicPr>
        <p:blipFill>
          <a:blip r:embed="rId3"/>
          <a:stretch>
            <a:fillRect/>
          </a:stretch>
        </p:blipFill>
        <p:spPr>
          <a:xfrm>
            <a:off x="4517283" y="206459"/>
            <a:ext cx="7607795" cy="6173182"/>
          </a:xfrm>
          <a:prstGeom prst="rect">
            <a:avLst/>
          </a:prstGeom>
        </p:spPr>
      </p:pic>
      <p:sp>
        <p:nvSpPr>
          <p:cNvPr id="2" name="Rectangle 1"/>
          <p:cNvSpPr/>
          <p:nvPr/>
        </p:nvSpPr>
        <p:spPr>
          <a:xfrm>
            <a:off x="4625788" y="1143000"/>
            <a:ext cx="7382436" cy="13178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625788" y="3662083"/>
            <a:ext cx="7382436" cy="45271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p:cNvSpPr>
            <a:spLocks noGrp="1"/>
          </p:cNvSpPr>
          <p:nvPr>
            <p:ph idx="1"/>
          </p:nvPr>
        </p:nvSpPr>
        <p:spPr/>
        <p:txBody>
          <a:bodyPr/>
          <a:lstStyle/>
          <a:p>
            <a:endParaRPr lang="en-US"/>
          </a:p>
        </p:txBody>
      </p:sp>
      <p:sp>
        <p:nvSpPr>
          <p:cNvPr id="9" name="Content Placeholder 5"/>
          <p:cNvSpPr txBox="1">
            <a:spLocks/>
          </p:cNvSpPr>
          <p:nvPr/>
        </p:nvSpPr>
        <p:spPr>
          <a:xfrm>
            <a:off x="246358" y="274695"/>
            <a:ext cx="4379429" cy="6028478"/>
          </a:xfrm>
          <a:prstGeom prst="rect">
            <a:avLst/>
          </a:prstGeom>
          <a:solidFill>
            <a:schemeClr val="accent2"/>
          </a:solidFill>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US">
              <a:solidFill>
                <a:schemeClr val="bg1"/>
              </a:solidFill>
              <a:latin typeface="Comic Sans MS" panose="030F0702030302020204" pitchFamily="66" charset="0"/>
            </a:endParaRPr>
          </a:p>
          <a:p>
            <a:pPr marL="0" indent="0">
              <a:buFont typeface="Calibri" panose="020F0502020204030204" pitchFamily="34" charset="0"/>
              <a:buNone/>
            </a:pPr>
            <a:r>
              <a:rPr lang="en-US" b="1"/>
              <a:t>Key characteristics:</a:t>
            </a:r>
          </a:p>
          <a:p>
            <a:pPr marL="515938" indent="-515938">
              <a:lnSpc>
                <a:spcPct val="150000"/>
              </a:lnSpc>
              <a:buFont typeface="Wingdings" panose="05000000000000000000" pitchFamily="2" charset="2"/>
              <a:buChar char="§"/>
            </a:pPr>
            <a:r>
              <a:rPr lang="en-US">
                <a:solidFill>
                  <a:schemeClr val="bg1"/>
                </a:solidFill>
                <a:latin typeface="Comic Sans MS" panose="030F0702030302020204" pitchFamily="66" charset="0"/>
              </a:rPr>
              <a:t>2 Satellites (S2A, S2B)</a:t>
            </a:r>
          </a:p>
          <a:p>
            <a:pPr marL="515938" indent="-515938">
              <a:lnSpc>
                <a:spcPct val="150000"/>
              </a:lnSpc>
              <a:buFont typeface="Wingdings" panose="05000000000000000000" pitchFamily="2" charset="2"/>
              <a:buChar char="§"/>
            </a:pPr>
            <a:r>
              <a:rPr lang="en-US">
                <a:solidFill>
                  <a:schemeClr val="bg1"/>
                </a:solidFill>
                <a:latin typeface="Comic Sans MS" panose="030F0702030302020204" pitchFamily="66" charset="0"/>
              </a:rPr>
              <a:t>Multi-spectral data with 13 bands</a:t>
            </a:r>
          </a:p>
          <a:p>
            <a:pPr marL="515938" indent="-515938">
              <a:lnSpc>
                <a:spcPct val="150000"/>
              </a:lnSpc>
              <a:buFont typeface="Wingdings" panose="05000000000000000000" pitchFamily="2" charset="2"/>
              <a:buChar char="§"/>
            </a:pPr>
            <a:r>
              <a:rPr lang="en-US">
                <a:solidFill>
                  <a:schemeClr val="bg1"/>
                </a:solidFill>
                <a:latin typeface="Comic Sans MS" panose="030F0702030302020204" pitchFamily="66" charset="0"/>
              </a:rPr>
              <a:t>Spatial resolution up to 10 m</a:t>
            </a:r>
          </a:p>
          <a:p>
            <a:pPr marL="515938" indent="-515938">
              <a:lnSpc>
                <a:spcPct val="150000"/>
              </a:lnSpc>
              <a:buFont typeface="Wingdings" panose="05000000000000000000" pitchFamily="2" charset="2"/>
              <a:buChar char="§"/>
            </a:pPr>
            <a:r>
              <a:rPr lang="en-US">
                <a:solidFill>
                  <a:schemeClr val="bg1"/>
                </a:solidFill>
                <a:latin typeface="Comic Sans MS" panose="030F0702030302020204" pitchFamily="66" charset="0"/>
              </a:rPr>
              <a:t>Revisit around five days from two-satellite A &amp; B (at equator) </a:t>
            </a:r>
          </a:p>
          <a:p>
            <a:pPr marL="515938" indent="-515938">
              <a:lnSpc>
                <a:spcPct val="150000"/>
              </a:lnSpc>
              <a:buFont typeface="Wingdings" panose="05000000000000000000" pitchFamily="2" charset="2"/>
              <a:buChar char="§"/>
            </a:pPr>
            <a:r>
              <a:rPr lang="en-US">
                <a:solidFill>
                  <a:schemeClr val="bg1"/>
                </a:solidFill>
                <a:latin typeface="Comic Sans MS" panose="030F0702030302020204" pitchFamily="66" charset="0"/>
              </a:rPr>
              <a:t>Swath width = 290 km</a:t>
            </a:r>
          </a:p>
          <a:p>
            <a:pPr>
              <a:lnSpc>
                <a:spcPct val="150000"/>
              </a:lnSpc>
            </a:pPr>
            <a:endParaRPr lang="en-US" dirty="0">
              <a:solidFill>
                <a:schemeClr val="bg1"/>
              </a:solidFill>
              <a:latin typeface="Comic Sans MS" panose="030F0702030302020204" pitchFamily="66" charset="0"/>
            </a:endParaRPr>
          </a:p>
        </p:txBody>
      </p:sp>
    </p:spTree>
    <p:extLst>
      <p:ext uri="{BB962C8B-B14F-4D97-AF65-F5344CB8AC3E}">
        <p14:creationId xmlns:p14="http://schemas.microsoft.com/office/powerpoint/2010/main" val="4359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97280" y="286603"/>
            <a:ext cx="10058400" cy="980723"/>
          </a:xfrm>
        </p:spPr>
        <p:txBody>
          <a:bodyPr/>
          <a:lstStyle/>
          <a:p>
            <a:r>
              <a:rPr lang="en-US" dirty="0"/>
              <a:t>Sentinel 2</a:t>
            </a:r>
          </a:p>
        </p:txBody>
      </p:sp>
      <p:sp>
        <p:nvSpPr>
          <p:cNvPr id="4" name="Content Placeholder 3"/>
          <p:cNvSpPr>
            <a:spLocks noGrp="1"/>
          </p:cNvSpPr>
          <p:nvPr>
            <p:ph idx="1"/>
          </p:nvPr>
        </p:nvSpPr>
        <p:spPr>
          <a:xfrm>
            <a:off x="673768" y="1459833"/>
            <a:ext cx="11052067" cy="4844714"/>
          </a:xfrm>
          <a:solidFill>
            <a:schemeClr val="bg1"/>
          </a:solidFill>
        </p:spPr>
        <p:txBody>
          <a:bodyPr>
            <a:normAutofit/>
          </a:bodyPr>
          <a:lstStyle/>
          <a:p>
            <a:pPr marL="0" indent="0">
              <a:lnSpc>
                <a:spcPct val="150000"/>
              </a:lnSpc>
              <a:buNone/>
            </a:pPr>
            <a:r>
              <a:rPr lang="en-US" sz="2800" dirty="0">
                <a:solidFill>
                  <a:schemeClr val="tx1"/>
                </a:solidFill>
              </a:rPr>
              <a:t>Sentinel-2 </a:t>
            </a:r>
            <a:r>
              <a:rPr lang="en-US" sz="2800" dirty="0" err="1">
                <a:solidFill>
                  <a:schemeClr val="tx1"/>
                </a:solidFill>
              </a:rPr>
              <a:t>MSI</a:t>
            </a:r>
            <a:r>
              <a:rPr lang="en-US" sz="2800" dirty="0">
                <a:solidFill>
                  <a:schemeClr val="tx1"/>
                </a:solidFill>
              </a:rPr>
              <a:t>: </a:t>
            </a:r>
            <a:r>
              <a:rPr lang="en-US" sz="2800" dirty="0" err="1">
                <a:solidFill>
                  <a:schemeClr val="tx1"/>
                </a:solidFill>
              </a:rPr>
              <a:t>MultiSpectral</a:t>
            </a:r>
            <a:r>
              <a:rPr lang="en-US" sz="2800" dirty="0">
                <a:solidFill>
                  <a:schemeClr val="tx1"/>
                </a:solidFill>
              </a:rPr>
              <a:t> Instrument, Level-IC: </a:t>
            </a:r>
            <a:r>
              <a:rPr lang="en-US" sz="2800" dirty="0">
                <a:solidFill>
                  <a:srgbClr val="0070C0"/>
                </a:solidFill>
              </a:rPr>
              <a:t>COPERNICUS/</a:t>
            </a:r>
            <a:r>
              <a:rPr lang="en-US" sz="2800" dirty="0" err="1">
                <a:solidFill>
                  <a:srgbClr val="0070C0"/>
                </a:solidFill>
              </a:rPr>
              <a:t>S2</a:t>
            </a:r>
            <a:endParaRPr lang="en-US" sz="2800" dirty="0">
              <a:solidFill>
                <a:srgbClr val="0070C0"/>
              </a:solidFill>
            </a:endParaRPr>
          </a:p>
          <a:p>
            <a:pPr marL="1471400" lvl="8" indent="0">
              <a:lnSpc>
                <a:spcPct val="150000"/>
              </a:lnSpc>
              <a:spcBef>
                <a:spcPts val="600"/>
              </a:spcBef>
              <a:buNone/>
            </a:pPr>
            <a:r>
              <a:rPr lang="en-US" sz="2000" dirty="0">
                <a:solidFill>
                  <a:schemeClr val="accent4">
                    <a:lumMod val="75000"/>
                  </a:schemeClr>
                </a:solidFill>
              </a:rPr>
              <a:t>Earth Engine Snippet: </a:t>
            </a:r>
            <a:r>
              <a:rPr lang="en-US" sz="2000" dirty="0" err="1">
                <a:solidFill>
                  <a:schemeClr val="accent4">
                    <a:lumMod val="75000"/>
                  </a:schemeClr>
                </a:solidFill>
              </a:rPr>
              <a:t>ee.ImageCollection</a:t>
            </a:r>
            <a:r>
              <a:rPr lang="en-US" sz="2000" dirty="0">
                <a:solidFill>
                  <a:schemeClr val="accent4">
                    <a:lumMod val="75000"/>
                  </a:schemeClr>
                </a:solidFill>
              </a:rPr>
              <a:t>("COPERNICUS/</a:t>
            </a:r>
            <a:r>
              <a:rPr lang="en-US" sz="2000" dirty="0" err="1">
                <a:solidFill>
                  <a:schemeClr val="accent4">
                    <a:lumMod val="75000"/>
                  </a:schemeClr>
                </a:solidFill>
              </a:rPr>
              <a:t>S2</a:t>
            </a:r>
            <a:r>
              <a:rPr lang="en-US" sz="2000" dirty="0">
                <a:solidFill>
                  <a:schemeClr val="accent4">
                    <a:lumMod val="75000"/>
                  </a:schemeClr>
                </a:solidFill>
              </a:rPr>
              <a:t>")</a:t>
            </a:r>
          </a:p>
          <a:p>
            <a:pPr marL="0" indent="0">
              <a:lnSpc>
                <a:spcPct val="150000"/>
              </a:lnSpc>
              <a:buNone/>
            </a:pPr>
            <a:r>
              <a:rPr lang="en-US" sz="2000" dirty="0">
                <a:solidFill>
                  <a:schemeClr val="tx1"/>
                </a:solidFill>
              </a:rPr>
              <a:t>The Sentinel-2 data contain 13 </a:t>
            </a:r>
            <a:r>
              <a:rPr lang="en-US" sz="2000" dirty="0" err="1">
                <a:solidFill>
                  <a:schemeClr val="tx1"/>
                </a:solidFill>
              </a:rPr>
              <a:t>UINT16</a:t>
            </a:r>
            <a:r>
              <a:rPr lang="en-US" sz="2000" dirty="0">
                <a:solidFill>
                  <a:schemeClr val="tx1"/>
                </a:solidFill>
              </a:rPr>
              <a:t> (Unsigned Integer 16 bit ) spectral bands representing TOA reflectance scaled by 10000.  </a:t>
            </a:r>
          </a:p>
          <a:p>
            <a:pPr marL="0" indent="0">
              <a:lnSpc>
                <a:spcPct val="150000"/>
              </a:lnSpc>
              <a:buNone/>
            </a:pPr>
            <a:r>
              <a:rPr lang="en-US" sz="2800" dirty="0">
                <a:solidFill>
                  <a:schemeClr val="tx1"/>
                </a:solidFill>
              </a:rPr>
              <a:t>Sentinel-2 </a:t>
            </a:r>
            <a:r>
              <a:rPr lang="en-US" sz="2800" dirty="0" err="1">
                <a:solidFill>
                  <a:schemeClr val="tx1"/>
                </a:solidFill>
              </a:rPr>
              <a:t>MSI</a:t>
            </a:r>
            <a:r>
              <a:rPr lang="en-US" sz="2800" dirty="0">
                <a:solidFill>
                  <a:schemeClr val="tx1"/>
                </a:solidFill>
              </a:rPr>
              <a:t>: </a:t>
            </a:r>
            <a:r>
              <a:rPr lang="en-US" sz="2800" dirty="0" err="1">
                <a:solidFill>
                  <a:schemeClr val="tx1"/>
                </a:solidFill>
              </a:rPr>
              <a:t>MultiSpectral</a:t>
            </a:r>
            <a:r>
              <a:rPr lang="en-US" sz="2800" dirty="0">
                <a:solidFill>
                  <a:schemeClr val="tx1"/>
                </a:solidFill>
              </a:rPr>
              <a:t> Instrument, Level-</a:t>
            </a:r>
            <a:r>
              <a:rPr lang="en-US" sz="2800" dirty="0" err="1">
                <a:solidFill>
                  <a:schemeClr val="tx1"/>
                </a:solidFill>
              </a:rPr>
              <a:t>2A</a:t>
            </a:r>
            <a:r>
              <a:rPr lang="en-US" sz="2800" dirty="0">
                <a:solidFill>
                  <a:schemeClr val="tx1"/>
                </a:solidFill>
              </a:rPr>
              <a:t>: </a:t>
            </a:r>
            <a:r>
              <a:rPr lang="en-US" sz="2800" dirty="0">
                <a:solidFill>
                  <a:srgbClr val="0070C0"/>
                </a:solidFill>
              </a:rPr>
              <a:t>COPERNICUS/</a:t>
            </a:r>
            <a:r>
              <a:rPr lang="en-US" sz="2800" dirty="0" err="1">
                <a:solidFill>
                  <a:srgbClr val="0070C0"/>
                </a:solidFill>
              </a:rPr>
              <a:t>S2_SR</a:t>
            </a:r>
            <a:endParaRPr lang="en-US" sz="2800" dirty="0">
              <a:solidFill>
                <a:srgbClr val="0070C0"/>
              </a:solidFill>
            </a:endParaRPr>
          </a:p>
          <a:p>
            <a:pPr algn="ctr"/>
            <a:r>
              <a:rPr lang="en-US" sz="2000" dirty="0">
                <a:solidFill>
                  <a:schemeClr val="accent4">
                    <a:lumMod val="75000"/>
                  </a:schemeClr>
                </a:solidFill>
              </a:rPr>
              <a:t>Earth Engine Snippet: </a:t>
            </a:r>
            <a:r>
              <a:rPr lang="en-US" sz="2000" dirty="0" err="1">
                <a:solidFill>
                  <a:schemeClr val="accent4">
                    <a:lumMod val="75000"/>
                  </a:schemeClr>
                </a:solidFill>
              </a:rPr>
              <a:t>ee.ImageCollection</a:t>
            </a:r>
            <a:r>
              <a:rPr lang="en-US" sz="2000" dirty="0">
                <a:solidFill>
                  <a:schemeClr val="accent4">
                    <a:lumMod val="75000"/>
                  </a:schemeClr>
                </a:solidFill>
              </a:rPr>
              <a:t>("COPERNICUS/</a:t>
            </a:r>
            <a:r>
              <a:rPr lang="en-US" sz="2000" dirty="0" err="1">
                <a:solidFill>
                  <a:schemeClr val="accent4">
                    <a:lumMod val="75000"/>
                  </a:schemeClr>
                </a:solidFill>
              </a:rPr>
              <a:t>S2_SR</a:t>
            </a:r>
            <a:r>
              <a:rPr lang="en-US" sz="2000" dirty="0">
                <a:solidFill>
                  <a:schemeClr val="accent4">
                    <a:lumMod val="75000"/>
                  </a:schemeClr>
                </a:solidFill>
              </a:rPr>
              <a:t>")</a:t>
            </a:r>
          </a:p>
          <a:p>
            <a:r>
              <a:rPr lang="en-US" sz="2000" dirty="0">
                <a:solidFill>
                  <a:schemeClr val="tx1"/>
                </a:solidFill>
              </a:rPr>
              <a:t>The assets contain 12 </a:t>
            </a:r>
            <a:r>
              <a:rPr lang="en-US" sz="2000" dirty="0" err="1">
                <a:solidFill>
                  <a:schemeClr val="tx1"/>
                </a:solidFill>
              </a:rPr>
              <a:t>UINT16</a:t>
            </a:r>
            <a:r>
              <a:rPr lang="en-US" sz="2000" dirty="0">
                <a:solidFill>
                  <a:schemeClr val="tx1"/>
                </a:solidFill>
              </a:rPr>
              <a:t> spectral bands representing SR scaled by 10000 (unlike in </a:t>
            </a:r>
            <a:r>
              <a:rPr lang="en-US" sz="2000" dirty="0" err="1">
                <a:solidFill>
                  <a:schemeClr val="tx1"/>
                </a:solidFill>
              </a:rPr>
              <a:t>L1</a:t>
            </a:r>
            <a:r>
              <a:rPr lang="en-US" sz="2000" dirty="0">
                <a:solidFill>
                  <a:schemeClr val="tx1"/>
                </a:solidFill>
              </a:rPr>
              <a:t> data, there is no </a:t>
            </a:r>
            <a:r>
              <a:rPr lang="en-US" sz="2000" dirty="0" err="1">
                <a:solidFill>
                  <a:schemeClr val="tx1"/>
                </a:solidFill>
              </a:rPr>
              <a:t>B10</a:t>
            </a:r>
            <a:r>
              <a:rPr lang="en-US" sz="2000" dirty="0">
                <a:solidFill>
                  <a:schemeClr val="tx1"/>
                </a:solidFill>
              </a:rPr>
              <a:t>).</a:t>
            </a:r>
          </a:p>
        </p:txBody>
      </p:sp>
      <p:sp>
        <p:nvSpPr>
          <p:cNvPr id="2" name="Slide Number Placeholder 1"/>
          <p:cNvSpPr>
            <a:spLocks noGrp="1"/>
          </p:cNvSpPr>
          <p:nvPr>
            <p:ph type="sldNum" sz="quarter" idx="12"/>
          </p:nvPr>
        </p:nvSpPr>
        <p:spPr/>
        <p:txBody>
          <a:bodyPr/>
          <a:lstStyle/>
          <a:p>
            <a:fld id="{5B412F84-AA69-4185-A895-1AC6C3BCB519}" type="slidenum">
              <a:rPr lang="en-US" smtClean="0"/>
              <a:t>4</a:t>
            </a:fld>
            <a:endParaRPr lang="en-US"/>
          </a:p>
        </p:txBody>
      </p:sp>
    </p:spTree>
    <p:extLst>
      <p:ext uri="{BB962C8B-B14F-4D97-AF65-F5344CB8AC3E}">
        <p14:creationId xmlns:p14="http://schemas.microsoft.com/office/powerpoint/2010/main" val="3562775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B412F84-AA69-4185-A895-1AC6C3BCB519}" type="slidenum">
              <a:rPr lang="en-US" smtClean="0"/>
              <a:t>5</a:t>
            </a:fld>
            <a:endParaRPr lang="en-US"/>
          </a:p>
        </p:txBody>
      </p:sp>
      <p:pic>
        <p:nvPicPr>
          <p:cNvPr id="5" name="Picture 4"/>
          <p:cNvPicPr>
            <a:picLocks noChangeAspect="1"/>
          </p:cNvPicPr>
          <p:nvPr/>
        </p:nvPicPr>
        <p:blipFill>
          <a:blip r:embed="rId3"/>
          <a:stretch>
            <a:fillRect/>
          </a:stretch>
        </p:blipFill>
        <p:spPr>
          <a:xfrm>
            <a:off x="1139754" y="4528"/>
            <a:ext cx="9416716" cy="6391089"/>
          </a:xfrm>
          <a:prstGeom prst="rect">
            <a:avLst/>
          </a:prstGeom>
          <a:ln w="57150">
            <a:solidFill>
              <a:schemeClr val="tx1"/>
            </a:solidFill>
          </a:ln>
        </p:spPr>
      </p:pic>
      <p:sp>
        <p:nvSpPr>
          <p:cNvPr id="6" name="Rectangle 5"/>
          <p:cNvSpPr/>
          <p:nvPr/>
        </p:nvSpPr>
        <p:spPr>
          <a:xfrm>
            <a:off x="1524000" y="3384884"/>
            <a:ext cx="2646948" cy="11710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940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0070C0"/>
                </a:solidFill>
                <a:latin typeface="Comic Sans MS" panose="030F0702030302020204" pitchFamily="66" charset="0"/>
              </a:rPr>
              <a:t>Image Collection</a:t>
            </a:r>
          </a:p>
        </p:txBody>
      </p:sp>
      <p:sp>
        <p:nvSpPr>
          <p:cNvPr id="4" name="Content Placeholder 3"/>
          <p:cNvSpPr>
            <a:spLocks noGrp="1"/>
          </p:cNvSpPr>
          <p:nvPr>
            <p:ph idx="1"/>
          </p:nvPr>
        </p:nvSpPr>
        <p:spPr>
          <a:xfrm>
            <a:off x="1097280" y="1845734"/>
            <a:ext cx="10225144" cy="4023360"/>
          </a:xfrm>
        </p:spPr>
        <p:txBody>
          <a:bodyPr>
            <a:normAutofit/>
          </a:bodyPr>
          <a:lstStyle/>
          <a:p>
            <a:pPr marL="349250" indent="-349250">
              <a:spcAft>
                <a:spcPts val="1800"/>
              </a:spcAft>
              <a:buFont typeface="Wingdings" panose="05000000000000000000" pitchFamily="2" charset="2"/>
              <a:buChar char="§"/>
            </a:pPr>
            <a:r>
              <a:rPr lang="en-US" sz="3200" dirty="0"/>
              <a:t>While working with DEM we dealt with mapping an ‘Image’</a:t>
            </a:r>
          </a:p>
          <a:p>
            <a:pPr marL="349250" indent="-349250">
              <a:spcAft>
                <a:spcPts val="1800"/>
              </a:spcAft>
              <a:buFont typeface="Wingdings" panose="05000000000000000000" pitchFamily="2" charset="2"/>
              <a:buChar char="§"/>
            </a:pPr>
            <a:r>
              <a:rPr lang="en-US" sz="3200" dirty="0"/>
              <a:t>Now we will move to ‘Image Collection’ or collection of images as multi-band, multi temporal images.</a:t>
            </a:r>
          </a:p>
          <a:p>
            <a:pPr marL="349250" indent="-349250">
              <a:spcAft>
                <a:spcPts val="1800"/>
              </a:spcAft>
              <a:buFont typeface="Wingdings" panose="05000000000000000000" pitchFamily="2" charset="2"/>
              <a:buChar char="§"/>
            </a:pPr>
            <a:r>
              <a:rPr lang="en-US" sz="3200" dirty="0"/>
              <a:t>We will filter our required images based on their attributes- such as bands, dates, cloud cover, etc.</a:t>
            </a:r>
          </a:p>
          <a:p>
            <a:pPr marL="349250" indent="-349250">
              <a:spcAft>
                <a:spcPts val="1800"/>
              </a:spcAft>
              <a:buFont typeface="Wingdings" panose="05000000000000000000" pitchFamily="2" charset="2"/>
              <a:buChar char="§"/>
            </a:pPr>
            <a:endParaRPr lang="en-US" sz="3200" dirty="0"/>
          </a:p>
        </p:txBody>
      </p:sp>
      <p:sp>
        <p:nvSpPr>
          <p:cNvPr id="2" name="Slide Number Placeholder 1"/>
          <p:cNvSpPr>
            <a:spLocks noGrp="1"/>
          </p:cNvSpPr>
          <p:nvPr>
            <p:ph type="sldNum" sz="quarter" idx="12"/>
          </p:nvPr>
        </p:nvSpPr>
        <p:spPr/>
        <p:txBody>
          <a:bodyPr/>
          <a:lstStyle/>
          <a:p>
            <a:fld id="{5B412F84-AA69-4185-A895-1AC6C3BCB519}" type="slidenum">
              <a:rPr lang="en-US" smtClean="0"/>
              <a:t>6</a:t>
            </a:fld>
            <a:endParaRPr lang="en-US"/>
          </a:p>
        </p:txBody>
      </p:sp>
    </p:spTree>
    <p:extLst>
      <p:ext uri="{BB962C8B-B14F-4D97-AF65-F5344CB8AC3E}">
        <p14:creationId xmlns:p14="http://schemas.microsoft.com/office/powerpoint/2010/main" val="3538837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97280" y="286604"/>
            <a:ext cx="10058400" cy="968440"/>
          </a:xfrm>
        </p:spPr>
        <p:txBody>
          <a:bodyPr>
            <a:normAutofit/>
          </a:bodyPr>
          <a:lstStyle/>
          <a:p>
            <a:r>
              <a:rPr lang="en-US" sz="4400" dirty="0">
                <a:solidFill>
                  <a:srgbClr val="0070C0"/>
                </a:solidFill>
                <a:latin typeface="Comic Sans MS" panose="030F0702030302020204" pitchFamily="66" charset="0"/>
              </a:rPr>
              <a:t>Importing Sentinel 2 Image Collection</a:t>
            </a:r>
          </a:p>
        </p:txBody>
      </p:sp>
      <p:sp>
        <p:nvSpPr>
          <p:cNvPr id="4" name="Content Placeholder 3"/>
          <p:cNvSpPr>
            <a:spLocks noGrp="1"/>
          </p:cNvSpPr>
          <p:nvPr>
            <p:ph idx="1"/>
          </p:nvPr>
        </p:nvSpPr>
        <p:spPr>
          <a:xfrm>
            <a:off x="557939" y="1775011"/>
            <a:ext cx="11437749" cy="4486303"/>
          </a:xfrm>
        </p:spPr>
        <p:txBody>
          <a:bodyPr>
            <a:normAutofit fontScale="85000" lnSpcReduction="10000"/>
          </a:bodyPr>
          <a:lstStyle/>
          <a:p>
            <a:pPr marL="514350" indent="-514350">
              <a:lnSpc>
                <a:spcPct val="120000"/>
              </a:lnSpc>
              <a:buFont typeface="+mj-lt"/>
              <a:buAutoNum type="arabicPeriod"/>
            </a:pPr>
            <a:r>
              <a:rPr lang="en-US" sz="3200" dirty="0"/>
              <a:t>Open a new code window to create a script</a:t>
            </a:r>
          </a:p>
          <a:p>
            <a:pPr marL="514350" indent="-514350">
              <a:lnSpc>
                <a:spcPct val="120000"/>
              </a:lnSpc>
              <a:buFont typeface="+mj-lt"/>
              <a:buAutoNum type="arabicPeriod"/>
            </a:pPr>
            <a:r>
              <a:rPr lang="en-US" sz="3200" dirty="0"/>
              <a:t>Find Sentinel-2 from the ‘Data Catalogue’</a:t>
            </a:r>
          </a:p>
          <a:p>
            <a:pPr marL="514350" indent="-514350">
              <a:lnSpc>
                <a:spcPct val="120000"/>
              </a:lnSpc>
              <a:buFont typeface="+mj-lt"/>
              <a:buAutoNum type="arabicPeriod"/>
            </a:pPr>
            <a:r>
              <a:rPr lang="en-US" sz="3200" dirty="0"/>
              <a:t>Click on the surface reflectance datasets</a:t>
            </a:r>
          </a:p>
          <a:p>
            <a:pPr marL="514350" indent="-514350">
              <a:lnSpc>
                <a:spcPct val="120000"/>
              </a:lnSpc>
              <a:buFont typeface="+mj-lt"/>
              <a:buAutoNum type="arabicPeriod"/>
            </a:pPr>
            <a:r>
              <a:rPr lang="en-US" sz="3200" dirty="0"/>
              <a:t>Import using import button or copy the code and paste it in the code window.</a:t>
            </a:r>
          </a:p>
          <a:p>
            <a:pPr marL="0" indent="0" algn="ctr">
              <a:lnSpc>
                <a:spcPct val="120000"/>
              </a:lnSpc>
              <a:buNone/>
            </a:pPr>
            <a:r>
              <a:rPr lang="en-US" sz="2600" dirty="0">
                <a:solidFill>
                  <a:srgbClr val="0070C0"/>
                </a:solidFill>
              </a:rPr>
              <a:t>var S2 = </a:t>
            </a:r>
            <a:r>
              <a:rPr lang="en-US" sz="2600" dirty="0" err="1">
                <a:solidFill>
                  <a:srgbClr val="0070C0"/>
                </a:solidFill>
              </a:rPr>
              <a:t>ee.ImageCollection</a:t>
            </a:r>
            <a:r>
              <a:rPr lang="en-US" sz="2600" dirty="0">
                <a:solidFill>
                  <a:srgbClr val="0070C0"/>
                </a:solidFill>
              </a:rPr>
              <a:t>("COPERNICUS/</a:t>
            </a:r>
            <a:r>
              <a:rPr lang="en-US" sz="2600" dirty="0" err="1">
                <a:solidFill>
                  <a:srgbClr val="0070C0"/>
                </a:solidFill>
              </a:rPr>
              <a:t>S2_SR</a:t>
            </a:r>
            <a:r>
              <a:rPr lang="en-US" sz="2600" dirty="0">
                <a:solidFill>
                  <a:srgbClr val="0070C0"/>
                </a:solidFill>
              </a:rPr>
              <a:t>");</a:t>
            </a:r>
            <a:endParaRPr lang="en-US" sz="3200" dirty="0"/>
          </a:p>
          <a:p>
            <a:pPr marL="514350" indent="-514350">
              <a:lnSpc>
                <a:spcPct val="120000"/>
              </a:lnSpc>
              <a:buFont typeface="+mj-lt"/>
              <a:buAutoNum type="arabicPeriod" startAt="5"/>
            </a:pPr>
            <a:r>
              <a:rPr lang="en-US" sz="3200" dirty="0" err="1">
                <a:solidFill>
                  <a:srgbClr val="0070C0"/>
                </a:solidFill>
              </a:rPr>
              <a:t>var</a:t>
            </a:r>
            <a:r>
              <a:rPr lang="en-US" sz="3200" dirty="0">
                <a:solidFill>
                  <a:srgbClr val="0070C0"/>
                </a:solidFill>
              </a:rPr>
              <a:t> </a:t>
            </a:r>
            <a:r>
              <a:rPr lang="en-US" sz="3200" dirty="0" err="1">
                <a:solidFill>
                  <a:srgbClr val="0070C0"/>
                </a:solidFill>
              </a:rPr>
              <a:t>S2</a:t>
            </a:r>
            <a:r>
              <a:rPr lang="en-US" sz="3200" dirty="0">
                <a:solidFill>
                  <a:srgbClr val="0070C0"/>
                </a:solidFill>
              </a:rPr>
              <a:t> </a:t>
            </a:r>
            <a:r>
              <a:rPr lang="en-US" sz="3200" dirty="0"/>
              <a:t>will contain the entire archive of images acquired from the beginning</a:t>
            </a:r>
          </a:p>
          <a:p>
            <a:pPr marL="349250" indent="-349250">
              <a:lnSpc>
                <a:spcPct val="120000"/>
              </a:lnSpc>
              <a:buFont typeface="Wingdings" panose="05000000000000000000" pitchFamily="2" charset="2"/>
              <a:buChar char="§"/>
            </a:pPr>
            <a:endParaRPr lang="en-US" sz="3200" dirty="0"/>
          </a:p>
        </p:txBody>
      </p:sp>
      <p:sp>
        <p:nvSpPr>
          <p:cNvPr id="2" name="Slide Number Placeholder 1"/>
          <p:cNvSpPr>
            <a:spLocks noGrp="1"/>
          </p:cNvSpPr>
          <p:nvPr>
            <p:ph type="sldNum" sz="quarter" idx="12"/>
          </p:nvPr>
        </p:nvSpPr>
        <p:spPr/>
        <p:txBody>
          <a:bodyPr/>
          <a:lstStyle/>
          <a:p>
            <a:fld id="{5B412F84-AA69-4185-A895-1AC6C3BCB519}" type="slidenum">
              <a:rPr lang="en-US" smtClean="0"/>
              <a:t>7</a:t>
            </a:fld>
            <a:endParaRPr lang="en-US"/>
          </a:p>
        </p:txBody>
      </p:sp>
    </p:spTree>
    <p:extLst>
      <p:ext uri="{BB962C8B-B14F-4D97-AF65-F5344CB8AC3E}">
        <p14:creationId xmlns:p14="http://schemas.microsoft.com/office/powerpoint/2010/main" val="390456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63472" y="271104"/>
            <a:ext cx="11778712" cy="983939"/>
          </a:xfrm>
        </p:spPr>
        <p:txBody>
          <a:bodyPr>
            <a:normAutofit/>
          </a:bodyPr>
          <a:lstStyle/>
          <a:p>
            <a:r>
              <a:rPr lang="en-US" sz="3600" dirty="0">
                <a:solidFill>
                  <a:srgbClr val="0070C0"/>
                </a:solidFill>
                <a:latin typeface="Comic Sans MS" panose="030F0702030302020204" pitchFamily="66" charset="0"/>
              </a:rPr>
              <a:t>Filter data for a specific period, or location, or quality</a:t>
            </a:r>
          </a:p>
        </p:txBody>
      </p:sp>
      <p:sp>
        <p:nvSpPr>
          <p:cNvPr id="4" name="Content Placeholder 3"/>
          <p:cNvSpPr>
            <a:spLocks noGrp="1"/>
          </p:cNvSpPr>
          <p:nvPr>
            <p:ph idx="1"/>
          </p:nvPr>
        </p:nvSpPr>
        <p:spPr>
          <a:xfrm>
            <a:off x="1097280" y="1845734"/>
            <a:ext cx="10225144" cy="4023360"/>
          </a:xfrm>
        </p:spPr>
        <p:txBody>
          <a:bodyPr>
            <a:normAutofit/>
          </a:bodyPr>
          <a:lstStyle/>
          <a:p>
            <a:pPr marL="349250" indent="-349250">
              <a:buFont typeface="Wingdings" panose="05000000000000000000" pitchFamily="2" charset="2"/>
              <a:buChar char="§"/>
            </a:pPr>
            <a:r>
              <a:rPr lang="en-US" sz="3200" dirty="0"/>
              <a:t>From the entire set of the image collection we need to limit the number of images according to some criteria</a:t>
            </a:r>
          </a:p>
          <a:p>
            <a:pPr marL="806958" lvl="1" indent="-514350">
              <a:lnSpc>
                <a:spcPct val="150000"/>
              </a:lnSpc>
              <a:buFont typeface="+mj-lt"/>
              <a:buAutoNum type="arabicPeriod"/>
            </a:pPr>
            <a:r>
              <a:rPr lang="en-US" sz="3000" dirty="0"/>
              <a:t>Filter by a period</a:t>
            </a:r>
          </a:p>
          <a:p>
            <a:pPr marL="806958" lvl="1" indent="-514350">
              <a:lnSpc>
                <a:spcPct val="150000"/>
              </a:lnSpc>
              <a:buFont typeface="+mj-lt"/>
              <a:buAutoNum type="arabicPeriod"/>
            </a:pPr>
            <a:r>
              <a:rPr lang="en-US" sz="3000" dirty="0"/>
              <a:t>Filter by a location</a:t>
            </a:r>
          </a:p>
          <a:p>
            <a:pPr marL="806958" lvl="1" indent="-514350">
              <a:lnSpc>
                <a:spcPct val="150000"/>
              </a:lnSpc>
              <a:buFont typeface="+mj-lt"/>
              <a:buAutoNum type="arabicPeriod"/>
            </a:pPr>
            <a:r>
              <a:rPr lang="en-US" sz="3000" dirty="0"/>
              <a:t>Filter by a metadata</a:t>
            </a:r>
          </a:p>
          <a:p>
            <a:pPr marL="641858" lvl="1" indent="-349250">
              <a:buFont typeface="Wingdings" panose="05000000000000000000" pitchFamily="2" charset="2"/>
              <a:buChar char="§"/>
            </a:pPr>
            <a:endParaRPr lang="en-US" sz="3000" dirty="0"/>
          </a:p>
          <a:p>
            <a:pPr marL="641858" lvl="1" indent="-349250">
              <a:buFont typeface="Wingdings" panose="05000000000000000000" pitchFamily="2" charset="2"/>
              <a:buChar char="§"/>
            </a:pPr>
            <a:endParaRPr lang="en-US" sz="3000" dirty="0"/>
          </a:p>
        </p:txBody>
      </p:sp>
      <p:sp>
        <p:nvSpPr>
          <p:cNvPr id="2" name="Slide Number Placeholder 1"/>
          <p:cNvSpPr>
            <a:spLocks noGrp="1"/>
          </p:cNvSpPr>
          <p:nvPr>
            <p:ph type="sldNum" sz="quarter" idx="12"/>
          </p:nvPr>
        </p:nvSpPr>
        <p:spPr/>
        <p:txBody>
          <a:bodyPr/>
          <a:lstStyle/>
          <a:p>
            <a:fld id="{5B412F84-AA69-4185-A895-1AC6C3BCB519}" type="slidenum">
              <a:rPr lang="en-US" smtClean="0"/>
              <a:t>8</a:t>
            </a:fld>
            <a:endParaRPr lang="en-US"/>
          </a:p>
        </p:txBody>
      </p:sp>
    </p:spTree>
    <p:extLst>
      <p:ext uri="{BB962C8B-B14F-4D97-AF65-F5344CB8AC3E}">
        <p14:creationId xmlns:p14="http://schemas.microsoft.com/office/powerpoint/2010/main" val="23386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71959" y="758952"/>
            <a:ext cx="11298265" cy="3566160"/>
          </a:xfrm>
          <a:solidFill>
            <a:schemeClr val="accent3"/>
          </a:solidFill>
        </p:spPr>
        <p:txBody>
          <a:bodyPr>
            <a:normAutofit/>
          </a:bodyPr>
          <a:lstStyle/>
          <a:p>
            <a:pPr algn="ctr"/>
            <a:r>
              <a:rPr lang="en-US" sz="6000" b="1" dirty="0">
                <a:solidFill>
                  <a:schemeClr val="tx1"/>
                </a:solidFill>
              </a:rPr>
              <a:t>FILTER IMAGE COLLECTION</a:t>
            </a:r>
            <a:br>
              <a:rPr lang="en-US" sz="6000" b="1" dirty="0">
                <a:solidFill>
                  <a:schemeClr val="tx1"/>
                </a:solidFill>
              </a:rPr>
            </a:br>
            <a:endParaRPr lang="en-US" sz="6000" b="1" dirty="0">
              <a:solidFill>
                <a:schemeClr val="tx1"/>
              </a:solidFill>
            </a:endParaRPr>
          </a:p>
        </p:txBody>
      </p:sp>
      <p:sp>
        <p:nvSpPr>
          <p:cNvPr id="6" name="Text Placeholder 5"/>
          <p:cNvSpPr>
            <a:spLocks noGrp="1"/>
          </p:cNvSpPr>
          <p:nvPr>
            <p:ph type="body" idx="1"/>
          </p:nvPr>
        </p:nvSpPr>
        <p:spPr/>
        <p:txBody>
          <a:bodyPr>
            <a:normAutofit/>
          </a:bodyPr>
          <a:lstStyle/>
          <a:p>
            <a:r>
              <a:rPr lang="en-US" sz="3200" b="1" dirty="0">
                <a:solidFill>
                  <a:srgbClr val="0070C0"/>
                </a:solidFill>
              </a:rPr>
              <a:t>Selection FROM AN IMAGE COLLECTION based on certain criteria</a:t>
            </a:r>
          </a:p>
        </p:txBody>
      </p:sp>
      <p:sp>
        <p:nvSpPr>
          <p:cNvPr id="4" name="Slide Number Placeholder 3"/>
          <p:cNvSpPr>
            <a:spLocks noGrp="1"/>
          </p:cNvSpPr>
          <p:nvPr>
            <p:ph type="sldNum" sz="quarter" idx="12"/>
          </p:nvPr>
        </p:nvSpPr>
        <p:spPr/>
        <p:txBody>
          <a:bodyPr/>
          <a:lstStyle/>
          <a:p>
            <a:fld id="{5B412F84-AA69-4185-A895-1AC6C3BCB519}" type="slidenum">
              <a:rPr lang="en-US" smtClean="0"/>
              <a:t>9</a:t>
            </a:fld>
            <a:endParaRPr lang="en-US"/>
          </a:p>
        </p:txBody>
      </p:sp>
    </p:spTree>
    <p:extLst>
      <p:ext uri="{BB962C8B-B14F-4D97-AF65-F5344CB8AC3E}">
        <p14:creationId xmlns:p14="http://schemas.microsoft.com/office/powerpoint/2010/main" val="2310040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97280" y="286603"/>
            <a:ext cx="10058400" cy="726271"/>
          </a:xfrm>
        </p:spPr>
        <p:txBody>
          <a:bodyPr>
            <a:normAutofit/>
          </a:bodyPr>
          <a:lstStyle/>
          <a:p>
            <a:r>
              <a:rPr lang="en-US" sz="4400" dirty="0">
                <a:solidFill>
                  <a:srgbClr val="0070C0"/>
                </a:solidFill>
                <a:latin typeface="Comic Sans MS" panose="030F0702030302020204" pitchFamily="66" charset="0"/>
              </a:rPr>
              <a:t>Filter by a Period</a:t>
            </a:r>
          </a:p>
        </p:txBody>
      </p:sp>
      <p:pic>
        <p:nvPicPr>
          <p:cNvPr id="7" name="Content Placeholder 6"/>
          <p:cNvPicPr>
            <a:picLocks noGrp="1" noChangeAspect="1"/>
          </p:cNvPicPr>
          <p:nvPr>
            <p:ph idx="1"/>
          </p:nvPr>
        </p:nvPicPr>
        <p:blipFill>
          <a:blip r:embed="rId2"/>
          <a:stretch>
            <a:fillRect/>
          </a:stretch>
        </p:blipFill>
        <p:spPr>
          <a:xfrm>
            <a:off x="638048" y="1223889"/>
            <a:ext cx="10222210" cy="5059347"/>
          </a:xfrm>
          <a:prstGeom prst="rect">
            <a:avLst/>
          </a:prstGeom>
        </p:spPr>
      </p:pic>
      <p:sp>
        <p:nvSpPr>
          <p:cNvPr id="4" name="Slide Number Placeholder 3"/>
          <p:cNvSpPr>
            <a:spLocks noGrp="1"/>
          </p:cNvSpPr>
          <p:nvPr>
            <p:ph type="sldNum" sz="quarter" idx="12"/>
          </p:nvPr>
        </p:nvSpPr>
        <p:spPr/>
        <p:txBody>
          <a:bodyPr/>
          <a:lstStyle/>
          <a:p>
            <a:fld id="{5B412F84-AA69-4185-A895-1AC6C3BCB519}" type="slidenum">
              <a:rPr lang="en-US" smtClean="0"/>
              <a:t>10</a:t>
            </a:fld>
            <a:endParaRPr lang="en-US"/>
          </a:p>
        </p:txBody>
      </p:sp>
      <p:sp>
        <p:nvSpPr>
          <p:cNvPr id="2" name="TextBox 1"/>
          <p:cNvSpPr txBox="1"/>
          <p:nvPr/>
        </p:nvSpPr>
        <p:spPr>
          <a:xfrm>
            <a:off x="6312877" y="198680"/>
            <a:ext cx="5240215" cy="584775"/>
          </a:xfrm>
          <a:prstGeom prst="rect">
            <a:avLst/>
          </a:prstGeom>
          <a:noFill/>
          <a:ln w="28575">
            <a:solidFill>
              <a:schemeClr val="tx1"/>
            </a:solidFill>
          </a:ln>
        </p:spPr>
        <p:txBody>
          <a:bodyPr wrap="square" rtlCol="0">
            <a:spAutoFit/>
          </a:bodyPr>
          <a:lstStyle/>
          <a:p>
            <a:r>
              <a:rPr lang="en-US" sz="3200" b="1" dirty="0" err="1">
                <a:solidFill>
                  <a:srgbClr val="7030A0"/>
                </a:solidFill>
              </a:rPr>
              <a:t>imageCollection.filterDate</a:t>
            </a:r>
            <a:r>
              <a:rPr lang="en-US" sz="3200" b="1" dirty="0">
                <a:solidFill>
                  <a:srgbClr val="7030A0"/>
                </a:solidFill>
              </a:rPr>
              <a:t>()</a:t>
            </a:r>
          </a:p>
        </p:txBody>
      </p:sp>
    </p:spTree>
    <p:extLst>
      <p:ext uri="{BB962C8B-B14F-4D97-AF65-F5344CB8AC3E}">
        <p14:creationId xmlns:p14="http://schemas.microsoft.com/office/powerpoint/2010/main" val="121366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41009" y="12802"/>
            <a:ext cx="10058400" cy="968440"/>
          </a:xfrm>
        </p:spPr>
        <p:txBody>
          <a:bodyPr>
            <a:normAutofit/>
          </a:bodyPr>
          <a:lstStyle/>
          <a:p>
            <a:r>
              <a:rPr lang="en-US" sz="4400" dirty="0">
                <a:solidFill>
                  <a:srgbClr val="0070C0"/>
                </a:solidFill>
                <a:latin typeface="Comic Sans MS" panose="030F0702030302020204" pitchFamily="66" charset="0"/>
              </a:rPr>
              <a:t>Filter by a Location</a:t>
            </a:r>
          </a:p>
        </p:txBody>
      </p:sp>
      <p:pic>
        <p:nvPicPr>
          <p:cNvPr id="7" name="Content Placeholder 6"/>
          <p:cNvPicPr>
            <a:picLocks noGrp="1" noChangeAspect="1"/>
          </p:cNvPicPr>
          <p:nvPr>
            <p:ph idx="1"/>
          </p:nvPr>
        </p:nvPicPr>
        <p:blipFill rotWithShape="1">
          <a:blip r:embed="rId2"/>
          <a:srcRect t="2574" b="13519"/>
          <a:stretch/>
        </p:blipFill>
        <p:spPr>
          <a:xfrm>
            <a:off x="383296" y="956603"/>
            <a:ext cx="10173174" cy="5159044"/>
          </a:xfrm>
          <a:prstGeom prst="rect">
            <a:avLst/>
          </a:prstGeom>
        </p:spPr>
      </p:pic>
      <p:sp>
        <p:nvSpPr>
          <p:cNvPr id="4" name="Slide Number Placeholder 3"/>
          <p:cNvSpPr>
            <a:spLocks noGrp="1"/>
          </p:cNvSpPr>
          <p:nvPr>
            <p:ph type="sldNum" sz="quarter" idx="12"/>
          </p:nvPr>
        </p:nvSpPr>
        <p:spPr/>
        <p:txBody>
          <a:bodyPr/>
          <a:lstStyle/>
          <a:p>
            <a:fld id="{5B412F84-AA69-4185-A895-1AC6C3BCB519}" type="slidenum">
              <a:rPr lang="en-US" smtClean="0"/>
              <a:t>11</a:t>
            </a:fld>
            <a:endParaRPr lang="en-US"/>
          </a:p>
        </p:txBody>
      </p:sp>
      <p:grpSp>
        <p:nvGrpSpPr>
          <p:cNvPr id="10" name="Group 9"/>
          <p:cNvGrpSpPr/>
          <p:nvPr/>
        </p:nvGrpSpPr>
        <p:grpSpPr>
          <a:xfrm>
            <a:off x="137645" y="6459785"/>
            <a:ext cx="10664475" cy="304444"/>
            <a:chOff x="383296" y="6451847"/>
            <a:chExt cx="10664475" cy="304444"/>
          </a:xfrm>
        </p:grpSpPr>
        <p:pic>
          <p:nvPicPr>
            <p:cNvPr id="8" name="Picture 7"/>
            <p:cNvPicPr>
              <a:picLocks noChangeAspect="1"/>
            </p:cNvPicPr>
            <p:nvPr/>
          </p:nvPicPr>
          <p:blipFill rotWithShape="1">
            <a:blip r:embed="rId3"/>
            <a:srcRect b="52003"/>
            <a:stretch/>
          </p:blipFill>
          <p:spPr>
            <a:xfrm>
              <a:off x="383296" y="6459785"/>
              <a:ext cx="9513645" cy="296506"/>
            </a:xfrm>
            <a:prstGeom prst="rect">
              <a:avLst/>
            </a:prstGeom>
          </p:spPr>
        </p:pic>
        <p:pic>
          <p:nvPicPr>
            <p:cNvPr id="9" name="Picture 8"/>
            <p:cNvPicPr>
              <a:picLocks noChangeAspect="1"/>
            </p:cNvPicPr>
            <p:nvPr/>
          </p:nvPicPr>
          <p:blipFill>
            <a:blip r:embed="rId4"/>
            <a:stretch>
              <a:fillRect/>
            </a:stretch>
          </p:blipFill>
          <p:spPr>
            <a:xfrm>
              <a:off x="9860439" y="6451847"/>
              <a:ext cx="1187332" cy="304444"/>
            </a:xfrm>
            <a:prstGeom prst="rect">
              <a:avLst/>
            </a:prstGeom>
          </p:spPr>
        </p:pic>
      </p:grpSp>
      <p:sp>
        <p:nvSpPr>
          <p:cNvPr id="11" name="TextBox 10"/>
          <p:cNvSpPr txBox="1"/>
          <p:nvPr/>
        </p:nvSpPr>
        <p:spPr>
          <a:xfrm>
            <a:off x="6312877" y="286603"/>
            <a:ext cx="5444245" cy="584775"/>
          </a:xfrm>
          <a:prstGeom prst="rect">
            <a:avLst/>
          </a:prstGeom>
          <a:noFill/>
          <a:ln w="28575">
            <a:solidFill>
              <a:schemeClr val="tx1"/>
            </a:solidFill>
          </a:ln>
        </p:spPr>
        <p:txBody>
          <a:bodyPr wrap="square" rtlCol="0">
            <a:spAutoFit/>
          </a:bodyPr>
          <a:lstStyle/>
          <a:p>
            <a:r>
              <a:rPr lang="en-US" sz="3200" b="1" dirty="0" err="1">
                <a:solidFill>
                  <a:srgbClr val="7030A0"/>
                </a:solidFill>
              </a:rPr>
              <a:t>imageCollection.filterBounds</a:t>
            </a:r>
            <a:r>
              <a:rPr lang="en-US" sz="3200" b="1" dirty="0">
                <a:solidFill>
                  <a:srgbClr val="7030A0"/>
                </a:solidFill>
              </a:rPr>
              <a:t>()</a:t>
            </a:r>
          </a:p>
        </p:txBody>
      </p:sp>
    </p:spTree>
    <p:extLst>
      <p:ext uri="{BB962C8B-B14F-4D97-AF65-F5344CB8AC3E}">
        <p14:creationId xmlns:p14="http://schemas.microsoft.com/office/powerpoint/2010/main" val="350694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02" y="258469"/>
            <a:ext cx="10058400" cy="866948"/>
          </a:xfrm>
        </p:spPr>
        <p:txBody>
          <a:bodyPr>
            <a:normAutofit/>
          </a:bodyPr>
          <a:lstStyle/>
          <a:p>
            <a:r>
              <a:rPr lang="en-US" sz="4400" dirty="0">
                <a:solidFill>
                  <a:srgbClr val="0070C0"/>
                </a:solidFill>
                <a:latin typeface="Comic Sans MS" panose="030F0702030302020204" pitchFamily="66" charset="0"/>
              </a:rPr>
              <a:t>Filter by a Metadata</a:t>
            </a:r>
          </a:p>
        </p:txBody>
      </p:sp>
      <p:pic>
        <p:nvPicPr>
          <p:cNvPr id="5" name="Content Placeholder 4"/>
          <p:cNvPicPr>
            <a:picLocks noGrp="1" noChangeAspect="1"/>
          </p:cNvPicPr>
          <p:nvPr>
            <p:ph idx="1"/>
          </p:nvPr>
        </p:nvPicPr>
        <p:blipFill>
          <a:blip r:embed="rId2"/>
          <a:stretch>
            <a:fillRect/>
          </a:stretch>
        </p:blipFill>
        <p:spPr>
          <a:xfrm>
            <a:off x="316425" y="2131255"/>
            <a:ext cx="11154383" cy="3397348"/>
          </a:xfrm>
          <a:prstGeom prst="rect">
            <a:avLst/>
          </a:prstGeom>
        </p:spPr>
      </p:pic>
      <p:sp>
        <p:nvSpPr>
          <p:cNvPr id="4" name="Slide Number Placeholder 3"/>
          <p:cNvSpPr>
            <a:spLocks noGrp="1"/>
          </p:cNvSpPr>
          <p:nvPr>
            <p:ph type="sldNum" sz="quarter" idx="12"/>
          </p:nvPr>
        </p:nvSpPr>
        <p:spPr/>
        <p:txBody>
          <a:bodyPr/>
          <a:lstStyle/>
          <a:p>
            <a:fld id="{5B412F84-AA69-4185-A895-1AC6C3BCB519}" type="slidenum">
              <a:rPr lang="en-US" smtClean="0"/>
              <a:t>12</a:t>
            </a:fld>
            <a:endParaRPr lang="en-US"/>
          </a:p>
        </p:txBody>
      </p:sp>
      <p:sp>
        <p:nvSpPr>
          <p:cNvPr id="6" name="TextBox 5"/>
          <p:cNvSpPr txBox="1"/>
          <p:nvPr/>
        </p:nvSpPr>
        <p:spPr>
          <a:xfrm>
            <a:off x="6312877" y="198680"/>
            <a:ext cx="5879123" cy="584775"/>
          </a:xfrm>
          <a:prstGeom prst="rect">
            <a:avLst/>
          </a:prstGeom>
          <a:noFill/>
          <a:ln w="28575">
            <a:solidFill>
              <a:schemeClr val="tx1"/>
            </a:solidFill>
          </a:ln>
        </p:spPr>
        <p:txBody>
          <a:bodyPr wrap="square" rtlCol="0">
            <a:spAutoFit/>
          </a:bodyPr>
          <a:lstStyle/>
          <a:p>
            <a:r>
              <a:rPr lang="en-US" sz="3200" b="1" dirty="0" err="1">
                <a:solidFill>
                  <a:srgbClr val="7030A0"/>
                </a:solidFill>
              </a:rPr>
              <a:t>imageCollection.filterMetadata</a:t>
            </a:r>
            <a:r>
              <a:rPr lang="en-US" sz="3200" b="1" dirty="0">
                <a:solidFill>
                  <a:srgbClr val="7030A0"/>
                </a:solidFill>
              </a:rPr>
              <a:t>()</a:t>
            </a:r>
          </a:p>
        </p:txBody>
      </p:sp>
    </p:spTree>
    <p:extLst>
      <p:ext uri="{BB962C8B-B14F-4D97-AF65-F5344CB8AC3E}">
        <p14:creationId xmlns:p14="http://schemas.microsoft.com/office/powerpoint/2010/main" val="333661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Filter Image Collection</a:t>
            </a:r>
          </a:p>
        </p:txBody>
      </p:sp>
      <p:sp>
        <p:nvSpPr>
          <p:cNvPr id="6" name="Text Placeholder 5"/>
          <p:cNvSpPr>
            <a:spLocks noGrp="1"/>
          </p:cNvSpPr>
          <p:nvPr>
            <p:ph type="body" idx="1"/>
          </p:nvPr>
        </p:nvSpPr>
        <p:spPr/>
        <p:txBody>
          <a:bodyPr>
            <a:normAutofit/>
          </a:bodyPr>
          <a:lstStyle/>
          <a:p>
            <a:r>
              <a:rPr lang="en-US" sz="3200" b="1" dirty="0">
                <a:solidFill>
                  <a:srgbClr val="0070C0"/>
                </a:solidFill>
              </a:rPr>
              <a:t>SELECT ONE IMAGE FROM AN IMAGE COLLECTION</a:t>
            </a:r>
          </a:p>
        </p:txBody>
      </p:sp>
      <p:sp>
        <p:nvSpPr>
          <p:cNvPr id="4" name="Slide Number Placeholder 3"/>
          <p:cNvSpPr>
            <a:spLocks noGrp="1"/>
          </p:cNvSpPr>
          <p:nvPr>
            <p:ph type="sldNum" sz="quarter" idx="12"/>
          </p:nvPr>
        </p:nvSpPr>
        <p:spPr/>
        <p:txBody>
          <a:bodyPr/>
          <a:lstStyle/>
          <a:p>
            <a:fld id="{5B412F84-AA69-4185-A895-1AC6C3BCB519}" type="slidenum">
              <a:rPr lang="en-US" smtClean="0"/>
              <a:t>13</a:t>
            </a:fld>
            <a:endParaRPr lang="en-US"/>
          </a:p>
        </p:txBody>
      </p:sp>
    </p:spTree>
    <p:extLst>
      <p:ext uri="{BB962C8B-B14F-4D97-AF65-F5344CB8AC3E}">
        <p14:creationId xmlns:p14="http://schemas.microsoft.com/office/powerpoint/2010/main" val="874682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117" y="286603"/>
            <a:ext cx="11066929" cy="1450757"/>
          </a:xfrm>
        </p:spPr>
        <p:txBody>
          <a:bodyPr>
            <a:normAutofit/>
          </a:bodyPr>
          <a:lstStyle/>
          <a:p>
            <a:r>
              <a:rPr lang="en-US" sz="4000" dirty="0">
                <a:solidFill>
                  <a:srgbClr val="0070C0"/>
                </a:solidFill>
                <a:latin typeface="Comic Sans MS" panose="030F0702030302020204" pitchFamily="66" charset="0"/>
              </a:rPr>
              <a:t>Is mapping entire image collection possible?</a:t>
            </a:r>
          </a:p>
        </p:txBody>
      </p:sp>
      <p:sp>
        <p:nvSpPr>
          <p:cNvPr id="3" name="Content Placeholder 2"/>
          <p:cNvSpPr>
            <a:spLocks noGrp="1"/>
          </p:cNvSpPr>
          <p:nvPr>
            <p:ph idx="1"/>
          </p:nvPr>
        </p:nvSpPr>
        <p:spPr/>
        <p:txBody>
          <a:bodyPr>
            <a:normAutofit/>
          </a:bodyPr>
          <a:lstStyle/>
          <a:p>
            <a:pPr>
              <a:lnSpc>
                <a:spcPct val="100000"/>
              </a:lnSpc>
            </a:pPr>
            <a:r>
              <a:rPr lang="en-US" sz="3200" dirty="0"/>
              <a:t>Yes, theoretically possible but,</a:t>
            </a:r>
          </a:p>
          <a:p>
            <a:pPr>
              <a:lnSpc>
                <a:spcPct val="100000"/>
              </a:lnSpc>
            </a:pPr>
            <a:r>
              <a:rPr lang="en-US" sz="3200" dirty="0"/>
              <a:t>Adding an image collection to the map layer may end-up showing an error due to exceeding the computation time</a:t>
            </a:r>
          </a:p>
          <a:p>
            <a:pPr>
              <a:lnSpc>
                <a:spcPct val="100000"/>
              </a:lnSpc>
            </a:pPr>
            <a:endParaRPr lang="en-US" sz="3200" dirty="0"/>
          </a:p>
        </p:txBody>
      </p:sp>
      <p:sp>
        <p:nvSpPr>
          <p:cNvPr id="4" name="Slide Number Placeholder 3"/>
          <p:cNvSpPr>
            <a:spLocks noGrp="1"/>
          </p:cNvSpPr>
          <p:nvPr>
            <p:ph type="sldNum" sz="quarter" idx="12"/>
          </p:nvPr>
        </p:nvSpPr>
        <p:spPr/>
        <p:txBody>
          <a:bodyPr/>
          <a:lstStyle/>
          <a:p>
            <a:fld id="{5B412F84-AA69-4185-A895-1AC6C3BCB519}" type="slidenum">
              <a:rPr lang="en-US" smtClean="0"/>
              <a:t>14</a:t>
            </a:fld>
            <a:endParaRPr lang="en-US"/>
          </a:p>
        </p:txBody>
      </p:sp>
    </p:spTree>
    <p:extLst>
      <p:ext uri="{BB962C8B-B14F-4D97-AF65-F5344CB8AC3E}">
        <p14:creationId xmlns:p14="http://schemas.microsoft.com/office/powerpoint/2010/main" val="3931866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B412F84-AA69-4185-A895-1AC6C3BCB519}" type="slidenum">
              <a:rPr lang="en-US" smtClean="0"/>
              <a:t>15</a:t>
            </a:fld>
            <a:endParaRPr lang="en-US"/>
          </a:p>
        </p:txBody>
      </p:sp>
      <p:pic>
        <p:nvPicPr>
          <p:cNvPr id="5" name="Picture 4"/>
          <p:cNvPicPr>
            <a:picLocks noChangeAspect="1"/>
          </p:cNvPicPr>
          <p:nvPr/>
        </p:nvPicPr>
        <p:blipFill>
          <a:blip r:embed="rId3"/>
          <a:stretch>
            <a:fillRect/>
          </a:stretch>
        </p:blipFill>
        <p:spPr>
          <a:xfrm>
            <a:off x="579343" y="468966"/>
            <a:ext cx="11213727" cy="5239200"/>
          </a:xfrm>
          <a:prstGeom prst="rect">
            <a:avLst/>
          </a:prstGeom>
        </p:spPr>
      </p:pic>
      <p:pic>
        <p:nvPicPr>
          <p:cNvPr id="6" name="Picture 5"/>
          <p:cNvPicPr>
            <a:picLocks noChangeAspect="1"/>
          </p:cNvPicPr>
          <p:nvPr/>
        </p:nvPicPr>
        <p:blipFill>
          <a:blip r:embed="rId4"/>
          <a:stretch>
            <a:fillRect/>
          </a:stretch>
        </p:blipFill>
        <p:spPr>
          <a:xfrm>
            <a:off x="579343" y="5708166"/>
            <a:ext cx="4336933" cy="464034"/>
          </a:xfrm>
          <a:prstGeom prst="rect">
            <a:avLst/>
          </a:prstGeom>
        </p:spPr>
      </p:pic>
    </p:spTree>
    <p:extLst>
      <p:ext uri="{BB962C8B-B14F-4D97-AF65-F5344CB8AC3E}">
        <p14:creationId xmlns:p14="http://schemas.microsoft.com/office/powerpoint/2010/main" val="1054894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7" y="286603"/>
            <a:ext cx="11793071" cy="775715"/>
          </a:xfrm>
        </p:spPr>
        <p:txBody>
          <a:bodyPr>
            <a:normAutofit/>
          </a:bodyPr>
          <a:lstStyle/>
          <a:p>
            <a:r>
              <a:rPr lang="en-US" sz="3600" dirty="0">
                <a:solidFill>
                  <a:srgbClr val="0070C0"/>
                </a:solidFill>
                <a:latin typeface="Comic Sans MS" panose="030F0702030302020204" pitchFamily="66" charset="0"/>
              </a:rPr>
              <a:t>SELECT ONE IMAGE FROM AN IMAGE COLLECTION</a:t>
            </a:r>
          </a:p>
        </p:txBody>
      </p:sp>
      <p:sp>
        <p:nvSpPr>
          <p:cNvPr id="3" name="Content Placeholder 2"/>
          <p:cNvSpPr>
            <a:spLocks noGrp="1"/>
          </p:cNvSpPr>
          <p:nvPr>
            <p:ph idx="1"/>
          </p:nvPr>
        </p:nvSpPr>
        <p:spPr>
          <a:xfrm>
            <a:off x="517710" y="1264023"/>
            <a:ext cx="11322424" cy="4639236"/>
          </a:xfrm>
          <a:solidFill>
            <a:schemeClr val="bg1"/>
          </a:solidFill>
        </p:spPr>
        <p:txBody>
          <a:bodyPr>
            <a:normAutofit fontScale="92500" lnSpcReduction="20000"/>
          </a:bodyPr>
          <a:lstStyle/>
          <a:p>
            <a:pPr>
              <a:lnSpc>
                <a:spcPct val="110000"/>
              </a:lnSpc>
            </a:pPr>
            <a:r>
              <a:rPr lang="en-US" sz="3200" dirty="0"/>
              <a:t>Each image has its unique ID that can be used to access and display the specific image</a:t>
            </a:r>
          </a:p>
          <a:p>
            <a:pPr>
              <a:lnSpc>
                <a:spcPct val="110000"/>
              </a:lnSpc>
            </a:pPr>
            <a:r>
              <a:rPr lang="en-US" sz="3200" dirty="0"/>
              <a:t>Other options are:</a:t>
            </a:r>
          </a:p>
          <a:p>
            <a:pPr lvl="1">
              <a:lnSpc>
                <a:spcPct val="110000"/>
              </a:lnSpc>
            </a:pPr>
            <a:r>
              <a:rPr lang="en-US" sz="3000" dirty="0"/>
              <a:t>The first() function, returns the first image from the image collection. </a:t>
            </a:r>
          </a:p>
          <a:p>
            <a:pPr lvl="1">
              <a:lnSpc>
                <a:spcPct val="110000"/>
              </a:lnSpc>
            </a:pPr>
            <a:r>
              <a:rPr lang="en-US" sz="3000" dirty="0"/>
              <a:t>The sort() function returns the images in ascending or descending order, based on a property. </a:t>
            </a:r>
          </a:p>
          <a:p>
            <a:pPr lvl="1">
              <a:lnSpc>
                <a:spcPct val="110000"/>
              </a:lnSpc>
            </a:pPr>
            <a:r>
              <a:rPr lang="en-US" sz="3000" dirty="0"/>
              <a:t>Combining sort and first, you can return the most recent image matching your filters.</a:t>
            </a:r>
          </a:p>
          <a:p>
            <a:pPr marL="201168" lvl="1" indent="0" algn="ctr">
              <a:lnSpc>
                <a:spcPct val="120000"/>
              </a:lnSpc>
              <a:buNone/>
            </a:pPr>
            <a:r>
              <a:rPr lang="en-US" sz="2200" dirty="0" err="1">
                <a:solidFill>
                  <a:schemeClr val="accent4">
                    <a:lumMod val="75000"/>
                  </a:schemeClr>
                </a:solidFill>
              </a:rPr>
              <a:t>var</a:t>
            </a:r>
            <a:r>
              <a:rPr lang="en-US" sz="2200" dirty="0">
                <a:solidFill>
                  <a:schemeClr val="accent4">
                    <a:lumMod val="75000"/>
                  </a:schemeClr>
                </a:solidFill>
              </a:rPr>
              <a:t> </a:t>
            </a:r>
            <a:r>
              <a:rPr lang="en-US" sz="2200" dirty="0" err="1">
                <a:solidFill>
                  <a:schemeClr val="accent4">
                    <a:lumMod val="75000"/>
                  </a:schemeClr>
                </a:solidFill>
              </a:rPr>
              <a:t>mostRecent</a:t>
            </a:r>
            <a:r>
              <a:rPr lang="en-US" sz="2200" dirty="0">
                <a:solidFill>
                  <a:schemeClr val="accent4">
                    <a:lumMod val="75000"/>
                  </a:schemeClr>
                </a:solidFill>
              </a:rPr>
              <a:t> = </a:t>
            </a:r>
            <a:r>
              <a:rPr lang="en-US" sz="2200" dirty="0" err="1">
                <a:solidFill>
                  <a:schemeClr val="tx1"/>
                </a:solidFill>
              </a:rPr>
              <a:t>S2_2020.sort</a:t>
            </a:r>
            <a:r>
              <a:rPr lang="en-US" sz="2200" dirty="0">
                <a:solidFill>
                  <a:schemeClr val="tx1"/>
                </a:solidFill>
              </a:rPr>
              <a:t>('</a:t>
            </a:r>
            <a:r>
              <a:rPr lang="en-US" sz="2200" dirty="0" err="1">
                <a:solidFill>
                  <a:schemeClr val="tx1"/>
                </a:solidFill>
              </a:rPr>
              <a:t>system:time_start</a:t>
            </a:r>
            <a:r>
              <a:rPr lang="en-US" sz="2200" dirty="0">
                <a:solidFill>
                  <a:schemeClr val="tx1"/>
                </a:solidFill>
              </a:rPr>
              <a:t>', false).first();</a:t>
            </a:r>
          </a:p>
          <a:p>
            <a:pPr marL="201168" lvl="1" indent="0" algn="ctr">
              <a:lnSpc>
                <a:spcPct val="120000"/>
              </a:lnSpc>
              <a:buNone/>
            </a:pPr>
            <a:r>
              <a:rPr lang="en-US" sz="2200" dirty="0">
                <a:solidFill>
                  <a:schemeClr val="accent4">
                    <a:lumMod val="75000"/>
                  </a:schemeClr>
                </a:solidFill>
              </a:rPr>
              <a:t>//False is in descending order</a:t>
            </a:r>
          </a:p>
        </p:txBody>
      </p:sp>
      <p:sp>
        <p:nvSpPr>
          <p:cNvPr id="4" name="Slide Number Placeholder 3"/>
          <p:cNvSpPr>
            <a:spLocks noGrp="1"/>
          </p:cNvSpPr>
          <p:nvPr>
            <p:ph type="sldNum" sz="quarter" idx="12"/>
          </p:nvPr>
        </p:nvSpPr>
        <p:spPr/>
        <p:txBody>
          <a:bodyPr/>
          <a:lstStyle/>
          <a:p>
            <a:fld id="{5B412F84-AA69-4185-A895-1AC6C3BCB519}" type="slidenum">
              <a:rPr lang="en-US" smtClean="0"/>
              <a:t>16</a:t>
            </a:fld>
            <a:endParaRPr lang="en-US"/>
          </a:p>
        </p:txBody>
      </p:sp>
    </p:spTree>
    <p:extLst>
      <p:ext uri="{BB962C8B-B14F-4D97-AF65-F5344CB8AC3E}">
        <p14:creationId xmlns:p14="http://schemas.microsoft.com/office/powerpoint/2010/main" val="4244636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97256"/>
            <a:ext cx="2188361" cy="767282"/>
          </a:xfrm>
        </p:spPr>
        <p:txBody>
          <a:bodyPr>
            <a:normAutofit/>
          </a:bodyPr>
          <a:lstStyle/>
          <a:p>
            <a:r>
              <a:rPr lang="en-US" sz="2400" dirty="0"/>
              <a:t>Example</a:t>
            </a:r>
          </a:p>
        </p:txBody>
      </p:sp>
      <p:pic>
        <p:nvPicPr>
          <p:cNvPr id="5" name="Content Placeholder 4"/>
          <p:cNvPicPr>
            <a:picLocks noGrp="1" noChangeAspect="1"/>
          </p:cNvPicPr>
          <p:nvPr>
            <p:ph idx="1"/>
          </p:nvPr>
        </p:nvPicPr>
        <p:blipFill>
          <a:blip r:embed="rId2"/>
          <a:stretch>
            <a:fillRect/>
          </a:stretch>
        </p:blipFill>
        <p:spPr>
          <a:xfrm>
            <a:off x="2829215" y="0"/>
            <a:ext cx="8817220" cy="6402981"/>
          </a:xfrm>
          <a:prstGeom prst="rect">
            <a:avLst/>
          </a:prstGeom>
        </p:spPr>
      </p:pic>
      <p:sp>
        <p:nvSpPr>
          <p:cNvPr id="4" name="Slide Number Placeholder 3"/>
          <p:cNvSpPr>
            <a:spLocks noGrp="1"/>
          </p:cNvSpPr>
          <p:nvPr>
            <p:ph type="sldNum" sz="quarter" idx="12"/>
          </p:nvPr>
        </p:nvSpPr>
        <p:spPr/>
        <p:txBody>
          <a:bodyPr/>
          <a:lstStyle/>
          <a:p>
            <a:fld id="{5B412F84-AA69-4185-A895-1AC6C3BCB519}" type="slidenum">
              <a:rPr lang="en-US" smtClean="0"/>
              <a:t>17</a:t>
            </a:fld>
            <a:endParaRPr lang="en-US"/>
          </a:p>
        </p:txBody>
      </p:sp>
    </p:spTree>
    <p:extLst>
      <p:ext uri="{BB962C8B-B14F-4D97-AF65-F5344CB8AC3E}">
        <p14:creationId xmlns:p14="http://schemas.microsoft.com/office/powerpoint/2010/main" val="513261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968440"/>
          </a:xfrm>
        </p:spPr>
        <p:txBody>
          <a:bodyPr>
            <a:normAutofit/>
          </a:bodyPr>
          <a:lstStyle/>
          <a:p>
            <a:r>
              <a:rPr lang="en-US" dirty="0"/>
              <a:t>Loading a Specific Sentinel-2 image</a:t>
            </a:r>
          </a:p>
        </p:txBody>
      </p:sp>
      <p:sp>
        <p:nvSpPr>
          <p:cNvPr id="3" name="Content Placeholder 2"/>
          <p:cNvSpPr>
            <a:spLocks noGrp="1"/>
          </p:cNvSpPr>
          <p:nvPr>
            <p:ph idx="1"/>
          </p:nvPr>
        </p:nvSpPr>
        <p:spPr>
          <a:xfrm>
            <a:off x="802105" y="1716505"/>
            <a:ext cx="10876547" cy="4539916"/>
          </a:xfrm>
          <a:ln>
            <a:solidFill>
              <a:srgbClr val="E7704B"/>
            </a:solidFill>
          </a:ln>
        </p:spPr>
        <p:txBody>
          <a:bodyPr>
            <a:normAutofit/>
          </a:bodyPr>
          <a:lstStyle/>
          <a:p>
            <a:r>
              <a:rPr lang="en-US" dirty="0"/>
              <a:t>Assets format: </a:t>
            </a:r>
            <a:r>
              <a:rPr lang="en-US" sz="2400" b="1" dirty="0">
                <a:solidFill>
                  <a:schemeClr val="accent4">
                    <a:lumMod val="60000"/>
                    <a:lumOff val="40000"/>
                  </a:schemeClr>
                </a:solidFill>
              </a:rPr>
              <a:t>COPERNICUS/S2_SR/20151128T002653_20151128T102149_T56MNN. </a:t>
            </a:r>
          </a:p>
          <a:p>
            <a:r>
              <a:rPr lang="en-US" dirty="0"/>
              <a:t>Here </a:t>
            </a:r>
          </a:p>
          <a:p>
            <a:pPr marL="514350" indent="-514350">
              <a:buFont typeface="+mj-lt"/>
              <a:buAutoNum type="arabicPeriod"/>
            </a:pPr>
            <a:r>
              <a:rPr lang="en-US" dirty="0">
                <a:solidFill>
                  <a:schemeClr val="accent3"/>
                </a:solidFill>
              </a:rPr>
              <a:t>the first numeric part represents the sensing date and time</a:t>
            </a:r>
          </a:p>
          <a:p>
            <a:pPr marL="514350" indent="-514350">
              <a:buFont typeface="+mj-lt"/>
              <a:buAutoNum type="arabicPeriod"/>
            </a:pPr>
            <a:r>
              <a:rPr lang="en-US" dirty="0">
                <a:solidFill>
                  <a:srgbClr val="E7704B"/>
                </a:solidFill>
              </a:rPr>
              <a:t>second numeric part represents the product generation date and time, and </a:t>
            </a:r>
          </a:p>
          <a:p>
            <a:pPr marL="514350" indent="-514350">
              <a:buFont typeface="+mj-lt"/>
              <a:buAutoNum type="arabicPeriod"/>
            </a:pPr>
            <a:r>
              <a:rPr lang="en-US" dirty="0">
                <a:solidFill>
                  <a:srgbClr val="FFC000"/>
                </a:solidFill>
              </a:rPr>
              <a:t>the final 6-character string is a unique granule identifier indicating its </a:t>
            </a:r>
            <a:r>
              <a:rPr lang="en-US" dirty="0" err="1">
                <a:solidFill>
                  <a:srgbClr val="FFC000"/>
                </a:solidFill>
              </a:rPr>
              <a:t>UTM</a:t>
            </a:r>
            <a:r>
              <a:rPr lang="en-US" dirty="0">
                <a:solidFill>
                  <a:srgbClr val="FFC000"/>
                </a:solidFill>
              </a:rPr>
              <a:t> grid reference </a:t>
            </a:r>
          </a:p>
          <a:p>
            <a:endParaRPr lang="en-US" dirty="0"/>
          </a:p>
        </p:txBody>
      </p:sp>
      <p:sp>
        <p:nvSpPr>
          <p:cNvPr id="4" name="Slide Number Placeholder 3"/>
          <p:cNvSpPr>
            <a:spLocks noGrp="1"/>
          </p:cNvSpPr>
          <p:nvPr>
            <p:ph type="sldNum" sz="quarter" idx="12"/>
          </p:nvPr>
        </p:nvSpPr>
        <p:spPr/>
        <p:txBody>
          <a:bodyPr/>
          <a:lstStyle/>
          <a:p>
            <a:fld id="{5B412F84-AA69-4185-A895-1AC6C3BCB519}" type="slidenum">
              <a:rPr lang="en-US" smtClean="0"/>
              <a:t>18</a:t>
            </a:fld>
            <a:endParaRPr lang="en-US"/>
          </a:p>
        </p:txBody>
      </p:sp>
      <p:sp>
        <p:nvSpPr>
          <p:cNvPr id="5" name="Rectangle 4"/>
          <p:cNvSpPr/>
          <p:nvPr/>
        </p:nvSpPr>
        <p:spPr>
          <a:xfrm>
            <a:off x="3593432" y="2245895"/>
            <a:ext cx="2261936" cy="336884"/>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6" name="Rectangle 5"/>
          <p:cNvSpPr/>
          <p:nvPr/>
        </p:nvSpPr>
        <p:spPr>
          <a:xfrm>
            <a:off x="6002602" y="2245895"/>
            <a:ext cx="2409170" cy="336884"/>
          </a:xfrm>
          <a:prstGeom prst="rect">
            <a:avLst/>
          </a:prstGeom>
          <a:noFill/>
          <a:ln w="38100">
            <a:solidFill>
              <a:srgbClr val="E77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 name="Rectangle 6"/>
          <p:cNvSpPr/>
          <p:nvPr/>
        </p:nvSpPr>
        <p:spPr>
          <a:xfrm>
            <a:off x="8411772" y="2245895"/>
            <a:ext cx="1267328" cy="336884"/>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Tree>
    <p:extLst>
      <p:ext uri="{BB962C8B-B14F-4D97-AF65-F5344CB8AC3E}">
        <p14:creationId xmlns:p14="http://schemas.microsoft.com/office/powerpoint/2010/main" val="3929159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arn(inVertic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par>
                                <p:cTn id="24" presetID="16" presetClass="entr" presetSubtype="21"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barn(inVertical)">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this link</a:t>
            </a:r>
          </a:p>
        </p:txBody>
      </p:sp>
      <p:sp>
        <p:nvSpPr>
          <p:cNvPr id="3" name="Content Placeholder 2"/>
          <p:cNvSpPr>
            <a:spLocks noGrp="1"/>
          </p:cNvSpPr>
          <p:nvPr>
            <p:ph idx="1"/>
          </p:nvPr>
        </p:nvSpPr>
        <p:spPr>
          <a:xfrm>
            <a:off x="433137" y="1845734"/>
            <a:ext cx="11486147" cy="4023360"/>
          </a:xfrm>
        </p:spPr>
        <p:txBody>
          <a:bodyPr/>
          <a:lstStyle/>
          <a:p>
            <a:r>
              <a:rPr lang="en-US" sz="2800" dirty="0">
                <a:hlinkClick r:id="rId3"/>
              </a:rPr>
              <a:t>https://code.earthengine.google.com/baeed711e6960beb8cf691c8e81bb6ec</a:t>
            </a:r>
            <a:endParaRPr lang="en-US" sz="2800" dirty="0"/>
          </a:p>
          <a:p>
            <a:endParaRPr lang="en-US" sz="2800" dirty="0"/>
          </a:p>
        </p:txBody>
      </p:sp>
      <p:sp>
        <p:nvSpPr>
          <p:cNvPr id="4" name="Slide Number Placeholder 3"/>
          <p:cNvSpPr>
            <a:spLocks noGrp="1"/>
          </p:cNvSpPr>
          <p:nvPr>
            <p:ph type="sldNum" sz="quarter" idx="12"/>
          </p:nvPr>
        </p:nvSpPr>
        <p:spPr/>
        <p:txBody>
          <a:bodyPr/>
          <a:lstStyle/>
          <a:p>
            <a:fld id="{5B412F84-AA69-4185-A895-1AC6C3BCB519}" type="slidenum">
              <a:rPr lang="en-US" smtClean="0"/>
              <a:t>19</a:t>
            </a:fld>
            <a:endParaRPr lang="en-US"/>
          </a:p>
        </p:txBody>
      </p:sp>
      <p:pic>
        <p:nvPicPr>
          <p:cNvPr id="5" name="Picture 4"/>
          <p:cNvPicPr>
            <a:picLocks noChangeAspect="1"/>
          </p:cNvPicPr>
          <p:nvPr/>
        </p:nvPicPr>
        <p:blipFill rotWithShape="1">
          <a:blip r:embed="rId4"/>
          <a:srcRect t="20446" r="18441"/>
          <a:stretch/>
        </p:blipFill>
        <p:spPr>
          <a:xfrm>
            <a:off x="1240055" y="2967789"/>
            <a:ext cx="9316735" cy="2326106"/>
          </a:xfrm>
          <a:prstGeom prst="rect">
            <a:avLst/>
          </a:prstGeom>
        </p:spPr>
      </p:pic>
      <p:sp>
        <p:nvSpPr>
          <p:cNvPr id="6" name="Rectangle 5"/>
          <p:cNvSpPr/>
          <p:nvPr/>
        </p:nvSpPr>
        <p:spPr>
          <a:xfrm>
            <a:off x="433137" y="5510362"/>
            <a:ext cx="11486147" cy="954107"/>
          </a:xfrm>
          <a:prstGeom prst="rect">
            <a:avLst/>
          </a:prstGeom>
        </p:spPr>
        <p:txBody>
          <a:bodyPr wrap="square">
            <a:spAutoFit/>
          </a:bodyPr>
          <a:lstStyle/>
          <a:p>
            <a:r>
              <a:rPr lang="en-US" sz="2800" dirty="0">
                <a:solidFill>
                  <a:srgbClr val="00B050"/>
                </a:solidFill>
                <a:hlinkClick r:id="rId5"/>
              </a:rPr>
              <a:t>https://code.earthengine.google.com/2970513a29120fb7b6347ae3a9b2b07a</a:t>
            </a:r>
            <a:endParaRPr lang="en-US" sz="2800" dirty="0">
              <a:solidFill>
                <a:srgbClr val="00B050"/>
              </a:solidFill>
            </a:endParaRPr>
          </a:p>
          <a:p>
            <a:r>
              <a:rPr lang="en-US" sz="2800" dirty="0">
                <a:solidFill>
                  <a:srgbClr val="00B050"/>
                </a:solidFill>
              </a:rPr>
              <a:t>https://code.earthengine.google.com/4380b36d27ef37ed3b6060ad36567370</a:t>
            </a:r>
          </a:p>
        </p:txBody>
      </p:sp>
    </p:spTree>
    <p:extLst>
      <p:ext uri="{BB962C8B-B14F-4D97-AF65-F5344CB8AC3E}">
        <p14:creationId xmlns:p14="http://schemas.microsoft.com/office/powerpoint/2010/main" val="82113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126" y="340790"/>
            <a:ext cx="10058400" cy="1450757"/>
          </a:xfrm>
        </p:spPr>
        <p:txBody>
          <a:bodyPr/>
          <a:lstStyle/>
          <a:p>
            <a:r>
              <a:rPr lang="en-US" dirty="0"/>
              <a:t>Spectral Indices</a:t>
            </a:r>
          </a:p>
        </p:txBody>
      </p:sp>
      <p:sp>
        <p:nvSpPr>
          <p:cNvPr id="3" name="Content Placeholder 2"/>
          <p:cNvSpPr>
            <a:spLocks noGrp="1"/>
          </p:cNvSpPr>
          <p:nvPr>
            <p:ph idx="1"/>
          </p:nvPr>
        </p:nvSpPr>
        <p:spPr/>
        <p:txBody>
          <a:bodyPr/>
          <a:lstStyle/>
          <a:p>
            <a:r>
              <a:rPr lang="en-US" dirty="0"/>
              <a:t>var NDVI = </a:t>
            </a:r>
            <a:r>
              <a:rPr lang="en-US" dirty="0" err="1"/>
              <a:t>image.normalizedDifference</a:t>
            </a:r>
            <a:r>
              <a:rPr lang="en-US" dirty="0"/>
              <a:t>(['B8','B4']);</a:t>
            </a:r>
          </a:p>
        </p:txBody>
      </p:sp>
      <p:sp>
        <p:nvSpPr>
          <p:cNvPr id="4" name="Slide Number Placeholder 3"/>
          <p:cNvSpPr>
            <a:spLocks noGrp="1"/>
          </p:cNvSpPr>
          <p:nvPr>
            <p:ph type="sldNum" sz="quarter" idx="12"/>
          </p:nvPr>
        </p:nvSpPr>
        <p:spPr/>
        <p:txBody>
          <a:bodyPr/>
          <a:lstStyle/>
          <a:p>
            <a:fld id="{5B412F84-AA69-4185-A895-1AC6C3BCB519}" type="slidenum">
              <a:rPr lang="en-US" smtClean="0"/>
              <a:t>20</a:t>
            </a:fld>
            <a:endParaRPr lang="en-US"/>
          </a:p>
        </p:txBody>
      </p:sp>
      <p:sp>
        <p:nvSpPr>
          <p:cNvPr id="5" name="TextBox 4"/>
          <p:cNvSpPr txBox="1"/>
          <p:nvPr/>
        </p:nvSpPr>
        <p:spPr>
          <a:xfrm>
            <a:off x="3464169" y="286603"/>
            <a:ext cx="8598877" cy="584775"/>
          </a:xfrm>
          <a:prstGeom prst="rect">
            <a:avLst/>
          </a:prstGeom>
          <a:noFill/>
          <a:ln w="28575">
            <a:solidFill>
              <a:schemeClr val="tx1"/>
            </a:solidFill>
          </a:ln>
        </p:spPr>
        <p:txBody>
          <a:bodyPr wrap="square" rtlCol="0">
            <a:spAutoFit/>
          </a:bodyPr>
          <a:lstStyle/>
          <a:p>
            <a:r>
              <a:rPr lang="en-US" sz="3200" b="1" dirty="0">
                <a:solidFill>
                  <a:srgbClr val="7030A0"/>
                </a:solidFill>
              </a:rPr>
              <a:t>image. </a:t>
            </a:r>
            <a:r>
              <a:rPr lang="en-US" sz="3200" b="1" dirty="0" err="1">
                <a:solidFill>
                  <a:srgbClr val="7030A0"/>
                </a:solidFill>
              </a:rPr>
              <a:t>normalizedDifference</a:t>
            </a:r>
            <a:r>
              <a:rPr lang="en-US" sz="3200" b="1" dirty="0">
                <a:solidFill>
                  <a:srgbClr val="7030A0"/>
                </a:solidFill>
              </a:rPr>
              <a:t>([‘</a:t>
            </a:r>
            <a:r>
              <a:rPr lang="en-US" sz="3200" b="1" dirty="0" err="1">
                <a:solidFill>
                  <a:srgbClr val="7030A0"/>
                </a:solidFill>
              </a:rPr>
              <a:t>BANDx</a:t>
            </a:r>
            <a:r>
              <a:rPr lang="en-US" sz="3200" b="1" dirty="0">
                <a:solidFill>
                  <a:srgbClr val="7030A0"/>
                </a:solidFill>
              </a:rPr>
              <a:t>’, ‘BAND’])</a:t>
            </a:r>
          </a:p>
        </p:txBody>
      </p:sp>
    </p:spTree>
    <p:extLst>
      <p:ext uri="{BB962C8B-B14F-4D97-AF65-F5344CB8AC3E}">
        <p14:creationId xmlns:p14="http://schemas.microsoft.com/office/powerpoint/2010/main" val="49700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070626" y="1759218"/>
            <a:ext cx="8662581" cy="3448212"/>
          </a:xfrm>
          <a:prstGeom prst="rect">
            <a:avLst/>
          </a:prstGeom>
        </p:spPr>
      </p:pic>
      <p:sp>
        <p:nvSpPr>
          <p:cNvPr id="4" name="Slide Number Placeholder 3"/>
          <p:cNvSpPr>
            <a:spLocks noGrp="1"/>
          </p:cNvSpPr>
          <p:nvPr>
            <p:ph type="sldNum" sz="quarter" idx="12"/>
          </p:nvPr>
        </p:nvSpPr>
        <p:spPr/>
        <p:txBody>
          <a:bodyPr/>
          <a:lstStyle/>
          <a:p>
            <a:fld id="{5B412F84-AA69-4185-A895-1AC6C3BCB519}" type="slidenum">
              <a:rPr lang="en-US" smtClean="0"/>
              <a:t>21</a:t>
            </a:fld>
            <a:endParaRPr lang="en-US"/>
          </a:p>
        </p:txBody>
      </p:sp>
      <p:sp>
        <p:nvSpPr>
          <p:cNvPr id="6" name="Rectangle 5"/>
          <p:cNvSpPr/>
          <p:nvPr/>
        </p:nvSpPr>
        <p:spPr>
          <a:xfrm>
            <a:off x="2557221" y="3921070"/>
            <a:ext cx="5377912" cy="464949"/>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8" name="Straight Arrow Connector 7"/>
          <p:cNvCxnSpPr/>
          <p:nvPr/>
        </p:nvCxnSpPr>
        <p:spPr>
          <a:xfrm flipV="1">
            <a:off x="2070626" y="4153545"/>
            <a:ext cx="626079" cy="5889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3"/>
          <a:stretch>
            <a:fillRect/>
          </a:stretch>
        </p:blipFill>
        <p:spPr>
          <a:xfrm>
            <a:off x="1662676" y="289426"/>
            <a:ext cx="8767682" cy="6170359"/>
          </a:xfrm>
          <a:prstGeom prst="rect">
            <a:avLst/>
          </a:prstGeom>
        </p:spPr>
      </p:pic>
    </p:spTree>
    <p:extLst>
      <p:ext uri="{BB962C8B-B14F-4D97-AF65-F5344CB8AC3E}">
        <p14:creationId xmlns:p14="http://schemas.microsoft.com/office/powerpoint/2010/main" val="120714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reducers - applying stats</a:t>
            </a:r>
          </a:p>
        </p:txBody>
      </p:sp>
      <p:sp>
        <p:nvSpPr>
          <p:cNvPr id="3" name="Content Placeholder 2"/>
          <p:cNvSpPr>
            <a:spLocks noGrp="1"/>
          </p:cNvSpPr>
          <p:nvPr>
            <p:ph idx="1"/>
          </p:nvPr>
        </p:nvSpPr>
        <p:spPr/>
        <p:txBody>
          <a:bodyPr/>
          <a:lstStyle/>
          <a:p>
            <a:r>
              <a:rPr lang="en-US" dirty="0"/>
              <a:t>Mean = </a:t>
            </a:r>
            <a:r>
              <a:rPr lang="en-US" dirty="0" err="1">
                <a:solidFill>
                  <a:srgbClr val="7030A0"/>
                </a:solidFill>
              </a:rPr>
              <a:t>ImageCollection.reduce</a:t>
            </a:r>
            <a:r>
              <a:rPr lang="en-US" dirty="0">
                <a:solidFill>
                  <a:srgbClr val="7030A0"/>
                </a:solidFill>
              </a:rPr>
              <a:t>(</a:t>
            </a:r>
            <a:r>
              <a:rPr lang="en-US" dirty="0" err="1">
                <a:solidFill>
                  <a:srgbClr val="7030A0"/>
                </a:solidFill>
              </a:rPr>
              <a:t>ee.Reducer.mean</a:t>
            </a:r>
            <a:r>
              <a:rPr lang="en-US" dirty="0">
                <a:solidFill>
                  <a:srgbClr val="7030A0"/>
                </a:solidFill>
              </a:rPr>
              <a:t>())</a:t>
            </a:r>
          </a:p>
          <a:p>
            <a:r>
              <a:rPr lang="en-US" dirty="0"/>
              <a:t>OR 			</a:t>
            </a:r>
            <a:r>
              <a:rPr lang="en-US" dirty="0" err="1">
                <a:solidFill>
                  <a:srgbClr val="7030A0"/>
                </a:solidFill>
              </a:rPr>
              <a:t>ImageCollection.mean</a:t>
            </a:r>
            <a:r>
              <a:rPr lang="en-US" dirty="0">
                <a:solidFill>
                  <a:srgbClr val="7030A0"/>
                </a:solidFill>
              </a:rPr>
              <a:t>()</a:t>
            </a:r>
          </a:p>
          <a:p>
            <a:r>
              <a:rPr lang="en-US" dirty="0"/>
              <a:t>Median		</a:t>
            </a:r>
            <a:r>
              <a:rPr lang="en-US" dirty="0">
                <a:solidFill>
                  <a:srgbClr val="7030A0"/>
                </a:solidFill>
              </a:rPr>
              <a:t>.median()</a:t>
            </a:r>
            <a:endParaRPr lang="en-US" dirty="0"/>
          </a:p>
          <a:p>
            <a:r>
              <a:rPr lang="en-US" dirty="0"/>
              <a:t>Minimum		</a:t>
            </a:r>
            <a:r>
              <a:rPr lang="en-US" dirty="0">
                <a:solidFill>
                  <a:srgbClr val="7030A0"/>
                </a:solidFill>
              </a:rPr>
              <a:t>.min()</a:t>
            </a:r>
          </a:p>
          <a:p>
            <a:r>
              <a:rPr lang="en-US" dirty="0"/>
              <a:t>Maximum		</a:t>
            </a:r>
            <a:r>
              <a:rPr lang="en-US" dirty="0">
                <a:solidFill>
                  <a:srgbClr val="7030A0"/>
                </a:solidFill>
              </a:rPr>
              <a:t>.max()</a:t>
            </a:r>
          </a:p>
        </p:txBody>
      </p:sp>
      <p:sp>
        <p:nvSpPr>
          <p:cNvPr id="4" name="Slide Number Placeholder 3"/>
          <p:cNvSpPr>
            <a:spLocks noGrp="1"/>
          </p:cNvSpPr>
          <p:nvPr>
            <p:ph type="sldNum" sz="quarter" idx="12"/>
          </p:nvPr>
        </p:nvSpPr>
        <p:spPr/>
        <p:txBody>
          <a:bodyPr/>
          <a:lstStyle/>
          <a:p>
            <a:fld id="{5B412F84-AA69-4185-A895-1AC6C3BCB519}" type="slidenum">
              <a:rPr lang="en-US" smtClean="0"/>
              <a:t>22</a:t>
            </a:fld>
            <a:endParaRPr lang="en-US"/>
          </a:p>
        </p:txBody>
      </p:sp>
    </p:spTree>
    <p:extLst>
      <p:ext uri="{BB962C8B-B14F-4D97-AF65-F5344CB8AC3E}">
        <p14:creationId xmlns:p14="http://schemas.microsoft.com/office/powerpoint/2010/main" val="167631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Lab work</a:t>
            </a:r>
          </a:p>
        </p:txBody>
      </p:sp>
      <p:sp>
        <p:nvSpPr>
          <p:cNvPr id="3" name="Content Placeholder 2"/>
          <p:cNvSpPr>
            <a:spLocks noGrp="1"/>
          </p:cNvSpPr>
          <p:nvPr>
            <p:ph idx="1"/>
          </p:nvPr>
        </p:nvSpPr>
        <p:spPr>
          <a:xfrm>
            <a:off x="1097280" y="1845733"/>
            <a:ext cx="10789920" cy="4467143"/>
          </a:xfrm>
        </p:spPr>
        <p:txBody>
          <a:bodyPr>
            <a:normAutofit lnSpcReduction="10000"/>
          </a:bodyPr>
          <a:lstStyle/>
          <a:p>
            <a:pPr marL="0" indent="0">
              <a:buNone/>
            </a:pPr>
            <a:r>
              <a:rPr lang="en-US" dirty="0"/>
              <a:t>Prepare a GEE code and follow these steps:</a:t>
            </a:r>
          </a:p>
          <a:p>
            <a:pPr marL="989838" lvl="2" indent="-514350">
              <a:lnSpc>
                <a:spcPct val="114000"/>
              </a:lnSpc>
              <a:spcBef>
                <a:spcPts val="600"/>
              </a:spcBef>
              <a:spcAft>
                <a:spcPts val="600"/>
              </a:spcAft>
              <a:buFont typeface="+mj-lt"/>
              <a:buAutoNum type="arabicPeriod"/>
            </a:pPr>
            <a:r>
              <a:rPr lang="en-US" sz="2800" dirty="0">
                <a:solidFill>
                  <a:srgbClr val="7030A0"/>
                </a:solidFill>
              </a:rPr>
              <a:t>Select Sentinel 2 images. Use all THREE filters (select the metadata filter of your choice).</a:t>
            </a:r>
          </a:p>
          <a:p>
            <a:pPr marL="989838" lvl="2" indent="-514350">
              <a:lnSpc>
                <a:spcPct val="114000"/>
              </a:lnSpc>
              <a:spcBef>
                <a:spcPts val="600"/>
              </a:spcBef>
              <a:spcAft>
                <a:spcPts val="600"/>
              </a:spcAft>
              <a:buFont typeface="+mj-lt"/>
              <a:buAutoNum type="arabicPeriod"/>
            </a:pPr>
            <a:r>
              <a:rPr lang="en-US" sz="2800" dirty="0">
                <a:solidFill>
                  <a:srgbClr val="7030A0"/>
                </a:solidFill>
              </a:rPr>
              <a:t>Select only one Sentinel 2 image from its image collection.</a:t>
            </a:r>
          </a:p>
          <a:p>
            <a:pPr marL="1172718" lvl="3" indent="-514350">
              <a:lnSpc>
                <a:spcPct val="114000"/>
              </a:lnSpc>
              <a:spcBef>
                <a:spcPts val="600"/>
              </a:spcBef>
              <a:spcAft>
                <a:spcPts val="600"/>
              </a:spcAft>
              <a:buFont typeface="Wingdings" panose="05000000000000000000" pitchFamily="2" charset="2"/>
              <a:buChar char="§"/>
            </a:pPr>
            <a:r>
              <a:rPr lang="en-US" sz="2400" dirty="0">
                <a:solidFill>
                  <a:schemeClr val="accent6">
                    <a:lumMod val="75000"/>
                  </a:schemeClr>
                </a:solidFill>
              </a:rPr>
              <a:t>Map Individual Bands (B2, B3, B4, and B8)</a:t>
            </a:r>
          </a:p>
          <a:p>
            <a:pPr marL="1172718" lvl="3" indent="-514350">
              <a:lnSpc>
                <a:spcPct val="114000"/>
              </a:lnSpc>
              <a:spcBef>
                <a:spcPts val="600"/>
              </a:spcBef>
              <a:spcAft>
                <a:spcPts val="600"/>
              </a:spcAft>
              <a:buFont typeface="Wingdings" panose="05000000000000000000" pitchFamily="2" charset="2"/>
              <a:buChar char="§"/>
            </a:pPr>
            <a:r>
              <a:rPr lang="en-US" sz="2400" dirty="0">
                <a:solidFill>
                  <a:schemeClr val="accent6">
                    <a:lumMod val="75000"/>
                  </a:schemeClr>
                </a:solidFill>
              </a:rPr>
              <a:t>Map True color combination</a:t>
            </a:r>
          </a:p>
          <a:p>
            <a:pPr marL="1172718" lvl="3" indent="-514350">
              <a:lnSpc>
                <a:spcPct val="114000"/>
              </a:lnSpc>
              <a:spcBef>
                <a:spcPts val="600"/>
              </a:spcBef>
              <a:spcAft>
                <a:spcPts val="600"/>
              </a:spcAft>
              <a:buFont typeface="Wingdings" panose="05000000000000000000" pitchFamily="2" charset="2"/>
              <a:buChar char="§"/>
            </a:pPr>
            <a:r>
              <a:rPr lang="en-US" sz="2400" dirty="0">
                <a:solidFill>
                  <a:schemeClr val="accent6">
                    <a:lumMod val="75000"/>
                  </a:schemeClr>
                </a:solidFill>
              </a:rPr>
              <a:t>Map B8, B4, B3 combination</a:t>
            </a:r>
          </a:p>
          <a:p>
            <a:pPr marL="1172718" lvl="3" indent="-514350">
              <a:lnSpc>
                <a:spcPct val="114000"/>
              </a:lnSpc>
              <a:spcBef>
                <a:spcPts val="600"/>
              </a:spcBef>
              <a:spcAft>
                <a:spcPts val="600"/>
              </a:spcAft>
              <a:buFont typeface="Wingdings" panose="05000000000000000000" pitchFamily="2" charset="2"/>
              <a:buChar char="§"/>
            </a:pPr>
            <a:r>
              <a:rPr lang="en-US" sz="2400" dirty="0">
                <a:solidFill>
                  <a:schemeClr val="accent6">
                    <a:lumMod val="75000"/>
                  </a:schemeClr>
                </a:solidFill>
              </a:rPr>
              <a:t>Map Index NDVI and use different color palette.   </a:t>
            </a:r>
          </a:p>
        </p:txBody>
      </p:sp>
      <p:sp>
        <p:nvSpPr>
          <p:cNvPr id="4" name="Slide Number Placeholder 3"/>
          <p:cNvSpPr>
            <a:spLocks noGrp="1"/>
          </p:cNvSpPr>
          <p:nvPr>
            <p:ph type="sldNum" sz="quarter" idx="12"/>
          </p:nvPr>
        </p:nvSpPr>
        <p:spPr/>
        <p:txBody>
          <a:bodyPr/>
          <a:lstStyle/>
          <a:p>
            <a:fld id="{5B412F84-AA69-4185-A895-1AC6C3BCB519}" type="slidenum">
              <a:rPr lang="en-US" smtClean="0"/>
              <a:t>23</a:t>
            </a:fld>
            <a:endParaRPr lang="en-US"/>
          </a:p>
        </p:txBody>
      </p:sp>
    </p:spTree>
    <p:extLst>
      <p:ext uri="{BB962C8B-B14F-4D97-AF65-F5344CB8AC3E}">
        <p14:creationId xmlns:p14="http://schemas.microsoft.com/office/powerpoint/2010/main" val="3547197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Indices </a:t>
            </a:r>
          </a:p>
        </p:txBody>
      </p:sp>
      <p:sp>
        <p:nvSpPr>
          <p:cNvPr id="3" name="Content Placeholder 2"/>
          <p:cNvSpPr>
            <a:spLocks noGrp="1"/>
          </p:cNvSpPr>
          <p:nvPr>
            <p:ph idx="1"/>
          </p:nvPr>
        </p:nvSpPr>
        <p:spPr>
          <a:xfrm>
            <a:off x="800100" y="1845734"/>
            <a:ext cx="11201400" cy="4417906"/>
          </a:xfrm>
        </p:spPr>
        <p:txBody>
          <a:bodyPr>
            <a:noAutofit/>
          </a:bodyPr>
          <a:lstStyle/>
          <a:p>
            <a:r>
              <a:rPr lang="en-US" sz="2400" dirty="0">
                <a:solidFill>
                  <a:srgbClr val="00B050"/>
                </a:solidFill>
              </a:rPr>
              <a:t>// 1- Define variable NDSI from equation </a:t>
            </a:r>
          </a:p>
          <a:p>
            <a:r>
              <a:rPr lang="en-US" sz="2400" dirty="0"/>
              <a:t>   </a:t>
            </a:r>
            <a:r>
              <a:rPr lang="en-US" sz="2400" dirty="0" err="1"/>
              <a:t>var</a:t>
            </a:r>
            <a:r>
              <a:rPr lang="en-US" sz="2400" dirty="0"/>
              <a:t> NDVI = image. </a:t>
            </a:r>
            <a:r>
              <a:rPr lang="en-US" sz="2400" dirty="0">
                <a:solidFill>
                  <a:srgbClr val="7030A0"/>
                </a:solidFill>
              </a:rPr>
              <a:t>expression</a:t>
            </a:r>
            <a:r>
              <a:rPr lang="en-US" sz="2400" dirty="0"/>
              <a:t>(</a:t>
            </a:r>
          </a:p>
          <a:p>
            <a:r>
              <a:rPr lang="en-US" sz="2400" dirty="0">
                <a:solidFill>
                  <a:srgbClr val="FF0000"/>
                </a:solidFill>
              </a:rPr>
              <a:t>     "(NIR - RED ) / ( NIR + RED)"</a:t>
            </a:r>
            <a:r>
              <a:rPr lang="en-US" sz="2400" dirty="0"/>
              <a:t>,</a:t>
            </a:r>
          </a:p>
          <a:p>
            <a:r>
              <a:rPr lang="en-US" sz="2400" dirty="0"/>
              <a:t>        {</a:t>
            </a:r>
          </a:p>
          <a:p>
            <a:r>
              <a:rPr lang="en-US" sz="2400" dirty="0"/>
              <a:t>          RED: </a:t>
            </a:r>
            <a:r>
              <a:rPr lang="en-US" sz="2400" dirty="0" err="1"/>
              <a:t>image.</a:t>
            </a:r>
            <a:r>
              <a:rPr lang="en-US" sz="2400" dirty="0" err="1">
                <a:solidFill>
                  <a:srgbClr val="7030A0"/>
                </a:solidFill>
              </a:rPr>
              <a:t>select</a:t>
            </a:r>
            <a:r>
              <a:rPr lang="en-US" sz="2400" dirty="0"/>
              <a:t>(</a:t>
            </a:r>
            <a:r>
              <a:rPr lang="en-US" sz="2400" dirty="0">
                <a:solidFill>
                  <a:srgbClr val="FF0000"/>
                </a:solidFill>
              </a:rPr>
              <a:t>"B4"</a:t>
            </a:r>
            <a:r>
              <a:rPr lang="en-US" sz="2400" dirty="0"/>
              <a:t>),    </a:t>
            </a:r>
            <a:r>
              <a:rPr lang="en-US" sz="2400" dirty="0">
                <a:solidFill>
                  <a:srgbClr val="00B050"/>
                </a:solidFill>
              </a:rPr>
              <a:t>//  RED</a:t>
            </a:r>
          </a:p>
          <a:p>
            <a:r>
              <a:rPr lang="en-US" sz="2400" dirty="0"/>
              <a:t>          NIR: </a:t>
            </a:r>
            <a:r>
              <a:rPr lang="en-US" sz="2400" dirty="0" err="1"/>
              <a:t>image.</a:t>
            </a:r>
            <a:r>
              <a:rPr lang="en-US" sz="2400" dirty="0" err="1">
                <a:solidFill>
                  <a:srgbClr val="7030A0"/>
                </a:solidFill>
              </a:rPr>
              <a:t>select</a:t>
            </a:r>
            <a:r>
              <a:rPr lang="en-US" sz="2400" dirty="0"/>
              <a:t>(</a:t>
            </a:r>
            <a:r>
              <a:rPr lang="en-US" sz="2400" dirty="0">
                <a:solidFill>
                  <a:srgbClr val="FF0000"/>
                </a:solidFill>
              </a:rPr>
              <a:t>"B8"</a:t>
            </a:r>
            <a:r>
              <a:rPr lang="en-US" sz="2400" dirty="0"/>
              <a:t>),    </a:t>
            </a:r>
            <a:r>
              <a:rPr lang="en-US" sz="2400" dirty="0">
                <a:solidFill>
                  <a:srgbClr val="00B050"/>
                </a:solidFill>
              </a:rPr>
              <a:t>// NIR</a:t>
            </a:r>
          </a:p>
          <a:p>
            <a:r>
              <a:rPr lang="en-US" sz="2400" dirty="0"/>
              <a:t>}).</a:t>
            </a:r>
            <a:r>
              <a:rPr lang="en-US" sz="2400" dirty="0">
                <a:solidFill>
                  <a:srgbClr val="7030A0"/>
                </a:solidFill>
              </a:rPr>
              <a:t>rename</a:t>
            </a:r>
            <a:r>
              <a:rPr lang="en-US" sz="2400" dirty="0"/>
              <a:t>(</a:t>
            </a:r>
            <a:r>
              <a:rPr lang="en-US" sz="2400" dirty="0">
                <a:solidFill>
                  <a:srgbClr val="FF0000"/>
                </a:solidFill>
              </a:rPr>
              <a:t>'NDVI'</a:t>
            </a:r>
            <a:r>
              <a:rPr lang="en-US" sz="2400" dirty="0"/>
              <a:t>);</a:t>
            </a:r>
          </a:p>
          <a:p>
            <a:r>
              <a:rPr lang="en-US" sz="2400" dirty="0"/>
              <a:t>   </a:t>
            </a:r>
            <a:r>
              <a:rPr lang="en-US" sz="2400" dirty="0" err="1">
                <a:solidFill>
                  <a:srgbClr val="7030A0"/>
                </a:solidFill>
              </a:rPr>
              <a:t>Map.addLayer</a:t>
            </a:r>
            <a:r>
              <a:rPr lang="en-US" sz="2400" dirty="0"/>
              <a:t>(NDVI, {min: -1, max: 1}, </a:t>
            </a:r>
            <a:r>
              <a:rPr lang="en-US" sz="2400" dirty="0">
                <a:solidFill>
                  <a:srgbClr val="FF0000"/>
                </a:solidFill>
              </a:rPr>
              <a:t>"NDVI"</a:t>
            </a:r>
            <a:r>
              <a:rPr lang="en-US" sz="2400" dirty="0"/>
              <a:t>);</a:t>
            </a:r>
          </a:p>
        </p:txBody>
      </p:sp>
      <p:sp>
        <p:nvSpPr>
          <p:cNvPr id="4" name="Slide Number Placeholder 3"/>
          <p:cNvSpPr>
            <a:spLocks noGrp="1"/>
          </p:cNvSpPr>
          <p:nvPr>
            <p:ph type="sldNum" sz="quarter" idx="12"/>
          </p:nvPr>
        </p:nvSpPr>
        <p:spPr/>
        <p:txBody>
          <a:bodyPr/>
          <a:lstStyle/>
          <a:p>
            <a:fld id="{5B412F84-AA69-4185-A895-1AC6C3BCB519}" type="slidenum">
              <a:rPr lang="en-US" smtClean="0"/>
              <a:t>24</a:t>
            </a:fld>
            <a:endParaRPr lang="en-US"/>
          </a:p>
        </p:txBody>
      </p:sp>
    </p:spTree>
    <p:extLst>
      <p:ext uri="{BB962C8B-B14F-4D97-AF65-F5344CB8AC3E}">
        <p14:creationId xmlns:p14="http://schemas.microsoft.com/office/powerpoint/2010/main" val="1558228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a:t>
            </a:r>
          </a:p>
        </p:txBody>
      </p:sp>
      <p:sp>
        <p:nvSpPr>
          <p:cNvPr id="3" name="Content Placeholder 2"/>
          <p:cNvSpPr>
            <a:spLocks noGrp="1"/>
          </p:cNvSpPr>
          <p:nvPr>
            <p:ph idx="1"/>
          </p:nvPr>
        </p:nvSpPr>
        <p:spPr>
          <a:xfrm>
            <a:off x="1097280" y="1845734"/>
            <a:ext cx="10058400" cy="4417906"/>
          </a:xfrm>
        </p:spPr>
        <p:txBody>
          <a:bodyPr>
            <a:normAutofit fontScale="77500" lnSpcReduction="20000"/>
          </a:bodyPr>
          <a:lstStyle/>
          <a:p>
            <a:r>
              <a:rPr lang="en-US" dirty="0"/>
              <a:t>Add in the code (sentinel 2) you were writing the following spectral indices (search internet to get the formula) and add the indices layers in the map with appropriate visualization parameters (use import);</a:t>
            </a:r>
          </a:p>
          <a:p>
            <a:pPr marL="514350" indent="-514350">
              <a:buFont typeface="+mj-lt"/>
              <a:buAutoNum type="arabicPeriod"/>
            </a:pPr>
            <a:r>
              <a:rPr lang="en-US" dirty="0"/>
              <a:t>Normalized Difference Water Index (NWDI). + 1, -1</a:t>
            </a:r>
          </a:p>
          <a:p>
            <a:pPr marL="514350" indent="-514350">
              <a:buFont typeface="+mj-lt"/>
              <a:buAutoNum type="arabicPeriod"/>
            </a:pPr>
            <a:r>
              <a:rPr lang="en-US" dirty="0"/>
              <a:t>Normalized Difference Salinity Index (NDSI). +1, -1</a:t>
            </a:r>
          </a:p>
          <a:p>
            <a:pPr marL="514350" indent="-514350">
              <a:buFont typeface="+mj-lt"/>
              <a:buAutoNum type="arabicPeriod"/>
            </a:pPr>
            <a:r>
              <a:rPr lang="en-US" dirty="0"/>
              <a:t> Soil Adjusted Vegetation Index (SAVI). -1, +1</a:t>
            </a:r>
          </a:p>
          <a:p>
            <a:pPr marL="514350" indent="-514350">
              <a:buFont typeface="+mj-lt"/>
              <a:buAutoNum type="arabicPeriod"/>
            </a:pPr>
            <a:r>
              <a:rPr lang="en-US" dirty="0"/>
              <a:t>Advanced Vegetation Index (AVI). 0.00 to 114.98 </a:t>
            </a:r>
          </a:p>
          <a:p>
            <a:pPr marL="514350" indent="-514350">
              <a:buFont typeface="+mj-lt"/>
              <a:buAutoNum type="arabicPeriod"/>
            </a:pPr>
            <a:r>
              <a:rPr lang="en-US" dirty="0"/>
              <a:t>Enhanced Vegetation Index (EVI). -1, +1</a:t>
            </a:r>
          </a:p>
          <a:p>
            <a:pPr marL="514350" indent="-514350">
              <a:buFont typeface="+mj-lt"/>
              <a:buAutoNum type="arabicPeriod"/>
            </a:pPr>
            <a:r>
              <a:rPr lang="en-US" dirty="0"/>
              <a:t>Difference Vegetation-Index (DVI). -1, +1</a:t>
            </a:r>
          </a:p>
          <a:p>
            <a:pPr marL="0" indent="0">
              <a:buNone/>
            </a:pPr>
            <a:r>
              <a:rPr lang="en-US" dirty="0"/>
              <a:t>Import your </a:t>
            </a:r>
            <a:r>
              <a:rPr lang="en-US" dirty="0" err="1"/>
              <a:t>shapefile</a:t>
            </a:r>
            <a:r>
              <a:rPr lang="en-US" dirty="0"/>
              <a:t> and clip with all layers with it before adding the map layer.  </a:t>
            </a:r>
          </a:p>
        </p:txBody>
      </p:sp>
      <p:sp>
        <p:nvSpPr>
          <p:cNvPr id="4" name="Slide Number Placeholder 3"/>
          <p:cNvSpPr>
            <a:spLocks noGrp="1"/>
          </p:cNvSpPr>
          <p:nvPr>
            <p:ph type="sldNum" sz="quarter" idx="12"/>
          </p:nvPr>
        </p:nvSpPr>
        <p:spPr/>
        <p:txBody>
          <a:bodyPr/>
          <a:lstStyle/>
          <a:p>
            <a:fld id="{5B412F84-AA69-4185-A895-1AC6C3BCB519}" type="slidenum">
              <a:rPr lang="en-US" smtClean="0"/>
              <a:t>25</a:t>
            </a:fld>
            <a:endParaRPr lang="en-US"/>
          </a:p>
        </p:txBody>
      </p:sp>
    </p:spTree>
    <p:extLst>
      <p:ext uri="{BB962C8B-B14F-4D97-AF65-F5344CB8AC3E}">
        <p14:creationId xmlns:p14="http://schemas.microsoft.com/office/powerpoint/2010/main" val="2051937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Useful website</a:t>
            </a:r>
            <a:endParaRPr lang="en-US" dirty="0"/>
          </a:p>
        </p:txBody>
      </p:sp>
      <p:sp>
        <p:nvSpPr>
          <p:cNvPr id="5" name="Content Placeholder 4"/>
          <p:cNvSpPr>
            <a:spLocks noGrp="1"/>
          </p:cNvSpPr>
          <p:nvPr>
            <p:ph idx="1"/>
          </p:nvPr>
        </p:nvSpPr>
        <p:spPr/>
        <p:txBody>
          <a:bodyPr>
            <a:normAutofit/>
          </a:bodyPr>
          <a:lstStyle/>
          <a:p>
            <a:r>
              <a:rPr lang="en-US" sz="3200" dirty="0"/>
              <a:t>https://www.geospatialecology.com/intro_rs_lab2/</a:t>
            </a:r>
          </a:p>
        </p:txBody>
      </p:sp>
      <p:sp>
        <p:nvSpPr>
          <p:cNvPr id="2" name="Slide Number Placeholder 1"/>
          <p:cNvSpPr>
            <a:spLocks noGrp="1"/>
          </p:cNvSpPr>
          <p:nvPr>
            <p:ph type="sldNum" sz="quarter" idx="12"/>
          </p:nvPr>
        </p:nvSpPr>
        <p:spPr/>
        <p:txBody>
          <a:bodyPr/>
          <a:lstStyle/>
          <a:p>
            <a:fld id="{5B412F84-AA69-4185-A895-1AC6C3BCB519}" type="slidenum">
              <a:rPr lang="en-US" smtClean="0"/>
              <a:t>26</a:t>
            </a:fld>
            <a:endParaRPr lang="en-US"/>
          </a:p>
        </p:txBody>
      </p:sp>
    </p:spTree>
    <p:extLst>
      <p:ext uri="{BB962C8B-B14F-4D97-AF65-F5344CB8AC3E}">
        <p14:creationId xmlns:p14="http://schemas.microsoft.com/office/powerpoint/2010/main" val="652674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7" name="Text Placeholder 6"/>
          <p:cNvSpPr>
            <a:spLocks noGrp="1"/>
          </p:cNvSpPr>
          <p:nvPr>
            <p:ph type="body" sz="half" idx="2"/>
          </p:nvPr>
        </p:nvSpPr>
        <p:spPr/>
        <p:txBody>
          <a:bodyPr/>
          <a:lstStyle/>
          <a:p>
            <a:endParaRPr lang="en-US"/>
          </a:p>
        </p:txBody>
      </p:sp>
      <p:sp>
        <p:nvSpPr>
          <p:cNvPr id="4" name="Slide Number Placeholder 3"/>
          <p:cNvSpPr>
            <a:spLocks noGrp="1"/>
          </p:cNvSpPr>
          <p:nvPr>
            <p:ph type="sldNum" sz="quarter" idx="12"/>
          </p:nvPr>
        </p:nvSpPr>
        <p:spPr/>
        <p:txBody>
          <a:bodyPr/>
          <a:lstStyle/>
          <a:p>
            <a:fld id="{5B412F84-AA69-4185-A895-1AC6C3BCB519}" type="slidenum">
              <a:rPr lang="en-US" smtClean="0"/>
              <a:t>27</a:t>
            </a:fld>
            <a:endParaRPr lang="en-US"/>
          </a:p>
        </p:txBody>
      </p:sp>
      <p:sp>
        <p:nvSpPr>
          <p:cNvPr id="8" name="Rectangle 7"/>
          <p:cNvSpPr/>
          <p:nvPr/>
        </p:nvSpPr>
        <p:spPr>
          <a:xfrm>
            <a:off x="5589105" y="2745266"/>
            <a:ext cx="5151347" cy="1323439"/>
          </a:xfrm>
          <a:prstGeom prst="rect">
            <a:avLst/>
          </a:prstGeom>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Tree>
    <p:extLst>
      <p:ext uri="{BB962C8B-B14F-4D97-AF65-F5344CB8AC3E}">
        <p14:creationId xmlns:p14="http://schemas.microsoft.com/office/powerpoint/2010/main" val="3152835755"/>
      </p:ext>
    </p:extLst>
  </p:cSld>
  <p:clrMapOvr>
    <a:masterClrMapping/>
  </p:clrMapOvr>
</p:sld>
</file>

<file path=ppt/theme/theme1.xml><?xml version="1.0" encoding="utf-8"?>
<a:theme xmlns:a="http://schemas.openxmlformats.org/drawingml/2006/main" name="IS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IST" id="{8D85E0DB-8221-425F-8FF1-9C7D9115499F}" vid="{3BC899D8-6AA3-42CB-9244-222302378D0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IST</Template>
  <TotalTime>23791</TotalTime>
  <Words>1227</Words>
  <Application>Microsoft Office PowerPoint</Application>
  <PresentationFormat>Widescreen</PresentationFormat>
  <Paragraphs>151</Paragraphs>
  <Slides>27</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Calibri</vt:lpstr>
      <vt:lpstr>Calibri Light</vt:lpstr>
      <vt:lpstr>Comic Sans MS</vt:lpstr>
      <vt:lpstr>Wingdings</vt:lpstr>
      <vt:lpstr>IST</vt:lpstr>
      <vt:lpstr>    WORKING WITH GOOGLE ERATH ENGINE 2</vt:lpstr>
      <vt:lpstr>Adding Multi-Image Data</vt:lpstr>
      <vt:lpstr>PowerPoint Presentation</vt:lpstr>
      <vt:lpstr>Sentinel 2</vt:lpstr>
      <vt:lpstr>PowerPoint Presentation</vt:lpstr>
      <vt:lpstr>Image Collection</vt:lpstr>
      <vt:lpstr>Importing Sentinel 2 Image Collection</vt:lpstr>
      <vt:lpstr>Filter data for a specific period, or location, or quality</vt:lpstr>
      <vt:lpstr>FILTER IMAGE COLLECTION </vt:lpstr>
      <vt:lpstr>Filter by a Period</vt:lpstr>
      <vt:lpstr>Filter by a Location</vt:lpstr>
      <vt:lpstr>Filter by a Metadata</vt:lpstr>
      <vt:lpstr>Filter Image Collection</vt:lpstr>
      <vt:lpstr>Is mapping entire image collection possible?</vt:lpstr>
      <vt:lpstr>PowerPoint Presentation</vt:lpstr>
      <vt:lpstr>SELECT ONE IMAGE FROM AN IMAGE COLLECTION</vt:lpstr>
      <vt:lpstr>Example</vt:lpstr>
      <vt:lpstr>Loading a Specific Sentinel-2 image</vt:lpstr>
      <vt:lpstr>Use this link</vt:lpstr>
      <vt:lpstr>Spectral Indices</vt:lpstr>
      <vt:lpstr>PowerPoint Presentation</vt:lpstr>
      <vt:lpstr>Applying reducers - applying stats</vt:lpstr>
      <vt:lpstr> Lab work</vt:lpstr>
      <vt:lpstr>Coding Indices </vt:lpstr>
      <vt:lpstr>Quiz</vt:lpstr>
      <vt:lpstr>Useful website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with Google Erath Engine</dc:title>
  <dc:creator>Arjumand Zaidi</dc:creator>
  <cp:lastModifiedBy>Arjumand Zaidi</cp:lastModifiedBy>
  <cp:revision>247</cp:revision>
  <dcterms:created xsi:type="dcterms:W3CDTF">2020-10-11T05:46:18Z</dcterms:created>
  <dcterms:modified xsi:type="dcterms:W3CDTF">2026-08-25T18:00:09Z</dcterms:modified>
</cp:coreProperties>
</file>