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7" r:id="rId2"/>
    <p:sldId id="258" r:id="rId3"/>
    <p:sldId id="340" r:id="rId4"/>
    <p:sldId id="299" r:id="rId5"/>
    <p:sldId id="343" r:id="rId6"/>
    <p:sldId id="300" r:id="rId7"/>
    <p:sldId id="338" r:id="rId8"/>
    <p:sldId id="302" r:id="rId9"/>
    <p:sldId id="345" r:id="rId10"/>
    <p:sldId id="303" r:id="rId11"/>
    <p:sldId id="344" r:id="rId12"/>
    <p:sldId id="304" r:id="rId13"/>
    <p:sldId id="305" r:id="rId14"/>
    <p:sldId id="306" r:id="rId15"/>
    <p:sldId id="339" r:id="rId16"/>
    <p:sldId id="307" r:id="rId17"/>
    <p:sldId id="309" r:id="rId18"/>
    <p:sldId id="313" r:id="rId19"/>
    <p:sldId id="314" r:id="rId20"/>
    <p:sldId id="315" r:id="rId21"/>
    <p:sldId id="317" r:id="rId22"/>
    <p:sldId id="316" r:id="rId23"/>
    <p:sldId id="318" r:id="rId24"/>
    <p:sldId id="320" r:id="rId25"/>
    <p:sldId id="321" r:id="rId26"/>
    <p:sldId id="322" r:id="rId27"/>
    <p:sldId id="328" r:id="rId28"/>
    <p:sldId id="323" r:id="rId29"/>
    <p:sldId id="325" r:id="rId30"/>
    <p:sldId id="326" r:id="rId31"/>
    <p:sldId id="327" r:id="rId32"/>
    <p:sldId id="330" r:id="rId33"/>
    <p:sldId id="331" r:id="rId34"/>
    <p:sldId id="332" r:id="rId35"/>
    <p:sldId id="333" r:id="rId36"/>
    <p:sldId id="334" r:id="rId37"/>
    <p:sldId id="335" r:id="rId38"/>
    <p:sldId id="29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50B2"/>
    <a:srgbClr val="2D2DD5"/>
    <a:srgbClr val="4897CF"/>
    <a:srgbClr val="18B760"/>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294" autoAdjust="0"/>
    <p:restoredTop sz="79542" autoAdjust="0"/>
  </p:normalViewPr>
  <p:slideViewPr>
    <p:cSldViewPr snapToGrid="0">
      <p:cViewPr varScale="1">
        <p:scale>
          <a:sx n="84" d="100"/>
          <a:sy n="84" d="100"/>
        </p:scale>
        <p:origin x="75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80BE1B-D93D-42D2-845C-E70F46B1E94D}"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8992FB-2E8B-4333-B600-846756F97F52}" type="slidenum">
              <a:rPr lang="en-US" smtClean="0"/>
              <a:t>‹#›</a:t>
            </a:fld>
            <a:endParaRPr lang="en-US"/>
          </a:p>
        </p:txBody>
      </p:sp>
    </p:spTree>
    <p:extLst>
      <p:ext uri="{BB962C8B-B14F-4D97-AF65-F5344CB8AC3E}">
        <p14:creationId xmlns:p14="http://schemas.microsoft.com/office/powerpoint/2010/main" val="2420456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xfrm>
            <a:off x="146050" y="685800"/>
            <a:ext cx="6905625" cy="3884613"/>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3FDBFD0-846A-4C4B-8596-F2B82BF81BF8}" type="slidenum">
              <a:rPr lang="en-US" altLang="en-US">
                <a:latin typeface="Calibri" panose="020F0502020204030204" pitchFamily="34" charset="0"/>
              </a:rPr>
              <a:pPr eaLnBrk="1" hangingPunct="1"/>
              <a:t>1</a:t>
            </a:fld>
            <a:endParaRPr lang="en-US" altLang="en-US">
              <a:latin typeface="Calibri" panose="020F0502020204030204" pitchFamily="34" charset="0"/>
            </a:endParaRPr>
          </a:p>
        </p:txBody>
      </p:sp>
    </p:spTree>
    <p:extLst>
      <p:ext uri="{BB962C8B-B14F-4D97-AF65-F5344CB8AC3E}">
        <p14:creationId xmlns:p14="http://schemas.microsoft.com/office/powerpoint/2010/main" val="3773549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from Internet. </a:t>
            </a:r>
          </a:p>
        </p:txBody>
      </p:sp>
      <p:sp>
        <p:nvSpPr>
          <p:cNvPr id="4" name="Slide Number Placeholder 3"/>
          <p:cNvSpPr>
            <a:spLocks noGrp="1"/>
          </p:cNvSpPr>
          <p:nvPr>
            <p:ph type="sldNum" sz="quarter" idx="10"/>
          </p:nvPr>
        </p:nvSpPr>
        <p:spPr/>
        <p:txBody>
          <a:bodyPr/>
          <a:lstStyle/>
          <a:p>
            <a:fld id="{928992FB-2E8B-4333-B600-846756F97F52}" type="slidenum">
              <a:rPr lang="en-US" smtClean="0"/>
              <a:t>2</a:t>
            </a:fld>
            <a:endParaRPr lang="en-US"/>
          </a:p>
        </p:txBody>
      </p:sp>
    </p:spTree>
    <p:extLst>
      <p:ext uri="{BB962C8B-B14F-4D97-AF65-F5344CB8AC3E}">
        <p14:creationId xmlns:p14="http://schemas.microsoft.com/office/powerpoint/2010/main" val="2332699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Rot="1" noChangeAspect="1" noTextEdit="1"/>
          </p:cNvSpPr>
          <p:nvPr>
            <p:ph type="sldImg"/>
          </p:nvPr>
        </p:nvSpPr>
        <p:spPr bwMode="auto">
          <a:noFill/>
          <a:ln>
            <a:solidFill>
              <a:srgbClr val="000000"/>
            </a:solidFill>
            <a:miter lim="800000"/>
            <a:headEnd/>
            <a:tailEnd/>
          </a:ln>
        </p:spPr>
      </p:sp>
      <p:sp>
        <p:nvSpPr>
          <p:cNvPr id="18434" name="Rectangle 3"/>
          <p:cNvSpPr>
            <a:spLocks noGrp="1"/>
          </p:cNvSpPr>
          <p:nvPr>
            <p:ph type="body" idx="1"/>
          </p:nvPr>
        </p:nvSpPr>
        <p:spPr bwMode="auto">
          <a:noFill/>
        </p:spPr>
        <p:txBody>
          <a:bodyPr wrap="square" numCol="1" anchor="t" anchorCtr="0" compatLnSpc="1">
            <a:prstTxWarp prst="textNoShape">
              <a:avLst/>
            </a:prstTxWarp>
          </a:bodyPr>
          <a:lstStyle/>
          <a:p>
            <a:pPr>
              <a:lnSpc>
                <a:spcPct val="90000"/>
              </a:lnSpc>
            </a:pPr>
            <a:r>
              <a:rPr lang="en-US" dirty="0"/>
              <a:t>Definition Source: Disaster Management Version 1.</a:t>
            </a:r>
          </a:p>
          <a:p>
            <a:pPr>
              <a:lnSpc>
                <a:spcPct val="90000"/>
              </a:lnSpc>
            </a:pPr>
            <a:r>
              <a:rPr lang="en-US" dirty="0"/>
              <a:t>Probability or likelihood of a hazard</a:t>
            </a:r>
            <a:r>
              <a:rPr lang="en-US" baseline="0" dirty="0"/>
              <a:t> event of a certain magnitude occurring. </a:t>
            </a:r>
            <a:endParaRPr lang="en-US" dirty="0"/>
          </a:p>
          <a:p>
            <a:pPr>
              <a:lnSpc>
                <a:spcPct val="90000"/>
              </a:lnSpc>
            </a:pPr>
            <a:r>
              <a:rPr lang="en-US" dirty="0"/>
              <a:t>“measure of the expected losses due to a hazard event occurring in a given area over a specific time period.”</a:t>
            </a:r>
          </a:p>
          <a:p>
            <a:pPr>
              <a:lnSpc>
                <a:spcPct val="90000"/>
              </a:lnSpc>
            </a:pPr>
            <a:r>
              <a:rPr lang="en-US" dirty="0"/>
              <a:t>Risk (R) can be determined as a product of hazard (H) and vulnerability (V). i.e. R = H x V</a:t>
            </a:r>
          </a:p>
          <a:p>
            <a:pPr>
              <a:lnSpc>
                <a:spcPct val="90000"/>
              </a:lnSpc>
            </a:pPr>
            <a:endParaRPr lang="en-US" dirty="0"/>
          </a:p>
        </p:txBody>
      </p:sp>
    </p:spTree>
    <p:extLst>
      <p:ext uri="{BB962C8B-B14F-4D97-AF65-F5344CB8AC3E}">
        <p14:creationId xmlns:p14="http://schemas.microsoft.com/office/powerpoint/2010/main" val="47843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instance, despite the fact that more people are exposed to a particular risk or that it causes more fatalities or damages each year, it might still be more palatable to the exposed population than another</a:t>
            </a:r>
            <a:r>
              <a:rPr lang="en-US" baseline="0" dirty="0"/>
              <a:t> </a:t>
            </a:r>
            <a:r>
              <a:rPr lang="en-US" dirty="0"/>
              <a:t>much less dangerous or damaging risk due to the benefits that would be lost if the risk was partially or fully mitigated. For example, transportation accidents have caused more fatalities in the United States and worldwide than nuclear power accidents. Yet, most people are much more willing to accept the risk of transportation accidents than nuclear accidents because the loss of automobiles would have a much more personal and profound impact. (Coppola Emergency-Management)</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5</a:t>
            </a:fld>
            <a:endParaRPr lang="en-US"/>
          </a:p>
        </p:txBody>
      </p:sp>
    </p:spTree>
    <p:extLst>
      <p:ext uri="{BB962C8B-B14F-4D97-AF65-F5344CB8AC3E}">
        <p14:creationId xmlns:p14="http://schemas.microsoft.com/office/powerpoint/2010/main" val="2142775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p:spPr>
      </p:sp>
      <p:sp>
        <p:nvSpPr>
          <p:cNvPr id="20482"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Source: </a:t>
            </a:r>
            <a:r>
              <a:rPr lang="en-US" dirty="0" err="1"/>
              <a:t>Westen</a:t>
            </a:r>
            <a:r>
              <a:rPr lang="en-US" dirty="0"/>
              <a:t> Guidebook 01</a:t>
            </a:r>
          </a:p>
          <a:p>
            <a:endParaRPr lang="en-US" dirty="0"/>
          </a:p>
          <a:p>
            <a:r>
              <a:rPr lang="en-US" dirty="0"/>
              <a:t>Essentially, a natural hazard risk assessment is a study undertaken to determine the range of possible consequences from a natural hazard.</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UN-ISDR: United Nations International Strategy for Disaster Reduction</a:t>
            </a:r>
          </a:p>
          <a:p>
            <a:endParaRPr lang="en-US" dirty="0"/>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BF3C9169-6F16-4B44-BDF4-5C4D31FF1A80}" type="slidenum">
              <a:rPr lang="en-IN" sz="1200">
                <a:latin typeface="+mn-lt"/>
                <a:cs typeface="+mn-cs"/>
              </a:rPr>
              <a:pPr algn="r" fontAlgn="auto">
                <a:spcBef>
                  <a:spcPts val="0"/>
                </a:spcBef>
                <a:spcAft>
                  <a:spcPts val="0"/>
                </a:spcAft>
                <a:defRPr/>
              </a:pPr>
              <a:t>6</a:t>
            </a:fld>
            <a:endParaRPr lang="en-IN" sz="1200">
              <a:latin typeface="+mn-lt"/>
              <a:cs typeface="+mn-cs"/>
            </a:endParaRPr>
          </a:p>
        </p:txBody>
      </p:sp>
    </p:spTree>
    <p:extLst>
      <p:ext uri="{BB962C8B-B14F-4D97-AF65-F5344CB8AC3E}">
        <p14:creationId xmlns:p14="http://schemas.microsoft.com/office/powerpoint/2010/main" val="792063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Westen Guidebook 01</a:t>
            </a:r>
          </a:p>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7</a:t>
            </a:fld>
            <a:endParaRPr lang="en-US"/>
          </a:p>
        </p:txBody>
      </p:sp>
    </p:spTree>
    <p:extLst>
      <p:ext uri="{BB962C8B-B14F-4D97-AF65-F5344CB8AC3E}">
        <p14:creationId xmlns:p14="http://schemas.microsoft.com/office/powerpoint/2010/main" val="1084697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p:spPr>
      </p:sp>
      <p:sp>
        <p:nvSpPr>
          <p:cNvPr id="26626"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dirty="0"/>
              <a:t>Equation 2 is said to be a conceptual equation. </a:t>
            </a:r>
          </a:p>
          <a:p>
            <a:r>
              <a:rPr lang="en-US" dirty="0"/>
              <a:t>Equation [1], given above, is not only a conceptual one, but can also be actually calculated with spatial data in a GIS to quantify risk, with a focus on (direct) physical, population and economic losses.</a:t>
            </a:r>
          </a:p>
          <a:p>
            <a:r>
              <a:rPr lang="en-US" dirty="0"/>
              <a:t>Source: ITC</a:t>
            </a:r>
          </a:p>
          <a:p>
            <a:endParaRPr lang="en-US" dirty="0"/>
          </a:p>
          <a:p>
            <a:r>
              <a:rPr lang="en-US" dirty="0"/>
              <a:t>Summation for all possible risks. </a:t>
            </a:r>
          </a:p>
        </p:txBody>
      </p:sp>
      <p:sp>
        <p:nvSpPr>
          <p:cNvPr id="4" name="Slide Number Placeholder 3"/>
          <p:cNvSpPr txBox="1">
            <a:spLocks noGrp="1"/>
          </p:cNvSpPr>
          <p:nvPr/>
        </p:nvSpPr>
        <p:spPr>
          <a:xfrm>
            <a:off x="3884613" y="8685213"/>
            <a:ext cx="2971800" cy="457200"/>
          </a:xfrm>
          <a:prstGeom prst="rect">
            <a:avLst/>
          </a:prstGeom>
          <a:noFill/>
        </p:spPr>
        <p:txBody>
          <a:bodyPr anchor="b"/>
          <a:lstStyle/>
          <a:p>
            <a:pPr algn="r" fontAlgn="auto">
              <a:spcBef>
                <a:spcPts val="0"/>
              </a:spcBef>
              <a:spcAft>
                <a:spcPts val="0"/>
              </a:spcAft>
              <a:defRPr/>
            </a:pPr>
            <a:fld id="{ED7A115A-9CFB-4428-8B9F-2ED3AE110CD1}" type="slidenum">
              <a:rPr lang="en-IN" sz="1200">
                <a:latin typeface="+mn-lt"/>
                <a:cs typeface="+mn-cs"/>
              </a:rPr>
              <a:pPr algn="r" fontAlgn="auto">
                <a:spcBef>
                  <a:spcPts val="0"/>
                </a:spcBef>
                <a:spcAft>
                  <a:spcPts val="0"/>
                </a:spcAft>
                <a:defRPr/>
              </a:pPr>
              <a:t>8</a:t>
            </a:fld>
            <a:endParaRPr lang="en-IN" sz="1200">
              <a:latin typeface="+mn-lt"/>
              <a:cs typeface="+mn-cs"/>
            </a:endParaRPr>
          </a:p>
        </p:txBody>
      </p:sp>
    </p:spTree>
    <p:extLst>
      <p:ext uri="{BB962C8B-B14F-4D97-AF65-F5344CB8AC3E}">
        <p14:creationId xmlns:p14="http://schemas.microsoft.com/office/powerpoint/2010/main" val="395773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p:spPr>
      </p:sp>
      <p:sp>
        <p:nvSpPr>
          <p:cNvPr id="634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low-likelihood/low-consequence hazards are of least concern. And all fall in between. </a:t>
            </a:r>
          </a:p>
          <a:p>
            <a:pPr eaLnBrk="1" hangingPunct="1">
              <a:spcBef>
                <a:spcPct val="0"/>
              </a:spcBef>
            </a:pPr>
            <a:r>
              <a:rPr lang="en-US" dirty="0"/>
              <a:t>The above 2 factors are constantly changing as a result of increased development, access to new information, changes in climate and community characteristics, etc. </a:t>
            </a:r>
          </a:p>
          <a:p>
            <a:pPr eaLnBrk="1" hangingPunct="1">
              <a:spcBef>
                <a:spcPct val="0"/>
              </a:spcBef>
            </a:pPr>
            <a:endParaRPr lang="en-US" dirty="0"/>
          </a:p>
        </p:txBody>
      </p:sp>
      <p:sp>
        <p:nvSpPr>
          <p:cNvPr id="56323"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2F57E66B-50EA-42D9-B491-AABDF6B3ACB5}" type="slidenum">
              <a:rPr lang="en-US" sz="1200">
                <a:latin typeface="+mn-lt"/>
              </a:rPr>
              <a:pPr algn="r">
                <a:defRPr/>
              </a:pPr>
              <a:t>9</a:t>
            </a:fld>
            <a:endParaRPr lang="en-US" sz="1200">
              <a:latin typeface="+mn-lt"/>
            </a:endParaRPr>
          </a:p>
        </p:txBody>
      </p:sp>
    </p:spTree>
    <p:extLst>
      <p:ext uri="{BB962C8B-B14F-4D97-AF65-F5344CB8AC3E}">
        <p14:creationId xmlns:p14="http://schemas.microsoft.com/office/powerpoint/2010/main" val="1660949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Source: </a:t>
            </a:r>
            <a:r>
              <a:rPr lang="en-IN" sz="1200" kern="1200" baseline="0" dirty="0" err="1">
                <a:solidFill>
                  <a:schemeClr val="tx1"/>
                </a:solidFill>
                <a:latin typeface="+mn-lt"/>
                <a:ea typeface="+mn-ea"/>
                <a:cs typeface="+mn-cs"/>
              </a:rPr>
              <a:t>Cees</a:t>
            </a:r>
            <a:r>
              <a:rPr lang="en-IN" sz="1200" kern="1200" baseline="0" dirty="0">
                <a:solidFill>
                  <a:schemeClr val="tx1"/>
                </a:solidFill>
                <a:latin typeface="+mn-lt"/>
                <a:ea typeface="+mn-ea"/>
                <a:cs typeface="+mn-cs"/>
              </a:rPr>
              <a:t> van </a:t>
            </a:r>
            <a:r>
              <a:rPr lang="en-IN" sz="1200" kern="1200" baseline="0" dirty="0" err="1">
                <a:solidFill>
                  <a:schemeClr val="tx1"/>
                </a:solidFill>
                <a:latin typeface="+mn-lt"/>
                <a:ea typeface="+mn-ea"/>
                <a:cs typeface="+mn-cs"/>
              </a:rPr>
              <a:t>Westen</a:t>
            </a:r>
            <a:endParaRPr lang="en-IN" dirty="0"/>
          </a:p>
        </p:txBody>
      </p:sp>
      <p:sp>
        <p:nvSpPr>
          <p:cNvPr id="4" name="Slide Number Placeholder 3"/>
          <p:cNvSpPr>
            <a:spLocks noGrp="1"/>
          </p:cNvSpPr>
          <p:nvPr>
            <p:ph type="sldNum" sz="quarter" idx="10"/>
          </p:nvPr>
        </p:nvSpPr>
        <p:spPr/>
        <p:txBody>
          <a:bodyPr/>
          <a:lstStyle/>
          <a:p>
            <a:fld id="{B4C16532-E105-44E2-B08E-C34A3B92E644}" type="slidenum">
              <a:rPr lang="en-US" smtClean="0"/>
              <a:pPr/>
              <a:t>10</a:t>
            </a:fld>
            <a:endParaRPr lang="en-US"/>
          </a:p>
        </p:txBody>
      </p:sp>
    </p:spTree>
    <p:extLst>
      <p:ext uri="{BB962C8B-B14F-4D97-AF65-F5344CB8AC3E}">
        <p14:creationId xmlns:p14="http://schemas.microsoft.com/office/powerpoint/2010/main" val="3247792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p:spPr>
      </p:sp>
      <p:sp>
        <p:nvSpPr>
          <p:cNvPr id="61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dirty="0"/>
              <a:t>Source: </a:t>
            </a:r>
            <a:r>
              <a:rPr lang="en-US" dirty="0" err="1"/>
              <a:t>Cappola</a:t>
            </a:r>
            <a:endParaRPr lang="en-US" dirty="0"/>
          </a:p>
          <a:p>
            <a:pPr eaLnBrk="1" hangingPunct="1">
              <a:spcBef>
                <a:spcPct val="0"/>
              </a:spcBef>
            </a:pPr>
            <a:r>
              <a:rPr lang="en-US"/>
              <a:t>For rare yet real hazards only knowledge or opinion of experts can provide an insight (e.g. </a:t>
            </a:r>
            <a:r>
              <a:rPr lang="en-US" dirty="0"/>
              <a:t>technological hazards)</a:t>
            </a:r>
          </a:p>
        </p:txBody>
      </p:sp>
      <p:sp>
        <p:nvSpPr>
          <p:cNvPr id="54275" name="Slide Number Placehold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8D2307FD-83E0-46FE-9A03-FE7BC979C2BF}" type="slidenum">
              <a:rPr lang="en-US" sz="1200">
                <a:latin typeface="+mn-lt"/>
              </a:rPr>
              <a:pPr algn="r">
                <a:defRPr/>
              </a:pPr>
              <a:t>11</a:t>
            </a:fld>
            <a:endParaRPr lang="en-US" sz="1200">
              <a:latin typeface="+mn-lt"/>
            </a:endParaRPr>
          </a:p>
        </p:txBody>
      </p:sp>
    </p:spTree>
    <p:extLst>
      <p:ext uri="{BB962C8B-B14F-4D97-AF65-F5344CB8AC3E}">
        <p14:creationId xmlns:p14="http://schemas.microsoft.com/office/powerpoint/2010/main" val="2672155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p:spPr>
      </p:sp>
      <p:sp>
        <p:nvSpPr>
          <p:cNvPr id="2969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Source: http://ebookbrowse.com/day1-concepts-in-emergency-management-pdf-d116896500</a:t>
            </a:r>
          </a:p>
          <a:p>
            <a:pPr>
              <a:spcBef>
                <a:spcPct val="0"/>
              </a:spcBef>
            </a:pPr>
            <a:endParaRPr lang="en-US" dirty="0"/>
          </a:p>
          <a:p>
            <a:r>
              <a:rPr lang="en-US" dirty="0"/>
              <a:t>vulnerability to natural hazards generally refer to the characteristics of an element exposed to a hazard.</a:t>
            </a:r>
          </a:p>
          <a:p>
            <a:endParaRPr lang="en-US" dirty="0"/>
          </a:p>
          <a:p>
            <a:r>
              <a:rPr lang="en-US" sz="1200" dirty="0"/>
              <a:t>Extent to which a community’s structure, service or environment is likely to be damaged or disrupted by the impact of a hazard</a:t>
            </a:r>
            <a:endParaRPr lang="en-US" dirty="0"/>
          </a:p>
          <a:p>
            <a:r>
              <a:rPr lang="en-US" dirty="0"/>
              <a:t>Definition Source: Disaster Management Version 1.</a:t>
            </a:r>
          </a:p>
          <a:p>
            <a:endParaRPr lang="en-US" dirty="0"/>
          </a:p>
          <a:p>
            <a:r>
              <a:rPr lang="en-US" dirty="0"/>
              <a:t>Risk vulnerability looks at four factors, including social vulnerability, environmental vulnerability, physical vulnerability, and economic vulnerability.</a:t>
            </a:r>
          </a:p>
          <a:p>
            <a:endParaRPr lang="en-US" dirty="0"/>
          </a:p>
          <a:p>
            <a:r>
              <a:rPr lang="en-US" dirty="0"/>
              <a:t>The expected degree of loss of the element at risk</a:t>
            </a:r>
          </a:p>
          <a:p>
            <a:endParaRPr lang="en-US" dirty="0"/>
          </a:p>
          <a:p>
            <a:endParaRPr lang="en-US" dirty="0"/>
          </a:p>
        </p:txBody>
      </p:sp>
      <p:sp>
        <p:nvSpPr>
          <p:cNvPr id="29699"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5481CED-779B-4A67-8B44-D18B6FBAD15F}" type="slidenum">
              <a:rPr lang="en-US" sz="1200">
                <a:latin typeface="Calibri" pitchFamily="34" charset="0"/>
              </a:rPr>
              <a:pPr algn="r"/>
              <a:t>12</a:t>
            </a:fld>
            <a:endParaRPr lang="en-US" sz="1200">
              <a:latin typeface="Calibri" pitchFamily="34" charset="0"/>
            </a:endParaRPr>
          </a:p>
        </p:txBody>
      </p:sp>
    </p:spTree>
    <p:extLst>
      <p:ext uri="{BB962C8B-B14F-4D97-AF65-F5344CB8AC3E}">
        <p14:creationId xmlns:p14="http://schemas.microsoft.com/office/powerpoint/2010/main" val="3067784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Rot="1" noChangeAspect="1" noTextEdit="1"/>
          </p:cNvSpPr>
          <p:nvPr>
            <p:ph type="sldImg"/>
          </p:nvPr>
        </p:nvSpPr>
        <p:spPr bwMode="auto">
          <a:noFill/>
          <a:ln>
            <a:solidFill>
              <a:srgbClr val="000000"/>
            </a:solidFill>
            <a:miter lim="800000"/>
            <a:headEnd/>
            <a:tailEnd/>
          </a:ln>
        </p:spPr>
      </p:sp>
      <p:sp>
        <p:nvSpPr>
          <p:cNvPr id="24578" name="Rectangle 3"/>
          <p:cNvSpPr>
            <a:spLocks noGrp="1"/>
          </p:cNvSpPr>
          <p:nvPr>
            <p:ph type="body" idx="1"/>
          </p:nvPr>
        </p:nvSpPr>
        <p:spPr bwMode="auto">
          <a:noFill/>
        </p:spPr>
        <p:txBody>
          <a:bodyPr wrap="square" numCol="1" anchor="t" anchorCtr="0" compatLnSpc="1">
            <a:prstTxWarp prst="textNoShape">
              <a:avLst/>
            </a:prstTxWarp>
          </a:bodyPr>
          <a:lstStyle/>
          <a:p>
            <a:r>
              <a:rPr lang="en-US"/>
              <a:t>Source: Disaster Management Version 1.</a:t>
            </a:r>
          </a:p>
        </p:txBody>
      </p:sp>
    </p:spTree>
    <p:extLst>
      <p:ext uri="{BB962C8B-B14F-4D97-AF65-F5344CB8AC3E}">
        <p14:creationId xmlns:p14="http://schemas.microsoft.com/office/powerpoint/2010/main" val="2439295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Source: Dr. Cees </a:t>
            </a:r>
            <a:r>
              <a:rPr lang="en-US" dirty="0" err="1"/>
              <a:t>Westen</a:t>
            </a:r>
            <a:r>
              <a:rPr lang="en-US" dirty="0"/>
              <a:t> ITC</a:t>
            </a:r>
            <a:endParaRPr lang="en-IN" dirty="0"/>
          </a:p>
        </p:txBody>
      </p:sp>
      <p:sp>
        <p:nvSpPr>
          <p:cNvPr id="4" name="Slide Number Placeholder 3"/>
          <p:cNvSpPr>
            <a:spLocks noGrp="1"/>
          </p:cNvSpPr>
          <p:nvPr>
            <p:ph type="sldNum" sz="quarter" idx="10"/>
          </p:nvPr>
        </p:nvSpPr>
        <p:spPr/>
        <p:txBody>
          <a:bodyPr/>
          <a:lstStyle/>
          <a:p>
            <a:fld id="{B4C16532-E105-44E2-B08E-C34A3B92E644}" type="slidenum">
              <a:rPr lang="en-US" smtClean="0"/>
              <a:pPr/>
              <a:t>14</a:t>
            </a:fld>
            <a:endParaRPr lang="en-US"/>
          </a:p>
        </p:txBody>
      </p:sp>
    </p:spTree>
    <p:extLst>
      <p:ext uri="{BB962C8B-B14F-4D97-AF65-F5344CB8AC3E}">
        <p14:creationId xmlns:p14="http://schemas.microsoft.com/office/powerpoint/2010/main" val="3794715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Source: Dr. Cees </a:t>
            </a:r>
            <a:r>
              <a:rPr lang="en-US" dirty="0" err="1"/>
              <a:t>Westen</a:t>
            </a:r>
            <a:r>
              <a:rPr lang="en-US" dirty="0"/>
              <a:t> ITC</a:t>
            </a:r>
            <a:endParaRPr lang="en-IN" dirty="0"/>
          </a:p>
        </p:txBody>
      </p:sp>
      <p:sp>
        <p:nvSpPr>
          <p:cNvPr id="4" name="Slide Number Placeholder 3"/>
          <p:cNvSpPr>
            <a:spLocks noGrp="1"/>
          </p:cNvSpPr>
          <p:nvPr>
            <p:ph type="sldNum" sz="quarter" idx="10"/>
          </p:nvPr>
        </p:nvSpPr>
        <p:spPr/>
        <p:txBody>
          <a:bodyPr/>
          <a:lstStyle/>
          <a:p>
            <a:fld id="{B4C16532-E105-44E2-B08E-C34A3B92E644}" type="slidenum">
              <a:rPr lang="en-US" smtClean="0"/>
              <a:pPr/>
              <a:t>15</a:t>
            </a:fld>
            <a:endParaRPr lang="en-US"/>
          </a:p>
        </p:txBody>
      </p:sp>
    </p:spTree>
    <p:extLst>
      <p:ext uri="{BB962C8B-B14F-4D97-AF65-F5344CB8AC3E}">
        <p14:creationId xmlns:p14="http://schemas.microsoft.com/office/powerpoint/2010/main" val="31858603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TextEdit="1"/>
          </p:cNvSpPr>
          <p:nvPr>
            <p:ph type="sldImg"/>
          </p:nvPr>
        </p:nvSpPr>
        <p:spPr bwMode="auto">
          <a:noFill/>
          <a:ln>
            <a:solidFill>
              <a:srgbClr val="000000"/>
            </a:solidFill>
            <a:miter lim="800000"/>
            <a:headEnd/>
            <a:tailEnd/>
          </a:ln>
        </p:spPr>
      </p:sp>
      <p:sp>
        <p:nvSpPr>
          <p:cNvPr id="82947"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Source: ITC</a:t>
            </a:r>
          </a:p>
          <a:p>
            <a:endParaRPr lang="en-US" dirty="0">
              <a:solidFill>
                <a:srgbClr val="FF9900"/>
              </a:solidFill>
            </a:endParaRPr>
          </a:p>
          <a:p>
            <a:r>
              <a:rPr lang="en-US" dirty="0">
                <a:solidFill>
                  <a:srgbClr val="FF9900"/>
                </a:solidFill>
              </a:rPr>
              <a:t>Aggravating factors:</a:t>
            </a:r>
            <a:r>
              <a:rPr lang="en-US" baseline="0" dirty="0">
                <a:solidFill>
                  <a:srgbClr val="FF9900"/>
                </a:solidFill>
              </a:rPr>
              <a:t> Degraded Environment, urbanization, population explosion, etc.</a:t>
            </a:r>
            <a:endParaRPr lang="en-US" dirty="0"/>
          </a:p>
        </p:txBody>
      </p:sp>
    </p:spTree>
    <p:extLst>
      <p:ext uri="{BB962C8B-B14F-4D97-AF65-F5344CB8AC3E}">
        <p14:creationId xmlns:p14="http://schemas.microsoft.com/office/powerpoint/2010/main" val="3806891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Cees</a:t>
            </a:r>
            <a:r>
              <a:rPr lang="en-US" baseline="0" dirty="0"/>
              <a:t> Van </a:t>
            </a:r>
            <a:r>
              <a:rPr lang="en-US" baseline="0" dirty="0" err="1"/>
              <a:t>Westen</a:t>
            </a:r>
            <a:endParaRPr lang="en-US" baseline="0" dirty="0"/>
          </a:p>
          <a:p>
            <a:r>
              <a:rPr lang="en-US" dirty="0"/>
              <a:t>Data: (base data from which information related to risk can be derived e.g. soil data, DEM, landuse/land cover, social/economical, hydrological conditions, building footprints, building heights, road networks, etc.)</a:t>
            </a:r>
          </a:p>
          <a:p>
            <a:r>
              <a:rPr lang="en-US" dirty="0"/>
              <a:t>Lack of base data may impose problem in modeling risk. </a:t>
            </a:r>
          </a:p>
        </p:txBody>
      </p:sp>
      <p:sp>
        <p:nvSpPr>
          <p:cNvPr id="4" name="Slide Number Placeholder 3"/>
          <p:cNvSpPr>
            <a:spLocks noGrp="1"/>
          </p:cNvSpPr>
          <p:nvPr>
            <p:ph type="sldNum" sz="quarter" idx="10"/>
          </p:nvPr>
        </p:nvSpPr>
        <p:spPr/>
        <p:txBody>
          <a:bodyPr/>
          <a:lstStyle/>
          <a:p>
            <a:fld id="{B4C16532-E105-44E2-B08E-C34A3B92E644}" type="slidenum">
              <a:rPr lang="en-US" smtClean="0"/>
              <a:pPr/>
              <a:t>17</a:t>
            </a:fld>
            <a:endParaRPr lang="en-US"/>
          </a:p>
        </p:txBody>
      </p:sp>
    </p:spTree>
    <p:extLst>
      <p:ext uri="{BB962C8B-B14F-4D97-AF65-F5344CB8AC3E}">
        <p14:creationId xmlns:p14="http://schemas.microsoft.com/office/powerpoint/2010/main" val="2183447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8992FB-2E8B-4333-B600-846756F97F52}" type="slidenum">
              <a:rPr lang="en-US" smtClean="0"/>
              <a:t>18</a:t>
            </a:fld>
            <a:endParaRPr lang="en-US"/>
          </a:p>
        </p:txBody>
      </p:sp>
    </p:spTree>
    <p:extLst>
      <p:ext uri="{BB962C8B-B14F-4D97-AF65-F5344CB8AC3E}">
        <p14:creationId xmlns:p14="http://schemas.microsoft.com/office/powerpoint/2010/main" val="4262876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ITC</a:t>
            </a:r>
          </a:p>
        </p:txBody>
      </p:sp>
      <p:sp>
        <p:nvSpPr>
          <p:cNvPr id="4" name="Slide Number Placeholder 3"/>
          <p:cNvSpPr>
            <a:spLocks noGrp="1"/>
          </p:cNvSpPr>
          <p:nvPr>
            <p:ph type="sldNum" sz="quarter" idx="10"/>
          </p:nvPr>
        </p:nvSpPr>
        <p:spPr/>
        <p:txBody>
          <a:bodyPr/>
          <a:lstStyle/>
          <a:p>
            <a:pPr>
              <a:defRPr/>
            </a:pPr>
            <a:fld id="{2C4C3319-E67D-4219-B8BC-450202CA461F}" type="slidenum">
              <a:rPr lang="en-US" smtClean="0"/>
              <a:pPr>
                <a:defRPr/>
              </a:pPr>
              <a:t>19</a:t>
            </a:fld>
            <a:endParaRPr lang="en-US"/>
          </a:p>
        </p:txBody>
      </p:sp>
    </p:spTree>
    <p:extLst>
      <p:ext uri="{BB962C8B-B14F-4D97-AF65-F5344CB8AC3E}">
        <p14:creationId xmlns:p14="http://schemas.microsoft.com/office/powerpoint/2010/main" val="4225296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ITC</a:t>
            </a:r>
          </a:p>
        </p:txBody>
      </p:sp>
      <p:sp>
        <p:nvSpPr>
          <p:cNvPr id="4" name="Slide Number Placeholder 3"/>
          <p:cNvSpPr>
            <a:spLocks noGrp="1"/>
          </p:cNvSpPr>
          <p:nvPr>
            <p:ph type="sldNum" sz="quarter" idx="10"/>
          </p:nvPr>
        </p:nvSpPr>
        <p:spPr/>
        <p:txBody>
          <a:bodyPr/>
          <a:lstStyle/>
          <a:p>
            <a:pPr>
              <a:defRPr/>
            </a:pPr>
            <a:fld id="{2C4C3319-E67D-4219-B8BC-450202CA461F}" type="slidenum">
              <a:rPr lang="en-US" smtClean="0"/>
              <a:pPr>
                <a:defRPr/>
              </a:pPr>
              <a:t>20</a:t>
            </a:fld>
            <a:endParaRPr lang="en-US"/>
          </a:p>
        </p:txBody>
      </p:sp>
    </p:spTree>
    <p:extLst>
      <p:ext uri="{BB962C8B-B14F-4D97-AF65-F5344CB8AC3E}">
        <p14:creationId xmlns:p14="http://schemas.microsoft.com/office/powerpoint/2010/main" val="1186861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ITC</a:t>
            </a:r>
          </a:p>
        </p:txBody>
      </p:sp>
      <p:sp>
        <p:nvSpPr>
          <p:cNvPr id="4" name="Slide Number Placeholder 3"/>
          <p:cNvSpPr>
            <a:spLocks noGrp="1"/>
          </p:cNvSpPr>
          <p:nvPr>
            <p:ph type="sldNum" sz="quarter" idx="10"/>
          </p:nvPr>
        </p:nvSpPr>
        <p:spPr/>
        <p:txBody>
          <a:bodyPr/>
          <a:lstStyle/>
          <a:p>
            <a:fld id="{928992FB-2E8B-4333-B600-846756F97F52}" type="slidenum">
              <a:rPr lang="en-US" smtClean="0"/>
              <a:t>21</a:t>
            </a:fld>
            <a:endParaRPr lang="en-US"/>
          </a:p>
        </p:txBody>
      </p:sp>
    </p:spTree>
    <p:extLst>
      <p:ext uri="{BB962C8B-B14F-4D97-AF65-F5344CB8AC3E}">
        <p14:creationId xmlns:p14="http://schemas.microsoft.com/office/powerpoint/2010/main" val="1935264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TextEdit="1"/>
          </p:cNvSpPr>
          <p:nvPr>
            <p:ph type="sldImg"/>
          </p:nvPr>
        </p:nvSpPr>
        <p:spPr bwMode="auto">
          <a:noFill/>
          <a:ln>
            <a:solidFill>
              <a:srgbClr val="000000"/>
            </a:solidFill>
            <a:miter lim="800000"/>
            <a:headEnd/>
            <a:tailEnd/>
          </a:ln>
        </p:spPr>
      </p:sp>
      <p:sp>
        <p:nvSpPr>
          <p:cNvPr id="87043" name="Rectangle 3"/>
          <p:cNvSpPr>
            <a:spLocks noGrp="1"/>
          </p:cNvSpPr>
          <p:nvPr>
            <p:ph type="body" idx="1"/>
          </p:nvPr>
        </p:nvSpPr>
        <p:spPr bwMode="auto">
          <a:noFill/>
        </p:spPr>
        <p:txBody>
          <a:bodyPr wrap="square" numCol="1" anchor="t" anchorCtr="0" compatLnSpc="1">
            <a:prstTxWarp prst="textNoShape">
              <a:avLst/>
            </a:prstTxWarp>
          </a:bodyPr>
          <a:lstStyle/>
          <a:p>
            <a:r>
              <a:rPr lang="en-US" dirty="0"/>
              <a:t>ITC</a:t>
            </a:r>
          </a:p>
          <a:p>
            <a:r>
              <a:rPr lang="en-US" dirty="0"/>
              <a:t>A = Very High Risk</a:t>
            </a:r>
          </a:p>
          <a:p>
            <a:r>
              <a:rPr lang="en-US" dirty="0"/>
              <a:t>B= High</a:t>
            </a:r>
          </a:p>
          <a:p>
            <a:r>
              <a:rPr lang="en-US" dirty="0"/>
              <a:t>C = Medium</a:t>
            </a:r>
          </a:p>
          <a:p>
            <a:r>
              <a:rPr lang="en-US" dirty="0"/>
              <a:t>D = Low Risk</a:t>
            </a:r>
          </a:p>
        </p:txBody>
      </p:sp>
    </p:spTree>
    <p:extLst>
      <p:ext uri="{BB962C8B-B14F-4D97-AF65-F5344CB8AC3E}">
        <p14:creationId xmlns:p14="http://schemas.microsoft.com/office/powerpoint/2010/main" val="30740599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RP = </a:t>
            </a:r>
            <a:r>
              <a:rPr lang="en-US"/>
              <a:t>Return Period</a:t>
            </a:r>
          </a:p>
        </p:txBody>
      </p:sp>
      <p:sp>
        <p:nvSpPr>
          <p:cNvPr id="4" name="Slide Number Placeholder 3"/>
          <p:cNvSpPr>
            <a:spLocks noGrp="1"/>
          </p:cNvSpPr>
          <p:nvPr>
            <p:ph type="sldNum" sz="quarter" idx="10"/>
          </p:nvPr>
        </p:nvSpPr>
        <p:spPr/>
        <p:txBody>
          <a:bodyPr/>
          <a:lstStyle/>
          <a:p>
            <a:pPr>
              <a:defRPr/>
            </a:pPr>
            <a:fld id="{2C4C3319-E67D-4219-B8BC-450202CA461F}" type="slidenum">
              <a:rPr lang="en-US" smtClean="0"/>
              <a:pPr>
                <a:defRPr/>
              </a:pPr>
              <a:t>24</a:t>
            </a:fld>
            <a:endParaRPr lang="en-US"/>
          </a:p>
        </p:txBody>
      </p:sp>
    </p:spTree>
    <p:extLst>
      <p:ext uri="{BB962C8B-B14F-4D97-AF65-F5344CB8AC3E}">
        <p14:creationId xmlns:p14="http://schemas.microsoft.com/office/powerpoint/2010/main" val="2634913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Expected degree of loss = risk</a:t>
            </a:r>
          </a:p>
          <a:p>
            <a:r>
              <a:rPr lang="en-US" dirty="0"/>
              <a:t>2 years RP – </a:t>
            </a:r>
            <a:r>
              <a:rPr lang="en-US" dirty="0" err="1"/>
              <a:t>prob</a:t>
            </a:r>
            <a:r>
              <a:rPr lang="en-US" dirty="0"/>
              <a:t> or hazard = ½ = 0.5</a:t>
            </a:r>
          </a:p>
          <a:p>
            <a:r>
              <a:rPr lang="en-US" dirty="0"/>
              <a:t>10 years RP – </a:t>
            </a:r>
            <a:r>
              <a:rPr lang="en-US" dirty="0" err="1"/>
              <a:t>prob</a:t>
            </a:r>
            <a:r>
              <a:rPr lang="en-US" dirty="0"/>
              <a:t> = 1/10 = 0.1</a:t>
            </a:r>
          </a:p>
          <a:p>
            <a:r>
              <a:rPr lang="en-US" dirty="0"/>
              <a:t>50 years RP – </a:t>
            </a:r>
            <a:r>
              <a:rPr lang="en-US" dirty="0" err="1"/>
              <a:t>prob</a:t>
            </a:r>
            <a:r>
              <a:rPr lang="en-US" dirty="0"/>
              <a:t> = 1/50 = 0.02</a:t>
            </a:r>
          </a:p>
        </p:txBody>
      </p:sp>
      <p:sp>
        <p:nvSpPr>
          <p:cNvPr id="4" name="Slide Number Placeholder 3"/>
          <p:cNvSpPr>
            <a:spLocks noGrp="1"/>
          </p:cNvSpPr>
          <p:nvPr>
            <p:ph type="sldNum" sz="quarter" idx="10"/>
          </p:nvPr>
        </p:nvSpPr>
        <p:spPr/>
        <p:txBody>
          <a:bodyPr/>
          <a:lstStyle/>
          <a:p>
            <a:pPr>
              <a:defRPr/>
            </a:pPr>
            <a:fld id="{2C4C3319-E67D-4219-B8BC-450202CA461F}" type="slidenum">
              <a:rPr lang="en-US" smtClean="0"/>
              <a:pPr>
                <a:defRPr/>
              </a:pPr>
              <a:t>26</a:t>
            </a:fld>
            <a:endParaRPr lang="en-US"/>
          </a:p>
        </p:txBody>
      </p:sp>
    </p:spTree>
    <p:extLst>
      <p:ext uri="{BB962C8B-B14F-4D97-AF65-F5344CB8AC3E}">
        <p14:creationId xmlns:p14="http://schemas.microsoft.com/office/powerpoint/2010/main" val="3113212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Multi-Hazard Risk Assessment is very complicated</a:t>
            </a:r>
          </a:p>
        </p:txBody>
      </p:sp>
      <p:sp>
        <p:nvSpPr>
          <p:cNvPr id="4" name="Slide Number Placeholder 3"/>
          <p:cNvSpPr>
            <a:spLocks noGrp="1"/>
          </p:cNvSpPr>
          <p:nvPr>
            <p:ph type="sldNum" sz="quarter" idx="10"/>
          </p:nvPr>
        </p:nvSpPr>
        <p:spPr/>
        <p:txBody>
          <a:bodyPr/>
          <a:lstStyle/>
          <a:p>
            <a:pPr>
              <a:defRPr/>
            </a:pPr>
            <a:fld id="{2C4C3319-E67D-4219-B8BC-450202CA461F}" type="slidenum">
              <a:rPr lang="en-US" smtClean="0"/>
              <a:pPr>
                <a:defRPr/>
              </a:pPr>
              <a:t>28</a:t>
            </a:fld>
            <a:endParaRPr lang="en-US"/>
          </a:p>
        </p:txBody>
      </p:sp>
    </p:spTree>
    <p:extLst>
      <p:ext uri="{BB962C8B-B14F-4D97-AF65-F5344CB8AC3E}">
        <p14:creationId xmlns:p14="http://schemas.microsoft.com/office/powerpoint/2010/main" val="2996601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See more on </a:t>
            </a:r>
            <a:r>
              <a:rPr lang="en-US" dirty="0" err="1"/>
              <a:t>Westen</a:t>
            </a:r>
            <a:r>
              <a:rPr lang="en-US" dirty="0"/>
              <a:t> Guidebook 01</a:t>
            </a:r>
          </a:p>
        </p:txBody>
      </p:sp>
      <p:sp>
        <p:nvSpPr>
          <p:cNvPr id="4" name="Slide Number Placeholder 3"/>
          <p:cNvSpPr>
            <a:spLocks noGrp="1"/>
          </p:cNvSpPr>
          <p:nvPr>
            <p:ph type="sldNum" sz="quarter" idx="10"/>
          </p:nvPr>
        </p:nvSpPr>
        <p:spPr/>
        <p:txBody>
          <a:bodyPr/>
          <a:lstStyle/>
          <a:p>
            <a:fld id="{C60EE01A-58DE-438A-A466-C59D8D10EF96}" type="slidenum">
              <a:rPr lang="en-US" smtClean="0"/>
              <a:pPr/>
              <a:t>35</a:t>
            </a:fld>
            <a:endParaRPr lang="en-US"/>
          </a:p>
        </p:txBody>
      </p:sp>
    </p:spTree>
    <p:extLst>
      <p:ext uri="{BB962C8B-B14F-4D97-AF65-F5344CB8AC3E}">
        <p14:creationId xmlns:p14="http://schemas.microsoft.com/office/powerpoint/2010/main" val="175855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p:cNvSpPr>
          <p:nvPr>
            <p:ph type="sldImg"/>
          </p:nvPr>
        </p:nvSpPr>
        <p:spPr bwMode="auto">
          <a:noFill/>
          <a:ln>
            <a:solidFill>
              <a:srgbClr val="000000"/>
            </a:solidFill>
            <a:miter lim="800000"/>
            <a:headEnd/>
            <a:tailEnd/>
          </a:ln>
        </p:spPr>
      </p:sp>
      <p:sp>
        <p:nvSpPr>
          <p:cNvPr id="419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en-US"/>
              <a:t>Capacity of people/community and environment</a:t>
            </a:r>
          </a:p>
          <a:p>
            <a:pPr eaLnBrk="1" hangingPunct="1">
              <a:spcBef>
                <a:spcPct val="0"/>
              </a:spcBef>
            </a:pPr>
            <a:r>
              <a:rPr lang="en-US"/>
              <a:t>Example of Vulnerability: poor people can not construct strong houses and there more susceptible to hazard of a hazard.</a:t>
            </a:r>
          </a:p>
          <a:p>
            <a:pPr eaLnBrk="1" hangingPunct="1">
              <a:spcBef>
                <a:spcPct val="0"/>
              </a:spcBef>
            </a:pPr>
            <a:r>
              <a:rPr lang="en-US"/>
              <a:t>Capacity: Rich people have more resources and hence have capacity to recover from a disaster's impact. (resources, means, and strength to recover from a disaster)</a:t>
            </a:r>
          </a:p>
        </p:txBody>
      </p:sp>
      <p:sp>
        <p:nvSpPr>
          <p:cNvPr id="41987"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1F9B8B0-C2B3-4C86-AF5A-24C2F6ECE7D1}" type="slidenum">
              <a:rPr lang="en-US">
                <a:cs typeface="Arial" charset="0"/>
              </a:rPr>
              <a:pPr fontAlgn="base">
                <a:spcBef>
                  <a:spcPct val="0"/>
                </a:spcBef>
                <a:spcAft>
                  <a:spcPct val="0"/>
                </a:spcAft>
                <a:defRPr/>
              </a:pPr>
              <a:t>37</a:t>
            </a:fld>
            <a:endParaRPr lang="en-US">
              <a:cs typeface="Arial" charset="0"/>
            </a:endParaRPr>
          </a:p>
        </p:txBody>
      </p:sp>
    </p:spTree>
    <p:extLst>
      <p:ext uri="{BB962C8B-B14F-4D97-AF65-F5344CB8AC3E}">
        <p14:creationId xmlns:p14="http://schemas.microsoft.com/office/powerpoint/2010/main" val="786933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Slide Number Placeholder 3"/>
          <p:cNvSpPr>
            <a:spLocks noGrp="1"/>
          </p:cNvSpPr>
          <p:nvPr>
            <p:ph type="sldNum" sz="quarter" idx="5"/>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A78E7F1-2175-408D-9170-25913252F555}" type="slidenum">
              <a:rPr lang="en-US" altLang="en-US">
                <a:latin typeface="Calibri" panose="020F0502020204030204" pitchFamily="34" charset="0"/>
              </a:rPr>
              <a:pPr eaLnBrk="1" hangingPunct="1"/>
              <a:t>38</a:t>
            </a:fld>
            <a:endParaRPr lang="en-US" altLang="en-US">
              <a:latin typeface="Calibri" panose="020F0502020204030204" pitchFamily="34" charset="0"/>
            </a:endParaRPr>
          </a:p>
        </p:txBody>
      </p:sp>
    </p:spTree>
    <p:extLst>
      <p:ext uri="{BB962C8B-B14F-4D97-AF65-F5344CB8AC3E}">
        <p14:creationId xmlns:p14="http://schemas.microsoft.com/office/powerpoint/2010/main" val="226170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1A24191-3119-4055-8527-AC31014A0EE5}"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85970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lang="en-US" sz="4000" b="1" kern="1200" spc="-100" dirty="0">
                <a:ln>
                  <a:noFill/>
                </a:ln>
                <a:solidFill>
                  <a:srgbClr val="0000CC"/>
                </a:solidFill>
                <a:latin typeface="Comic Sans MS" panose="030F0702030302020204" pitchFamily="66" charset="0"/>
                <a:ea typeface="+mj-ea"/>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lang="en-US" sz="3200" kern="1200" dirty="0" smtClean="0">
                <a:solidFill>
                  <a:schemeClr val="tx1"/>
                </a:solidFill>
                <a:latin typeface="Comic Sans MS" panose="030F0702030302020204" pitchFamily="66" charset="0"/>
                <a:ea typeface="+mn-ea"/>
                <a:cs typeface="Arial" panose="020B0604020202020204" pitchFamily="34" charset="0"/>
              </a:defRPr>
            </a:lvl1pPr>
            <a:lvl2pPr>
              <a:spcBef>
                <a:spcPts val="1200"/>
              </a:spcBef>
              <a:defRPr>
                <a:latin typeface="Comic Sans MS" panose="030F0702030302020204" pitchFamily="66" charset="0"/>
              </a:defRPr>
            </a:lvl2pPr>
            <a:lvl3pPr>
              <a:spcBef>
                <a:spcPts val="1200"/>
              </a:spcBef>
              <a:defRPr>
                <a:latin typeface="Comic Sans MS" panose="030F0702030302020204" pitchFamily="66" charset="0"/>
              </a:defRPr>
            </a:lvl3pPr>
            <a:lvl4pPr>
              <a:spcBef>
                <a:spcPts val="1200"/>
              </a:spcBef>
              <a:defRPr>
                <a:latin typeface="Comic Sans MS" panose="030F0702030302020204" pitchFamily="66" charset="0"/>
              </a:defRPr>
            </a:lvl4pPr>
            <a:lvl5pPr>
              <a:spcBef>
                <a:spcPts val="1200"/>
              </a:spcBef>
              <a:defRPr>
                <a:latin typeface="Comic Sans MS" panose="030F0702030302020204" pitchFamily="66"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934057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1A24191-3119-4055-8527-AC31014A0EE5}"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3982417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A24191-3119-4055-8527-AC31014A0EE5}"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34259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1A24191-3119-4055-8527-AC31014A0EE5}"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029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1A24191-3119-4055-8527-AC31014A0EE5}"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673765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A24191-3119-4055-8527-AC31014A0EE5}"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01302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A24191-3119-4055-8527-AC31014A0EE5}"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668281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A24191-3119-4055-8527-AC31014A0EE5}"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1546824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2883347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A24191-3119-4055-8527-AC31014A0EE5}"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76C314-45B1-47C5-8966-54BDB8DF2284}" type="slidenum">
              <a:rPr lang="en-US" smtClean="0"/>
              <a:t>‹#›</a:t>
            </a:fld>
            <a:endParaRPr lang="en-US"/>
          </a:p>
        </p:txBody>
      </p:sp>
    </p:spTree>
    <p:extLst>
      <p:ext uri="{BB962C8B-B14F-4D97-AF65-F5344CB8AC3E}">
        <p14:creationId xmlns:p14="http://schemas.microsoft.com/office/powerpoint/2010/main" val="41384441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983786"/>
      </p:ext>
    </p:extLst>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A24191-3119-4055-8527-AC31014A0EE5}" type="datetimeFigureOut">
              <a:rPr lang="en-US" smtClean="0"/>
              <a:t>9/15/2026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6C314-45B1-47C5-8966-54BDB8DF2284}" type="slidenum">
              <a:rPr lang="en-US" smtClean="0"/>
              <a:t>‹#›</a:t>
            </a:fld>
            <a:endParaRPr lang="en-US"/>
          </a:p>
        </p:txBody>
      </p:sp>
    </p:spTree>
    <p:extLst>
      <p:ext uri="{BB962C8B-B14F-4D97-AF65-F5344CB8AC3E}">
        <p14:creationId xmlns:p14="http://schemas.microsoft.com/office/powerpoint/2010/main" val="336878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6"/>
          <p:cNvPicPr>
            <a:picLocks noChangeAspect="1" noChangeArrowheads="1"/>
          </p:cNvPicPr>
          <p:nvPr/>
        </p:nvPicPr>
        <p:blipFill rotWithShape="1">
          <a:blip r:embed="rId3" cstate="print"/>
          <a:srcRect l="33364" t="12753" r="30727" b="79135"/>
          <a:stretch/>
        </p:blipFill>
        <p:spPr bwMode="auto">
          <a:xfrm>
            <a:off x="94343" y="6184314"/>
            <a:ext cx="11908971" cy="625098"/>
          </a:xfrm>
          <a:prstGeom prst="rect">
            <a:avLst/>
          </a:prstGeom>
          <a:gradFill>
            <a:gsLst>
              <a:gs pos="0">
                <a:schemeClr val="bg2">
                  <a:tint val="75000"/>
                  <a:satMod val="400000"/>
                </a:schemeClr>
              </a:gs>
              <a:gs pos="100000">
                <a:schemeClr val="accent1">
                  <a:lumMod val="75000"/>
                </a:schemeClr>
              </a:gs>
              <a:gs pos="100000">
                <a:schemeClr val="bg2">
                  <a:tint val="95000"/>
                  <a:shade val="55000"/>
                  <a:satMod val="355000"/>
                </a:schemeClr>
              </a:gs>
            </a:gsLst>
            <a:path path="circle">
              <a:fillToRect l="67500" t="35000" r="32500" b="65000"/>
            </a:path>
          </a:gradFill>
          <a:ln>
            <a:noFill/>
          </a:ln>
          <a:effectLst>
            <a:outerShdw blurRad="50800" dir="21540000" sx="1000" sy="1000" algn="ctr" rotWithShape="0">
              <a:srgbClr val="000000">
                <a:alpha val="0"/>
              </a:srgbClr>
            </a:outerShdw>
          </a:effectLst>
        </p:spPr>
      </p:pic>
      <p:sp>
        <p:nvSpPr>
          <p:cNvPr id="14339" name="Rectangle 18"/>
          <p:cNvSpPr>
            <a:spLocks noChangeArrowheads="1"/>
          </p:cNvSpPr>
          <p:nvPr/>
        </p:nvSpPr>
        <p:spPr bwMode="auto">
          <a:xfrm>
            <a:off x="1524000" y="6243638"/>
            <a:ext cx="7391400" cy="461962"/>
          </a:xfrm>
          <a:prstGeom prst="rect">
            <a:avLst/>
          </a:prstGeom>
          <a:noFill/>
          <a:ln w="9525">
            <a:noFill/>
            <a:miter lim="800000"/>
            <a:headEnd/>
            <a:tailEnd/>
          </a:ln>
        </p:spPr>
        <p:txBody>
          <a:bodyPr>
            <a:spAutoFit/>
          </a:bodyPr>
          <a:lstStyle/>
          <a:p>
            <a:pPr eaLnBrk="0" hangingPunct="0">
              <a:defRPr/>
            </a:pPr>
            <a:r>
              <a:rPr lang="en-US" sz="2400" b="1" dirty="0">
                <a:solidFill>
                  <a:srgbClr val="FFFF00"/>
                </a:solidFill>
                <a:latin typeface="+mj-lt"/>
                <a:cs typeface="Times New Roman" pitchFamily="18" charset="0"/>
              </a:rPr>
              <a:t>US – Pakistan Center for Advanced Studies in Water</a:t>
            </a:r>
          </a:p>
        </p:txBody>
      </p:sp>
      <p:sp>
        <p:nvSpPr>
          <p:cNvPr id="20" name="Content Placeholder 24"/>
          <p:cNvSpPr txBox="1">
            <a:spLocks/>
          </p:cNvSpPr>
          <p:nvPr/>
        </p:nvSpPr>
        <p:spPr>
          <a:xfrm>
            <a:off x="2590800" y="76200"/>
            <a:ext cx="6629400" cy="554038"/>
          </a:xfrm>
          <a:prstGeom prst="rect">
            <a:avLst/>
          </a:prstGeom>
          <a:solidFill>
            <a:schemeClr val="tx2">
              <a:lumMod val="50000"/>
            </a:schemeClr>
          </a:solidFill>
        </p:spPr>
        <p:txBody>
          <a:bodyPr>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spcBef>
                <a:spcPts val="1200"/>
              </a:spcBef>
              <a:spcAft>
                <a:spcPts val="1200"/>
              </a:spcAft>
              <a:buNone/>
              <a:defRPr/>
            </a:pPr>
            <a:r>
              <a:rPr lang="en-US" sz="3000" b="1" dirty="0">
                <a:solidFill>
                  <a:schemeClr val="bg1"/>
                </a:solidFill>
                <a:latin typeface="+mj-lt"/>
                <a:cs typeface="Times New Roman" pitchFamily="18" charset="0"/>
              </a:rPr>
              <a:t>Hazards Planning and Risk Management</a:t>
            </a:r>
          </a:p>
        </p:txBody>
      </p:sp>
      <p:sp>
        <p:nvSpPr>
          <p:cNvPr id="9" name="Content Placeholder 24"/>
          <p:cNvSpPr txBox="1">
            <a:spLocks/>
          </p:cNvSpPr>
          <p:nvPr/>
        </p:nvSpPr>
        <p:spPr>
          <a:xfrm>
            <a:off x="1657000" y="667007"/>
            <a:ext cx="9024450" cy="1077218"/>
          </a:xfrm>
          <a:prstGeom prst="rect">
            <a:avLst/>
          </a:prstGeom>
          <a:noFill/>
          <a:effectLst>
            <a:outerShdw dist="50800" dir="5400000" sx="1000" sy="1000" algn="ctr" rotWithShape="0">
              <a:srgbClr val="000000">
                <a:alpha val="43137"/>
              </a:srgbClr>
            </a:outerShdw>
          </a:effectLst>
        </p:spPr>
        <p:txBody>
          <a:bodyPr wrap="square">
            <a:sp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lgn="ctr">
              <a:buNone/>
              <a:defRPr/>
            </a:pPr>
            <a:r>
              <a:rPr lang="en-US" altLang="zh-CN" sz="3600" b="1" dirty="0">
                <a:solidFill>
                  <a:srgbClr val="FF0000"/>
                </a:solidFill>
              </a:rPr>
              <a:t>Risk </a:t>
            </a:r>
            <a:r>
              <a:rPr lang="en-US" altLang="zh-CN" sz="3600" b="1" dirty="0">
                <a:solidFill>
                  <a:srgbClr val="9650B2"/>
                </a:solidFill>
              </a:rPr>
              <a:t>Analysis and Assessment</a:t>
            </a:r>
            <a:endParaRPr lang="en-US" sz="2800" b="1" dirty="0">
              <a:solidFill>
                <a:srgbClr val="9650B2"/>
              </a:solidFill>
              <a:latin typeface="+mj-lt"/>
              <a:cs typeface="Times New Roman" pitchFamily="18" charset="0"/>
            </a:endParaRPr>
          </a:p>
          <a:p>
            <a:pPr marL="0" indent="0" algn="ctr">
              <a:buNone/>
              <a:defRPr/>
            </a:pPr>
            <a:r>
              <a:rPr lang="en-US" sz="2800" b="1" dirty="0">
                <a:latin typeface="+mj-lt"/>
                <a:cs typeface="Times New Roman" pitchFamily="18" charset="0"/>
              </a:rPr>
              <a:t>Fall 2026</a:t>
            </a:r>
          </a:p>
        </p:txBody>
      </p:sp>
      <p:pic>
        <p:nvPicPr>
          <p:cNvPr id="4102" name="Picture 17" descr="MUET approved monogram WHITE"/>
          <p:cNvPicPr>
            <a:picLocks noChangeAspect="1" noChangeArrowheads="1"/>
          </p:cNvPicPr>
          <p:nvPr/>
        </p:nvPicPr>
        <p:blipFill>
          <a:blip r:embed="rId4">
            <a:extLst>
              <a:ext uri="{28A0092B-C50C-407E-A947-70E740481C1C}">
                <a14:useLocalDpi xmlns:a14="http://schemas.microsoft.com/office/drawing/2010/main" val="0"/>
              </a:ext>
            </a:extLst>
          </a:blip>
          <a:srcRect t="5371"/>
          <a:stretch>
            <a:fillRect/>
          </a:stretch>
        </p:blipFill>
        <p:spPr bwMode="auto">
          <a:xfrm>
            <a:off x="1562100" y="60326"/>
            <a:ext cx="952500"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2" descr="http://cache.pakistantoday.com.pk/2012/10/USAID.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5764" y="0"/>
            <a:ext cx="1392237"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4" name="Group 16"/>
          <p:cNvGrpSpPr>
            <a:grpSpLocks/>
          </p:cNvGrpSpPr>
          <p:nvPr/>
        </p:nvGrpSpPr>
        <p:grpSpPr bwMode="auto">
          <a:xfrm>
            <a:off x="8991600" y="6324601"/>
            <a:ext cx="1449388" cy="492125"/>
            <a:chOff x="5562600" y="4841875"/>
            <a:chExt cx="3125788" cy="747713"/>
          </a:xfrm>
        </p:grpSpPr>
        <p:pic>
          <p:nvPicPr>
            <p:cNvPr id="4114" name="Picture 7" descr="C:\Users\Burian\Data\Research\USAID_PCASW\Branding and Marking\Logos\UU\all-U-logos\ulogo_horizontal1\UlogoHv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62600" y="4872038"/>
              <a:ext cx="2085975"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15" name="Picture 1" descr="C:\Users\Dr Lashari\Desktop\MUET_Log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93050" y="4841875"/>
              <a:ext cx="79533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108" name="AutoShape 15"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09" name="AutoShape 17"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4110" name="AutoShape 19" descr="http://api.ning.com/files/TJkgTC4QyWCm*IymUusWHWUE*SetkLmD*6**S0AU0DHE93VoeMw-YnDDPibgyDBGq7IfR89wRDOlXWmEvv8wXS9-kpZfoBmI/_48862225_pakistan_floods_25aug_464.gif"/>
          <p:cNvSpPr>
            <a:spLocks noChangeAspect="1" noChangeArrowheads="1"/>
          </p:cNvSpPr>
          <p:nvPr/>
        </p:nvSpPr>
        <p:spPr bwMode="auto">
          <a:xfrm>
            <a:off x="1679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pic>
        <p:nvPicPr>
          <p:cNvPr id="2" name="Picture 1"/>
          <p:cNvPicPr>
            <a:picLocks noChangeAspect="1"/>
          </p:cNvPicPr>
          <p:nvPr/>
        </p:nvPicPr>
        <p:blipFill>
          <a:blip r:embed="rId8"/>
          <a:stretch>
            <a:fillRect/>
          </a:stretch>
        </p:blipFill>
        <p:spPr>
          <a:xfrm>
            <a:off x="1323975" y="2458102"/>
            <a:ext cx="9620250" cy="3500477"/>
          </a:xfrm>
          <a:prstGeom prst="rect">
            <a:avLst/>
          </a:prstGeom>
        </p:spPr>
      </p:pic>
    </p:spTree>
    <p:extLst>
      <p:ext uri="{BB962C8B-B14F-4D97-AF65-F5344CB8AC3E}">
        <p14:creationId xmlns:p14="http://schemas.microsoft.com/office/powerpoint/2010/main" val="2371668815"/>
      </p:ext>
    </p:extLst>
  </p:cSld>
  <p:clrMapOvr>
    <a:masterClrMapping/>
  </p:clrMapOvr>
  <p:transition spd="slow">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a:solidFill>
              <a:srgbClr val="B17064"/>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965430" y="629268"/>
            <a:ext cx="6586491" cy="1286160"/>
          </a:xfrm>
        </p:spPr>
        <p:txBody>
          <a:bodyPr anchor="b">
            <a:normAutofit/>
          </a:bodyPr>
          <a:lstStyle/>
          <a:p>
            <a:pPr algn="ctr"/>
            <a:r>
              <a:rPr lang="en-US" sz="4000" b="1" spc="-100">
                <a:solidFill>
                  <a:srgbClr val="0000CC"/>
                </a:solidFill>
                <a:latin typeface="Comic Sans MS" panose="030F0702030302020204" pitchFamily="66" charset="0"/>
                <a:cs typeface="Arial" panose="020B0604020202020204" pitchFamily="34" charset="0"/>
              </a:rPr>
              <a:t>Learning Outcome</a:t>
            </a:r>
            <a:endParaRPr lang="en-US" sz="4000" b="1" spc="-100" dirty="0">
              <a:solidFill>
                <a:srgbClr val="0000CC"/>
              </a:solidFill>
              <a:latin typeface="Comic Sans MS" panose="030F0702030302020204" pitchFamily="66" charset="0"/>
              <a:cs typeface="Arial" panose="020B0604020202020204" pitchFamily="34" charset="0"/>
            </a:endParaRPr>
          </a:p>
        </p:txBody>
      </p:sp>
      <p:pic>
        <p:nvPicPr>
          <p:cNvPr id="6" name="Picture 5"/>
          <p:cNvPicPr>
            <a:picLocks noChangeAspect="1"/>
          </p:cNvPicPr>
          <p:nvPr/>
        </p:nvPicPr>
        <p:blipFill rotWithShape="1">
          <a:blip r:embed="rId3"/>
          <a:srcRect l="18064"/>
          <a:stretch/>
        </p:blipFill>
        <p:spPr>
          <a:xfrm>
            <a:off x="340242" y="353907"/>
            <a:ext cx="5112172" cy="6239223"/>
          </a:xfrm>
          <a:prstGeom prst="rect">
            <a:avLst/>
          </a:prstGeom>
        </p:spPr>
      </p:pic>
      <p:sp>
        <p:nvSpPr>
          <p:cNvPr id="3" name="Content Placeholder 2"/>
          <p:cNvSpPr>
            <a:spLocks noGrp="1"/>
          </p:cNvSpPr>
          <p:nvPr>
            <p:ph idx="1"/>
          </p:nvPr>
        </p:nvSpPr>
        <p:spPr>
          <a:xfrm>
            <a:off x="4795520" y="2438400"/>
            <a:ext cx="7240535" cy="3785419"/>
          </a:xfrm>
        </p:spPr>
        <p:txBody>
          <a:bodyPr>
            <a:normAutofit/>
          </a:bodyPr>
          <a:lstStyle/>
          <a:p>
            <a:pPr marL="0" indent="0">
              <a:lnSpc>
                <a:spcPct val="150000"/>
              </a:lnSpc>
              <a:buNone/>
            </a:pPr>
            <a:r>
              <a:rPr lang="en-US" dirty="0"/>
              <a:t>Students will </a:t>
            </a:r>
            <a:r>
              <a:rPr lang="en-US" u="sng" dirty="0">
                <a:solidFill>
                  <a:schemeClr val="accent1">
                    <a:lumMod val="50000"/>
                  </a:schemeClr>
                </a:solidFill>
              </a:rPr>
              <a:t>Learn </a:t>
            </a:r>
            <a:r>
              <a:rPr lang="en-US" dirty="0"/>
              <a:t>how to analyze and assess disaster related risks</a:t>
            </a:r>
          </a:p>
        </p:txBody>
      </p:sp>
    </p:spTree>
    <p:extLst>
      <p:ext uri="{BB962C8B-B14F-4D97-AF65-F5344CB8AC3E}">
        <p14:creationId xmlns:p14="http://schemas.microsoft.com/office/powerpoint/2010/main" val="105512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Reading Material</a:t>
            </a:r>
          </a:p>
        </p:txBody>
      </p:sp>
      <p:sp>
        <p:nvSpPr>
          <p:cNvPr id="3" name="Content Placeholder 2"/>
          <p:cNvSpPr>
            <a:spLocks noGrp="1"/>
          </p:cNvSpPr>
          <p:nvPr>
            <p:ph idx="1"/>
          </p:nvPr>
        </p:nvSpPr>
        <p:spPr/>
        <p:txBody>
          <a:bodyPr/>
          <a:lstStyle/>
          <a:p>
            <a:pPr>
              <a:lnSpc>
                <a:spcPct val="100000"/>
              </a:lnSpc>
              <a:spcAft>
                <a:spcPts val="1200"/>
              </a:spcAft>
            </a:pPr>
            <a:r>
              <a:rPr lang="en-US" dirty="0"/>
              <a:t>Dr. Cees </a:t>
            </a:r>
            <a:r>
              <a:rPr lang="en-US" dirty="0" err="1"/>
              <a:t>Westen</a:t>
            </a:r>
            <a:r>
              <a:rPr lang="en-US" dirty="0"/>
              <a:t> (ITC) Guide Book 01 (pdf provided)</a:t>
            </a:r>
          </a:p>
        </p:txBody>
      </p:sp>
    </p:spTree>
    <p:extLst>
      <p:ext uri="{BB962C8B-B14F-4D97-AF65-F5344CB8AC3E}">
        <p14:creationId xmlns:p14="http://schemas.microsoft.com/office/powerpoint/2010/main" val="759738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72193" y="348500"/>
            <a:ext cx="10515600" cy="1325563"/>
          </a:xfrm>
        </p:spPr>
        <p:txBody>
          <a:bodyPr anchor="ctr">
            <a:normAutofit/>
          </a:bodyPr>
          <a:lstStyle/>
          <a:p>
            <a:pPr>
              <a:defRPr/>
            </a:pPr>
            <a:r>
              <a:rPr lang="en-US" sz="4000" b="1" spc="-100" dirty="0">
                <a:solidFill>
                  <a:srgbClr val="0000CC"/>
                </a:solidFill>
                <a:latin typeface="Comic Sans MS" panose="030F0702030302020204" pitchFamily="66" charset="0"/>
                <a:cs typeface="Arial" panose="020B0604020202020204" pitchFamily="34" charset="0"/>
              </a:rPr>
              <a:t>Recap - Risk?</a:t>
            </a:r>
          </a:p>
        </p:txBody>
      </p:sp>
      <p:sp>
        <p:nvSpPr>
          <p:cNvPr id="17410" name="Content Placeholder 2"/>
          <p:cNvSpPr>
            <a:spLocks noGrp="1"/>
          </p:cNvSpPr>
          <p:nvPr>
            <p:ph idx="4294967295"/>
          </p:nvPr>
        </p:nvSpPr>
        <p:spPr>
          <a:xfrm>
            <a:off x="572193" y="1674063"/>
            <a:ext cx="11281756" cy="4826490"/>
          </a:xfrm>
        </p:spPr>
        <p:txBody>
          <a:bodyPr>
            <a:normAutofit lnSpcReduction="10000"/>
          </a:bodyPr>
          <a:lstStyle/>
          <a:p>
            <a:pPr marL="365125" indent="-282575">
              <a:lnSpc>
                <a:spcPct val="114000"/>
              </a:lnSpc>
              <a:spcBef>
                <a:spcPts val="600"/>
              </a:spcBef>
              <a:spcAft>
                <a:spcPts val="600"/>
              </a:spcAft>
            </a:pPr>
            <a:r>
              <a:rPr lang="en-US" dirty="0">
                <a:latin typeface="Comic Sans MS" panose="030F0702030302020204" pitchFamily="66" charset="0"/>
              </a:rPr>
              <a:t>Probability that </a:t>
            </a:r>
            <a:r>
              <a:rPr lang="en-US" u="sng" dirty="0">
                <a:solidFill>
                  <a:srgbClr val="FF0000"/>
                </a:solidFill>
                <a:latin typeface="Comic Sans MS" panose="030F0702030302020204" pitchFamily="66" charset="0"/>
              </a:rPr>
              <a:t>loss</a:t>
            </a:r>
            <a:r>
              <a:rPr lang="en-US" dirty="0">
                <a:latin typeface="Comic Sans MS" panose="030F0702030302020204" pitchFamily="66" charset="0"/>
              </a:rPr>
              <a:t> will occur as the result of an adverse event, given the </a:t>
            </a:r>
            <a:r>
              <a:rPr lang="en-US" u="sng" dirty="0">
                <a:solidFill>
                  <a:srgbClr val="FF0000"/>
                </a:solidFill>
                <a:latin typeface="Comic Sans MS" panose="030F0702030302020204" pitchFamily="66" charset="0"/>
              </a:rPr>
              <a:t>hazard</a:t>
            </a:r>
            <a:r>
              <a:rPr lang="en-US" dirty="0">
                <a:latin typeface="Comic Sans MS" panose="030F0702030302020204" pitchFamily="66" charset="0"/>
              </a:rPr>
              <a:t> and the </a:t>
            </a:r>
            <a:r>
              <a:rPr lang="en-US" u="sng" dirty="0">
                <a:solidFill>
                  <a:srgbClr val="FF0000"/>
                </a:solidFill>
                <a:latin typeface="Comic Sans MS" panose="030F0702030302020204" pitchFamily="66" charset="0"/>
              </a:rPr>
              <a:t>vulnerability</a:t>
            </a:r>
          </a:p>
          <a:p>
            <a:pPr marL="365125" indent="-282575">
              <a:lnSpc>
                <a:spcPct val="114000"/>
              </a:lnSpc>
              <a:spcBef>
                <a:spcPts val="600"/>
              </a:spcBef>
              <a:spcAft>
                <a:spcPts val="600"/>
              </a:spcAft>
            </a:pPr>
            <a:r>
              <a:rPr lang="en-US" dirty="0">
                <a:latin typeface="Comic Sans MS" panose="030F0702030302020204" pitchFamily="66" charset="0"/>
              </a:rPr>
              <a:t>What is at Risk? – consequence of Hazards</a:t>
            </a:r>
          </a:p>
          <a:p>
            <a:pPr marL="639763" lvl="1" indent="-236538">
              <a:lnSpc>
                <a:spcPct val="114000"/>
              </a:lnSpc>
              <a:spcBef>
                <a:spcPts val="600"/>
              </a:spcBef>
              <a:spcAft>
                <a:spcPts val="600"/>
              </a:spcAft>
            </a:pPr>
            <a:r>
              <a:rPr lang="en-US" dirty="0">
                <a:solidFill>
                  <a:srgbClr val="2D2DD5"/>
                </a:solidFill>
                <a:latin typeface="Comic Sans MS" panose="030F0702030302020204" pitchFamily="66" charset="0"/>
              </a:rPr>
              <a:t>Personal Injury</a:t>
            </a:r>
          </a:p>
          <a:p>
            <a:pPr marL="639763" lvl="1" indent="-236538">
              <a:lnSpc>
                <a:spcPct val="114000"/>
              </a:lnSpc>
              <a:spcBef>
                <a:spcPts val="600"/>
              </a:spcBef>
              <a:spcAft>
                <a:spcPts val="600"/>
              </a:spcAft>
            </a:pPr>
            <a:r>
              <a:rPr lang="en-US" dirty="0">
                <a:solidFill>
                  <a:srgbClr val="2D2DD5"/>
                </a:solidFill>
                <a:latin typeface="Comic Sans MS" panose="030F0702030302020204" pitchFamily="66" charset="0"/>
              </a:rPr>
              <a:t>Destruction of property</a:t>
            </a:r>
          </a:p>
          <a:p>
            <a:pPr marL="885825" lvl="2">
              <a:lnSpc>
                <a:spcPct val="114000"/>
              </a:lnSpc>
              <a:spcBef>
                <a:spcPts val="600"/>
              </a:spcBef>
              <a:spcAft>
                <a:spcPts val="600"/>
              </a:spcAft>
            </a:pPr>
            <a:r>
              <a:rPr lang="en-US" dirty="0">
                <a:solidFill>
                  <a:srgbClr val="9650B2"/>
                </a:solidFill>
                <a:latin typeface="Comic Sans MS" panose="030F0702030302020204" pitchFamily="66" charset="0"/>
              </a:rPr>
              <a:t>Poor building material and maintenance </a:t>
            </a:r>
          </a:p>
          <a:p>
            <a:pPr marL="639763" lvl="1" indent="-236538">
              <a:lnSpc>
                <a:spcPct val="114000"/>
              </a:lnSpc>
              <a:spcBef>
                <a:spcPts val="600"/>
              </a:spcBef>
              <a:spcAft>
                <a:spcPts val="600"/>
              </a:spcAft>
            </a:pPr>
            <a:r>
              <a:rPr lang="en-US" dirty="0">
                <a:solidFill>
                  <a:srgbClr val="2D2DD5"/>
                </a:solidFill>
                <a:latin typeface="Comic Sans MS" panose="030F0702030302020204" pitchFamily="66" charset="0"/>
              </a:rPr>
              <a:t>Damage to local economy</a:t>
            </a:r>
          </a:p>
          <a:p>
            <a:pPr marL="639763" lvl="1" indent="-236538">
              <a:lnSpc>
                <a:spcPct val="114000"/>
              </a:lnSpc>
              <a:spcBef>
                <a:spcPts val="600"/>
              </a:spcBef>
              <a:spcAft>
                <a:spcPts val="600"/>
              </a:spcAft>
            </a:pPr>
            <a:r>
              <a:rPr lang="en-US" dirty="0">
                <a:solidFill>
                  <a:srgbClr val="2D2DD5"/>
                </a:solidFill>
                <a:latin typeface="Comic Sans MS" panose="030F0702030302020204" pitchFamily="66" charset="0"/>
              </a:rPr>
              <a:t>Opportunity Loss: </a:t>
            </a:r>
          </a:p>
          <a:p>
            <a:pPr marL="1096963" lvl="2" indent="-236538">
              <a:lnSpc>
                <a:spcPct val="114000"/>
              </a:lnSpc>
              <a:spcBef>
                <a:spcPts val="600"/>
              </a:spcBef>
              <a:spcAft>
                <a:spcPts val="600"/>
              </a:spcAft>
            </a:pPr>
            <a:r>
              <a:rPr lang="en-US" dirty="0">
                <a:solidFill>
                  <a:srgbClr val="2D2DD5"/>
                </a:solidFill>
                <a:latin typeface="Comic Sans MS" panose="030F0702030302020204" pitchFamily="66" charset="0"/>
              </a:rPr>
              <a:t>diversion of economic resources to recovery efforts</a:t>
            </a:r>
          </a:p>
          <a:p>
            <a:pPr marL="639763" lvl="1" indent="-236538">
              <a:lnSpc>
                <a:spcPct val="114000"/>
              </a:lnSpc>
              <a:spcBef>
                <a:spcPts val="600"/>
              </a:spcBef>
              <a:spcAft>
                <a:spcPts val="600"/>
              </a:spcAft>
            </a:pPr>
            <a:endParaRPr lang="en-US" dirty="0">
              <a:latin typeface="Comic Sans MS" panose="030F0702030302020204" pitchFamily="66" charset="0"/>
            </a:endParaRPr>
          </a:p>
          <a:p>
            <a:pPr marL="639763" lvl="1" indent="-236538">
              <a:lnSpc>
                <a:spcPct val="114000"/>
              </a:lnSpc>
              <a:spcBef>
                <a:spcPts val="600"/>
              </a:spcBef>
              <a:spcAft>
                <a:spcPts val="600"/>
              </a:spcAft>
            </a:pPr>
            <a:endParaRPr lang="en-US" dirty="0">
              <a:latin typeface="Comic Sans MS" panose="030F0702030302020204" pitchFamily="66" charset="0"/>
            </a:endParaRPr>
          </a:p>
        </p:txBody>
      </p:sp>
    </p:spTree>
    <p:extLst>
      <p:ext uri="{BB962C8B-B14F-4D97-AF65-F5344CB8AC3E}">
        <p14:creationId xmlns:p14="http://schemas.microsoft.com/office/powerpoint/2010/main" val="3109531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4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0">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410">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4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nSpc>
                <a:spcPct val="150000"/>
              </a:lnSpc>
              <a:buNone/>
            </a:pPr>
            <a:r>
              <a:rPr lang="en-US" dirty="0">
                <a:solidFill>
                  <a:schemeClr val="accent2">
                    <a:lumMod val="50000"/>
                  </a:schemeClr>
                </a:solidFill>
              </a:rPr>
              <a:t>Risks can also be prioritized according to the acceptability of the population at risk.</a:t>
            </a:r>
          </a:p>
          <a:p>
            <a:pPr marL="0" indent="0">
              <a:lnSpc>
                <a:spcPct val="150000"/>
              </a:lnSpc>
              <a:buNone/>
            </a:pPr>
            <a:r>
              <a:rPr lang="en-US" dirty="0"/>
              <a:t>How? </a:t>
            </a:r>
          </a:p>
        </p:txBody>
      </p:sp>
    </p:spTree>
    <p:extLst>
      <p:ext uri="{BB962C8B-B14F-4D97-AF65-F5344CB8AC3E}">
        <p14:creationId xmlns:p14="http://schemas.microsoft.com/office/powerpoint/2010/main" val="313495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2"/>
          <p:cNvPicPr>
            <a:picLocks noChangeAspect="1" noChangeArrowheads="1"/>
          </p:cNvPicPr>
          <p:nvPr/>
        </p:nvPicPr>
        <p:blipFill>
          <a:blip r:embed="rId3" cstate="print"/>
          <a:srcRect l="4395" t="34180" r="6250" b="17969"/>
          <a:stretch>
            <a:fillRect/>
          </a:stretch>
        </p:blipFill>
        <p:spPr bwMode="auto">
          <a:xfrm>
            <a:off x="1084674" y="897776"/>
            <a:ext cx="10047400" cy="5590892"/>
          </a:xfrm>
          <a:prstGeom prst="rect">
            <a:avLst/>
          </a:prstGeom>
          <a:noFill/>
          <a:ln w="9525">
            <a:noFill/>
            <a:miter lim="800000"/>
            <a:headEnd/>
            <a:tailEnd/>
          </a:ln>
        </p:spPr>
      </p:pic>
      <p:sp>
        <p:nvSpPr>
          <p:cNvPr id="19458" name="Title 2"/>
          <p:cNvSpPr>
            <a:spLocks noGrp="1"/>
          </p:cNvSpPr>
          <p:nvPr>
            <p:ph type="title" idx="4294967295"/>
          </p:nvPr>
        </p:nvSpPr>
        <p:spPr>
          <a:xfrm>
            <a:off x="1033550" y="228600"/>
            <a:ext cx="8229600" cy="669176"/>
          </a:xfrm>
        </p:spPr>
        <p:txBody>
          <a:bodyPr>
            <a:normAutofit/>
          </a:bodyPr>
          <a:lstStyle/>
          <a:p>
            <a:pPr algn="ctr"/>
            <a:r>
              <a:rPr lang="en-US" sz="4000" b="1" spc="-100" dirty="0">
                <a:solidFill>
                  <a:srgbClr val="0000CC"/>
                </a:solidFill>
                <a:latin typeface="Comic Sans MS" panose="030F0702030302020204" pitchFamily="66" charset="0"/>
                <a:cs typeface="Arial" panose="020B0604020202020204" pitchFamily="34" charset="0"/>
              </a:rPr>
              <a:t>Risk and Risk Assessment</a:t>
            </a:r>
          </a:p>
        </p:txBody>
      </p:sp>
      <p:sp>
        <p:nvSpPr>
          <p:cNvPr id="2" name="TextBox 1"/>
          <p:cNvSpPr txBox="1"/>
          <p:nvPr/>
        </p:nvSpPr>
        <p:spPr>
          <a:xfrm>
            <a:off x="9263150" y="6488668"/>
            <a:ext cx="3458095" cy="369332"/>
          </a:xfrm>
          <a:prstGeom prst="rect">
            <a:avLst/>
          </a:prstGeom>
          <a:noFill/>
        </p:spPr>
        <p:txBody>
          <a:bodyPr wrap="square" rtlCol="0">
            <a:spAutoFit/>
          </a:bodyPr>
          <a:lstStyle/>
          <a:p>
            <a:r>
              <a:rPr lang="en-US" dirty="0"/>
              <a:t>Dr. Cees </a:t>
            </a:r>
            <a:r>
              <a:rPr lang="en-US" dirty="0" err="1"/>
              <a:t>Westen</a:t>
            </a:r>
            <a:r>
              <a:rPr lang="en-US" dirty="0"/>
              <a:t> (ITC) slides </a:t>
            </a:r>
          </a:p>
        </p:txBody>
      </p:sp>
    </p:spTree>
    <p:extLst>
      <p:ext uri="{BB962C8B-B14F-4D97-AF65-F5344CB8AC3E}">
        <p14:creationId xmlns:p14="http://schemas.microsoft.com/office/powerpoint/2010/main" val="348339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545440" y="76781"/>
            <a:ext cx="7101120" cy="6704438"/>
          </a:xfrm>
          <a:prstGeom prst="rect">
            <a:avLst/>
          </a:prstGeom>
        </p:spPr>
      </p:pic>
    </p:spTree>
    <p:extLst>
      <p:ext uri="{BB962C8B-B14F-4D97-AF65-F5344CB8AC3E}">
        <p14:creationId xmlns:p14="http://schemas.microsoft.com/office/powerpoint/2010/main" val="3074104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idx="4294967295"/>
          </p:nvPr>
        </p:nvSpPr>
        <p:spPr/>
        <p:txBody>
          <a:bodyPr>
            <a:normAutofit/>
          </a:bodyPr>
          <a:lstStyle/>
          <a:p>
            <a:r>
              <a:rPr lang="en-US" sz="4000" b="1" spc="-100" dirty="0">
                <a:solidFill>
                  <a:srgbClr val="0000CC"/>
                </a:solidFill>
                <a:latin typeface="Comic Sans MS" panose="030F0702030302020204" pitchFamily="66" charset="0"/>
                <a:cs typeface="Arial" panose="020B0604020202020204" pitchFamily="34" charset="0"/>
              </a:rPr>
              <a:t>Risk = Probability of Losses</a:t>
            </a:r>
          </a:p>
        </p:txBody>
      </p:sp>
      <p:sp>
        <p:nvSpPr>
          <p:cNvPr id="25602" name="Content Placeholder 2"/>
          <p:cNvSpPr>
            <a:spLocks noGrp="1"/>
          </p:cNvSpPr>
          <p:nvPr>
            <p:ph sz="quarter" idx="4294967295"/>
          </p:nvPr>
        </p:nvSpPr>
        <p:spPr>
          <a:xfrm>
            <a:off x="838199" y="1837631"/>
            <a:ext cx="11082251" cy="4712797"/>
          </a:xfrm>
        </p:spPr>
        <p:txBody>
          <a:bodyPr>
            <a:normAutofit/>
          </a:bodyPr>
          <a:lstStyle/>
          <a:p>
            <a:pPr algn="ctr">
              <a:lnSpc>
                <a:spcPct val="100000"/>
              </a:lnSpc>
              <a:buFont typeface="Wingdings 3" pitchFamily="18" charset="2"/>
              <a:buNone/>
            </a:pPr>
            <a:r>
              <a:rPr lang="en-US" sz="2400" dirty="0">
                <a:latin typeface="Comic Sans MS" panose="030F0702030302020204" pitchFamily="66" charset="0"/>
              </a:rPr>
              <a:t>Risk = Hazard * Vulnerability * Amount of elements-at-risk</a:t>
            </a:r>
          </a:p>
          <a:p>
            <a:pPr algn="ctr">
              <a:lnSpc>
                <a:spcPct val="100000"/>
              </a:lnSpc>
              <a:buFont typeface="Wingdings 3" pitchFamily="18" charset="2"/>
              <a:buNone/>
            </a:pPr>
            <a:r>
              <a:rPr lang="en-US" sz="2400" dirty="0">
                <a:latin typeface="Comic Sans MS" panose="030F0702030302020204" pitchFamily="66" charset="0"/>
              </a:rPr>
              <a:t>Or</a:t>
            </a:r>
          </a:p>
          <a:p>
            <a:pPr algn="ctr">
              <a:lnSpc>
                <a:spcPct val="100000"/>
              </a:lnSpc>
              <a:buFont typeface="Wingdings 3" pitchFamily="18" charset="2"/>
              <a:buNone/>
            </a:pPr>
            <a:r>
              <a:rPr lang="en-US" sz="2400" dirty="0">
                <a:latin typeface="Comic Sans MS" panose="030F0702030302020204" pitchFamily="66" charset="0"/>
              </a:rPr>
              <a:t>Risk = Hazard * Vulnerability / Capacity</a:t>
            </a:r>
          </a:p>
          <a:p>
            <a:pPr algn="ctr">
              <a:lnSpc>
                <a:spcPct val="100000"/>
              </a:lnSpc>
              <a:buFont typeface="Wingdings 3" pitchFamily="18" charset="2"/>
              <a:buNone/>
            </a:pPr>
            <a:endParaRPr lang="en-US" sz="2400" dirty="0">
              <a:latin typeface="Comic Sans MS" panose="030F0702030302020204" pitchFamily="66" charset="0"/>
            </a:endParaRPr>
          </a:p>
          <a:p>
            <a:pPr>
              <a:lnSpc>
                <a:spcPct val="100000"/>
              </a:lnSpc>
            </a:pPr>
            <a:r>
              <a:rPr lang="en-US" sz="2400" b="1" dirty="0">
                <a:latin typeface="Comic Sans MS" panose="030F0702030302020204" pitchFamily="66" charset="0"/>
              </a:rPr>
              <a:t>Capacity = </a:t>
            </a:r>
            <a:r>
              <a:rPr lang="en-US" sz="2400" dirty="0">
                <a:latin typeface="Comic Sans MS" panose="030F0702030302020204" pitchFamily="66" charset="0"/>
              </a:rPr>
              <a:t>Expresses the positive managerial and operational resources and procedures for reducing risk factors</a:t>
            </a:r>
          </a:p>
          <a:p>
            <a:pPr lvl="1">
              <a:lnSpc>
                <a:spcPct val="100000"/>
              </a:lnSpc>
              <a:spcBef>
                <a:spcPts val="1200"/>
              </a:spcBef>
              <a:buNone/>
            </a:pPr>
            <a:r>
              <a:rPr lang="en-US" dirty="0">
                <a:solidFill>
                  <a:srgbClr val="9650B2"/>
                </a:solidFill>
                <a:latin typeface="Comic Sans MS" panose="030F0702030302020204" pitchFamily="66" charset="0"/>
              </a:rPr>
              <a:t>Examples:</a:t>
            </a:r>
          </a:p>
          <a:p>
            <a:pPr lvl="1">
              <a:lnSpc>
                <a:spcPct val="100000"/>
              </a:lnSpc>
            </a:pPr>
            <a:r>
              <a:rPr lang="en-US" dirty="0">
                <a:solidFill>
                  <a:srgbClr val="0070C0"/>
                </a:solidFill>
                <a:latin typeface="Comic Sans MS" panose="030F0702030302020204" pitchFamily="66" charset="0"/>
              </a:rPr>
              <a:t>awareness raising</a:t>
            </a:r>
          </a:p>
          <a:p>
            <a:pPr lvl="1">
              <a:lnSpc>
                <a:spcPct val="100000"/>
              </a:lnSpc>
            </a:pPr>
            <a:r>
              <a:rPr lang="en-US" dirty="0">
                <a:solidFill>
                  <a:srgbClr val="0070C0"/>
                </a:solidFill>
                <a:latin typeface="Comic Sans MS" panose="030F0702030302020204" pitchFamily="66" charset="0"/>
              </a:rPr>
              <a:t>early warning</a:t>
            </a:r>
          </a:p>
          <a:p>
            <a:pPr lvl="1">
              <a:lnSpc>
                <a:spcPct val="100000"/>
              </a:lnSpc>
            </a:pPr>
            <a:r>
              <a:rPr lang="en-US" dirty="0">
                <a:solidFill>
                  <a:srgbClr val="0070C0"/>
                </a:solidFill>
                <a:latin typeface="Comic Sans MS" panose="030F0702030302020204" pitchFamily="66" charset="0"/>
              </a:rPr>
              <a:t>preparedness planning</a:t>
            </a:r>
          </a:p>
          <a:p>
            <a:pPr>
              <a:lnSpc>
                <a:spcPct val="100000"/>
              </a:lnSpc>
              <a:buFont typeface="Wingdings 3" pitchFamily="18" charset="2"/>
              <a:buNone/>
            </a:pPr>
            <a:endParaRPr lang="en-US" sz="2400" dirty="0">
              <a:latin typeface="Comic Sans MS" panose="030F0702030302020204" pitchFamily="66" charset="0"/>
            </a:endParaRPr>
          </a:p>
        </p:txBody>
      </p:sp>
    </p:spTree>
    <p:extLst>
      <p:ext uri="{BB962C8B-B14F-4D97-AF65-F5344CB8AC3E}">
        <p14:creationId xmlns:p14="http://schemas.microsoft.com/office/powerpoint/2010/main" val="2441769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2">
                                            <p:txEl>
                                              <p:pRg st="6" end="6"/>
                                            </p:txEl>
                                          </p:spTgt>
                                        </p:tgtEl>
                                        <p:attrNameLst>
                                          <p:attrName>style.visibility</p:attrName>
                                        </p:attrNameLst>
                                      </p:cBhvr>
                                      <p:to>
                                        <p:strVal val="visible"/>
                                      </p:to>
                                    </p:set>
                                    <p:anim calcmode="lin" valueType="num">
                                      <p:cBhvr additive="base">
                                        <p:cTn id="7" dur="500" fill="hold"/>
                                        <p:tgtEl>
                                          <p:spTgt spid="25602">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2">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2">
                                            <p:txEl>
                                              <p:pRg st="7" end="7"/>
                                            </p:txEl>
                                          </p:spTgt>
                                        </p:tgtEl>
                                        <p:attrNameLst>
                                          <p:attrName>style.visibility</p:attrName>
                                        </p:attrNameLst>
                                      </p:cBhvr>
                                      <p:to>
                                        <p:strVal val="visible"/>
                                      </p:to>
                                    </p:set>
                                    <p:anim calcmode="lin" valueType="num">
                                      <p:cBhvr additive="base">
                                        <p:cTn id="11" dur="500" fill="hold"/>
                                        <p:tgtEl>
                                          <p:spTgt spid="25602">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2">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602">
                                            <p:txEl>
                                              <p:pRg st="8" end="8"/>
                                            </p:txEl>
                                          </p:spTgt>
                                        </p:tgtEl>
                                        <p:attrNameLst>
                                          <p:attrName>style.visibility</p:attrName>
                                        </p:attrNameLst>
                                      </p:cBhvr>
                                      <p:to>
                                        <p:strVal val="visible"/>
                                      </p:to>
                                    </p:set>
                                    <p:anim calcmode="lin" valueType="num">
                                      <p:cBhvr additive="base">
                                        <p:cTn id="15" dur="500" fill="hold"/>
                                        <p:tgtEl>
                                          <p:spTgt spid="25602">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60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idx="4294967295"/>
          </p:nvPr>
        </p:nvSpPr>
        <p:spPr>
          <a:xfrm>
            <a:off x="838200" y="365125"/>
            <a:ext cx="10515600" cy="829193"/>
          </a:xfrm>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Hazard Risk Assessment</a:t>
            </a:r>
          </a:p>
        </p:txBody>
      </p:sp>
      <p:sp>
        <p:nvSpPr>
          <p:cNvPr id="62467" name="Content Placeholder 2"/>
          <p:cNvSpPr>
            <a:spLocks noGrp="1"/>
          </p:cNvSpPr>
          <p:nvPr>
            <p:ph sz="quarter" idx="4294967295"/>
          </p:nvPr>
        </p:nvSpPr>
        <p:spPr>
          <a:xfrm>
            <a:off x="838200" y="1492898"/>
            <a:ext cx="10806404" cy="5094513"/>
          </a:xfrm>
        </p:spPr>
        <p:txBody>
          <a:bodyPr>
            <a:normAutofit fontScale="85000" lnSpcReduction="10000"/>
          </a:bodyPr>
          <a:lstStyle/>
          <a:p>
            <a:pPr eaLnBrk="1" hangingPunct="1">
              <a:lnSpc>
                <a:spcPct val="110000"/>
              </a:lnSpc>
              <a:spcAft>
                <a:spcPts val="1200"/>
              </a:spcAft>
            </a:pPr>
            <a:r>
              <a:rPr lang="en-US" sz="3200" dirty="0">
                <a:latin typeface="Comic Sans MS" panose="030F0702030302020204" pitchFamily="66" charset="0"/>
              </a:rPr>
              <a:t>Process by which </a:t>
            </a:r>
            <a:r>
              <a:rPr lang="en-US" sz="3200" dirty="0">
                <a:solidFill>
                  <a:srgbClr val="FF0000"/>
                </a:solidFill>
                <a:latin typeface="Comic Sans MS" panose="030F0702030302020204" pitchFamily="66" charset="0"/>
              </a:rPr>
              <a:t>threat</a:t>
            </a:r>
            <a:r>
              <a:rPr lang="en-US" sz="3200" dirty="0">
                <a:latin typeface="Comic Sans MS" panose="030F0702030302020204" pitchFamily="66" charset="0"/>
              </a:rPr>
              <a:t> posed by </a:t>
            </a:r>
            <a:r>
              <a:rPr lang="en-US" sz="3200" u="sng" dirty="0">
                <a:latin typeface="Comic Sans MS" panose="030F0702030302020204" pitchFamily="66" charset="0"/>
              </a:rPr>
              <a:t>each identified hazard is investigated.</a:t>
            </a:r>
          </a:p>
          <a:p>
            <a:pPr eaLnBrk="1" hangingPunct="1">
              <a:lnSpc>
                <a:spcPct val="110000"/>
              </a:lnSpc>
              <a:spcAft>
                <a:spcPts val="1200"/>
              </a:spcAft>
            </a:pPr>
            <a:r>
              <a:rPr lang="en-US" sz="3200" u="sng" dirty="0">
                <a:solidFill>
                  <a:schemeClr val="accent1">
                    <a:lumMod val="50000"/>
                  </a:schemeClr>
                </a:solidFill>
                <a:latin typeface="Comic Sans MS" panose="030F0702030302020204" pitchFamily="66" charset="0"/>
              </a:rPr>
              <a:t>Risk depends </a:t>
            </a:r>
            <a:r>
              <a:rPr lang="en-US" sz="3200" dirty="0">
                <a:latin typeface="Comic Sans MS" panose="030F0702030302020204" pitchFamily="66" charset="0"/>
              </a:rPr>
              <a:t>on </a:t>
            </a:r>
            <a:r>
              <a:rPr lang="en-US" sz="3200" u="sng" dirty="0">
                <a:solidFill>
                  <a:srgbClr val="C00000"/>
                </a:solidFill>
                <a:latin typeface="Comic Sans MS" panose="030F0702030302020204" pitchFamily="66" charset="0"/>
              </a:rPr>
              <a:t>Hazard likelihood </a:t>
            </a:r>
            <a:r>
              <a:rPr lang="en-US" sz="3200" dirty="0">
                <a:latin typeface="Comic Sans MS" panose="030F0702030302020204" pitchFamily="66" charset="0"/>
              </a:rPr>
              <a:t>and </a:t>
            </a:r>
            <a:r>
              <a:rPr lang="en-US" sz="3200" u="sng" dirty="0">
                <a:solidFill>
                  <a:srgbClr val="C00000"/>
                </a:solidFill>
                <a:latin typeface="Comic Sans MS" panose="030F0702030302020204" pitchFamily="66" charset="0"/>
              </a:rPr>
              <a:t>hazard consequences.</a:t>
            </a:r>
          </a:p>
          <a:p>
            <a:pPr eaLnBrk="1" hangingPunct="1">
              <a:lnSpc>
                <a:spcPct val="110000"/>
              </a:lnSpc>
              <a:spcAft>
                <a:spcPts val="1200"/>
              </a:spcAft>
            </a:pPr>
            <a:r>
              <a:rPr lang="en-US" sz="3200" dirty="0">
                <a:latin typeface="Comic Sans MS" panose="030F0702030302020204" pitchFamily="66" charset="0"/>
              </a:rPr>
              <a:t>The above two (02) factors are constantly changing as a result of changing environment.</a:t>
            </a:r>
          </a:p>
          <a:p>
            <a:pPr eaLnBrk="1" hangingPunct="1">
              <a:lnSpc>
                <a:spcPct val="110000"/>
              </a:lnSpc>
              <a:spcAft>
                <a:spcPts val="1200"/>
              </a:spcAft>
            </a:pPr>
            <a:r>
              <a:rPr lang="en-US" sz="3200" dirty="0">
                <a:latin typeface="Comic Sans MS" panose="030F0702030302020204" pitchFamily="66" charset="0"/>
              </a:rPr>
              <a:t>High-likelihood/high-consequence hazards are of special consideration.</a:t>
            </a:r>
          </a:p>
          <a:p>
            <a:pPr eaLnBrk="1" hangingPunct="1">
              <a:lnSpc>
                <a:spcPct val="110000"/>
              </a:lnSpc>
              <a:spcAft>
                <a:spcPts val="1200"/>
              </a:spcAft>
            </a:pPr>
            <a:r>
              <a:rPr lang="en-US" sz="3200" dirty="0">
                <a:latin typeface="Comic Sans MS" panose="030F0702030302020204" pitchFamily="66" charset="0"/>
              </a:rPr>
              <a:t>A comprehensive </a:t>
            </a:r>
            <a:r>
              <a:rPr lang="en-US" sz="3200" u="sng" dirty="0">
                <a:latin typeface="Comic Sans MS" panose="030F0702030302020204" pitchFamily="66" charset="0"/>
              </a:rPr>
              <a:t>Risk Management Program </a:t>
            </a:r>
            <a:r>
              <a:rPr lang="en-US" sz="3200" dirty="0">
                <a:latin typeface="Comic Sans MS" panose="030F0702030302020204" pitchFamily="66" charset="0"/>
              </a:rPr>
              <a:t>can greatly reduce life and property losses.</a:t>
            </a:r>
          </a:p>
          <a:p>
            <a:pPr eaLnBrk="1" hangingPunct="1">
              <a:lnSpc>
                <a:spcPct val="110000"/>
              </a:lnSpc>
              <a:spcAft>
                <a:spcPts val="1200"/>
              </a:spcAft>
            </a:pPr>
            <a:endParaRPr lang="en-US" dirty="0"/>
          </a:p>
          <a:p>
            <a:pPr eaLnBrk="1" hangingPunct="1">
              <a:lnSpc>
                <a:spcPct val="110000"/>
              </a:lnSpc>
              <a:spcAft>
                <a:spcPts val="1200"/>
              </a:spcAft>
            </a:pPr>
            <a:endParaRPr lang="en-US" dirty="0"/>
          </a:p>
        </p:txBody>
      </p:sp>
    </p:spTree>
    <p:extLst>
      <p:ext uri="{BB962C8B-B14F-4D97-AF65-F5344CB8AC3E}">
        <p14:creationId xmlns:p14="http://schemas.microsoft.com/office/powerpoint/2010/main" val="814940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0"/>
            <a:ext cx="8229600" cy="457200"/>
          </a:xfrm>
        </p:spPr>
        <p:txBody>
          <a:bodyPr>
            <a:normAutofit/>
          </a:bodyPr>
          <a:lstStyle/>
          <a:p>
            <a:r>
              <a:rPr lang="en-IN" sz="2400" dirty="0"/>
              <a:t>RISK = HAZARD * VULNERABILITY * AMOUNT</a:t>
            </a:r>
          </a:p>
        </p:txBody>
      </p:sp>
      <p:sp>
        <p:nvSpPr>
          <p:cNvPr id="3" name="Content Placeholder 2"/>
          <p:cNvSpPr>
            <a:spLocks noGrp="1"/>
          </p:cNvSpPr>
          <p:nvPr>
            <p:ph sz="quarter" idx="1"/>
          </p:nvPr>
        </p:nvSpPr>
        <p:spPr>
          <a:xfrm>
            <a:off x="947651" y="1219200"/>
            <a:ext cx="10108276" cy="5497484"/>
          </a:xfrm>
        </p:spPr>
        <p:txBody>
          <a:bodyPr>
            <a:normAutofit fontScale="85000" lnSpcReduction="20000"/>
          </a:bodyPr>
          <a:lstStyle/>
          <a:p>
            <a:pPr>
              <a:lnSpc>
                <a:spcPct val="120000"/>
              </a:lnSpc>
            </a:pPr>
            <a:r>
              <a:rPr lang="en-IN" b="1" dirty="0"/>
              <a:t>Hazard </a:t>
            </a:r>
            <a:r>
              <a:rPr lang="en-IN" dirty="0"/>
              <a:t>= Probability of an event with a certain magnitude</a:t>
            </a:r>
          </a:p>
          <a:p>
            <a:pPr lvl="1">
              <a:lnSpc>
                <a:spcPct val="120000"/>
              </a:lnSpc>
            </a:pPr>
            <a:r>
              <a:rPr lang="en-IN" dirty="0">
                <a:solidFill>
                  <a:srgbClr val="0070C0"/>
                </a:solidFill>
              </a:rPr>
              <a:t>Triggering mechanism</a:t>
            </a:r>
          </a:p>
          <a:p>
            <a:pPr lvl="1">
              <a:lnSpc>
                <a:spcPct val="120000"/>
              </a:lnSpc>
            </a:pPr>
            <a:r>
              <a:rPr lang="en-IN" dirty="0">
                <a:solidFill>
                  <a:srgbClr val="0070C0"/>
                </a:solidFill>
              </a:rPr>
              <a:t>Type of event</a:t>
            </a:r>
          </a:p>
          <a:p>
            <a:pPr lvl="1">
              <a:lnSpc>
                <a:spcPct val="120000"/>
              </a:lnSpc>
              <a:spcAft>
                <a:spcPts val="600"/>
              </a:spcAft>
            </a:pPr>
            <a:r>
              <a:rPr lang="en-IN" dirty="0">
                <a:solidFill>
                  <a:srgbClr val="0070C0"/>
                </a:solidFill>
              </a:rPr>
              <a:t>Magnitude: Volume, distance, duration, speed, etc</a:t>
            </a:r>
          </a:p>
          <a:p>
            <a:pPr>
              <a:lnSpc>
                <a:spcPct val="120000"/>
              </a:lnSpc>
            </a:pPr>
            <a:r>
              <a:rPr lang="en-IN" b="1" dirty="0"/>
              <a:t>Vulnerability = </a:t>
            </a:r>
            <a:r>
              <a:rPr lang="en-IN" dirty="0"/>
              <a:t>Degree of damage. Function of:</a:t>
            </a:r>
          </a:p>
          <a:p>
            <a:pPr lvl="1">
              <a:lnSpc>
                <a:spcPct val="120000"/>
              </a:lnSpc>
            </a:pPr>
            <a:r>
              <a:rPr lang="en-IN" dirty="0">
                <a:solidFill>
                  <a:srgbClr val="0070C0"/>
                </a:solidFill>
              </a:rPr>
              <a:t>Magnitude of event, and</a:t>
            </a:r>
          </a:p>
          <a:p>
            <a:pPr lvl="1">
              <a:lnSpc>
                <a:spcPct val="120000"/>
              </a:lnSpc>
              <a:spcAft>
                <a:spcPts val="600"/>
              </a:spcAft>
            </a:pPr>
            <a:r>
              <a:rPr lang="en-IN" dirty="0">
                <a:solidFill>
                  <a:srgbClr val="0070C0"/>
                </a:solidFill>
              </a:rPr>
              <a:t>Type of elements at risk</a:t>
            </a:r>
          </a:p>
          <a:p>
            <a:pPr>
              <a:lnSpc>
                <a:spcPct val="120000"/>
              </a:lnSpc>
            </a:pPr>
            <a:r>
              <a:rPr lang="en-IN" b="1" dirty="0"/>
              <a:t>Amount = </a:t>
            </a:r>
            <a:r>
              <a:rPr lang="en-IN" dirty="0"/>
              <a:t>Quantification of the elements at risk, e.g.</a:t>
            </a:r>
          </a:p>
          <a:p>
            <a:pPr lvl="1">
              <a:lnSpc>
                <a:spcPct val="120000"/>
              </a:lnSpc>
            </a:pPr>
            <a:r>
              <a:rPr lang="en-IN" dirty="0">
                <a:solidFill>
                  <a:srgbClr val="0070C0"/>
                </a:solidFill>
              </a:rPr>
              <a:t>Replacement costs of buildings, infrastructure, etc.</a:t>
            </a:r>
          </a:p>
          <a:p>
            <a:pPr lvl="1">
              <a:lnSpc>
                <a:spcPct val="120000"/>
              </a:lnSpc>
            </a:pPr>
            <a:r>
              <a:rPr lang="en-IN" dirty="0">
                <a:solidFill>
                  <a:srgbClr val="0070C0"/>
                </a:solidFill>
              </a:rPr>
              <a:t>Loss of function or economic activities</a:t>
            </a:r>
          </a:p>
          <a:p>
            <a:pPr lvl="1">
              <a:lnSpc>
                <a:spcPct val="120000"/>
              </a:lnSpc>
            </a:pPr>
            <a:r>
              <a:rPr lang="en-IN" dirty="0">
                <a:solidFill>
                  <a:srgbClr val="0070C0"/>
                </a:solidFill>
              </a:rPr>
              <a:t>Number of people</a:t>
            </a:r>
          </a:p>
        </p:txBody>
      </p:sp>
    </p:spTree>
    <p:extLst>
      <p:ext uri="{BB962C8B-B14F-4D97-AF65-F5344CB8AC3E}">
        <p14:creationId xmlns:p14="http://schemas.microsoft.com/office/powerpoint/2010/main" val="1903314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Title 1"/>
          <p:cNvSpPr>
            <a:spLocks noGrp="1"/>
          </p:cNvSpPr>
          <p:nvPr>
            <p:ph type="title" idx="4294967295"/>
          </p:nvPr>
        </p:nvSpPr>
        <p:spPr>
          <a:xfrm>
            <a:off x="838200" y="0"/>
            <a:ext cx="10515600" cy="1325563"/>
          </a:xfrm>
        </p:spPr>
        <p:txBody>
          <a:bodyPr>
            <a:normAutofit/>
          </a:bodyPr>
          <a:lstStyle/>
          <a:p>
            <a:pPr eaLnBrk="1" hangingPunct="1"/>
            <a:r>
              <a:rPr lang="en-US" b="1" spc="-100" dirty="0">
                <a:solidFill>
                  <a:srgbClr val="0000CC"/>
                </a:solidFill>
                <a:latin typeface="Comic Sans MS" panose="030F0702030302020204" pitchFamily="66" charset="0"/>
                <a:cs typeface="Arial" panose="020B0604020202020204" pitchFamily="34" charset="0"/>
              </a:rPr>
              <a:t>Hazard Identification</a:t>
            </a:r>
          </a:p>
        </p:txBody>
      </p:sp>
      <p:sp>
        <p:nvSpPr>
          <p:cNvPr id="60419" name="Content Placeholder 2"/>
          <p:cNvSpPr>
            <a:spLocks noGrp="1"/>
          </p:cNvSpPr>
          <p:nvPr>
            <p:ph sz="quarter" idx="4294967295"/>
          </p:nvPr>
        </p:nvSpPr>
        <p:spPr>
          <a:xfrm>
            <a:off x="653143" y="1219199"/>
            <a:ext cx="11290041" cy="5442857"/>
          </a:xfrm>
        </p:spPr>
        <p:txBody>
          <a:bodyPr>
            <a:normAutofit/>
          </a:bodyPr>
          <a:lstStyle/>
          <a:p>
            <a:pPr eaLnBrk="1" hangingPunct="1">
              <a:lnSpc>
                <a:spcPct val="90000"/>
              </a:lnSpc>
            </a:pPr>
            <a:r>
              <a:rPr lang="en-US" sz="2400" dirty="0"/>
              <a:t>Identify all hazards that have affected or could affect the area of focus through</a:t>
            </a:r>
          </a:p>
          <a:p>
            <a:pPr lvl="1" eaLnBrk="1" hangingPunct="1">
              <a:lnSpc>
                <a:spcPct val="90000"/>
              </a:lnSpc>
            </a:pPr>
            <a:r>
              <a:rPr lang="en-US" dirty="0">
                <a:solidFill>
                  <a:srgbClr val="7030A0"/>
                </a:solidFill>
              </a:rPr>
              <a:t>Historical data</a:t>
            </a:r>
          </a:p>
          <a:p>
            <a:pPr lvl="1" eaLnBrk="1" hangingPunct="1">
              <a:lnSpc>
                <a:spcPct val="90000"/>
              </a:lnSpc>
            </a:pPr>
            <a:r>
              <a:rPr lang="en-US" dirty="0">
                <a:solidFill>
                  <a:srgbClr val="7030A0"/>
                </a:solidFill>
              </a:rPr>
              <a:t>Brainstorming</a:t>
            </a:r>
          </a:p>
          <a:p>
            <a:pPr lvl="1" eaLnBrk="1" hangingPunct="1">
              <a:lnSpc>
                <a:spcPct val="90000"/>
              </a:lnSpc>
            </a:pPr>
            <a:r>
              <a:rPr lang="en-US" dirty="0">
                <a:solidFill>
                  <a:srgbClr val="7030A0"/>
                </a:solidFill>
              </a:rPr>
              <a:t>Scientific analysis</a:t>
            </a:r>
          </a:p>
          <a:p>
            <a:pPr lvl="1" eaLnBrk="1" hangingPunct="1">
              <a:lnSpc>
                <a:spcPct val="90000"/>
              </a:lnSpc>
            </a:pPr>
            <a:r>
              <a:rPr lang="en-US" dirty="0">
                <a:solidFill>
                  <a:srgbClr val="7030A0"/>
                </a:solidFill>
              </a:rPr>
              <a:t>Subject matter expertise</a:t>
            </a:r>
          </a:p>
          <a:p>
            <a:pPr eaLnBrk="1" hangingPunct="1">
              <a:lnSpc>
                <a:spcPct val="90000"/>
              </a:lnSpc>
            </a:pPr>
            <a:r>
              <a:rPr lang="en-US" sz="2400" u="sng" dirty="0"/>
              <a:t>Hazard Profiling</a:t>
            </a:r>
            <a:r>
              <a:rPr lang="en-US" sz="2400" dirty="0"/>
              <a:t> is a component of hazard identification where all hazards in a study area are defined</a:t>
            </a:r>
          </a:p>
          <a:p>
            <a:pPr lvl="1" eaLnBrk="1" hangingPunct="1">
              <a:lnSpc>
                <a:spcPct val="90000"/>
              </a:lnSpc>
            </a:pPr>
            <a:r>
              <a:rPr lang="en-US" dirty="0">
                <a:solidFill>
                  <a:srgbClr val="7030A0"/>
                </a:solidFill>
              </a:rPr>
              <a:t>General description of hazard</a:t>
            </a:r>
          </a:p>
          <a:p>
            <a:pPr lvl="1" eaLnBrk="1" hangingPunct="1">
              <a:lnSpc>
                <a:spcPct val="90000"/>
              </a:lnSpc>
            </a:pPr>
            <a:r>
              <a:rPr lang="en-US" dirty="0">
                <a:solidFill>
                  <a:srgbClr val="7030A0"/>
                </a:solidFill>
              </a:rPr>
              <a:t>Location of hazard and spatial extent of its affects</a:t>
            </a:r>
          </a:p>
          <a:p>
            <a:pPr lvl="1" eaLnBrk="1" hangingPunct="1">
              <a:lnSpc>
                <a:spcPct val="90000"/>
              </a:lnSpc>
            </a:pPr>
            <a:r>
              <a:rPr lang="en-US" dirty="0">
                <a:solidFill>
                  <a:srgbClr val="7030A0"/>
                </a:solidFill>
              </a:rPr>
              <a:t>Duration of an event caused by hazard</a:t>
            </a:r>
          </a:p>
          <a:p>
            <a:pPr lvl="1" eaLnBrk="1" hangingPunct="1">
              <a:lnSpc>
                <a:spcPct val="90000"/>
              </a:lnSpc>
            </a:pPr>
            <a:r>
              <a:rPr lang="en-US" dirty="0">
                <a:solidFill>
                  <a:srgbClr val="7030A0"/>
                </a:solidFill>
              </a:rPr>
              <a:t>Seasonal or time based patterns followed by the hazard</a:t>
            </a:r>
          </a:p>
          <a:p>
            <a:pPr lvl="1" eaLnBrk="1" hangingPunct="1">
              <a:lnSpc>
                <a:spcPct val="90000"/>
              </a:lnSpc>
            </a:pPr>
            <a:r>
              <a:rPr lang="en-US" dirty="0">
                <a:solidFill>
                  <a:srgbClr val="7030A0"/>
                </a:solidFill>
              </a:rPr>
              <a:t>Speed of onset of an actual hazard event</a:t>
            </a:r>
          </a:p>
          <a:p>
            <a:pPr lvl="1" eaLnBrk="1" hangingPunct="1">
              <a:lnSpc>
                <a:spcPct val="90000"/>
              </a:lnSpc>
            </a:pPr>
            <a:r>
              <a:rPr lang="en-US" dirty="0">
                <a:solidFill>
                  <a:srgbClr val="7030A0"/>
                </a:solidFill>
              </a:rPr>
              <a:t>Availability of warning for the hazard</a:t>
            </a:r>
          </a:p>
        </p:txBody>
      </p:sp>
    </p:spTree>
    <p:extLst>
      <p:ext uri="{BB962C8B-B14F-4D97-AF65-F5344CB8AC3E}">
        <p14:creationId xmlns:p14="http://schemas.microsoft.com/office/powerpoint/2010/main" val="85165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5389" y="365126"/>
            <a:ext cx="10838411" cy="831908"/>
          </a:xfrm>
        </p:spPr>
        <p:txBody>
          <a:bodyPr anchor="ctr">
            <a:normAutofit fontScale="90000"/>
          </a:bodyPr>
          <a:lstStyle/>
          <a:p>
            <a:pPr>
              <a:defRPr/>
            </a:pPr>
            <a:r>
              <a:rPr lang="en-US" sz="4000" b="1" spc="-100" dirty="0">
                <a:solidFill>
                  <a:srgbClr val="0000CC"/>
                </a:solidFill>
                <a:latin typeface="Comic Sans MS" panose="030F0702030302020204" pitchFamily="66" charset="0"/>
                <a:cs typeface="Arial" panose="020B0604020202020204" pitchFamily="34" charset="0"/>
              </a:rPr>
              <a:t>Vulnerability of five (05) elements of a community</a:t>
            </a:r>
          </a:p>
        </p:txBody>
      </p:sp>
      <p:sp>
        <p:nvSpPr>
          <p:cNvPr id="28674" name="Content Placeholder 2"/>
          <p:cNvSpPr>
            <a:spLocks noGrp="1"/>
          </p:cNvSpPr>
          <p:nvPr>
            <p:ph idx="4294967295"/>
          </p:nvPr>
        </p:nvSpPr>
        <p:spPr>
          <a:xfrm>
            <a:off x="515389" y="1847462"/>
            <a:ext cx="11305309" cy="981257"/>
          </a:xfrm>
        </p:spPr>
        <p:txBody>
          <a:bodyPr>
            <a:normAutofit lnSpcReduction="10000"/>
          </a:bodyPr>
          <a:lstStyle/>
          <a:p>
            <a:pPr marL="577850" indent="-495300">
              <a:lnSpc>
                <a:spcPct val="100000"/>
              </a:lnSpc>
            </a:pPr>
            <a:r>
              <a:rPr lang="en-US" sz="3200" dirty="0"/>
              <a:t>Each of those elements has a </a:t>
            </a:r>
            <a:r>
              <a:rPr lang="en-US" sz="3200" u="sng" dirty="0">
                <a:solidFill>
                  <a:srgbClr val="9650B2"/>
                </a:solidFill>
              </a:rPr>
              <a:t>specific</a:t>
            </a:r>
            <a:r>
              <a:rPr lang="en-US" sz="3200" dirty="0">
                <a:solidFill>
                  <a:srgbClr val="9650B2"/>
                </a:solidFill>
              </a:rPr>
              <a:t> </a:t>
            </a:r>
            <a:r>
              <a:rPr lang="en-US" sz="3200" dirty="0"/>
              <a:t>vulnerability to a </a:t>
            </a:r>
            <a:r>
              <a:rPr lang="en-US" sz="3200" u="sng" dirty="0">
                <a:solidFill>
                  <a:srgbClr val="9650B2"/>
                </a:solidFill>
              </a:rPr>
              <a:t>specific </a:t>
            </a:r>
            <a:r>
              <a:rPr lang="en-US" sz="3200" dirty="0"/>
              <a:t>hazard</a:t>
            </a:r>
          </a:p>
        </p:txBody>
      </p:sp>
      <p:pic>
        <p:nvPicPr>
          <p:cNvPr id="4" name="Picture 3">
            <a:extLst>
              <a:ext uri="{FF2B5EF4-FFF2-40B4-BE49-F238E27FC236}">
                <a16:creationId xmlns:a16="http://schemas.microsoft.com/office/drawing/2014/main" id="{CDA4C392-4E57-9BDD-DAFF-DBA7F8ED438A}"/>
              </a:ext>
            </a:extLst>
          </p:cNvPr>
          <p:cNvPicPr>
            <a:picLocks noChangeAspect="1"/>
          </p:cNvPicPr>
          <p:nvPr/>
        </p:nvPicPr>
        <p:blipFill>
          <a:blip r:embed="rId3"/>
          <a:srcRect t="31742" b="27010"/>
          <a:stretch>
            <a:fillRect/>
          </a:stretch>
        </p:blipFill>
        <p:spPr>
          <a:xfrm>
            <a:off x="-111318" y="3686064"/>
            <a:ext cx="12192000" cy="2806810"/>
          </a:xfrm>
          <a:prstGeom prst="rect">
            <a:avLst/>
          </a:prstGeom>
        </p:spPr>
      </p:pic>
    </p:spTree>
    <p:extLst>
      <p:ext uri="{BB962C8B-B14F-4D97-AF65-F5344CB8AC3E}">
        <p14:creationId xmlns:p14="http://schemas.microsoft.com/office/powerpoint/2010/main" val="2222005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8" name="Rectangle 2355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60" name="Freeform: Shape 2355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62" name="Rectangle 2356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4" name="Rectangle 2356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6" name="Freeform: Shape 2356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568" name="Isosceles Triangle 2356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553" name="Picture 4"/>
          <p:cNvPicPr>
            <a:picLocks noChangeAspect="1" noChangeArrowheads="1"/>
          </p:cNvPicPr>
          <p:nvPr/>
        </p:nvPicPr>
        <p:blipFill>
          <a:blip r:embed="rId3" cstate="print"/>
          <a:srcRect l="7500" t="16000" r="9375" b="14000"/>
          <a:stretch>
            <a:fillRect/>
          </a:stretch>
        </p:blipFill>
        <p:spPr bwMode="auto">
          <a:xfrm>
            <a:off x="803485" y="643467"/>
            <a:ext cx="10585029" cy="5571065"/>
          </a:xfrm>
          <a:prstGeom prst="rect">
            <a:avLst/>
          </a:prstGeom>
          <a:noFill/>
          <a:ln>
            <a:noFill/>
          </a:ln>
        </p:spPr>
      </p:pic>
      <p:sp>
        <p:nvSpPr>
          <p:cNvPr id="23570" name="Isosceles Triangle 2356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8854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151"/>
          </a:xfrm>
        </p:spPr>
        <p:txBody>
          <a:bodyPr>
            <a:normAutofit fontScale="90000"/>
          </a:bodyPr>
          <a:lstStyle/>
          <a:p>
            <a:r>
              <a:rPr lang="en-US" dirty="0"/>
              <a:t>Vulnerability Assessment</a:t>
            </a:r>
          </a:p>
        </p:txBody>
      </p:sp>
      <p:sp>
        <p:nvSpPr>
          <p:cNvPr id="3" name="Content Placeholder 2"/>
          <p:cNvSpPr>
            <a:spLocks noGrp="1"/>
          </p:cNvSpPr>
          <p:nvPr>
            <p:ph sz="quarter" idx="1"/>
          </p:nvPr>
        </p:nvSpPr>
        <p:spPr>
          <a:xfrm>
            <a:off x="501534" y="1474237"/>
            <a:ext cx="11188931" cy="5128840"/>
          </a:xfrm>
        </p:spPr>
        <p:txBody>
          <a:bodyPr>
            <a:noAutofit/>
          </a:bodyPr>
          <a:lstStyle/>
          <a:p>
            <a:pPr algn="just">
              <a:lnSpc>
                <a:spcPct val="110000"/>
              </a:lnSpc>
              <a:spcBef>
                <a:spcPts val="1200"/>
              </a:spcBef>
              <a:spcAft>
                <a:spcPts val="1200"/>
              </a:spcAft>
            </a:pPr>
            <a:r>
              <a:rPr lang="en-US" dirty="0"/>
              <a:t>The process of </a:t>
            </a:r>
            <a:r>
              <a:rPr lang="en-US" u="sng" dirty="0"/>
              <a:t>estimating the vulnerability </a:t>
            </a:r>
            <a:r>
              <a:rPr lang="en-US" dirty="0"/>
              <a:t>to </a:t>
            </a:r>
            <a:r>
              <a:rPr lang="en-US" u="sng" dirty="0"/>
              <a:t>potential disaster hazards </a:t>
            </a:r>
            <a:r>
              <a:rPr lang="en-US" dirty="0"/>
              <a:t>of </a:t>
            </a:r>
            <a:r>
              <a:rPr lang="en-US" u="sng" dirty="0"/>
              <a:t>specified elements at risk.</a:t>
            </a:r>
          </a:p>
          <a:p>
            <a:pPr algn="just">
              <a:lnSpc>
                <a:spcPct val="110000"/>
              </a:lnSpc>
              <a:spcBef>
                <a:spcPts val="1200"/>
              </a:spcBef>
              <a:spcAft>
                <a:spcPts val="1200"/>
              </a:spcAft>
            </a:pPr>
            <a:r>
              <a:rPr lang="en-US" dirty="0"/>
              <a:t>A process to determine the nature and extent of vulnerability by analyzing existing conditions and characteristics of an element or system exposed to a particular type of natural hazard event. </a:t>
            </a:r>
          </a:p>
          <a:p>
            <a:pPr algn="just">
              <a:lnSpc>
                <a:spcPct val="110000"/>
              </a:lnSpc>
              <a:spcBef>
                <a:spcPts val="1200"/>
              </a:spcBef>
              <a:spcAft>
                <a:spcPts val="1200"/>
              </a:spcAft>
            </a:pPr>
            <a:endParaRPr lang="en-US" dirty="0"/>
          </a:p>
          <a:p>
            <a:pPr algn="just">
              <a:lnSpc>
                <a:spcPct val="110000"/>
              </a:lnSpc>
              <a:spcBef>
                <a:spcPts val="1200"/>
              </a:spcBef>
              <a:spcAft>
                <a:spcPts val="1200"/>
              </a:spcAft>
            </a:pPr>
            <a:endParaRPr lang="en-US" dirty="0"/>
          </a:p>
          <a:p>
            <a:pPr lvl="1" algn="just">
              <a:lnSpc>
                <a:spcPct val="110000"/>
              </a:lnSpc>
              <a:spcAft>
                <a:spcPts val="1200"/>
              </a:spcAft>
            </a:pPr>
            <a:endParaRPr lang="en-US" sz="3200" dirty="0">
              <a:solidFill>
                <a:srgbClr val="FF9900"/>
              </a:solidFill>
            </a:endParaRPr>
          </a:p>
        </p:txBody>
      </p:sp>
    </p:spTree>
    <p:extLst>
      <p:ext uri="{BB962C8B-B14F-4D97-AF65-F5344CB8AC3E}">
        <p14:creationId xmlns:p14="http://schemas.microsoft.com/office/powerpoint/2010/main" val="806998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9151"/>
          </a:xfrm>
        </p:spPr>
        <p:txBody>
          <a:bodyPr>
            <a:normAutofit fontScale="90000"/>
          </a:bodyPr>
          <a:lstStyle/>
          <a:p>
            <a:r>
              <a:rPr lang="en-US" dirty="0"/>
              <a:t>Vulnerability Assessment</a:t>
            </a:r>
          </a:p>
        </p:txBody>
      </p:sp>
      <p:sp>
        <p:nvSpPr>
          <p:cNvPr id="3" name="Content Placeholder 2"/>
          <p:cNvSpPr>
            <a:spLocks noGrp="1"/>
          </p:cNvSpPr>
          <p:nvPr>
            <p:ph sz="quarter" idx="1"/>
          </p:nvPr>
        </p:nvSpPr>
        <p:spPr>
          <a:xfrm>
            <a:off x="501534" y="1399592"/>
            <a:ext cx="11188931" cy="5203485"/>
          </a:xfrm>
        </p:spPr>
        <p:txBody>
          <a:bodyPr>
            <a:noAutofit/>
          </a:bodyPr>
          <a:lstStyle/>
          <a:p>
            <a:pPr>
              <a:lnSpc>
                <a:spcPct val="110000"/>
              </a:lnSpc>
              <a:spcBef>
                <a:spcPts val="1200"/>
              </a:spcBef>
              <a:spcAft>
                <a:spcPts val="1200"/>
              </a:spcAft>
            </a:pPr>
            <a:r>
              <a:rPr lang="en-US" dirty="0"/>
              <a:t>Vulnerability assessment identifies the </a:t>
            </a:r>
            <a:r>
              <a:rPr lang="en-US" u="sng" dirty="0"/>
              <a:t>relationship</a:t>
            </a:r>
            <a:r>
              <a:rPr lang="en-US" dirty="0"/>
              <a:t> between the </a:t>
            </a:r>
            <a:r>
              <a:rPr lang="en-US" u="sng" dirty="0">
                <a:solidFill>
                  <a:srgbClr val="FF0000"/>
                </a:solidFill>
              </a:rPr>
              <a:t>hazard</a:t>
            </a:r>
            <a:r>
              <a:rPr lang="en-US" dirty="0"/>
              <a:t> and the </a:t>
            </a:r>
            <a:r>
              <a:rPr lang="en-US" u="sng" dirty="0">
                <a:solidFill>
                  <a:srgbClr val="FF0000"/>
                </a:solidFill>
              </a:rPr>
              <a:t>element at risk.</a:t>
            </a:r>
          </a:p>
          <a:p>
            <a:pPr>
              <a:lnSpc>
                <a:spcPct val="110000"/>
              </a:lnSpc>
              <a:spcBef>
                <a:spcPts val="1200"/>
              </a:spcBef>
              <a:spcAft>
                <a:spcPts val="1200"/>
              </a:spcAft>
            </a:pPr>
            <a:r>
              <a:rPr lang="en-US" dirty="0"/>
              <a:t>Vulnerability is evaluated as the interaction between the </a:t>
            </a:r>
            <a:r>
              <a:rPr lang="en-US" u="sng" dirty="0">
                <a:solidFill>
                  <a:srgbClr val="FF0000"/>
                </a:solidFill>
              </a:rPr>
              <a:t>intensity</a:t>
            </a:r>
            <a:r>
              <a:rPr lang="en-US" dirty="0">
                <a:solidFill>
                  <a:srgbClr val="FF0000"/>
                </a:solidFill>
              </a:rPr>
              <a:t> of the hazard </a:t>
            </a:r>
            <a:r>
              <a:rPr lang="en-US" dirty="0"/>
              <a:t>and the </a:t>
            </a:r>
            <a:r>
              <a:rPr lang="en-US" u="sng" dirty="0">
                <a:solidFill>
                  <a:srgbClr val="FF0000"/>
                </a:solidFill>
              </a:rPr>
              <a:t>type </a:t>
            </a:r>
            <a:r>
              <a:rPr lang="en-US" dirty="0">
                <a:solidFill>
                  <a:srgbClr val="FF0000"/>
                </a:solidFill>
              </a:rPr>
              <a:t>of element at-risk</a:t>
            </a:r>
            <a:r>
              <a:rPr lang="en-US" dirty="0"/>
              <a:t>, making use of so-called </a:t>
            </a:r>
            <a:r>
              <a:rPr lang="en-US" i="1" dirty="0">
                <a:solidFill>
                  <a:srgbClr val="9650B2"/>
                </a:solidFill>
              </a:rPr>
              <a:t>vulnerability curves</a:t>
            </a:r>
          </a:p>
          <a:p>
            <a:pPr>
              <a:lnSpc>
                <a:spcPct val="110000"/>
              </a:lnSpc>
              <a:spcBef>
                <a:spcPts val="600"/>
              </a:spcBef>
              <a:spcAft>
                <a:spcPts val="1200"/>
              </a:spcAft>
            </a:pPr>
            <a:endParaRPr lang="en-US" dirty="0"/>
          </a:p>
          <a:p>
            <a:pPr>
              <a:lnSpc>
                <a:spcPct val="110000"/>
              </a:lnSpc>
              <a:spcBef>
                <a:spcPts val="600"/>
              </a:spcBef>
              <a:spcAft>
                <a:spcPts val="1200"/>
              </a:spcAft>
            </a:pPr>
            <a:endParaRPr lang="en-US" dirty="0"/>
          </a:p>
          <a:p>
            <a:pPr lvl="1">
              <a:lnSpc>
                <a:spcPct val="110000"/>
              </a:lnSpc>
              <a:spcBef>
                <a:spcPts val="600"/>
              </a:spcBef>
              <a:spcAft>
                <a:spcPts val="1200"/>
              </a:spcAft>
            </a:pPr>
            <a:endParaRPr lang="en-US" sz="3200" dirty="0">
              <a:solidFill>
                <a:srgbClr val="FF9900"/>
              </a:solidFill>
            </a:endParaRPr>
          </a:p>
        </p:txBody>
      </p:sp>
    </p:spTree>
    <p:extLst>
      <p:ext uri="{BB962C8B-B14F-4D97-AF65-F5344CB8AC3E}">
        <p14:creationId xmlns:p14="http://schemas.microsoft.com/office/powerpoint/2010/main" val="935565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p:cNvSpPr>
          <p:nvPr>
            <p:ph type="title"/>
          </p:nvPr>
        </p:nvSpPr>
        <p:spPr/>
        <p:txBody>
          <a:bodyPr/>
          <a:lstStyle/>
          <a:p>
            <a:r>
              <a:rPr lang="en-US" dirty="0"/>
              <a:t>How to do Vulnerability Assessment? </a:t>
            </a:r>
          </a:p>
        </p:txBody>
      </p:sp>
      <p:sp>
        <p:nvSpPr>
          <p:cNvPr id="81923" name="Rectangle 3"/>
          <p:cNvSpPr>
            <a:spLocks noGrp="1"/>
          </p:cNvSpPr>
          <p:nvPr>
            <p:ph type="body" idx="1"/>
          </p:nvPr>
        </p:nvSpPr>
        <p:spPr>
          <a:xfrm>
            <a:off x="838199" y="1690688"/>
            <a:ext cx="11032375" cy="4610358"/>
          </a:xfrm>
        </p:spPr>
        <p:txBody>
          <a:bodyPr>
            <a:normAutofit/>
          </a:bodyPr>
          <a:lstStyle/>
          <a:p>
            <a:pPr lvl="1">
              <a:lnSpc>
                <a:spcPct val="100000"/>
              </a:lnSpc>
              <a:spcAft>
                <a:spcPts val="1200"/>
              </a:spcAft>
            </a:pPr>
            <a:endParaRPr lang="en-IN" sz="3200" dirty="0"/>
          </a:p>
          <a:p>
            <a:pPr lvl="1">
              <a:lnSpc>
                <a:spcPct val="100000"/>
              </a:lnSpc>
              <a:spcAft>
                <a:spcPts val="1200"/>
              </a:spcAft>
            </a:pPr>
            <a:r>
              <a:rPr lang="en-IN" sz="3200" dirty="0"/>
              <a:t>Which are the most important elements at risk?</a:t>
            </a:r>
          </a:p>
          <a:p>
            <a:pPr lvl="1">
              <a:lnSpc>
                <a:spcPct val="100000"/>
              </a:lnSpc>
              <a:spcAft>
                <a:spcPts val="1200"/>
              </a:spcAft>
            </a:pPr>
            <a:r>
              <a:rPr lang="en-IN" sz="3200" dirty="0"/>
              <a:t>Which methods for vulnerability assessment could be used?</a:t>
            </a:r>
          </a:p>
          <a:p>
            <a:pPr lvl="1">
              <a:lnSpc>
                <a:spcPct val="100000"/>
              </a:lnSpc>
              <a:spcAft>
                <a:spcPts val="1200"/>
              </a:spcAft>
            </a:pPr>
            <a:r>
              <a:rPr lang="en-IN" sz="3200" dirty="0"/>
              <a:t>What are the data requirements?</a:t>
            </a:r>
            <a:r>
              <a:rPr lang="en-US" sz="3200" dirty="0"/>
              <a:t> </a:t>
            </a:r>
          </a:p>
          <a:p>
            <a:pPr lvl="1">
              <a:lnSpc>
                <a:spcPct val="100000"/>
              </a:lnSpc>
              <a:spcAft>
                <a:spcPts val="1200"/>
              </a:spcAft>
            </a:pPr>
            <a:r>
              <a:rPr lang="en-US" sz="3200" dirty="0"/>
              <a:t>Aggravating factors of vulnerability? </a:t>
            </a:r>
            <a:r>
              <a:rPr lang="en-US" sz="3200" dirty="0">
                <a:solidFill>
                  <a:srgbClr val="0070C0"/>
                </a:solidFill>
              </a:rPr>
              <a:t>Examples?</a:t>
            </a:r>
          </a:p>
          <a:p>
            <a:pPr lvl="1">
              <a:lnSpc>
                <a:spcPct val="100000"/>
              </a:lnSpc>
              <a:spcAft>
                <a:spcPts val="1200"/>
              </a:spcAft>
            </a:pPr>
            <a:endParaRPr lang="en-US" sz="3200" dirty="0"/>
          </a:p>
        </p:txBody>
      </p:sp>
    </p:spTree>
    <p:extLst>
      <p:ext uri="{BB962C8B-B14F-4D97-AF65-F5344CB8AC3E}">
        <p14:creationId xmlns:p14="http://schemas.microsoft.com/office/powerpoint/2010/main" val="2065407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Risk</a:t>
            </a:r>
            <a:r>
              <a:rPr lang="en-US" dirty="0"/>
              <a:t> Assessment</a:t>
            </a:r>
          </a:p>
        </p:txBody>
      </p:sp>
      <p:sp>
        <p:nvSpPr>
          <p:cNvPr id="3" name="Content Placeholder 2"/>
          <p:cNvSpPr>
            <a:spLocks noGrp="1"/>
          </p:cNvSpPr>
          <p:nvPr>
            <p:ph sz="quarter" idx="1"/>
          </p:nvPr>
        </p:nvSpPr>
        <p:spPr>
          <a:xfrm>
            <a:off x="653143" y="1825625"/>
            <a:ext cx="11308702" cy="4351338"/>
          </a:xfrm>
        </p:spPr>
        <p:txBody>
          <a:bodyPr>
            <a:normAutofit/>
          </a:bodyPr>
          <a:lstStyle/>
          <a:p>
            <a:pPr>
              <a:lnSpc>
                <a:spcPct val="100000"/>
              </a:lnSpc>
              <a:spcBef>
                <a:spcPts val="1200"/>
              </a:spcBef>
              <a:spcAft>
                <a:spcPts val="1200"/>
              </a:spcAft>
            </a:pPr>
            <a:r>
              <a:rPr lang="en-US" dirty="0"/>
              <a:t>For different hazards there are different</a:t>
            </a:r>
          </a:p>
          <a:p>
            <a:pPr lvl="1"/>
            <a:r>
              <a:rPr lang="en-US" sz="2800" dirty="0">
                <a:solidFill>
                  <a:srgbClr val="0070C0"/>
                </a:solidFill>
              </a:rPr>
              <a:t>Methods for loss estimation</a:t>
            </a:r>
          </a:p>
          <a:p>
            <a:pPr lvl="1"/>
            <a:r>
              <a:rPr lang="en-US" sz="2800" dirty="0">
                <a:solidFill>
                  <a:srgbClr val="0070C0"/>
                </a:solidFill>
              </a:rPr>
              <a:t>Data requirements</a:t>
            </a:r>
          </a:p>
          <a:p>
            <a:pPr lvl="1"/>
            <a:endParaRPr lang="en-US" sz="2800" dirty="0">
              <a:solidFill>
                <a:srgbClr val="0070C0"/>
              </a:solidFill>
            </a:endParaRPr>
          </a:p>
          <a:p>
            <a:pPr marL="0" indent="0" algn="ctr">
              <a:buNone/>
            </a:pPr>
            <a:r>
              <a:rPr lang="en-US" sz="3600" dirty="0">
                <a:solidFill>
                  <a:srgbClr val="7030A0"/>
                </a:solidFill>
              </a:rPr>
              <a:t>Risk Assessment = Risk Estimation + Risk Evaluation</a:t>
            </a:r>
          </a:p>
          <a:p>
            <a:pPr lvl="1"/>
            <a:endParaRPr lang="en-US" sz="3200" dirty="0"/>
          </a:p>
          <a:p>
            <a:pPr lvl="1"/>
            <a:endParaRPr lang="en-US" sz="3200" dirty="0"/>
          </a:p>
        </p:txBody>
      </p:sp>
    </p:spTree>
    <p:extLst>
      <p:ext uri="{BB962C8B-B14F-4D97-AF65-F5344CB8AC3E}">
        <p14:creationId xmlns:p14="http://schemas.microsoft.com/office/powerpoint/2010/main" val="1679286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idx="4294967295"/>
          </p:nvPr>
        </p:nvSpPr>
        <p:spPr/>
        <p:txBody>
          <a:bodyPr>
            <a:normAutofit/>
          </a:bodyPr>
          <a:lstStyle/>
          <a:p>
            <a:pPr eaLnBrk="1" hangingPunct="1"/>
            <a:r>
              <a:rPr lang="en-US" sz="4000" b="1" spc="-100" dirty="0">
                <a:solidFill>
                  <a:srgbClr val="0000CC"/>
                </a:solidFill>
                <a:latin typeface="Comic Sans MS" panose="030F0702030302020204" pitchFamily="66" charset="0"/>
                <a:cs typeface="Arial" panose="020B0604020202020204" pitchFamily="34" charset="0"/>
              </a:rPr>
              <a:t>Risk Analysis Methodology</a:t>
            </a:r>
          </a:p>
        </p:txBody>
      </p:sp>
      <p:sp>
        <p:nvSpPr>
          <p:cNvPr id="64515" name="Content Placeholder 2"/>
          <p:cNvSpPr>
            <a:spLocks noGrp="1"/>
          </p:cNvSpPr>
          <p:nvPr>
            <p:ph sz="quarter" idx="4294967295"/>
          </p:nvPr>
        </p:nvSpPr>
        <p:spPr>
          <a:xfrm>
            <a:off x="690465" y="2034073"/>
            <a:ext cx="10991462" cy="4593740"/>
          </a:xfrm>
        </p:spPr>
        <p:txBody>
          <a:bodyPr>
            <a:normAutofit/>
          </a:bodyPr>
          <a:lstStyle/>
          <a:p>
            <a:pPr eaLnBrk="1" hangingPunct="1">
              <a:lnSpc>
                <a:spcPct val="100000"/>
              </a:lnSpc>
              <a:spcAft>
                <a:spcPts val="1200"/>
              </a:spcAft>
            </a:pPr>
            <a:r>
              <a:rPr lang="en-US" sz="3200" dirty="0">
                <a:latin typeface="Comic Sans MS" panose="030F0702030302020204" pitchFamily="66" charset="0"/>
              </a:rPr>
              <a:t>Both Qualitative and Quantitative.</a:t>
            </a:r>
          </a:p>
          <a:p>
            <a:pPr eaLnBrk="1" hangingPunct="1">
              <a:lnSpc>
                <a:spcPct val="100000"/>
              </a:lnSpc>
              <a:spcAft>
                <a:spcPts val="1200"/>
              </a:spcAft>
            </a:pPr>
            <a:r>
              <a:rPr lang="en-US" sz="3200" dirty="0">
                <a:latin typeface="Comic Sans MS" panose="030F0702030302020204" pitchFamily="66" charset="0"/>
              </a:rPr>
              <a:t>Various computer based models.</a:t>
            </a:r>
          </a:p>
          <a:p>
            <a:pPr eaLnBrk="1" hangingPunct="1">
              <a:lnSpc>
                <a:spcPct val="100000"/>
              </a:lnSpc>
              <a:spcAft>
                <a:spcPts val="1200"/>
              </a:spcAft>
            </a:pPr>
            <a:r>
              <a:rPr lang="en-US" sz="3200" dirty="0">
                <a:latin typeface="Comic Sans MS" panose="030F0702030302020204" pitchFamily="66" charset="0"/>
              </a:rPr>
              <a:t>Risk assessment outcomes depend on quality and availability of data.</a:t>
            </a:r>
          </a:p>
        </p:txBody>
      </p:sp>
    </p:spTree>
    <p:extLst>
      <p:ext uri="{BB962C8B-B14F-4D97-AF65-F5344CB8AC3E}">
        <p14:creationId xmlns:p14="http://schemas.microsoft.com/office/powerpoint/2010/main" val="3652857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p:cNvSpPr>
          <p:nvPr>
            <p:ph type="title"/>
          </p:nvPr>
        </p:nvSpPr>
        <p:spPr/>
        <p:txBody>
          <a:bodyPr/>
          <a:lstStyle/>
          <a:p>
            <a:r>
              <a:rPr lang="en-US" dirty="0"/>
              <a:t>Qualitative Risk Analysis</a:t>
            </a:r>
          </a:p>
        </p:txBody>
      </p:sp>
      <p:sp>
        <p:nvSpPr>
          <p:cNvPr id="83971" name="Rectangle 3"/>
          <p:cNvSpPr>
            <a:spLocks noGrp="1"/>
          </p:cNvSpPr>
          <p:nvPr>
            <p:ph type="body" idx="1"/>
          </p:nvPr>
        </p:nvSpPr>
        <p:spPr>
          <a:xfrm>
            <a:off x="838200" y="1690688"/>
            <a:ext cx="10769082" cy="4910138"/>
          </a:xfrm>
        </p:spPr>
        <p:txBody>
          <a:bodyPr/>
          <a:lstStyle/>
          <a:p>
            <a:pPr>
              <a:lnSpc>
                <a:spcPct val="114000"/>
              </a:lnSpc>
              <a:spcAft>
                <a:spcPts val="1200"/>
              </a:spcAft>
            </a:pPr>
            <a:r>
              <a:rPr lang="en-US" dirty="0"/>
              <a:t>An analysis which uses word form, descriptive or numeric rating scales to describe the magnitude of potential consequences and the likelihood that those consequences will occur</a:t>
            </a:r>
          </a:p>
          <a:p>
            <a:pPr>
              <a:lnSpc>
                <a:spcPct val="114000"/>
              </a:lnSpc>
              <a:spcAft>
                <a:spcPts val="1200"/>
              </a:spcAft>
            </a:pPr>
            <a:r>
              <a:rPr lang="en-US" dirty="0"/>
              <a:t>Resulting in a qualitative value of the risk. e.g. </a:t>
            </a:r>
            <a:r>
              <a:rPr lang="en-US" dirty="0">
                <a:solidFill>
                  <a:srgbClr val="7030A0"/>
                </a:solidFill>
              </a:rPr>
              <a:t>High Risk, Moderate Risk, Low Risk </a:t>
            </a:r>
            <a:r>
              <a:rPr lang="en-US" dirty="0"/>
              <a:t>etc. </a:t>
            </a:r>
          </a:p>
          <a:p>
            <a:pPr>
              <a:lnSpc>
                <a:spcPct val="114000"/>
              </a:lnSpc>
              <a:spcAft>
                <a:spcPts val="1200"/>
              </a:spcAft>
            </a:pPr>
            <a:endParaRPr lang="en-US" dirty="0"/>
          </a:p>
        </p:txBody>
      </p:sp>
    </p:spTree>
    <p:extLst>
      <p:ext uri="{BB962C8B-B14F-4D97-AF65-F5344CB8AC3E}">
        <p14:creationId xmlns:p14="http://schemas.microsoft.com/office/powerpoint/2010/main" val="384148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p:cNvSpPr>
          <p:nvPr>
            <p:ph type="title"/>
          </p:nvPr>
        </p:nvSpPr>
        <p:spPr/>
        <p:txBody>
          <a:bodyPr/>
          <a:lstStyle/>
          <a:p>
            <a:r>
              <a:rPr lang="en-US" dirty="0"/>
              <a:t>Quantitative Risk Analysis</a:t>
            </a:r>
          </a:p>
        </p:txBody>
      </p:sp>
      <p:sp>
        <p:nvSpPr>
          <p:cNvPr id="84995" name="Rectangle 3"/>
          <p:cNvSpPr>
            <a:spLocks noGrp="1"/>
          </p:cNvSpPr>
          <p:nvPr>
            <p:ph type="body" idx="1"/>
          </p:nvPr>
        </p:nvSpPr>
        <p:spPr>
          <a:xfrm>
            <a:off x="838200" y="2202024"/>
            <a:ext cx="10515600" cy="4398802"/>
          </a:xfrm>
        </p:spPr>
        <p:txBody>
          <a:bodyPr/>
          <a:lstStyle/>
          <a:p>
            <a:pPr>
              <a:lnSpc>
                <a:spcPct val="114000"/>
              </a:lnSpc>
              <a:spcBef>
                <a:spcPts val="1200"/>
              </a:spcBef>
              <a:spcAft>
                <a:spcPts val="1200"/>
              </a:spcAft>
            </a:pPr>
            <a:r>
              <a:rPr lang="en-US" dirty="0"/>
              <a:t>An analysis which is based on numerical values of the </a:t>
            </a:r>
            <a:r>
              <a:rPr lang="en-US" u="sng" dirty="0">
                <a:solidFill>
                  <a:srgbClr val="7030A0"/>
                </a:solidFill>
              </a:rPr>
              <a:t>probability</a:t>
            </a:r>
            <a:r>
              <a:rPr lang="en-US" dirty="0"/>
              <a:t>, </a:t>
            </a:r>
            <a:r>
              <a:rPr lang="en-US" u="sng" dirty="0">
                <a:solidFill>
                  <a:srgbClr val="7030A0"/>
                </a:solidFill>
              </a:rPr>
              <a:t>vulnerability</a:t>
            </a:r>
            <a:r>
              <a:rPr lang="en-US" dirty="0"/>
              <a:t>, and </a:t>
            </a:r>
            <a:r>
              <a:rPr lang="en-US" u="sng" dirty="0">
                <a:solidFill>
                  <a:srgbClr val="7030A0"/>
                </a:solidFill>
              </a:rPr>
              <a:t>consequences</a:t>
            </a:r>
            <a:r>
              <a:rPr lang="en-US" dirty="0"/>
              <a:t> </a:t>
            </a:r>
          </a:p>
          <a:p>
            <a:pPr>
              <a:lnSpc>
                <a:spcPct val="114000"/>
              </a:lnSpc>
              <a:spcBef>
                <a:spcPts val="1200"/>
              </a:spcBef>
              <a:spcAft>
                <a:spcPts val="1200"/>
              </a:spcAft>
            </a:pPr>
            <a:r>
              <a:rPr lang="en-US" dirty="0"/>
              <a:t>Resulting in a numerical value of the risk. e.g. </a:t>
            </a:r>
          </a:p>
          <a:p>
            <a:pPr marL="0" indent="0" algn="ctr">
              <a:lnSpc>
                <a:spcPct val="114000"/>
              </a:lnSpc>
              <a:spcBef>
                <a:spcPts val="1200"/>
              </a:spcBef>
              <a:spcAft>
                <a:spcPts val="1200"/>
              </a:spcAft>
              <a:buNone/>
            </a:pPr>
            <a:r>
              <a:rPr lang="en-US" dirty="0">
                <a:solidFill>
                  <a:srgbClr val="7030A0"/>
                </a:solidFill>
              </a:rPr>
              <a:t>Risk = $ 5,000,  etc.</a:t>
            </a:r>
          </a:p>
        </p:txBody>
      </p:sp>
    </p:spTree>
    <p:extLst>
      <p:ext uri="{BB962C8B-B14F-4D97-AF65-F5344CB8AC3E}">
        <p14:creationId xmlns:p14="http://schemas.microsoft.com/office/powerpoint/2010/main" val="3674358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8" name="Picture 4"/>
          <p:cNvPicPr>
            <a:picLocks noChangeAspect="1" noChangeArrowheads="1"/>
          </p:cNvPicPr>
          <p:nvPr/>
        </p:nvPicPr>
        <p:blipFill>
          <a:blip r:embed="rId3" cstate="print"/>
          <a:srcRect l="19376" t="14999" r="17500" b="9000"/>
          <a:stretch>
            <a:fillRect/>
          </a:stretch>
        </p:blipFill>
        <p:spPr bwMode="auto">
          <a:xfrm>
            <a:off x="578497" y="1"/>
            <a:ext cx="10842171" cy="6881813"/>
          </a:xfrm>
          <a:prstGeom prst="rect">
            <a:avLst/>
          </a:prstGeom>
          <a:noFill/>
          <a:ln w="9525">
            <a:noFill/>
            <a:miter lim="800000"/>
            <a:headEnd/>
            <a:tailEnd/>
          </a:ln>
          <a:effectLst/>
        </p:spPr>
      </p:pic>
    </p:spTree>
    <p:extLst>
      <p:ext uri="{BB962C8B-B14F-4D97-AF65-F5344CB8AC3E}">
        <p14:creationId xmlns:p14="http://schemas.microsoft.com/office/powerpoint/2010/main" val="3216218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20" name="Picture 4"/>
          <p:cNvPicPr>
            <a:picLocks noChangeAspect="1" noChangeArrowheads="1"/>
          </p:cNvPicPr>
          <p:nvPr/>
        </p:nvPicPr>
        <p:blipFill>
          <a:blip r:embed="rId3" cstate="print"/>
          <a:srcRect l="20000" t="14999" r="17500" b="9000"/>
          <a:stretch>
            <a:fillRect/>
          </a:stretch>
        </p:blipFill>
        <p:spPr bwMode="auto">
          <a:xfrm>
            <a:off x="858416" y="-92075"/>
            <a:ext cx="10842172" cy="6950075"/>
          </a:xfrm>
          <a:prstGeom prst="rect">
            <a:avLst/>
          </a:prstGeom>
          <a:noFill/>
          <a:ln w="9525">
            <a:noFill/>
            <a:miter lim="800000"/>
            <a:headEnd/>
            <a:tailEnd/>
          </a:ln>
          <a:effectLst/>
        </p:spPr>
      </p:pic>
    </p:spTree>
    <p:extLst>
      <p:ext uri="{BB962C8B-B14F-4D97-AF65-F5344CB8AC3E}">
        <p14:creationId xmlns:p14="http://schemas.microsoft.com/office/powerpoint/2010/main" val="2178728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2" name="Picture 4"/>
          <p:cNvPicPr>
            <a:picLocks noChangeAspect="1" noChangeArrowheads="1"/>
          </p:cNvPicPr>
          <p:nvPr/>
        </p:nvPicPr>
        <p:blipFill>
          <a:blip r:embed="rId2" cstate="print"/>
          <a:srcRect l="19376" t="14999" r="17500" b="10001"/>
          <a:stretch>
            <a:fillRect/>
          </a:stretch>
        </p:blipFill>
        <p:spPr bwMode="auto">
          <a:xfrm>
            <a:off x="1524000" y="0"/>
            <a:ext cx="9144000" cy="6789738"/>
          </a:xfrm>
          <a:prstGeom prst="rect">
            <a:avLst/>
          </a:prstGeom>
          <a:noFill/>
          <a:ln w="9525">
            <a:noFill/>
            <a:miter lim="800000"/>
            <a:headEnd/>
            <a:tailEnd/>
          </a:ln>
          <a:effectLst/>
        </p:spPr>
      </p:pic>
    </p:spTree>
    <p:extLst>
      <p:ext uri="{BB962C8B-B14F-4D97-AF65-F5344CB8AC3E}">
        <p14:creationId xmlns:p14="http://schemas.microsoft.com/office/powerpoint/2010/main" val="20522756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8" name="Picture 4"/>
          <p:cNvPicPr>
            <a:picLocks noChangeAspect="1" noChangeArrowheads="1"/>
          </p:cNvPicPr>
          <p:nvPr/>
        </p:nvPicPr>
        <p:blipFill rotWithShape="1">
          <a:blip r:embed="rId3" cstate="print"/>
          <a:srcRect l="18698" t="19771" r="17513" b="37849"/>
          <a:stretch/>
        </p:blipFill>
        <p:spPr bwMode="auto">
          <a:xfrm>
            <a:off x="1524000" y="0"/>
            <a:ext cx="9144000" cy="4213412"/>
          </a:xfrm>
          <a:prstGeom prst="rect">
            <a:avLst/>
          </a:prstGeom>
          <a:noFill/>
          <a:ln w="9525">
            <a:noFill/>
            <a:miter lim="800000"/>
            <a:headEnd/>
            <a:tailEnd/>
          </a:ln>
        </p:spPr>
      </p:pic>
      <p:pic>
        <p:nvPicPr>
          <p:cNvPr id="3" name="Picture 4"/>
          <p:cNvPicPr>
            <a:picLocks noChangeAspect="1" noChangeArrowheads="1"/>
          </p:cNvPicPr>
          <p:nvPr/>
        </p:nvPicPr>
        <p:blipFill>
          <a:blip r:embed="rId3" cstate="print"/>
          <a:srcRect l="18698" t="19771" r="17513" b="11250"/>
          <a:stretch>
            <a:fillRect/>
          </a:stretch>
        </p:blipFill>
        <p:spPr bwMode="auto">
          <a:xfrm>
            <a:off x="1524000" y="0"/>
            <a:ext cx="9144000" cy="6858000"/>
          </a:xfrm>
          <a:prstGeom prst="rect">
            <a:avLst/>
          </a:prstGeom>
          <a:noFill/>
          <a:ln w="9525">
            <a:noFill/>
            <a:miter lim="800000"/>
            <a:headEnd/>
            <a:tailEnd/>
          </a:ln>
        </p:spPr>
      </p:pic>
    </p:spTree>
    <p:extLst>
      <p:ext uri="{BB962C8B-B14F-4D97-AF65-F5344CB8AC3E}">
        <p14:creationId xmlns:p14="http://schemas.microsoft.com/office/powerpoint/2010/main" val="108492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2" name="Picture 4"/>
          <p:cNvPicPr>
            <a:picLocks noChangeAspect="1" noChangeArrowheads="1"/>
          </p:cNvPicPr>
          <p:nvPr/>
        </p:nvPicPr>
        <p:blipFill rotWithShape="1">
          <a:blip r:embed="rId2" cstate="print"/>
          <a:srcRect l="19284" t="14084" r="16927" b="40601"/>
          <a:stretch/>
        </p:blipFill>
        <p:spPr bwMode="auto">
          <a:xfrm>
            <a:off x="1524000" y="2"/>
            <a:ext cx="9144000" cy="3980328"/>
          </a:xfrm>
          <a:prstGeom prst="rect">
            <a:avLst/>
          </a:prstGeom>
          <a:noFill/>
          <a:ln w="9525">
            <a:noFill/>
            <a:miter lim="800000"/>
            <a:headEnd/>
            <a:tailEnd/>
          </a:ln>
        </p:spPr>
      </p:pic>
      <p:pic>
        <p:nvPicPr>
          <p:cNvPr id="3" name="Picture 4"/>
          <p:cNvPicPr>
            <a:picLocks noChangeAspect="1" noChangeArrowheads="1"/>
          </p:cNvPicPr>
          <p:nvPr/>
        </p:nvPicPr>
        <p:blipFill>
          <a:blip r:embed="rId2" cstate="print"/>
          <a:srcRect l="19284" t="14084" r="16927" b="9375"/>
          <a:stretch>
            <a:fillRect/>
          </a:stretch>
        </p:blipFill>
        <p:spPr bwMode="auto">
          <a:xfrm>
            <a:off x="1524000" y="1"/>
            <a:ext cx="9144000" cy="6723063"/>
          </a:xfrm>
          <a:prstGeom prst="rect">
            <a:avLst/>
          </a:prstGeom>
          <a:noFill/>
          <a:ln w="9525">
            <a:noFill/>
            <a:miter lim="800000"/>
            <a:headEnd/>
            <a:tailEnd/>
          </a:ln>
        </p:spPr>
      </p:pic>
    </p:spTree>
    <p:extLst>
      <p:ext uri="{BB962C8B-B14F-4D97-AF65-F5344CB8AC3E}">
        <p14:creationId xmlns:p14="http://schemas.microsoft.com/office/powerpoint/2010/main" val="70769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6" name="Picture 4"/>
          <p:cNvPicPr>
            <a:picLocks noChangeAspect="1" noChangeArrowheads="1"/>
          </p:cNvPicPr>
          <p:nvPr/>
        </p:nvPicPr>
        <p:blipFill rotWithShape="1">
          <a:blip r:embed="rId3" cstate="print"/>
          <a:srcRect l="18698" t="18813" r="16927" b="37240"/>
          <a:stretch/>
        </p:blipFill>
        <p:spPr bwMode="auto">
          <a:xfrm>
            <a:off x="1524000" y="0"/>
            <a:ext cx="9144000" cy="4141694"/>
          </a:xfrm>
          <a:prstGeom prst="rect">
            <a:avLst/>
          </a:prstGeom>
          <a:noFill/>
          <a:ln w="9525">
            <a:noFill/>
            <a:miter lim="800000"/>
            <a:headEnd/>
            <a:tailEnd/>
          </a:ln>
        </p:spPr>
      </p:pic>
      <p:pic>
        <p:nvPicPr>
          <p:cNvPr id="2" name="Picture 1"/>
          <p:cNvPicPr>
            <a:picLocks noChangeAspect="1"/>
          </p:cNvPicPr>
          <p:nvPr/>
        </p:nvPicPr>
        <p:blipFill>
          <a:blip r:embed="rId4"/>
          <a:stretch>
            <a:fillRect/>
          </a:stretch>
        </p:blipFill>
        <p:spPr>
          <a:xfrm>
            <a:off x="2341678" y="4138439"/>
            <a:ext cx="1323975" cy="542925"/>
          </a:xfrm>
          <a:prstGeom prst="rect">
            <a:avLst/>
          </a:prstGeom>
        </p:spPr>
      </p:pic>
      <p:sp>
        <p:nvSpPr>
          <p:cNvPr id="5" name="Rectangle 4"/>
          <p:cNvSpPr/>
          <p:nvPr/>
        </p:nvSpPr>
        <p:spPr>
          <a:xfrm>
            <a:off x="9029197" y="4225235"/>
            <a:ext cx="1220206" cy="369332"/>
          </a:xfrm>
          <a:prstGeom prst="rect">
            <a:avLst/>
          </a:prstGeom>
        </p:spPr>
        <p:txBody>
          <a:bodyPr wrap="none">
            <a:spAutoFit/>
          </a:bodyPr>
          <a:lstStyle/>
          <a:p>
            <a:r>
              <a:rPr lang="en-US" b="1" spc="-100" dirty="0">
                <a:solidFill>
                  <a:srgbClr val="0000CC"/>
                </a:solidFill>
                <a:latin typeface="Comic Sans MS" panose="030F0702030302020204" pitchFamily="66" charset="0"/>
                <a:cs typeface="Arial" panose="020B0604020202020204" pitchFamily="34" charset="0"/>
              </a:rPr>
              <a:t>Risk Curve</a:t>
            </a:r>
            <a:endParaRPr lang="en-US" dirty="0"/>
          </a:p>
        </p:txBody>
      </p:sp>
      <p:pic>
        <p:nvPicPr>
          <p:cNvPr id="6" name="Picture 4"/>
          <p:cNvPicPr>
            <a:picLocks noChangeAspect="1" noChangeArrowheads="1"/>
          </p:cNvPicPr>
          <p:nvPr/>
        </p:nvPicPr>
        <p:blipFill>
          <a:blip r:embed="rId3" cstate="print"/>
          <a:srcRect l="18698" t="18813" r="16927" b="8417"/>
          <a:stretch>
            <a:fillRect/>
          </a:stretch>
        </p:blipFill>
        <p:spPr bwMode="auto">
          <a:xfrm>
            <a:off x="1524000" y="0"/>
            <a:ext cx="9144000" cy="6858000"/>
          </a:xfrm>
          <a:prstGeom prst="rect">
            <a:avLst/>
          </a:prstGeom>
          <a:noFill/>
          <a:ln w="9525">
            <a:noFill/>
            <a:miter lim="800000"/>
            <a:headEnd/>
            <a:tailEnd/>
          </a:ln>
        </p:spPr>
      </p:pic>
    </p:spTree>
    <p:extLst>
      <p:ext uri="{BB962C8B-B14F-4D97-AF65-F5344CB8AC3E}">
        <p14:creationId xmlns:p14="http://schemas.microsoft.com/office/powerpoint/2010/main" val="2339501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80" name="Picture 4"/>
          <p:cNvPicPr>
            <a:picLocks noChangeAspect="1" noChangeArrowheads="1"/>
          </p:cNvPicPr>
          <p:nvPr/>
        </p:nvPicPr>
        <p:blipFill>
          <a:blip r:embed="rId2" cstate="print"/>
          <a:srcRect l="15157" t="14084" r="12500" b="7480"/>
          <a:stretch>
            <a:fillRect/>
          </a:stretch>
        </p:blipFill>
        <p:spPr bwMode="auto">
          <a:xfrm>
            <a:off x="1507671" y="97064"/>
            <a:ext cx="9646517" cy="6760936"/>
          </a:xfrm>
          <a:prstGeom prst="rect">
            <a:avLst/>
          </a:prstGeom>
          <a:noFill/>
          <a:ln w="9525">
            <a:noFill/>
            <a:miter lim="800000"/>
            <a:headEnd/>
            <a:tailEnd/>
          </a:ln>
        </p:spPr>
      </p:pic>
    </p:spTree>
    <p:extLst>
      <p:ext uri="{BB962C8B-B14F-4D97-AF65-F5344CB8AC3E}">
        <p14:creationId xmlns:p14="http://schemas.microsoft.com/office/powerpoint/2010/main" val="2277675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l="16406" t="19791" r="15625" b="12500"/>
          <a:stretch>
            <a:fillRect/>
          </a:stretch>
        </p:blipFill>
        <p:spPr bwMode="auto">
          <a:xfrm>
            <a:off x="1524000" y="58684"/>
            <a:ext cx="9100624" cy="6799316"/>
          </a:xfrm>
          <a:prstGeom prst="rect">
            <a:avLst/>
          </a:prstGeom>
          <a:noFill/>
          <a:ln w="9525">
            <a:noFill/>
            <a:miter lim="800000"/>
            <a:headEnd/>
            <a:tailEnd/>
          </a:ln>
          <a:effectLst/>
        </p:spPr>
      </p:pic>
    </p:spTree>
    <p:extLst>
      <p:ext uri="{BB962C8B-B14F-4D97-AF65-F5344CB8AC3E}">
        <p14:creationId xmlns:p14="http://schemas.microsoft.com/office/powerpoint/2010/main" val="3833874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4" name="Picture 4"/>
          <p:cNvPicPr>
            <a:picLocks noChangeAspect="1" noChangeArrowheads="1"/>
          </p:cNvPicPr>
          <p:nvPr/>
        </p:nvPicPr>
        <p:blipFill>
          <a:blip r:embed="rId2" cstate="print"/>
          <a:srcRect l="16927" t="15764" r="12500" b="8417"/>
          <a:stretch>
            <a:fillRect/>
          </a:stretch>
        </p:blipFill>
        <p:spPr bwMode="auto">
          <a:xfrm>
            <a:off x="1524000" y="0"/>
            <a:ext cx="9144000" cy="6858000"/>
          </a:xfrm>
          <a:prstGeom prst="rect">
            <a:avLst/>
          </a:prstGeom>
          <a:noFill/>
          <a:ln w="9525">
            <a:noFill/>
            <a:miter lim="800000"/>
            <a:headEnd/>
            <a:tailEnd/>
          </a:ln>
        </p:spPr>
      </p:pic>
    </p:spTree>
    <p:extLst>
      <p:ext uri="{BB962C8B-B14F-4D97-AF65-F5344CB8AC3E}">
        <p14:creationId xmlns:p14="http://schemas.microsoft.com/office/powerpoint/2010/main" val="42294684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6" name="Picture 4"/>
          <p:cNvPicPr>
            <a:picLocks noChangeAspect="1" noChangeArrowheads="1"/>
          </p:cNvPicPr>
          <p:nvPr/>
        </p:nvPicPr>
        <p:blipFill>
          <a:blip r:embed="rId2" cstate="print"/>
          <a:srcRect l="14766" t="14166" r="12291" b="8333"/>
          <a:stretch>
            <a:fillRect/>
          </a:stretch>
        </p:blipFill>
        <p:spPr bwMode="auto">
          <a:xfrm>
            <a:off x="541175" y="0"/>
            <a:ext cx="11122089" cy="6858000"/>
          </a:xfrm>
          <a:prstGeom prst="rect">
            <a:avLst/>
          </a:prstGeom>
          <a:noFill/>
          <a:ln w="9525">
            <a:noFill/>
            <a:miter lim="800000"/>
            <a:headEnd/>
            <a:tailEnd/>
          </a:ln>
        </p:spPr>
      </p:pic>
    </p:spTree>
    <p:extLst>
      <p:ext uri="{BB962C8B-B14F-4D97-AF65-F5344CB8AC3E}">
        <p14:creationId xmlns:p14="http://schemas.microsoft.com/office/powerpoint/2010/main" val="1951137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6" name="Picture 4"/>
          <p:cNvPicPr>
            <a:picLocks noChangeAspect="1" noChangeArrowheads="1"/>
          </p:cNvPicPr>
          <p:nvPr/>
        </p:nvPicPr>
        <p:blipFill rotWithShape="1">
          <a:blip r:embed="rId2" cstate="print"/>
          <a:srcRect l="19376" t="14629" r="17500" b="10001"/>
          <a:stretch/>
        </p:blipFill>
        <p:spPr bwMode="auto">
          <a:xfrm>
            <a:off x="979714" y="0"/>
            <a:ext cx="10629900" cy="6858000"/>
          </a:xfrm>
          <a:prstGeom prst="rect">
            <a:avLst/>
          </a:prstGeom>
          <a:noFill/>
          <a:ln w="9525">
            <a:noFill/>
            <a:miter lim="800000"/>
            <a:headEnd/>
            <a:tailEnd/>
          </a:ln>
          <a:effectLst/>
        </p:spPr>
      </p:pic>
    </p:spTree>
    <p:extLst>
      <p:ext uri="{BB962C8B-B14F-4D97-AF65-F5344CB8AC3E}">
        <p14:creationId xmlns:p14="http://schemas.microsoft.com/office/powerpoint/2010/main" val="797306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p:cNvSpPr>
          <p:nvPr>
            <p:ph type="title"/>
          </p:nvPr>
        </p:nvSpPr>
        <p:spPr/>
        <p:txBody>
          <a:bodyPr/>
          <a:lstStyle/>
          <a:p>
            <a:r>
              <a:rPr lang="en-US" dirty="0"/>
              <a:t>Elements at Risk</a:t>
            </a:r>
          </a:p>
        </p:txBody>
      </p:sp>
      <p:sp>
        <p:nvSpPr>
          <p:cNvPr id="79875" name="Rectangle 3"/>
          <p:cNvSpPr>
            <a:spLocks noGrp="1"/>
          </p:cNvSpPr>
          <p:nvPr>
            <p:ph type="body" idx="1"/>
          </p:nvPr>
        </p:nvSpPr>
        <p:spPr>
          <a:xfrm>
            <a:off x="565265" y="1828800"/>
            <a:ext cx="11272059" cy="4572000"/>
          </a:xfrm>
        </p:spPr>
        <p:txBody>
          <a:bodyPr/>
          <a:lstStyle/>
          <a:p>
            <a:pPr>
              <a:lnSpc>
                <a:spcPct val="120000"/>
              </a:lnSpc>
              <a:spcAft>
                <a:spcPts val="1200"/>
              </a:spcAft>
            </a:pPr>
            <a:r>
              <a:rPr lang="en-US" dirty="0"/>
              <a:t>All objects, persons, animals, activities and processes that may be adversely affected by hazardous phenomena, in a particular area, either directly or indirectly. </a:t>
            </a:r>
          </a:p>
          <a:p>
            <a:pPr>
              <a:lnSpc>
                <a:spcPct val="120000"/>
              </a:lnSpc>
              <a:spcAft>
                <a:spcPts val="1200"/>
              </a:spcAft>
            </a:pPr>
            <a:r>
              <a:rPr lang="en-US" dirty="0"/>
              <a:t>This includes: buildings, facilities, population, livestock, economic activities, public services, environment.</a:t>
            </a:r>
          </a:p>
        </p:txBody>
      </p:sp>
    </p:spTree>
    <p:extLst>
      <p:ext uri="{BB962C8B-B14F-4D97-AF65-F5344CB8AC3E}">
        <p14:creationId xmlns:p14="http://schemas.microsoft.com/office/powerpoint/2010/main" val="7477487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900" name="Picture 4"/>
          <p:cNvPicPr>
            <a:picLocks noChangeAspect="1" noChangeArrowheads="1"/>
          </p:cNvPicPr>
          <p:nvPr/>
        </p:nvPicPr>
        <p:blipFill>
          <a:blip r:embed="rId2" cstate="print"/>
          <a:srcRect l="19376" t="14999" r="17500" b="9000"/>
          <a:stretch>
            <a:fillRect/>
          </a:stretch>
        </p:blipFill>
        <p:spPr bwMode="auto">
          <a:xfrm>
            <a:off x="1524000" y="-22225"/>
            <a:ext cx="9144000" cy="6880225"/>
          </a:xfrm>
          <a:prstGeom prst="rect">
            <a:avLst/>
          </a:prstGeom>
          <a:noFill/>
          <a:ln w="9525">
            <a:noFill/>
            <a:miter lim="800000"/>
            <a:headEnd/>
            <a:tailEnd/>
          </a:ln>
          <a:effectLst/>
        </p:spPr>
      </p:pic>
    </p:spTree>
    <p:extLst>
      <p:ext uri="{BB962C8B-B14F-4D97-AF65-F5344CB8AC3E}">
        <p14:creationId xmlns:p14="http://schemas.microsoft.com/office/powerpoint/2010/main" val="1502042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229600" cy="756320"/>
          </a:xfrm>
        </p:spPr>
        <p:txBody>
          <a:bodyPr>
            <a:normAutofit/>
          </a:bodyPr>
          <a:lstStyle/>
          <a:p>
            <a:r>
              <a:rPr lang="en-US" dirty="0"/>
              <a:t>Elements of Risk Matrix</a:t>
            </a:r>
            <a:endParaRPr lang="en-IN"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63622205"/>
              </p:ext>
            </p:extLst>
          </p:nvPr>
        </p:nvGraphicFramePr>
        <p:xfrm>
          <a:off x="1028700" y="1157845"/>
          <a:ext cx="10009413" cy="5471555"/>
        </p:xfrm>
        <a:graphic>
          <a:graphicData uri="http://schemas.openxmlformats.org/drawingml/2006/table">
            <a:tbl>
              <a:tblPr/>
              <a:tblGrid>
                <a:gridCol w="1629657">
                  <a:extLst>
                    <a:ext uri="{9D8B030D-6E8A-4147-A177-3AD203B41FA5}">
                      <a16:colId xmlns:a16="http://schemas.microsoft.com/office/drawing/2014/main" val="20000"/>
                    </a:ext>
                  </a:extLst>
                </a:gridCol>
                <a:gridCol w="1436979">
                  <a:extLst>
                    <a:ext uri="{9D8B030D-6E8A-4147-A177-3AD203B41FA5}">
                      <a16:colId xmlns:a16="http://schemas.microsoft.com/office/drawing/2014/main" val="20001"/>
                    </a:ext>
                  </a:extLst>
                </a:gridCol>
                <a:gridCol w="1858567">
                  <a:extLst>
                    <a:ext uri="{9D8B030D-6E8A-4147-A177-3AD203B41FA5}">
                      <a16:colId xmlns:a16="http://schemas.microsoft.com/office/drawing/2014/main" val="20002"/>
                    </a:ext>
                  </a:extLst>
                </a:gridCol>
                <a:gridCol w="1208069">
                  <a:extLst>
                    <a:ext uri="{9D8B030D-6E8A-4147-A177-3AD203B41FA5}">
                      <a16:colId xmlns:a16="http://schemas.microsoft.com/office/drawing/2014/main" val="20003"/>
                    </a:ext>
                  </a:extLst>
                </a:gridCol>
                <a:gridCol w="1300996">
                  <a:extLst>
                    <a:ext uri="{9D8B030D-6E8A-4147-A177-3AD203B41FA5}">
                      <a16:colId xmlns:a16="http://schemas.microsoft.com/office/drawing/2014/main" val="20004"/>
                    </a:ext>
                  </a:extLst>
                </a:gridCol>
                <a:gridCol w="1300996">
                  <a:extLst>
                    <a:ext uri="{9D8B030D-6E8A-4147-A177-3AD203B41FA5}">
                      <a16:colId xmlns:a16="http://schemas.microsoft.com/office/drawing/2014/main" val="20005"/>
                    </a:ext>
                  </a:extLst>
                </a:gridCol>
                <a:gridCol w="1274149">
                  <a:extLst>
                    <a:ext uri="{9D8B030D-6E8A-4147-A177-3AD203B41FA5}">
                      <a16:colId xmlns:a16="http://schemas.microsoft.com/office/drawing/2014/main" val="20006"/>
                    </a:ext>
                  </a:extLst>
                </a:gridCol>
              </a:tblGrid>
              <a:tr h="372318">
                <a:tc rowSpan="2">
                  <a:txBody>
                    <a:bodyPr/>
                    <a:lstStyle/>
                    <a:p>
                      <a:pPr algn="ctr">
                        <a:lnSpc>
                          <a:spcPct val="100000"/>
                        </a:lnSpc>
                        <a:spcAft>
                          <a:spcPts val="0"/>
                        </a:spcAft>
                      </a:pPr>
                      <a:r>
                        <a:rPr lang="en-US" sz="1600" b="1" dirty="0">
                          <a:latin typeface="Calibri"/>
                          <a:ea typeface="Calibri"/>
                          <a:cs typeface="Times New Roman"/>
                        </a:rPr>
                        <a:t>Hazard Type</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rowSpan="2" gridSpan="2">
                  <a:txBody>
                    <a:bodyPr/>
                    <a:lstStyle/>
                    <a:p>
                      <a:pPr algn="ctr">
                        <a:lnSpc>
                          <a:spcPct val="100000"/>
                        </a:lnSpc>
                        <a:spcAft>
                          <a:spcPts val="0"/>
                        </a:spcAft>
                      </a:pPr>
                      <a:r>
                        <a:rPr lang="en-US" sz="1600" b="1" dirty="0">
                          <a:latin typeface="Calibri"/>
                          <a:ea typeface="Calibri"/>
                          <a:cs typeface="Times New Roman"/>
                        </a:rPr>
                        <a:t>Element  at Risk</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rowSpan="2" hMerge="1">
                  <a:txBody>
                    <a:bodyPr/>
                    <a:lstStyle/>
                    <a:p>
                      <a:endParaRPr lang="en-IN"/>
                    </a:p>
                  </a:txBody>
                  <a:tcPr/>
                </a:tc>
                <a:tc gridSpan="4">
                  <a:txBody>
                    <a:bodyPr/>
                    <a:lstStyle/>
                    <a:p>
                      <a:pPr algn="ctr">
                        <a:lnSpc>
                          <a:spcPct val="100000"/>
                        </a:lnSpc>
                        <a:spcAft>
                          <a:spcPts val="0"/>
                        </a:spcAft>
                      </a:pPr>
                      <a:r>
                        <a:rPr lang="en-US" sz="1600" b="1" dirty="0">
                          <a:latin typeface="Calibri"/>
                          <a:ea typeface="Calibri"/>
                          <a:cs typeface="Times New Roman"/>
                        </a:rPr>
                        <a:t>Sources (bold = primary source)</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72318">
                <a:tc vMerge="1">
                  <a:txBody>
                    <a:bodyPr/>
                    <a:lstStyle/>
                    <a:p>
                      <a:endParaRPr lang="en-IN"/>
                    </a:p>
                  </a:txBody>
                  <a:tcPr/>
                </a:tc>
                <a:tc gridSpan="2" vMerge="1">
                  <a:txBody>
                    <a:bodyPr/>
                    <a:lstStyle/>
                    <a:p>
                      <a:endParaRPr lang="en-IN"/>
                    </a:p>
                  </a:txBody>
                  <a:tcPr/>
                </a:tc>
                <a:tc hMerge="1" vMerge="1">
                  <a:txBody>
                    <a:bodyPr/>
                    <a:lstStyle/>
                    <a:p>
                      <a:endParaRPr lang="en-IN"/>
                    </a:p>
                  </a:txBody>
                  <a:tcPr/>
                </a:tc>
                <a:tc>
                  <a:txBody>
                    <a:bodyPr/>
                    <a:lstStyle/>
                    <a:p>
                      <a:pPr algn="ctr">
                        <a:lnSpc>
                          <a:spcPct val="100000"/>
                        </a:lnSpc>
                        <a:spcAft>
                          <a:spcPts val="0"/>
                        </a:spcAft>
                      </a:pPr>
                      <a:r>
                        <a:rPr lang="en-US" sz="1600" b="1" dirty="0">
                          <a:latin typeface="Calibri"/>
                          <a:ea typeface="Calibri"/>
                          <a:cs typeface="Times New Roman"/>
                        </a:rPr>
                        <a:t>Register</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00000"/>
                        </a:lnSpc>
                        <a:spcAft>
                          <a:spcPts val="0"/>
                        </a:spcAft>
                      </a:pPr>
                      <a:r>
                        <a:rPr lang="en-US" sz="1600" b="1" dirty="0">
                          <a:latin typeface="Calibri"/>
                          <a:ea typeface="Calibri"/>
                          <a:cs typeface="Times New Roman"/>
                        </a:rPr>
                        <a:t>Map</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00000"/>
                        </a:lnSpc>
                        <a:spcAft>
                          <a:spcPts val="0"/>
                        </a:spcAft>
                      </a:pPr>
                      <a:r>
                        <a:rPr lang="en-US" sz="1600" b="1" dirty="0">
                          <a:latin typeface="Calibri"/>
                          <a:ea typeface="Calibri"/>
                          <a:cs typeface="Times New Roman"/>
                        </a:rPr>
                        <a:t>Field</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algn="ctr">
                        <a:lnSpc>
                          <a:spcPct val="100000"/>
                        </a:lnSpc>
                        <a:spcAft>
                          <a:spcPts val="0"/>
                        </a:spcAft>
                      </a:pPr>
                      <a:r>
                        <a:rPr lang="en-US" sz="1600" b="1" dirty="0">
                          <a:latin typeface="Calibri"/>
                          <a:ea typeface="Calibri"/>
                          <a:cs typeface="Times New Roman"/>
                        </a:rPr>
                        <a:t>Image</a:t>
                      </a:r>
                      <a:endParaRPr lang="en-IN" sz="1600" b="1"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10001"/>
                  </a:ext>
                </a:extLst>
              </a:tr>
              <a:tr h="339748">
                <a:tc>
                  <a:txBody>
                    <a:bodyPr/>
                    <a:lstStyle/>
                    <a:p>
                      <a:pPr>
                        <a:lnSpc>
                          <a:spcPct val="100000"/>
                        </a:lnSpc>
                        <a:spcAft>
                          <a:spcPts val="0"/>
                        </a:spcAft>
                      </a:pPr>
                      <a:r>
                        <a:rPr lang="en-US" sz="1600" b="1" dirty="0">
                          <a:solidFill>
                            <a:srgbClr val="C00000"/>
                          </a:solidFill>
                          <a:latin typeface="Calibri"/>
                          <a:ea typeface="Calibri"/>
                          <a:cs typeface="Times New Roman"/>
                        </a:rPr>
                        <a:t>Earthquake</a:t>
                      </a:r>
                      <a:endParaRPr lang="en-IN" sz="1600" b="1" dirty="0">
                        <a:solidFill>
                          <a:srgbClr val="C00000"/>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b="1" dirty="0">
                          <a:solidFill>
                            <a:srgbClr val="C840AB"/>
                          </a:solidFill>
                          <a:latin typeface="Calibri"/>
                          <a:ea typeface="Calibri"/>
                          <a:cs typeface="Times New Roman"/>
                        </a:rPr>
                        <a:t>Buildings</a:t>
                      </a:r>
                      <a:endParaRPr lang="en-IN"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Building type</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600">
                          <a:latin typeface="Calibri"/>
                          <a:ea typeface="Calibri"/>
                          <a:cs typeface="Calibri"/>
                        </a:rPr>
                        <a:t>√</a:t>
                      </a:r>
                      <a:endParaRPr lang="en-IN"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600">
                          <a:latin typeface="Calibri"/>
                          <a:ea typeface="Calibri"/>
                          <a:cs typeface="Calibri"/>
                        </a:rPr>
                        <a:t>√</a:t>
                      </a:r>
                      <a:endParaRPr lang="en-IN"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600">
                          <a:latin typeface="Calibri"/>
                          <a:ea typeface="Calibri"/>
                          <a:cs typeface="Calibri"/>
                        </a:rPr>
                        <a:t>√</a:t>
                      </a:r>
                      <a:endParaRPr lang="en-IN"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sz="1600" b="1" dirty="0">
                          <a:latin typeface="Calibri"/>
                          <a:ea typeface="Calibri"/>
                          <a:cs typeface="Calibri"/>
                        </a:rPr>
                        <a:t>√</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55262">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Structure type</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2318">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Material</a:t>
                      </a: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2318">
                <a:tc>
                  <a:txBody>
                    <a:bodyPr/>
                    <a:lstStyle/>
                    <a:p>
                      <a:pPr>
                        <a:lnSpc>
                          <a:spcPct val="100000"/>
                        </a:lnSpc>
                        <a:spcAft>
                          <a:spcPts val="0"/>
                        </a:spcAft>
                      </a:pP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IN"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Height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72318">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Use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72318">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Shape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277698">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dirty="0">
                          <a:latin typeface="Calibri"/>
                          <a:ea typeface="Calibri"/>
                          <a:cs typeface="Times New Roman"/>
                        </a:rPr>
                        <a:t>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62662">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626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C840AB"/>
                          </a:solidFill>
                          <a:latin typeface="Calibri"/>
                          <a:ea typeface="Calibri"/>
                          <a:cs typeface="Times New Roman"/>
                        </a:rPr>
                        <a:t>Lifelines</a:t>
                      </a:r>
                      <a:endParaRPr lang="en-IN"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279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310265">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b="1" dirty="0">
                          <a:solidFill>
                            <a:srgbClr val="C840AB"/>
                          </a:solidFill>
                          <a:latin typeface="Calibri"/>
                          <a:ea typeface="Calibri"/>
                          <a:cs typeface="Times New Roman"/>
                        </a:rPr>
                        <a:t>Population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262662">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C840AB"/>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3"/>
                  </a:ext>
                </a:extLst>
              </a:tr>
              <a:tr h="525325">
                <a:tc>
                  <a:txBody>
                    <a:bodyPr/>
                    <a:lstStyle/>
                    <a:p>
                      <a:pP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r>
                        <a:rPr lang="en-US" sz="1600" b="1" dirty="0">
                          <a:solidFill>
                            <a:srgbClr val="C840AB"/>
                          </a:solidFill>
                          <a:latin typeface="Calibri"/>
                          <a:ea typeface="Calibri"/>
                          <a:cs typeface="Times New Roman"/>
                        </a:rPr>
                        <a:t>Essential facilities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313457">
                <a:tc>
                  <a:txBody>
                    <a:bodyPr/>
                    <a:lstStyle/>
                    <a:p>
                      <a:pPr marL="0" algn="l" rtl="0" eaLnBrk="1" latinLnBrk="0" hangingPunct="1">
                        <a:lnSpc>
                          <a:spcPct val="100000"/>
                        </a:lnSpc>
                        <a:spcAft>
                          <a:spcPts val="0"/>
                        </a:spcAft>
                      </a:pPr>
                      <a:r>
                        <a:rPr kumimoji="0" lang="en-US" sz="1600" b="1" kern="1200" dirty="0">
                          <a:solidFill>
                            <a:srgbClr val="C00000"/>
                          </a:solidFill>
                          <a:latin typeface="Calibri"/>
                          <a:ea typeface="Calibri"/>
                          <a:cs typeface="Times New Roman"/>
                        </a:rPr>
                        <a:t>Flood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b="1" dirty="0">
                        <a:solidFill>
                          <a:srgbClr val="00421E"/>
                        </a:solidFill>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nSpc>
                          <a:spcPct val="100000"/>
                        </a:lnSpc>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a:lnSpc>
                          <a:spcPct val="100000"/>
                        </a:lnSpc>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4176254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spc="-100" dirty="0">
                <a:solidFill>
                  <a:srgbClr val="0000CC"/>
                </a:solidFill>
                <a:latin typeface="Comic Sans MS" panose="030F0702030302020204" pitchFamily="66" charset="0"/>
                <a:cs typeface="Arial" panose="020B0604020202020204" pitchFamily="34" charset="0"/>
              </a:rPr>
              <a:t>Exposure to Hazard</a:t>
            </a:r>
          </a:p>
        </p:txBody>
      </p:sp>
      <p:pic>
        <p:nvPicPr>
          <p:cNvPr id="1026" name="Picture 2"/>
          <p:cNvPicPr>
            <a:picLocks noChangeAspect="1" noChangeArrowheads="1"/>
          </p:cNvPicPr>
          <p:nvPr/>
        </p:nvPicPr>
        <p:blipFill>
          <a:blip r:embed="rId3" cstate="print"/>
          <a:srcRect l="5859" t="36133" r="3320" b="9179"/>
          <a:stretch>
            <a:fillRect/>
          </a:stretch>
        </p:blipFill>
        <p:spPr bwMode="auto">
          <a:xfrm>
            <a:off x="1952596" y="1714488"/>
            <a:ext cx="8143932" cy="3929090"/>
          </a:xfrm>
          <a:prstGeom prst="rect">
            <a:avLst/>
          </a:prstGeom>
          <a:noFill/>
          <a:ln w="9525">
            <a:noFill/>
            <a:miter lim="800000"/>
            <a:headEnd/>
            <a:tailEnd/>
          </a:ln>
          <a:effectLst/>
        </p:spPr>
      </p:pic>
    </p:spTree>
    <p:extLst>
      <p:ext uri="{BB962C8B-B14F-4D97-AF65-F5344CB8AC3E}">
        <p14:creationId xmlns:p14="http://schemas.microsoft.com/office/powerpoint/2010/main" val="3550907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p:txBody>
          <a:bodyPr/>
          <a:lstStyle/>
          <a:p>
            <a:pPr eaLnBrk="1" hangingPunct="1"/>
            <a:r>
              <a:rPr lang="en-US"/>
              <a:t> </a:t>
            </a:r>
          </a:p>
        </p:txBody>
      </p:sp>
      <p:sp>
        <p:nvSpPr>
          <p:cNvPr id="43010" name="Content Placeholder 2"/>
          <p:cNvSpPr>
            <a:spLocks noGrp="1"/>
          </p:cNvSpPr>
          <p:nvPr>
            <p:ph sz="quarter" idx="1"/>
          </p:nvPr>
        </p:nvSpPr>
        <p:spPr>
          <a:xfrm>
            <a:off x="1981200" y="1219201"/>
            <a:ext cx="8229600" cy="4937125"/>
          </a:xfrm>
        </p:spPr>
        <p:txBody>
          <a:bodyPr/>
          <a:lstStyle/>
          <a:p>
            <a:pPr eaLnBrk="1" hangingPunct="1"/>
            <a:endParaRPr lang="en-US"/>
          </a:p>
        </p:txBody>
      </p:sp>
      <p:pic>
        <p:nvPicPr>
          <p:cNvPr id="43011" name="Picture 2"/>
          <p:cNvPicPr>
            <a:picLocks noChangeAspect="1" noChangeArrowheads="1"/>
          </p:cNvPicPr>
          <p:nvPr/>
        </p:nvPicPr>
        <p:blipFill>
          <a:blip r:embed="rId2" cstate="print"/>
          <a:srcRect l="10156" t="11459" r="9375" b="10417"/>
          <a:stretch>
            <a:fillRect/>
          </a:stretch>
        </p:blipFill>
        <p:spPr bwMode="auto">
          <a:xfrm>
            <a:off x="1677988" y="228600"/>
            <a:ext cx="8685212" cy="6172200"/>
          </a:xfrm>
          <a:prstGeom prst="rect">
            <a:avLst/>
          </a:prstGeom>
          <a:noFill/>
          <a:ln w="38100">
            <a:solidFill>
              <a:schemeClr val="accent1"/>
            </a:solidFill>
            <a:miter lim="800000"/>
            <a:headEnd/>
            <a:tailEnd/>
          </a:ln>
        </p:spPr>
      </p:pic>
      <p:sp>
        <p:nvSpPr>
          <p:cNvPr id="43012" name="TextBox 4"/>
          <p:cNvSpPr txBox="1">
            <a:spLocks noChangeArrowheads="1"/>
          </p:cNvSpPr>
          <p:nvPr/>
        </p:nvSpPr>
        <p:spPr bwMode="auto">
          <a:xfrm>
            <a:off x="1981200" y="6477001"/>
            <a:ext cx="3581400" cy="307975"/>
          </a:xfrm>
          <a:prstGeom prst="rect">
            <a:avLst/>
          </a:prstGeom>
          <a:noFill/>
          <a:ln w="9525">
            <a:noFill/>
            <a:miter lim="800000"/>
            <a:headEnd/>
            <a:tailEnd/>
          </a:ln>
        </p:spPr>
        <p:txBody>
          <a:bodyPr>
            <a:spAutoFit/>
          </a:bodyPr>
          <a:lstStyle/>
          <a:p>
            <a:r>
              <a:rPr lang="en-US" sz="1400">
                <a:latin typeface="Gill Sans MT" pitchFamily="34" charset="0"/>
              </a:rPr>
              <a:t>Source:  Cees Van Westen, ITC</a:t>
            </a:r>
          </a:p>
        </p:txBody>
      </p:sp>
    </p:spTree>
    <p:extLst>
      <p:ext uri="{BB962C8B-B14F-4D97-AF65-F5344CB8AC3E}">
        <p14:creationId xmlns:p14="http://schemas.microsoft.com/office/powerpoint/2010/main" val="1280817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838200" y="365125"/>
            <a:ext cx="10515600" cy="598261"/>
          </a:xfrm>
        </p:spPr>
        <p:txBody>
          <a:bodyPr>
            <a:normAutofit fontScale="90000"/>
          </a:bodyPr>
          <a:lstStyle/>
          <a:p>
            <a:pPr eaLnBrk="1" hangingPunct="1"/>
            <a:r>
              <a:rPr lang="en-US" dirty="0"/>
              <a:t>Summary</a:t>
            </a:r>
          </a:p>
        </p:txBody>
      </p:sp>
      <p:sp>
        <p:nvSpPr>
          <p:cNvPr id="40962" name="Content Placeholder 2"/>
          <p:cNvSpPr>
            <a:spLocks noGrp="1"/>
          </p:cNvSpPr>
          <p:nvPr>
            <p:ph sz="quarter" idx="1"/>
          </p:nvPr>
        </p:nvSpPr>
        <p:spPr>
          <a:xfrm>
            <a:off x="653143" y="1143001"/>
            <a:ext cx="11168743" cy="5551714"/>
          </a:xfrm>
        </p:spPr>
        <p:txBody>
          <a:bodyPr>
            <a:normAutofit fontScale="85000" lnSpcReduction="20000"/>
          </a:bodyPr>
          <a:lstStyle/>
          <a:p>
            <a:pPr eaLnBrk="1" hangingPunct="1">
              <a:lnSpc>
                <a:spcPct val="110000"/>
              </a:lnSpc>
              <a:spcBef>
                <a:spcPts val="1200"/>
              </a:spcBef>
              <a:spcAft>
                <a:spcPts val="1200"/>
              </a:spcAft>
            </a:pPr>
            <a:r>
              <a:rPr lang="en-US" dirty="0"/>
              <a:t>Three major components to be considered in disaster management</a:t>
            </a:r>
          </a:p>
          <a:p>
            <a:pPr lvl="1" eaLnBrk="1" hangingPunct="1">
              <a:lnSpc>
                <a:spcPct val="110000"/>
              </a:lnSpc>
              <a:spcAft>
                <a:spcPts val="1200"/>
              </a:spcAft>
            </a:pPr>
            <a:r>
              <a:rPr lang="en-US" dirty="0">
                <a:solidFill>
                  <a:srgbClr val="7030A0"/>
                </a:solidFill>
              </a:rPr>
              <a:t>Hazard</a:t>
            </a:r>
          </a:p>
          <a:p>
            <a:pPr lvl="1" eaLnBrk="1" hangingPunct="1">
              <a:lnSpc>
                <a:spcPct val="110000"/>
              </a:lnSpc>
              <a:spcAft>
                <a:spcPts val="1200"/>
              </a:spcAft>
            </a:pPr>
            <a:r>
              <a:rPr lang="en-US" dirty="0">
                <a:solidFill>
                  <a:srgbClr val="7030A0"/>
                </a:solidFill>
              </a:rPr>
              <a:t>Vulnerability</a:t>
            </a:r>
          </a:p>
          <a:p>
            <a:pPr lvl="1" eaLnBrk="1" hangingPunct="1">
              <a:lnSpc>
                <a:spcPct val="110000"/>
              </a:lnSpc>
              <a:spcAft>
                <a:spcPts val="1200"/>
              </a:spcAft>
            </a:pPr>
            <a:r>
              <a:rPr lang="en-US" dirty="0">
                <a:solidFill>
                  <a:srgbClr val="7030A0"/>
                </a:solidFill>
              </a:rPr>
              <a:t>Capacity/amount of losses</a:t>
            </a:r>
          </a:p>
          <a:p>
            <a:pPr eaLnBrk="1" hangingPunct="1">
              <a:lnSpc>
                <a:spcPct val="110000"/>
              </a:lnSpc>
              <a:spcBef>
                <a:spcPts val="1200"/>
              </a:spcBef>
              <a:spcAft>
                <a:spcPts val="1200"/>
              </a:spcAft>
            </a:pPr>
            <a:r>
              <a:rPr lang="en-US" dirty="0"/>
              <a:t>Therefore, disaster risk can be reduced through systematic efforts of </a:t>
            </a:r>
          </a:p>
          <a:p>
            <a:pPr lvl="1" eaLnBrk="1" hangingPunct="1">
              <a:lnSpc>
                <a:spcPct val="110000"/>
              </a:lnSpc>
              <a:spcAft>
                <a:spcPts val="1200"/>
              </a:spcAft>
            </a:pPr>
            <a:r>
              <a:rPr lang="en-US" dirty="0">
                <a:solidFill>
                  <a:srgbClr val="7030A0"/>
                </a:solidFill>
              </a:rPr>
              <a:t>Reducing hazard exposure, </a:t>
            </a:r>
          </a:p>
          <a:p>
            <a:pPr lvl="1" eaLnBrk="1" hangingPunct="1">
              <a:lnSpc>
                <a:spcPct val="110000"/>
              </a:lnSpc>
              <a:spcAft>
                <a:spcPts val="1200"/>
              </a:spcAft>
            </a:pPr>
            <a:r>
              <a:rPr lang="en-US" dirty="0">
                <a:solidFill>
                  <a:srgbClr val="7030A0"/>
                </a:solidFill>
              </a:rPr>
              <a:t>Lessening vulnerability and/or </a:t>
            </a:r>
          </a:p>
          <a:p>
            <a:pPr lvl="1" eaLnBrk="1" hangingPunct="1">
              <a:lnSpc>
                <a:spcPct val="110000"/>
              </a:lnSpc>
              <a:spcAft>
                <a:spcPts val="1200"/>
              </a:spcAft>
            </a:pPr>
            <a:r>
              <a:rPr lang="en-US" dirty="0">
                <a:solidFill>
                  <a:srgbClr val="7030A0"/>
                </a:solidFill>
              </a:rPr>
              <a:t>Developing a greater capacity to face these disasters may reduce the impact of a hazard</a:t>
            </a:r>
          </a:p>
          <a:p>
            <a:pPr eaLnBrk="1" hangingPunct="1">
              <a:lnSpc>
                <a:spcPct val="110000"/>
              </a:lnSpc>
              <a:spcBef>
                <a:spcPts val="1200"/>
              </a:spcBef>
              <a:spcAft>
                <a:spcPts val="1200"/>
              </a:spcAft>
            </a:pPr>
            <a:endParaRPr lang="en-US" dirty="0"/>
          </a:p>
          <a:p>
            <a:pPr lvl="1" eaLnBrk="1" hangingPunct="1">
              <a:lnSpc>
                <a:spcPct val="110000"/>
              </a:lnSpc>
              <a:spcAft>
                <a:spcPts val="1200"/>
              </a:spcAft>
            </a:pPr>
            <a:endParaRPr lang="en-US" dirty="0"/>
          </a:p>
        </p:txBody>
      </p:sp>
    </p:spTree>
    <p:extLst>
      <p:ext uri="{BB962C8B-B14F-4D97-AF65-F5344CB8AC3E}">
        <p14:creationId xmlns:p14="http://schemas.microsoft.com/office/powerpoint/2010/main" val="2089434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9800" y="457200"/>
            <a:ext cx="7543800" cy="762000"/>
          </a:xfrm>
        </p:spPr>
        <p:txBody>
          <a:bodyPr/>
          <a:lstStyle/>
          <a:p>
            <a:pPr>
              <a:defRPr/>
            </a:pPr>
            <a:r>
              <a:rPr lang="en-US" sz="4000" b="1" dirty="0">
                <a:solidFill>
                  <a:srgbClr val="0000CC"/>
                </a:solidFill>
                <a:latin typeface="Comic Sans MS" panose="030F0702030302020204" pitchFamily="66" charset="0"/>
                <a:cs typeface="Arial" panose="020B0604020202020204" pitchFamily="34" charset="0"/>
              </a:rPr>
              <a:t>Discussion/Comment/Question</a:t>
            </a:r>
          </a:p>
        </p:txBody>
      </p:sp>
      <p:pic>
        <p:nvPicPr>
          <p:cNvPr id="44035" name="Picture 4" descr="3d characters around a table assembling a jigsaw puzz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3700" y="1752601"/>
            <a:ext cx="6096000" cy="403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87584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1AB205-947E-4CAC-959A-7D5805ACB982}">
  <we:reference id="wa200010725" version="1.0.0.1" store="en-001" storeType="OMEX"/>
  <we:alternateReferences>
    <we:reference id="wa200010725" version="1.0.0.1" store="WA200010725" storeType="OMEX"/>
  </we:alternateReferences>
  <we:properties>
    <we:property name="claude.fileId" value="&quot;148c2fa0-7869-4c3e-a51d-c8595183974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3540</TotalTime>
  <Words>1567</Words>
  <Application>Microsoft Office PowerPoint</Application>
  <PresentationFormat>Widescreen</PresentationFormat>
  <Paragraphs>219</Paragraphs>
  <Slides>38</Slides>
  <Notes>27</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Comic Sans MS</vt:lpstr>
      <vt:lpstr>Gill Sans MT</vt:lpstr>
      <vt:lpstr>Wingdings 3</vt:lpstr>
      <vt:lpstr>Office Theme</vt:lpstr>
      <vt:lpstr>PowerPoint Presentation</vt:lpstr>
      <vt:lpstr>Learning Outcome</vt:lpstr>
      <vt:lpstr>Reading Material</vt:lpstr>
      <vt:lpstr>Recap - Risk?</vt:lpstr>
      <vt:lpstr>PowerPoint Presentation</vt:lpstr>
      <vt:lpstr>Risk and Risk Assessment</vt:lpstr>
      <vt:lpstr>PowerPoint Presentation</vt:lpstr>
      <vt:lpstr>Risk = Probability of Losses</vt:lpstr>
      <vt:lpstr>Hazard Risk Assessment</vt:lpstr>
      <vt:lpstr>RISK = HAZARD * VULNERABILITY * AMOUNT</vt:lpstr>
      <vt:lpstr>Hazard Identification</vt:lpstr>
      <vt:lpstr>Vulnerability of five (05) elements of a community</vt:lpstr>
      <vt:lpstr>PowerPoint Presentation</vt:lpstr>
      <vt:lpstr>Vulnerability Assessment</vt:lpstr>
      <vt:lpstr>Vulnerability Assessment</vt:lpstr>
      <vt:lpstr>How to do Vulnerability Assessment? </vt:lpstr>
      <vt:lpstr>Risk Assessment</vt:lpstr>
      <vt:lpstr>Risk Analysis Methodology</vt:lpstr>
      <vt:lpstr>Qualitative Risk Analysis</vt:lpstr>
      <vt:lpstr>Quantitative Risk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Elements at Risk</vt:lpstr>
      <vt:lpstr>PowerPoint Presentation</vt:lpstr>
      <vt:lpstr>Elements of Risk Matrix</vt:lpstr>
      <vt:lpstr>Exposure to Hazard</vt:lpstr>
      <vt:lpstr> </vt:lpstr>
      <vt:lpstr>Summary</vt:lpstr>
      <vt:lpstr>Discussion/Comment/Question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Arjumand</dc:creator>
  <cp:lastModifiedBy>Arjumand Zaidi</cp:lastModifiedBy>
  <cp:revision>181</cp:revision>
  <dcterms:created xsi:type="dcterms:W3CDTF">2016-08-22T06:10:37Z</dcterms:created>
  <dcterms:modified xsi:type="dcterms:W3CDTF">2026-09-15T17:07:35Z</dcterms:modified>
</cp:coreProperties>
</file>