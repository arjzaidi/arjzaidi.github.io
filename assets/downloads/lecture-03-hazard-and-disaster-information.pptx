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7" r:id="rId2"/>
    <p:sldId id="349" r:id="rId3"/>
    <p:sldId id="364" r:id="rId4"/>
    <p:sldId id="363" r:id="rId5"/>
    <p:sldId id="352" r:id="rId6"/>
    <p:sldId id="353" r:id="rId7"/>
    <p:sldId id="355" r:id="rId8"/>
    <p:sldId id="350" r:id="rId9"/>
    <p:sldId id="332" r:id="rId10"/>
    <p:sldId id="357" r:id="rId11"/>
    <p:sldId id="362" r:id="rId12"/>
    <p:sldId id="361" r:id="rId13"/>
    <p:sldId id="359" r:id="rId14"/>
    <p:sldId id="360" r:id="rId15"/>
    <p:sldId id="354" r:id="rId16"/>
    <p:sldId id="358" r:id="rId17"/>
    <p:sldId id="282" r:id="rId18"/>
    <p:sldId id="292" r:id="rId19"/>
    <p:sldId id="293" r:id="rId20"/>
    <p:sldId id="335" r:id="rId21"/>
    <p:sldId id="290" r:id="rId22"/>
    <p:sldId id="291" r:id="rId23"/>
    <p:sldId id="337" r:id="rId24"/>
    <p:sldId id="283" r:id="rId25"/>
    <p:sldId id="285" r:id="rId26"/>
    <p:sldId id="284" r:id="rId27"/>
    <p:sldId id="287" r:id="rId28"/>
    <p:sldId id="288" r:id="rId29"/>
    <p:sldId id="271" r:id="rId30"/>
    <p:sldId id="274" r:id="rId31"/>
    <p:sldId id="275" r:id="rId32"/>
    <p:sldId id="277" r:id="rId33"/>
    <p:sldId id="330" r:id="rId34"/>
    <p:sldId id="329" r:id="rId35"/>
    <p:sldId id="29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50B2"/>
    <a:srgbClr val="2D2DD5"/>
    <a:srgbClr val="18B760"/>
    <a:srgbClr val="4897CF"/>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426" autoAdjust="0"/>
    <p:restoredTop sz="77778" autoAdjust="0"/>
  </p:normalViewPr>
  <p:slideViewPr>
    <p:cSldViewPr snapToGrid="0">
      <p:cViewPr varScale="1">
        <p:scale>
          <a:sx n="82" d="100"/>
          <a:sy n="82" d="100"/>
        </p:scale>
        <p:origin x="69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80BE1B-D93D-42D2-845C-E70F46B1E94D}"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8992FB-2E8B-4333-B600-846756F97F52}" type="slidenum">
              <a:rPr lang="en-US" smtClean="0"/>
              <a:t>‹#›</a:t>
            </a:fld>
            <a:endParaRPr lang="en-US"/>
          </a:p>
        </p:txBody>
      </p:sp>
    </p:spTree>
    <p:extLst>
      <p:ext uri="{BB962C8B-B14F-4D97-AF65-F5344CB8AC3E}">
        <p14:creationId xmlns:p14="http://schemas.microsoft.com/office/powerpoint/2010/main" val="2420456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xfrm>
            <a:off x="146050" y="685800"/>
            <a:ext cx="6905625" cy="38846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3FDBFD0-846A-4C4B-8596-F2B82BF81BF8}"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extLst>
      <p:ext uri="{BB962C8B-B14F-4D97-AF65-F5344CB8AC3E}">
        <p14:creationId xmlns:p14="http://schemas.microsoft.com/office/powerpoint/2010/main" val="3773549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2</a:t>
            </a:fld>
            <a:endParaRPr lang="en-US"/>
          </a:p>
        </p:txBody>
      </p:sp>
    </p:spTree>
    <p:extLst>
      <p:ext uri="{BB962C8B-B14F-4D97-AF65-F5344CB8AC3E}">
        <p14:creationId xmlns:p14="http://schemas.microsoft.com/office/powerpoint/2010/main" val="4169651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4</a:t>
            </a:fld>
            <a:endParaRPr lang="en-US"/>
          </a:p>
        </p:txBody>
      </p:sp>
    </p:spTree>
    <p:extLst>
      <p:ext uri="{BB962C8B-B14F-4D97-AF65-F5344CB8AC3E}">
        <p14:creationId xmlns:p14="http://schemas.microsoft.com/office/powerpoint/2010/main" val="3860967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5</a:t>
            </a:fld>
            <a:endParaRPr lang="en-US"/>
          </a:p>
        </p:txBody>
      </p:sp>
    </p:spTree>
    <p:extLst>
      <p:ext uri="{BB962C8B-B14F-4D97-AF65-F5344CB8AC3E}">
        <p14:creationId xmlns:p14="http://schemas.microsoft.com/office/powerpoint/2010/main" val="2787358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https://www.un.org/en/climatechange/reports?gclid=CjwKCAiAk9itBhASEiwA1my_6xOjvC4Q0OQ-Wy6koD-tSClDBvQfuyx-Rkt9XGeIoSS1pkXhNYIL1xoCpFgQAvD_BwE</a:t>
            </a:r>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7</a:t>
            </a:fld>
            <a:endParaRPr lang="en-US"/>
          </a:p>
        </p:txBody>
      </p:sp>
    </p:spTree>
    <p:extLst>
      <p:ext uri="{BB962C8B-B14F-4D97-AF65-F5344CB8AC3E}">
        <p14:creationId xmlns:p14="http://schemas.microsoft.com/office/powerpoint/2010/main" val="1427095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Intergovernmental Panel on Climate Change</a:t>
            </a:r>
          </a:p>
        </p:txBody>
      </p:sp>
      <p:sp>
        <p:nvSpPr>
          <p:cNvPr id="4" name="Slide Number Placeholder 3"/>
          <p:cNvSpPr>
            <a:spLocks noGrp="1"/>
          </p:cNvSpPr>
          <p:nvPr>
            <p:ph type="sldNum" sz="quarter" idx="10"/>
          </p:nvPr>
        </p:nvSpPr>
        <p:spPr/>
        <p:txBody>
          <a:bodyPr/>
          <a:lstStyle/>
          <a:p>
            <a:fld id="{928992FB-2E8B-4333-B600-846756F97F52}" type="slidenum">
              <a:rPr lang="en-US" smtClean="0"/>
              <a:t>8</a:t>
            </a:fld>
            <a:endParaRPr lang="en-US"/>
          </a:p>
        </p:txBody>
      </p:sp>
    </p:spTree>
    <p:extLst>
      <p:ext uri="{BB962C8B-B14F-4D97-AF65-F5344CB8AC3E}">
        <p14:creationId xmlns:p14="http://schemas.microsoft.com/office/powerpoint/2010/main" val="3046811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9</a:t>
            </a:fld>
            <a:endParaRPr lang="en-US"/>
          </a:p>
        </p:txBody>
      </p:sp>
    </p:spTree>
    <p:extLst>
      <p:ext uri="{BB962C8B-B14F-4D97-AF65-F5344CB8AC3E}">
        <p14:creationId xmlns:p14="http://schemas.microsoft.com/office/powerpoint/2010/main" val="2748345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10</a:t>
            </a:fld>
            <a:endParaRPr lang="en-US"/>
          </a:p>
        </p:txBody>
      </p:sp>
    </p:spTree>
    <p:extLst>
      <p:ext uri="{BB962C8B-B14F-4D97-AF65-F5344CB8AC3E}">
        <p14:creationId xmlns:p14="http://schemas.microsoft.com/office/powerpoint/2010/main" val="1741800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sz="1200" b="0" u="none" strike="noStrike" kern="1200" dirty="0">
                <a:solidFill>
                  <a:schemeClr val="tx1"/>
                </a:solidFill>
                <a:effectLst/>
                <a:latin typeface="+mn-lt"/>
                <a:ea typeface="+mn-ea"/>
                <a:cs typeface="+mn-cs"/>
              </a:rPr>
              <a:t>COP, CMP, and CMA are </a:t>
            </a:r>
            <a:r>
              <a:rPr lang="en-US" dirty="0"/>
              <a:t>distinct bodies within</a:t>
            </a:r>
            <a:r>
              <a:rPr lang="en-PK" dirty="0"/>
              <a:t> the </a:t>
            </a:r>
            <a:r>
              <a:rPr lang="en-PK" sz="1200" b="0" u="none" strike="noStrike" kern="1200" dirty="0">
                <a:solidFill>
                  <a:schemeClr val="tx1"/>
                </a:solidFill>
                <a:effectLst/>
                <a:latin typeface="+mn-lt"/>
                <a:ea typeface="+mn-ea"/>
                <a:cs typeface="+mn-cs"/>
              </a:rPr>
              <a:t>United Nations Climate Change</a:t>
            </a:r>
            <a:r>
              <a:rPr lang="en-PK" dirty="0"/>
              <a:t> framework. COP oversees the main climate convention</a:t>
            </a:r>
            <a:r>
              <a:rPr lang="en-US" dirty="0"/>
              <a:t> </a:t>
            </a:r>
            <a:r>
              <a:rPr lang="en-PK" dirty="0"/>
              <a:t>(Conference of the Parties)</a:t>
            </a:r>
            <a:r>
              <a:rPr lang="en-US" dirty="0"/>
              <a:t>.</a:t>
            </a:r>
          </a:p>
          <a:p>
            <a:endParaRPr lang="en-US" dirty="0"/>
          </a:p>
          <a:p>
            <a:r>
              <a:rPr lang="en-US" dirty="0"/>
              <a:t>CMA stands for the Conference of the Parties, serving as the meeting of the Parties to the Paris Agreement. </a:t>
            </a:r>
          </a:p>
          <a:p>
            <a:r>
              <a:rPr lang="en-US" dirty="0"/>
              <a:t>CMP (Conference of the Parties serving as the meeting of the Parties to the Kyoto Protocol) </a:t>
            </a:r>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13</a:t>
            </a:fld>
            <a:endParaRPr lang="en-US"/>
          </a:p>
        </p:txBody>
      </p:sp>
    </p:spTree>
    <p:extLst>
      <p:ext uri="{BB962C8B-B14F-4D97-AF65-F5344CB8AC3E}">
        <p14:creationId xmlns:p14="http://schemas.microsoft.com/office/powerpoint/2010/main" val="180934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15</a:t>
            </a:fld>
            <a:endParaRPr lang="en-US"/>
          </a:p>
        </p:txBody>
      </p:sp>
    </p:spTree>
    <p:extLst>
      <p:ext uri="{BB962C8B-B14F-4D97-AF65-F5344CB8AC3E}">
        <p14:creationId xmlns:p14="http://schemas.microsoft.com/office/powerpoint/2010/main" val="1175912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16</a:t>
            </a:fld>
            <a:endParaRPr lang="en-US"/>
          </a:p>
        </p:txBody>
      </p:sp>
    </p:spTree>
    <p:extLst>
      <p:ext uri="{BB962C8B-B14F-4D97-AF65-F5344CB8AC3E}">
        <p14:creationId xmlns:p14="http://schemas.microsoft.com/office/powerpoint/2010/main" val="1244242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17</a:t>
            </a:fld>
            <a:endParaRPr lang="en-US"/>
          </a:p>
        </p:txBody>
      </p:sp>
    </p:spTree>
    <p:extLst>
      <p:ext uri="{BB962C8B-B14F-4D97-AF65-F5344CB8AC3E}">
        <p14:creationId xmlns:p14="http://schemas.microsoft.com/office/powerpoint/2010/main" val="2591663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28992FB-2E8B-4333-B600-846756F97F52}" type="slidenum">
              <a:rPr lang="en-US" smtClean="0"/>
              <a:t>19</a:t>
            </a:fld>
            <a:endParaRPr lang="en-US"/>
          </a:p>
        </p:txBody>
      </p:sp>
    </p:spTree>
    <p:extLst>
      <p:ext uri="{BB962C8B-B14F-4D97-AF65-F5344CB8AC3E}">
        <p14:creationId xmlns:p14="http://schemas.microsoft.com/office/powerpoint/2010/main" val="1588398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http://www.emdat.be/classification</a:t>
            </a:r>
          </a:p>
        </p:txBody>
      </p:sp>
      <p:sp>
        <p:nvSpPr>
          <p:cNvPr id="4" name="Slide Number Placeholder 3"/>
          <p:cNvSpPr>
            <a:spLocks noGrp="1"/>
          </p:cNvSpPr>
          <p:nvPr>
            <p:ph type="sldNum" sz="quarter" idx="10"/>
          </p:nvPr>
        </p:nvSpPr>
        <p:spPr/>
        <p:txBody>
          <a:bodyPr/>
          <a:lstStyle/>
          <a:p>
            <a:fld id="{928992FB-2E8B-4333-B600-846756F97F52}" type="slidenum">
              <a:rPr lang="en-US" smtClean="0"/>
              <a:t>21</a:t>
            </a:fld>
            <a:endParaRPr lang="en-US"/>
          </a:p>
        </p:txBody>
      </p:sp>
    </p:spTree>
    <p:extLst>
      <p:ext uri="{BB962C8B-B14F-4D97-AF65-F5344CB8AC3E}">
        <p14:creationId xmlns:p14="http://schemas.microsoft.com/office/powerpoint/2010/main" val="3222590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22</a:t>
            </a:fld>
            <a:endParaRPr lang="en-US"/>
          </a:p>
        </p:txBody>
      </p:sp>
    </p:spTree>
    <p:extLst>
      <p:ext uri="{BB962C8B-B14F-4D97-AF65-F5344CB8AC3E}">
        <p14:creationId xmlns:p14="http://schemas.microsoft.com/office/powerpoint/2010/main" val="1542970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24</a:t>
            </a:fld>
            <a:endParaRPr lang="en-US"/>
          </a:p>
        </p:txBody>
      </p:sp>
    </p:spTree>
    <p:extLst>
      <p:ext uri="{BB962C8B-B14F-4D97-AF65-F5344CB8AC3E}">
        <p14:creationId xmlns:p14="http://schemas.microsoft.com/office/powerpoint/2010/main" val="221129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25</a:t>
            </a:fld>
            <a:endParaRPr lang="en-US"/>
          </a:p>
        </p:txBody>
      </p:sp>
    </p:spTree>
    <p:extLst>
      <p:ext uri="{BB962C8B-B14F-4D97-AF65-F5344CB8AC3E}">
        <p14:creationId xmlns:p14="http://schemas.microsoft.com/office/powerpoint/2010/main" val="3775689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27</a:t>
            </a:fld>
            <a:endParaRPr lang="en-US"/>
          </a:p>
        </p:txBody>
      </p:sp>
    </p:spTree>
    <p:extLst>
      <p:ext uri="{BB962C8B-B14F-4D97-AF65-F5344CB8AC3E}">
        <p14:creationId xmlns:p14="http://schemas.microsoft.com/office/powerpoint/2010/main" val="3029427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a:t>The number of people killed includes people confirmed as dead and those missing and presumed dead. People affected are those requiring immediate assistance during a period of emergency (i.e., requiring basic survival needs such as food, water, shelter, sanitation and immediate medical assistance). People reported injured or homeless are aggregated with those reported affected to produce a ‘total number of people affected’.</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00180DEF-37CD-4A74-8DE2-A33321A3C7FD}" type="slidenum">
              <a:rPr lang="en-US" smtClean="0"/>
              <a:pPr>
                <a:defRPr/>
              </a:pPr>
              <a:t>29</a:t>
            </a:fld>
            <a:endParaRPr lang="en-US"/>
          </a:p>
        </p:txBody>
      </p:sp>
    </p:spTree>
    <p:extLst>
      <p:ext uri="{BB962C8B-B14F-4D97-AF65-F5344CB8AC3E}">
        <p14:creationId xmlns:p14="http://schemas.microsoft.com/office/powerpoint/2010/main" val="30905488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3277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78385E4-158A-4D62-9FA1-FC28483D1D15}" type="slidenum">
              <a:rPr lang="en-US">
                <a:cs typeface="Arial" charset="0"/>
              </a:rPr>
              <a:pPr fontAlgn="base">
                <a:spcBef>
                  <a:spcPct val="0"/>
                </a:spcBef>
                <a:spcAft>
                  <a:spcPct val="0"/>
                </a:spcAft>
              </a:pPr>
              <a:t>30</a:t>
            </a:fld>
            <a:endParaRPr lang="en-US">
              <a:cs typeface="Arial" charset="0"/>
            </a:endParaRPr>
          </a:p>
        </p:txBody>
      </p:sp>
    </p:spTree>
    <p:extLst>
      <p:ext uri="{BB962C8B-B14F-4D97-AF65-F5344CB8AC3E}">
        <p14:creationId xmlns:p14="http://schemas.microsoft.com/office/powerpoint/2010/main" val="25470963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481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75336FD-BFE7-45EB-8392-598CBAE0EA24}" type="slidenum">
              <a:rPr lang="en-US">
                <a:cs typeface="Arial" charset="0"/>
              </a:rPr>
              <a:pPr fontAlgn="base">
                <a:spcBef>
                  <a:spcPct val="0"/>
                </a:spcBef>
                <a:spcAft>
                  <a:spcPct val="0"/>
                </a:spcAft>
              </a:pPr>
              <a:t>31</a:t>
            </a:fld>
            <a:endParaRPr lang="en-US">
              <a:cs typeface="Arial" charset="0"/>
            </a:endParaRPr>
          </a:p>
        </p:txBody>
      </p:sp>
    </p:spTree>
    <p:extLst>
      <p:ext uri="{BB962C8B-B14F-4D97-AF65-F5344CB8AC3E}">
        <p14:creationId xmlns:p14="http://schemas.microsoft.com/office/powerpoint/2010/main" val="28912663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dirty="0"/>
              <a:t>Source: http://www.who.int/hac/techguidance/training/induction/wpro/Day1%20Concepts%20in%20Emergency%20Management.pdf</a:t>
            </a:r>
          </a:p>
        </p:txBody>
      </p:sp>
      <p:sp>
        <p:nvSpPr>
          <p:cNvPr id="3891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F721FAB-4F87-4A72-84D1-A040DF1685B8}" type="slidenum">
              <a:rPr lang="en-US">
                <a:cs typeface="Arial" charset="0"/>
              </a:rPr>
              <a:pPr fontAlgn="base">
                <a:spcBef>
                  <a:spcPct val="0"/>
                </a:spcBef>
                <a:spcAft>
                  <a:spcPct val="0"/>
                </a:spcAft>
              </a:pPr>
              <a:t>32</a:t>
            </a:fld>
            <a:endParaRPr lang="en-US">
              <a:cs typeface="Arial" charset="0"/>
            </a:endParaRPr>
          </a:p>
        </p:txBody>
      </p:sp>
    </p:spTree>
    <p:extLst>
      <p:ext uri="{BB962C8B-B14F-4D97-AF65-F5344CB8AC3E}">
        <p14:creationId xmlns:p14="http://schemas.microsoft.com/office/powerpoint/2010/main" val="29235335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34</a:t>
            </a:fld>
            <a:endParaRPr lang="en-US"/>
          </a:p>
        </p:txBody>
      </p:sp>
    </p:spTree>
    <p:extLst>
      <p:ext uri="{BB962C8B-B14F-4D97-AF65-F5344CB8AC3E}">
        <p14:creationId xmlns:p14="http://schemas.microsoft.com/office/powerpoint/2010/main" val="36867483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A78E7F1-2175-408D-9170-25913252F555}" type="slidenum">
              <a:rPr lang="en-US" altLang="en-US">
                <a:latin typeface="Calibri" panose="020F0502020204030204" pitchFamily="34" charset="0"/>
              </a:rPr>
              <a:pPr eaLnBrk="1" hangingPunct="1"/>
              <a:t>35</a:t>
            </a:fld>
            <a:endParaRPr lang="en-US" altLang="en-US">
              <a:latin typeface="Calibri" panose="020F0502020204030204" pitchFamily="34" charset="0"/>
            </a:endParaRPr>
          </a:p>
        </p:txBody>
      </p:sp>
    </p:spTree>
    <p:extLst>
      <p:ext uri="{BB962C8B-B14F-4D97-AF65-F5344CB8AC3E}">
        <p14:creationId xmlns:p14="http://schemas.microsoft.com/office/powerpoint/2010/main" val="226170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CE129E9-E6C8-4999-8595-40FDDD899B27}" type="datetime1">
              <a:rPr lang="en-US" smtClean="0"/>
              <a:t>8/12/2026</a:t>
            </a:fld>
            <a:endParaRPr lang="en-US"/>
          </a:p>
        </p:txBody>
      </p:sp>
      <p:sp>
        <p:nvSpPr>
          <p:cNvPr id="5" name="Footer Placeholder 4"/>
          <p:cNvSpPr>
            <a:spLocks noGrp="1"/>
          </p:cNvSpPr>
          <p:nvPr>
            <p:ph type="ftr" sz="quarter" idx="11"/>
          </p:nvPr>
        </p:nvSpPr>
        <p:spPr/>
        <p:txBody>
          <a:bodyPr/>
          <a:lstStyle/>
          <a:p>
            <a:r>
              <a:rPr lang="en-US"/>
              <a:t>Fall 2017</a:t>
            </a:r>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859702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lang="en-US" sz="4000" b="1" kern="1200" spc="-100" dirty="0">
                <a:ln>
                  <a:noFill/>
                </a:ln>
                <a:solidFill>
                  <a:srgbClr val="0000CC"/>
                </a:solidFill>
                <a:latin typeface="Comic Sans MS" panose="030F0702030302020204" pitchFamily="66" charset="0"/>
                <a:ea typeface="+mj-ea"/>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lang="en-US" sz="3200" kern="1200" dirty="0" smtClean="0">
                <a:solidFill>
                  <a:schemeClr val="tx1"/>
                </a:solidFill>
                <a:latin typeface="Comic Sans MS" panose="030F0702030302020204" pitchFamily="66" charset="0"/>
                <a:ea typeface="+mn-ea"/>
                <a:cs typeface="Arial" panose="020B0604020202020204" pitchFamily="34" charset="0"/>
              </a:defRPr>
            </a:lvl1pPr>
            <a:lvl2pPr>
              <a:spcBef>
                <a:spcPts val="1200"/>
              </a:spcBef>
              <a:defRPr>
                <a:latin typeface="Comic Sans MS" panose="030F0702030302020204" pitchFamily="66" charset="0"/>
              </a:defRPr>
            </a:lvl2pPr>
            <a:lvl3pPr>
              <a:spcBef>
                <a:spcPts val="1200"/>
              </a:spcBef>
              <a:defRPr>
                <a:latin typeface="Comic Sans MS" panose="030F0702030302020204" pitchFamily="66" charset="0"/>
              </a:defRPr>
            </a:lvl3pPr>
            <a:lvl4pPr>
              <a:spcBef>
                <a:spcPts val="1200"/>
              </a:spcBef>
              <a:defRPr>
                <a:latin typeface="Comic Sans MS" panose="030F0702030302020204" pitchFamily="66" charset="0"/>
              </a:defRPr>
            </a:lvl4pPr>
            <a:lvl5pPr>
              <a:spcBef>
                <a:spcPts val="1200"/>
              </a:spcBef>
              <a:defRPr>
                <a:latin typeface="Comic Sans MS" panose="030F0702030302020204" pitchFamily="66"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BBCCBE3-1852-4297-A41A-48A1E0A7986B}" type="datetime1">
              <a:rPr lang="en-US" smtClean="0"/>
              <a:t>8/12/2026</a:t>
            </a:fld>
            <a:endParaRPr lang="en-US"/>
          </a:p>
        </p:txBody>
      </p:sp>
      <p:sp>
        <p:nvSpPr>
          <p:cNvPr id="5" name="Footer Placeholder 4"/>
          <p:cNvSpPr>
            <a:spLocks noGrp="1"/>
          </p:cNvSpPr>
          <p:nvPr>
            <p:ph type="ftr" sz="quarter" idx="11"/>
          </p:nvPr>
        </p:nvSpPr>
        <p:spPr/>
        <p:txBody>
          <a:bodyPr/>
          <a:lstStyle/>
          <a:p>
            <a:r>
              <a:rPr lang="en-US" dirty="0"/>
              <a:t>Fall 2017</a:t>
            </a:r>
          </a:p>
        </p:txBody>
      </p:sp>
      <p:sp>
        <p:nvSpPr>
          <p:cNvPr id="6" name="Slide Number Placeholder 5"/>
          <p:cNvSpPr>
            <a:spLocks noGrp="1"/>
          </p:cNvSpPr>
          <p:nvPr>
            <p:ph type="sldNum" sz="quarter" idx="12"/>
          </p:nvPr>
        </p:nvSpPr>
        <p:spPr/>
        <p:txBody>
          <a:bodyPr/>
          <a:lstStyle>
            <a:lvl1pPr>
              <a:defRPr sz="2400" b="1">
                <a:solidFill>
                  <a:schemeClr val="accent2"/>
                </a:solidFill>
              </a:defRPr>
            </a:lvl1pPr>
          </a:lstStyle>
          <a:p>
            <a:fld id="{AC76C314-45B1-47C5-8966-54BDB8DF2284}" type="slidenum">
              <a:rPr lang="en-US" smtClean="0"/>
              <a:pPr/>
              <a:t>‹#›</a:t>
            </a:fld>
            <a:endParaRPr lang="en-US"/>
          </a:p>
        </p:txBody>
      </p:sp>
    </p:spTree>
    <p:extLst>
      <p:ext uri="{BB962C8B-B14F-4D97-AF65-F5344CB8AC3E}">
        <p14:creationId xmlns:p14="http://schemas.microsoft.com/office/powerpoint/2010/main" val="193405734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7C67131-0E46-4BA5-A6EE-65DDEDADC5A0}" type="datetime1">
              <a:rPr lang="en-US" smtClean="0"/>
              <a:t>8/12/2026</a:t>
            </a:fld>
            <a:endParaRPr lang="en-US"/>
          </a:p>
        </p:txBody>
      </p:sp>
      <p:sp>
        <p:nvSpPr>
          <p:cNvPr id="5" name="Footer Placeholder 4"/>
          <p:cNvSpPr>
            <a:spLocks noGrp="1"/>
          </p:cNvSpPr>
          <p:nvPr>
            <p:ph type="ftr" sz="quarter" idx="11"/>
          </p:nvPr>
        </p:nvSpPr>
        <p:spPr/>
        <p:txBody>
          <a:bodyPr/>
          <a:lstStyle/>
          <a:p>
            <a:r>
              <a:rPr lang="en-US"/>
              <a:t>Fall 2017</a:t>
            </a:r>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3982417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463136C-664C-40C2-B6D7-5C3BC84A4516}" type="datetime1">
              <a:rPr lang="en-US" smtClean="0"/>
              <a:t>8/12/2026</a:t>
            </a:fld>
            <a:endParaRPr lang="en-US"/>
          </a:p>
        </p:txBody>
      </p:sp>
      <p:sp>
        <p:nvSpPr>
          <p:cNvPr id="6" name="Footer Placeholder 5"/>
          <p:cNvSpPr>
            <a:spLocks noGrp="1"/>
          </p:cNvSpPr>
          <p:nvPr>
            <p:ph type="ftr" sz="quarter" idx="11"/>
          </p:nvPr>
        </p:nvSpPr>
        <p:spPr/>
        <p:txBody>
          <a:bodyPr/>
          <a:lstStyle/>
          <a:p>
            <a:r>
              <a:rPr lang="en-US"/>
              <a:t>Fall 2017</a:t>
            </a:r>
          </a:p>
        </p:txBody>
      </p:sp>
      <p:sp>
        <p:nvSpPr>
          <p:cNvPr id="7" name="Slide Number Placeholder 6"/>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234259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FACED61-F767-4153-B8A9-60D3ECDA9DF1}" type="datetime1">
              <a:rPr lang="en-US" smtClean="0"/>
              <a:t>8/12/2026</a:t>
            </a:fld>
            <a:endParaRPr lang="en-US"/>
          </a:p>
        </p:txBody>
      </p:sp>
      <p:sp>
        <p:nvSpPr>
          <p:cNvPr id="8" name="Footer Placeholder 7"/>
          <p:cNvSpPr>
            <a:spLocks noGrp="1"/>
          </p:cNvSpPr>
          <p:nvPr>
            <p:ph type="ftr" sz="quarter" idx="11"/>
          </p:nvPr>
        </p:nvSpPr>
        <p:spPr/>
        <p:txBody>
          <a:bodyPr/>
          <a:lstStyle/>
          <a:p>
            <a:r>
              <a:rPr lang="en-US"/>
              <a:t>Fall 2017</a:t>
            </a:r>
          </a:p>
        </p:txBody>
      </p:sp>
      <p:sp>
        <p:nvSpPr>
          <p:cNvPr id="9" name="Slide Number Placeholder 8"/>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41029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DCF671-4B3D-4CCC-A11E-E377D3992A1D}" type="datetime1">
              <a:rPr lang="en-US" smtClean="0"/>
              <a:t>8/12/2026</a:t>
            </a:fld>
            <a:endParaRPr lang="en-US"/>
          </a:p>
        </p:txBody>
      </p:sp>
      <p:sp>
        <p:nvSpPr>
          <p:cNvPr id="4" name="Footer Placeholder 3"/>
          <p:cNvSpPr>
            <a:spLocks noGrp="1"/>
          </p:cNvSpPr>
          <p:nvPr>
            <p:ph type="ftr" sz="quarter" idx="11"/>
          </p:nvPr>
        </p:nvSpPr>
        <p:spPr/>
        <p:txBody>
          <a:bodyPr/>
          <a:lstStyle/>
          <a:p>
            <a:r>
              <a:rPr lang="en-US" dirty="0"/>
              <a:t>Fall 2017</a:t>
            </a:r>
          </a:p>
        </p:txBody>
      </p:sp>
      <p:sp>
        <p:nvSpPr>
          <p:cNvPr id="5" name="Slide Number Placeholder 4"/>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673765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9CC7F-020F-4C13-9491-96216D64852A}" type="datetime1">
              <a:rPr lang="en-US" smtClean="0"/>
              <a:t>8/12/2026</a:t>
            </a:fld>
            <a:endParaRPr lang="en-US"/>
          </a:p>
        </p:txBody>
      </p:sp>
      <p:sp>
        <p:nvSpPr>
          <p:cNvPr id="3" name="Footer Placeholder 2"/>
          <p:cNvSpPr>
            <a:spLocks noGrp="1"/>
          </p:cNvSpPr>
          <p:nvPr>
            <p:ph type="ftr" sz="quarter" idx="11"/>
          </p:nvPr>
        </p:nvSpPr>
        <p:spPr/>
        <p:txBody>
          <a:bodyPr/>
          <a:lstStyle/>
          <a:p>
            <a:r>
              <a:rPr lang="en-US"/>
              <a:t>Fall 2017</a:t>
            </a:r>
          </a:p>
        </p:txBody>
      </p:sp>
      <p:sp>
        <p:nvSpPr>
          <p:cNvPr id="4" name="Slide Number Placeholder 3"/>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013028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FB1881D-C01E-48B2-9B69-735C2DFA72D0}" type="datetime1">
              <a:rPr lang="en-US" smtClean="0"/>
              <a:t>8/12/2026</a:t>
            </a:fld>
            <a:endParaRPr lang="en-US"/>
          </a:p>
        </p:txBody>
      </p:sp>
      <p:sp>
        <p:nvSpPr>
          <p:cNvPr id="6" name="Footer Placeholder 5"/>
          <p:cNvSpPr>
            <a:spLocks noGrp="1"/>
          </p:cNvSpPr>
          <p:nvPr>
            <p:ph type="ftr" sz="quarter" idx="11"/>
          </p:nvPr>
        </p:nvSpPr>
        <p:spPr/>
        <p:txBody>
          <a:bodyPr/>
          <a:lstStyle/>
          <a:p>
            <a:r>
              <a:rPr lang="en-US"/>
              <a:t>Fall 2017</a:t>
            </a:r>
          </a:p>
        </p:txBody>
      </p:sp>
      <p:sp>
        <p:nvSpPr>
          <p:cNvPr id="7" name="Slide Number Placeholder 6"/>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2668281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6B02D1-004B-41BB-9147-50A3B31D2CEA}" type="datetime1">
              <a:rPr lang="en-US" smtClean="0"/>
              <a:t>8/12/2026</a:t>
            </a:fld>
            <a:endParaRPr lang="en-US"/>
          </a:p>
        </p:txBody>
      </p:sp>
      <p:sp>
        <p:nvSpPr>
          <p:cNvPr id="6" name="Footer Placeholder 5"/>
          <p:cNvSpPr>
            <a:spLocks noGrp="1"/>
          </p:cNvSpPr>
          <p:nvPr>
            <p:ph type="ftr" sz="quarter" idx="11"/>
          </p:nvPr>
        </p:nvSpPr>
        <p:spPr/>
        <p:txBody>
          <a:bodyPr/>
          <a:lstStyle/>
          <a:p>
            <a:r>
              <a:rPr lang="en-US"/>
              <a:t>Fall 2017</a:t>
            </a:r>
          </a:p>
        </p:txBody>
      </p:sp>
      <p:sp>
        <p:nvSpPr>
          <p:cNvPr id="7" name="Slide Number Placeholder 6"/>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546824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FEBC91-C21D-41B1-BEB1-D84E82E77D98}" type="datetime1">
              <a:rPr lang="en-US" smtClean="0"/>
              <a:t>8/12/2026</a:t>
            </a:fld>
            <a:endParaRPr lang="en-US"/>
          </a:p>
        </p:txBody>
      </p:sp>
      <p:sp>
        <p:nvSpPr>
          <p:cNvPr id="5" name="Footer Placeholder 4"/>
          <p:cNvSpPr>
            <a:spLocks noGrp="1"/>
          </p:cNvSpPr>
          <p:nvPr>
            <p:ph type="ftr" sz="quarter" idx="11"/>
          </p:nvPr>
        </p:nvSpPr>
        <p:spPr/>
        <p:txBody>
          <a:bodyPr/>
          <a:lstStyle/>
          <a:p>
            <a:r>
              <a:rPr lang="en-US"/>
              <a:t>Fall 2017</a:t>
            </a:r>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2883347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D6033B-9612-4218-948D-1E3A9ACFAFCB}" type="datetime1">
              <a:rPr lang="en-US" smtClean="0"/>
              <a:t>8/12/2026</a:t>
            </a:fld>
            <a:endParaRPr lang="en-US"/>
          </a:p>
        </p:txBody>
      </p:sp>
      <p:sp>
        <p:nvSpPr>
          <p:cNvPr id="5" name="Footer Placeholder 4"/>
          <p:cNvSpPr>
            <a:spLocks noGrp="1"/>
          </p:cNvSpPr>
          <p:nvPr>
            <p:ph type="ftr" sz="quarter" idx="11"/>
          </p:nvPr>
        </p:nvSpPr>
        <p:spPr/>
        <p:txBody>
          <a:bodyPr/>
          <a:lstStyle/>
          <a:p>
            <a:r>
              <a:rPr lang="en-US"/>
              <a:t>Fall 2017</a:t>
            </a:r>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4138444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4983786"/>
      </p:ext>
    </p:extLst>
  </p:cSld>
  <p:clrMapOvr>
    <a:masterClrMapping/>
  </p:clrMapOvr>
  <p:transition spd="slow">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1E4807-150E-48A3-9D5B-4C0F3266BC66}" type="datetime1">
              <a:rPr lang="en-US" smtClean="0"/>
              <a:t>8/12/2026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Fall 2017</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76C314-45B1-47C5-8966-54BDB8DF2284}" type="slidenum">
              <a:rPr lang="en-US" smtClean="0"/>
              <a:t>‹#›</a:t>
            </a:fld>
            <a:endParaRPr lang="en-US"/>
          </a:p>
        </p:txBody>
      </p:sp>
    </p:spTree>
    <p:extLst>
      <p:ext uri="{BB962C8B-B14F-4D97-AF65-F5344CB8AC3E}">
        <p14:creationId xmlns:p14="http://schemas.microsoft.com/office/powerpoint/2010/main" val="336878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emdat.be/database"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unisdr.org/files/7817_UNISDRTerminologyEnglish.pdf" TargetMode="External"/><Relationship Id="rId2" Type="http://schemas.openxmlformats.org/officeDocument/2006/relationships/hyperlink" Target="http://www.emdat.be/database"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pic>
        <p:nvPicPr>
          <p:cNvPr id="16" name="Picture 6"/>
          <p:cNvPicPr>
            <a:picLocks noChangeAspect="1" noChangeArrowheads="1"/>
          </p:cNvPicPr>
          <p:nvPr/>
        </p:nvPicPr>
        <p:blipFill rotWithShape="1">
          <a:blip r:embed="rId3" cstate="print"/>
          <a:srcRect l="33364" t="12753" r="30727" b="79135"/>
          <a:stretch/>
        </p:blipFill>
        <p:spPr bwMode="auto">
          <a:xfrm>
            <a:off x="191387" y="5815360"/>
            <a:ext cx="11511516" cy="685367"/>
          </a:xfrm>
          <a:prstGeom prst="rect">
            <a:avLst/>
          </a:prstGeom>
          <a:gradFill>
            <a:gsLst>
              <a:gs pos="0">
                <a:schemeClr val="bg2">
                  <a:tint val="75000"/>
                  <a:satMod val="400000"/>
                </a:schemeClr>
              </a:gs>
              <a:gs pos="100000">
                <a:schemeClr val="accent1">
                  <a:lumMod val="75000"/>
                </a:schemeClr>
              </a:gs>
              <a:gs pos="100000">
                <a:schemeClr val="bg2">
                  <a:tint val="95000"/>
                  <a:shade val="55000"/>
                  <a:satMod val="355000"/>
                </a:schemeClr>
              </a:gs>
            </a:gsLst>
            <a:path path="circle">
              <a:fillToRect l="67500" t="35000" r="32500" b="65000"/>
            </a:path>
          </a:gradFill>
          <a:ln>
            <a:noFill/>
          </a:ln>
          <a:effectLst>
            <a:outerShdw blurRad="50800" dir="21540000" sx="1000" sy="1000" algn="ctr" rotWithShape="0">
              <a:srgbClr val="000000">
                <a:alpha val="0"/>
              </a:srgbClr>
            </a:outerShdw>
          </a:effectLst>
        </p:spPr>
      </p:pic>
      <p:sp>
        <p:nvSpPr>
          <p:cNvPr id="14339" name="Rectangle 18"/>
          <p:cNvSpPr>
            <a:spLocks noChangeArrowheads="1"/>
          </p:cNvSpPr>
          <p:nvPr/>
        </p:nvSpPr>
        <p:spPr bwMode="auto">
          <a:xfrm>
            <a:off x="1670383" y="5873095"/>
            <a:ext cx="10032519" cy="584775"/>
          </a:xfrm>
          <a:prstGeom prst="rect">
            <a:avLst/>
          </a:prstGeom>
          <a:noFill/>
          <a:ln w="9525">
            <a:noFill/>
            <a:miter lim="800000"/>
            <a:headEnd/>
            <a:tailEnd/>
          </a:ln>
        </p:spPr>
        <p:txBody>
          <a:bodyPr wrap="square">
            <a:spAutoFit/>
          </a:bodyPr>
          <a:lstStyle/>
          <a:p>
            <a:pPr eaLnBrk="0" hangingPunct="0">
              <a:defRPr/>
            </a:pPr>
            <a:r>
              <a:rPr lang="en-US" sz="3200" b="1" dirty="0">
                <a:solidFill>
                  <a:schemeClr val="bg1"/>
                </a:solidFill>
                <a:latin typeface="+mj-lt"/>
                <a:cs typeface="Times New Roman" pitchFamily="18" charset="0"/>
              </a:rPr>
              <a:t>US – Pakistan Center for Advanced Studies in Water</a:t>
            </a:r>
          </a:p>
        </p:txBody>
      </p:sp>
      <p:sp>
        <p:nvSpPr>
          <p:cNvPr id="20" name="Content Placeholder 24"/>
          <p:cNvSpPr txBox="1">
            <a:spLocks/>
          </p:cNvSpPr>
          <p:nvPr/>
        </p:nvSpPr>
        <p:spPr>
          <a:xfrm>
            <a:off x="1405787" y="274943"/>
            <a:ext cx="10523942" cy="707886"/>
          </a:xfrm>
          <a:prstGeom prst="rect">
            <a:avLst/>
          </a:prstGeom>
          <a:solidFill>
            <a:schemeClr val="tx2">
              <a:lumMod val="50000"/>
            </a:schemeClr>
          </a:solidFill>
        </p:spPr>
        <p:txBody>
          <a:bodyPr wrap="square">
            <a:sp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lgn="ctr">
              <a:spcBef>
                <a:spcPts val="1200"/>
              </a:spcBef>
              <a:spcAft>
                <a:spcPts val="1200"/>
              </a:spcAft>
              <a:buNone/>
              <a:defRPr/>
            </a:pPr>
            <a:r>
              <a:rPr lang="en-US" sz="4000" b="1" dirty="0">
                <a:solidFill>
                  <a:schemeClr val="bg1"/>
                </a:solidFill>
                <a:latin typeface="+mj-lt"/>
                <a:cs typeface="Times New Roman" pitchFamily="18" charset="0"/>
              </a:rPr>
              <a:t>Hazards Planning and Risk Management</a:t>
            </a:r>
          </a:p>
        </p:txBody>
      </p:sp>
      <p:sp>
        <p:nvSpPr>
          <p:cNvPr id="9" name="Content Placeholder 24"/>
          <p:cNvSpPr txBox="1">
            <a:spLocks/>
          </p:cNvSpPr>
          <p:nvPr/>
        </p:nvSpPr>
        <p:spPr>
          <a:xfrm>
            <a:off x="2630487" y="2093839"/>
            <a:ext cx="7575397" cy="2505494"/>
          </a:xfrm>
          <a:prstGeom prst="rect">
            <a:avLst/>
          </a:prstGeom>
          <a:noFill/>
          <a:effectLst>
            <a:outerShdw dist="50800" dir="5400000" sx="1000" sy="1000" algn="ctr" rotWithShape="0">
              <a:srgbClr val="000000">
                <a:alpha val="43137"/>
              </a:srgbClr>
            </a:outerShdw>
          </a:effectLst>
        </p:spPr>
        <p:txBody>
          <a:bodyPr wrap="square">
            <a:sp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lgn="ctr">
              <a:lnSpc>
                <a:spcPct val="150000"/>
              </a:lnSpc>
              <a:buNone/>
              <a:defRPr/>
            </a:pPr>
            <a:r>
              <a:rPr lang="en-US" sz="4400" b="1" dirty="0">
                <a:latin typeface="Arial" panose="020B0604020202020204" pitchFamily="34" charset="0"/>
                <a:cs typeface="Arial" panose="020B0604020202020204" pitchFamily="34" charset="0"/>
              </a:rPr>
              <a:t>LECTURES 3</a:t>
            </a:r>
          </a:p>
          <a:p>
            <a:pPr marL="0" indent="0" algn="ctr">
              <a:lnSpc>
                <a:spcPct val="150000"/>
              </a:lnSpc>
              <a:buNone/>
              <a:defRPr/>
            </a:pPr>
            <a:r>
              <a:rPr lang="en-US" altLang="zh-CN" sz="3600" b="1" dirty="0">
                <a:solidFill>
                  <a:schemeClr val="bg2">
                    <a:lumMod val="90000"/>
                  </a:schemeClr>
                </a:solidFill>
                <a:latin typeface="Arial" panose="020B0604020202020204" pitchFamily="34" charset="0"/>
                <a:cs typeface="Arial" panose="020B0604020202020204" pitchFamily="34" charset="0"/>
              </a:rPr>
              <a:t>Hazard and Disaster Information</a:t>
            </a:r>
          </a:p>
          <a:p>
            <a:pPr marL="0" indent="0" algn="ctr">
              <a:lnSpc>
                <a:spcPct val="150000"/>
              </a:lnSpc>
              <a:buNone/>
              <a:defRPr/>
            </a:pPr>
            <a:r>
              <a:rPr lang="en-US" sz="2800" b="1" dirty="0">
                <a:solidFill>
                  <a:schemeClr val="bg1"/>
                </a:solidFill>
                <a:latin typeface="Arial" panose="020B0604020202020204" pitchFamily="34" charset="0"/>
                <a:cs typeface="Arial" panose="020B0604020202020204" pitchFamily="34" charset="0"/>
              </a:rPr>
              <a:t>Fall 2026</a:t>
            </a:r>
          </a:p>
        </p:txBody>
      </p:sp>
      <p:pic>
        <p:nvPicPr>
          <p:cNvPr id="4102" name="Picture 17" descr="MUET approved monogram WHITE"/>
          <p:cNvPicPr>
            <a:picLocks noChangeAspect="1" noChangeArrowheads="1"/>
          </p:cNvPicPr>
          <p:nvPr/>
        </p:nvPicPr>
        <p:blipFill>
          <a:blip r:embed="rId4">
            <a:extLst>
              <a:ext uri="{28A0092B-C50C-407E-A947-70E740481C1C}">
                <a14:useLocalDpi xmlns:a14="http://schemas.microsoft.com/office/drawing/2010/main" val="0"/>
              </a:ext>
            </a:extLst>
          </a:blip>
          <a:srcRect t="5371"/>
          <a:stretch>
            <a:fillRect/>
          </a:stretch>
        </p:blipFill>
        <p:spPr bwMode="auto">
          <a:xfrm>
            <a:off x="453287" y="176182"/>
            <a:ext cx="952500" cy="905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9" name="AutoShape 17" descr="http://api.ning.com/files/TJkgTC4QyWCm*IymUusWHWUE*SetkLmD*6**S0AU0DHE93VoeMw-YnDDPibgyDBGq7IfR89wRDOlXWmEvv8wXS9-kpZfoBmI/_48862225_pakistan_floods_25aug_464.gif"/>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10" name="AutoShape 19" descr="http://api.ning.com/files/TJkgTC4QyWCm*IymUusWHWUE*SetkLmD*6**S0AU0DHE93VoeMw-YnDDPibgyDBGq7IfR89wRDOlXWmEvv8wXS9-kpZfoBmI/_48862225_pakistan_floods_25aug_464.gif"/>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2371668815"/>
      </p:ext>
    </p:extLst>
  </p:cSld>
  <p:clrMapOvr>
    <a:masterClrMapping/>
  </p:clrMapOvr>
  <p:transition spd="slow">
    <p:zoom/>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46FCCA2-D322-B947-8544-4C06059B1EF6}"/>
              </a:ext>
            </a:extLst>
          </p:cNvPr>
          <p:cNvPicPr>
            <a:picLocks noChangeAspect="1"/>
          </p:cNvPicPr>
          <p:nvPr/>
        </p:nvPicPr>
        <p:blipFill>
          <a:blip r:embed="rId3"/>
          <a:stretch>
            <a:fillRect/>
          </a:stretch>
        </p:blipFill>
        <p:spPr>
          <a:xfrm>
            <a:off x="232894" y="1854985"/>
            <a:ext cx="11726211" cy="3283338"/>
          </a:xfrm>
          <a:prstGeom prst="rect">
            <a:avLst/>
          </a:prstGeom>
        </p:spPr>
      </p:pic>
      <p:sp>
        <p:nvSpPr>
          <p:cNvPr id="2" name="Slide Number Placeholder 1"/>
          <p:cNvSpPr>
            <a:spLocks noGrp="1"/>
          </p:cNvSpPr>
          <p:nvPr>
            <p:ph type="sldNum" sz="quarter" idx="12"/>
          </p:nvPr>
        </p:nvSpPr>
        <p:spPr>
          <a:xfrm>
            <a:off x="11704320" y="6455664"/>
            <a:ext cx="448056" cy="365125"/>
          </a:xfrm>
        </p:spPr>
        <p:txBody>
          <a:bodyPr>
            <a:normAutofit/>
          </a:bodyPr>
          <a:lstStyle/>
          <a:p>
            <a:pPr>
              <a:spcAft>
                <a:spcPts val="600"/>
              </a:spcAft>
            </a:pPr>
            <a:fld id="{AC76C314-45B1-47C5-8966-54BDB8DF2284}" type="slidenum">
              <a:rPr lang="en-US" sz="1100">
                <a:solidFill>
                  <a:srgbClr val="FFFFFF"/>
                </a:solidFill>
              </a:rPr>
              <a:pPr>
                <a:spcAft>
                  <a:spcPts val="600"/>
                </a:spcAft>
              </a:pPr>
              <a:t>2</a:t>
            </a:fld>
            <a:endParaRPr lang="en-US" sz="1100">
              <a:solidFill>
                <a:srgbClr val="FFFFFF"/>
              </a:solidFill>
            </a:endParaRPr>
          </a:p>
        </p:txBody>
      </p:sp>
    </p:spTree>
    <p:extLst>
      <p:ext uri="{BB962C8B-B14F-4D97-AF65-F5344CB8AC3E}">
        <p14:creationId xmlns:p14="http://schemas.microsoft.com/office/powerpoint/2010/main" val="2616349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F923E3-F5B3-83DA-3314-E90E3B28D390}"/>
              </a:ext>
            </a:extLst>
          </p:cNvPr>
          <p:cNvSpPr>
            <a:spLocks noGrp="1"/>
          </p:cNvSpPr>
          <p:nvPr>
            <p:ph type="sldNum" sz="quarter" idx="12"/>
          </p:nvPr>
        </p:nvSpPr>
        <p:spPr/>
        <p:txBody>
          <a:bodyPr/>
          <a:lstStyle/>
          <a:p>
            <a:fld id="{AC76C314-45B1-47C5-8966-54BDB8DF2284}" type="slidenum">
              <a:rPr lang="en-US" smtClean="0"/>
              <a:t>3</a:t>
            </a:fld>
            <a:endParaRPr lang="en-US"/>
          </a:p>
        </p:txBody>
      </p:sp>
      <p:pic>
        <p:nvPicPr>
          <p:cNvPr id="4" name="Picture 3">
            <a:extLst>
              <a:ext uri="{FF2B5EF4-FFF2-40B4-BE49-F238E27FC236}">
                <a16:creationId xmlns:a16="http://schemas.microsoft.com/office/drawing/2014/main" id="{46820F48-B371-5AE5-B06F-F82443D70851}"/>
              </a:ext>
            </a:extLst>
          </p:cNvPr>
          <p:cNvPicPr>
            <a:picLocks noChangeAspect="1"/>
          </p:cNvPicPr>
          <p:nvPr/>
        </p:nvPicPr>
        <p:blipFill>
          <a:blip r:embed="rId2"/>
          <a:stretch>
            <a:fillRect/>
          </a:stretch>
        </p:blipFill>
        <p:spPr>
          <a:xfrm>
            <a:off x="787278" y="224974"/>
            <a:ext cx="10566522" cy="4792999"/>
          </a:xfrm>
          <a:prstGeom prst="rect">
            <a:avLst/>
          </a:prstGeom>
        </p:spPr>
      </p:pic>
      <p:sp>
        <p:nvSpPr>
          <p:cNvPr id="6" name="TextBox 5">
            <a:extLst>
              <a:ext uri="{FF2B5EF4-FFF2-40B4-BE49-F238E27FC236}">
                <a16:creationId xmlns:a16="http://schemas.microsoft.com/office/drawing/2014/main" id="{3C946C26-3679-46BD-8044-6026969B1725}"/>
              </a:ext>
            </a:extLst>
          </p:cNvPr>
          <p:cNvSpPr txBox="1"/>
          <p:nvPr/>
        </p:nvSpPr>
        <p:spPr>
          <a:xfrm>
            <a:off x="273157" y="5199099"/>
            <a:ext cx="11815521" cy="646331"/>
          </a:xfrm>
          <a:prstGeom prst="rect">
            <a:avLst/>
          </a:prstGeom>
          <a:solidFill>
            <a:srgbClr val="0070C0"/>
          </a:solidFill>
        </p:spPr>
        <p:txBody>
          <a:bodyPr wrap="square">
            <a:spAutoFit/>
          </a:bodyPr>
          <a:lstStyle/>
          <a:p>
            <a:r>
              <a:rPr lang="en-US" b="1" dirty="0">
                <a:solidFill>
                  <a:schemeClr val="bg1"/>
                </a:solidFill>
              </a:rPr>
              <a:t>The IFRC World Disasters Report 2026 focuses on harmful information—misinformation, disinformation, hate speech, and other damaging narratives—as an emerging humanitarian challenge.</a:t>
            </a:r>
            <a:endParaRPr lang="en-PK" b="1" dirty="0">
              <a:solidFill>
                <a:schemeClr val="bg1"/>
              </a:solidFill>
            </a:endParaRPr>
          </a:p>
        </p:txBody>
      </p:sp>
      <p:sp>
        <p:nvSpPr>
          <p:cNvPr id="8" name="TextBox 7">
            <a:extLst>
              <a:ext uri="{FF2B5EF4-FFF2-40B4-BE49-F238E27FC236}">
                <a16:creationId xmlns:a16="http://schemas.microsoft.com/office/drawing/2014/main" id="{A3DB374B-58E6-87AA-1F76-5059EECD41C3}"/>
              </a:ext>
            </a:extLst>
          </p:cNvPr>
          <p:cNvSpPr txBox="1"/>
          <p:nvPr/>
        </p:nvSpPr>
        <p:spPr>
          <a:xfrm>
            <a:off x="324819" y="6075144"/>
            <a:ext cx="11763859" cy="646331"/>
          </a:xfrm>
          <a:prstGeom prst="rect">
            <a:avLst/>
          </a:prstGeom>
          <a:solidFill>
            <a:srgbClr val="9650B2"/>
          </a:solidFill>
        </p:spPr>
        <p:txBody>
          <a:bodyPr wrap="square">
            <a:spAutoFit/>
          </a:bodyPr>
          <a:lstStyle/>
          <a:p>
            <a:r>
              <a:rPr lang="en-US" b="1" dirty="0">
                <a:solidFill>
                  <a:schemeClr val="bg1"/>
                </a:solidFill>
              </a:rPr>
              <a:t>The 2026 report highlights that in modern disasters, reliable information and public trust are increasingly essential for effective, safe, and inclusive humanitarian response.</a:t>
            </a:r>
            <a:endParaRPr lang="en-PK" b="1" dirty="0">
              <a:solidFill>
                <a:schemeClr val="bg1"/>
              </a:solidFill>
            </a:endParaRPr>
          </a:p>
        </p:txBody>
      </p:sp>
    </p:spTree>
    <p:extLst>
      <p:ext uri="{BB962C8B-B14F-4D97-AF65-F5344CB8AC3E}">
        <p14:creationId xmlns:p14="http://schemas.microsoft.com/office/powerpoint/2010/main" val="119489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3260C3-5A3C-25A8-4272-BAB3831A57BC}"/>
              </a:ext>
            </a:extLst>
          </p:cNvPr>
          <p:cNvPicPr>
            <a:picLocks noChangeAspect="1"/>
          </p:cNvPicPr>
          <p:nvPr/>
        </p:nvPicPr>
        <p:blipFill>
          <a:blip r:embed="rId3"/>
          <a:srcRect t="28049" b="16328"/>
          <a:stretch/>
        </p:blipFill>
        <p:spPr>
          <a:xfrm>
            <a:off x="457200" y="457200"/>
            <a:ext cx="11277600" cy="5943600"/>
          </a:xfrm>
          <a:prstGeom prst="rect">
            <a:avLst/>
          </a:prstGeom>
        </p:spPr>
      </p:pic>
      <p:sp>
        <p:nvSpPr>
          <p:cNvPr id="2" name="Slide Number Placeholder 1">
            <a:extLst>
              <a:ext uri="{FF2B5EF4-FFF2-40B4-BE49-F238E27FC236}">
                <a16:creationId xmlns:a16="http://schemas.microsoft.com/office/drawing/2014/main" id="{0CF56569-3ACD-2A66-A350-F1E8B0A58087}"/>
              </a:ext>
            </a:extLst>
          </p:cNvPr>
          <p:cNvSpPr>
            <a:spLocks noGrp="1"/>
          </p:cNvSpPr>
          <p:nvPr>
            <p:ph type="sldNum" sz="quarter" idx="12"/>
          </p:nvPr>
        </p:nvSpPr>
        <p:spPr>
          <a:xfrm>
            <a:off x="11704320" y="6455664"/>
            <a:ext cx="448056" cy="365125"/>
          </a:xfrm>
        </p:spPr>
        <p:txBody>
          <a:bodyPr>
            <a:normAutofit/>
          </a:bodyPr>
          <a:lstStyle/>
          <a:p>
            <a:pPr>
              <a:spcAft>
                <a:spcPts val="600"/>
              </a:spcAft>
            </a:pPr>
            <a:fld id="{AC76C314-45B1-47C5-8966-54BDB8DF2284}" type="slidenum">
              <a:rPr lang="en-US" sz="1100">
                <a:solidFill>
                  <a:srgbClr val="FFFFFF"/>
                </a:solidFill>
              </a:rPr>
              <a:pPr>
                <a:spcAft>
                  <a:spcPts val="600"/>
                </a:spcAft>
              </a:pPr>
              <a:t>4</a:t>
            </a:fld>
            <a:endParaRPr lang="en-US" sz="1100">
              <a:solidFill>
                <a:srgbClr val="FFFFFF"/>
              </a:solidFill>
            </a:endParaRPr>
          </a:p>
        </p:txBody>
      </p:sp>
    </p:spTree>
    <p:extLst>
      <p:ext uri="{BB962C8B-B14F-4D97-AF65-F5344CB8AC3E}">
        <p14:creationId xmlns:p14="http://schemas.microsoft.com/office/powerpoint/2010/main" val="2748934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164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website&#10;&#10;Description automatically generated">
            <a:extLst>
              <a:ext uri="{FF2B5EF4-FFF2-40B4-BE49-F238E27FC236}">
                <a16:creationId xmlns:a16="http://schemas.microsoft.com/office/drawing/2014/main" id="{B5DB599B-801B-57A2-CAAC-2E07BE47246A}"/>
              </a:ext>
            </a:extLst>
          </p:cNvPr>
          <p:cNvPicPr>
            <a:picLocks noChangeAspect="1"/>
          </p:cNvPicPr>
          <p:nvPr/>
        </p:nvPicPr>
        <p:blipFill>
          <a:blip r:embed="rId3"/>
          <a:stretch>
            <a:fillRect/>
          </a:stretch>
        </p:blipFill>
        <p:spPr>
          <a:xfrm>
            <a:off x="1843277" y="643467"/>
            <a:ext cx="8505445" cy="5571066"/>
          </a:xfrm>
          <a:prstGeom prst="rect">
            <a:avLst/>
          </a:prstGeom>
        </p:spPr>
      </p:pic>
      <p:sp>
        <p:nvSpPr>
          <p:cNvPr id="2" name="Slide Number Placeholder 1">
            <a:extLst>
              <a:ext uri="{FF2B5EF4-FFF2-40B4-BE49-F238E27FC236}">
                <a16:creationId xmlns:a16="http://schemas.microsoft.com/office/drawing/2014/main" id="{7F7A22CD-D74E-D06F-1B53-A47EE89584C8}"/>
              </a:ext>
            </a:extLst>
          </p:cNvPr>
          <p:cNvSpPr>
            <a:spLocks noGrp="1"/>
          </p:cNvSpPr>
          <p:nvPr>
            <p:ph type="sldNum" sz="quarter" idx="12"/>
          </p:nvPr>
        </p:nvSpPr>
        <p:spPr>
          <a:xfrm>
            <a:off x="8610600" y="6356350"/>
            <a:ext cx="2743200" cy="365125"/>
          </a:xfrm>
        </p:spPr>
        <p:txBody>
          <a:bodyPr>
            <a:normAutofit/>
          </a:bodyPr>
          <a:lstStyle/>
          <a:p>
            <a:pPr>
              <a:spcAft>
                <a:spcPts val="600"/>
              </a:spcAft>
            </a:pPr>
            <a:fld id="{AC76C314-45B1-47C5-8966-54BDB8DF2284}" type="slidenum">
              <a:rPr lang="en-US">
                <a:solidFill>
                  <a:srgbClr val="FFFFFF"/>
                </a:solidFill>
              </a:rPr>
              <a:pPr>
                <a:spcAft>
                  <a:spcPts val="600"/>
                </a:spcAft>
              </a:pPr>
              <a:t>5</a:t>
            </a:fld>
            <a:endParaRPr lang="en-US">
              <a:solidFill>
                <a:srgbClr val="FFFFFF"/>
              </a:solidFill>
            </a:endParaRPr>
          </a:p>
        </p:txBody>
      </p:sp>
      <p:sp>
        <p:nvSpPr>
          <p:cNvPr id="5" name="Rectangle 4">
            <a:extLst>
              <a:ext uri="{FF2B5EF4-FFF2-40B4-BE49-F238E27FC236}">
                <a16:creationId xmlns:a16="http://schemas.microsoft.com/office/drawing/2014/main" id="{F8414909-BF25-BA1B-A601-4C83EC12A40B}"/>
              </a:ext>
            </a:extLst>
          </p:cNvPr>
          <p:cNvSpPr/>
          <p:nvPr/>
        </p:nvSpPr>
        <p:spPr>
          <a:xfrm>
            <a:off x="7936302" y="5417389"/>
            <a:ext cx="1880558" cy="79714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903614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a:stretch>
            <a:fillRect/>
          </a:stretch>
        </p:blipFill>
        <p:spPr>
          <a:xfrm>
            <a:off x="457200" y="680085"/>
            <a:ext cx="11277600" cy="5497830"/>
          </a:xfrm>
          <a:prstGeom prst="rect">
            <a:avLst/>
          </a:prstGeom>
        </p:spPr>
      </p:pic>
      <p:sp>
        <p:nvSpPr>
          <p:cNvPr id="2" name="Slide Number Placeholder 1"/>
          <p:cNvSpPr>
            <a:spLocks noGrp="1"/>
          </p:cNvSpPr>
          <p:nvPr>
            <p:ph type="sldNum" sz="quarter" idx="12"/>
          </p:nvPr>
        </p:nvSpPr>
        <p:spPr>
          <a:xfrm>
            <a:off x="11704320" y="6455664"/>
            <a:ext cx="448056" cy="365125"/>
          </a:xfrm>
        </p:spPr>
        <p:txBody>
          <a:bodyPr>
            <a:normAutofit/>
          </a:bodyPr>
          <a:lstStyle/>
          <a:p>
            <a:pPr>
              <a:spcAft>
                <a:spcPts val="600"/>
              </a:spcAft>
            </a:pPr>
            <a:fld id="{AC76C314-45B1-47C5-8966-54BDB8DF2284}" type="slidenum">
              <a:rPr lang="en-US" sz="1100">
                <a:solidFill>
                  <a:srgbClr val="FFFFFF"/>
                </a:solidFill>
              </a:rPr>
              <a:pPr>
                <a:spcAft>
                  <a:spcPts val="600"/>
                </a:spcAft>
              </a:pPr>
              <a:t>6</a:t>
            </a:fld>
            <a:endParaRPr lang="en-US" sz="1100">
              <a:solidFill>
                <a:srgbClr val="FFFFFF"/>
              </a:solidFill>
            </a:endParaRPr>
          </a:p>
        </p:txBody>
      </p:sp>
    </p:spTree>
    <p:extLst>
      <p:ext uri="{BB962C8B-B14F-4D97-AF65-F5344CB8AC3E}">
        <p14:creationId xmlns:p14="http://schemas.microsoft.com/office/powerpoint/2010/main" val="2883363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B1374-4E8D-C242-DBFA-F07F6BE34E57}"/>
              </a:ext>
            </a:extLst>
          </p:cNvPr>
          <p:cNvSpPr>
            <a:spLocks noGrp="1"/>
          </p:cNvSpPr>
          <p:nvPr>
            <p:ph type="title"/>
          </p:nvPr>
        </p:nvSpPr>
        <p:spPr/>
        <p:txBody>
          <a:bodyPr/>
          <a:lstStyle/>
          <a:p>
            <a:r>
              <a:rPr lang="en-US" dirty="0"/>
              <a:t>Climate Reports</a:t>
            </a:r>
            <a:endParaRPr lang="en-PK" dirty="0"/>
          </a:p>
        </p:txBody>
      </p:sp>
      <p:pic>
        <p:nvPicPr>
          <p:cNvPr id="6" name="Content Placeholder 5">
            <a:extLst>
              <a:ext uri="{FF2B5EF4-FFF2-40B4-BE49-F238E27FC236}">
                <a16:creationId xmlns:a16="http://schemas.microsoft.com/office/drawing/2014/main" id="{176A5F9E-1F83-7A68-B0B2-7305321D58F0}"/>
              </a:ext>
            </a:extLst>
          </p:cNvPr>
          <p:cNvPicPr>
            <a:picLocks noGrp="1" noChangeAspect="1"/>
          </p:cNvPicPr>
          <p:nvPr>
            <p:ph idx="1"/>
          </p:nvPr>
        </p:nvPicPr>
        <p:blipFill>
          <a:blip r:embed="rId3"/>
          <a:stretch>
            <a:fillRect/>
          </a:stretch>
        </p:blipFill>
        <p:spPr>
          <a:xfrm>
            <a:off x="552368" y="1545561"/>
            <a:ext cx="10184458" cy="4993351"/>
          </a:xfrm>
        </p:spPr>
      </p:pic>
      <p:sp>
        <p:nvSpPr>
          <p:cNvPr id="4" name="Slide Number Placeholder 3">
            <a:extLst>
              <a:ext uri="{FF2B5EF4-FFF2-40B4-BE49-F238E27FC236}">
                <a16:creationId xmlns:a16="http://schemas.microsoft.com/office/drawing/2014/main" id="{A56F5FBE-B53E-CAE0-22A6-DCD3E4B6487C}"/>
              </a:ext>
            </a:extLst>
          </p:cNvPr>
          <p:cNvSpPr>
            <a:spLocks noGrp="1"/>
          </p:cNvSpPr>
          <p:nvPr>
            <p:ph type="sldNum" sz="quarter" idx="12"/>
          </p:nvPr>
        </p:nvSpPr>
        <p:spPr/>
        <p:txBody>
          <a:bodyPr/>
          <a:lstStyle/>
          <a:p>
            <a:fld id="{AC76C314-45B1-47C5-8966-54BDB8DF2284}" type="slidenum">
              <a:rPr lang="en-US" smtClean="0"/>
              <a:pPr/>
              <a:t>7</a:t>
            </a:fld>
            <a:endParaRPr lang="en-US"/>
          </a:p>
        </p:txBody>
      </p:sp>
    </p:spTree>
    <p:extLst>
      <p:ext uri="{BB962C8B-B14F-4D97-AF65-F5344CB8AC3E}">
        <p14:creationId xmlns:p14="http://schemas.microsoft.com/office/powerpoint/2010/main" val="520525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1452562" y="457200"/>
            <a:ext cx="9286876" cy="5943600"/>
          </a:xfrm>
          <a:prstGeom prst="rect">
            <a:avLst/>
          </a:prstGeom>
        </p:spPr>
      </p:pic>
      <p:sp>
        <p:nvSpPr>
          <p:cNvPr id="2" name="Slide Number Placeholder 1"/>
          <p:cNvSpPr>
            <a:spLocks noGrp="1"/>
          </p:cNvSpPr>
          <p:nvPr>
            <p:ph type="sldNum" sz="quarter" idx="12"/>
          </p:nvPr>
        </p:nvSpPr>
        <p:spPr>
          <a:xfrm>
            <a:off x="11704320" y="6455664"/>
            <a:ext cx="448056" cy="365125"/>
          </a:xfrm>
        </p:spPr>
        <p:txBody>
          <a:bodyPr>
            <a:normAutofit/>
          </a:bodyPr>
          <a:lstStyle/>
          <a:p>
            <a:pPr>
              <a:spcAft>
                <a:spcPts val="600"/>
              </a:spcAft>
            </a:pPr>
            <a:fld id="{AC76C314-45B1-47C5-8966-54BDB8DF2284}" type="slidenum">
              <a:rPr lang="en-US" sz="1100">
                <a:solidFill>
                  <a:srgbClr val="FFFFFF"/>
                </a:solidFill>
              </a:rPr>
              <a:pPr>
                <a:spcAft>
                  <a:spcPts val="600"/>
                </a:spcAft>
              </a:pPr>
              <a:t>8</a:t>
            </a:fld>
            <a:endParaRPr lang="en-US" sz="1100">
              <a:solidFill>
                <a:srgbClr val="FFFFFF"/>
              </a:solidFill>
            </a:endParaRPr>
          </a:p>
        </p:txBody>
      </p:sp>
    </p:spTree>
    <p:extLst>
      <p:ext uri="{BB962C8B-B14F-4D97-AF65-F5344CB8AC3E}">
        <p14:creationId xmlns:p14="http://schemas.microsoft.com/office/powerpoint/2010/main" val="3949041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p:cNvPicPr>
            <a:picLocks noGrp="1" noChangeAspect="1"/>
          </p:cNvPicPr>
          <p:nvPr>
            <p:ph idx="1"/>
          </p:nvPr>
        </p:nvPicPr>
        <p:blipFill rotWithShape="1">
          <a:blip r:embed="rId3"/>
          <a:srcRect l="13780" t="10177" r="13780" b="7131"/>
          <a:stretch/>
        </p:blipFill>
        <p:spPr>
          <a:xfrm>
            <a:off x="1467801" y="457200"/>
            <a:ext cx="9256398" cy="5943600"/>
          </a:xfrm>
          <a:prstGeom prst="rect">
            <a:avLst/>
          </a:prstGeom>
        </p:spPr>
      </p:pic>
      <p:sp>
        <p:nvSpPr>
          <p:cNvPr id="5" name="Slide Number Placeholder 4"/>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AC76C314-45B1-47C5-8966-54BDB8DF2284}" type="slidenum">
              <a:rPr lang="en-US" sz="1100">
                <a:solidFill>
                  <a:srgbClr val="FFFFFF"/>
                </a:solidFill>
              </a:rPr>
              <a:pPr>
                <a:spcAft>
                  <a:spcPts val="600"/>
                </a:spcAft>
              </a:pPr>
              <a:t>9</a:t>
            </a:fld>
            <a:endParaRPr lang="en-US" sz="1100">
              <a:solidFill>
                <a:srgbClr val="FFFFFF"/>
              </a:solidFill>
            </a:endParaRPr>
          </a:p>
        </p:txBody>
      </p:sp>
    </p:spTree>
    <p:extLst>
      <p:ext uri="{BB962C8B-B14F-4D97-AF65-F5344CB8AC3E}">
        <p14:creationId xmlns:p14="http://schemas.microsoft.com/office/powerpoint/2010/main" val="523296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Shape 26">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625018E2-FC58-6CF3-3526-41BCC84A9711}"/>
              </a:ext>
            </a:extLst>
          </p:cNvPr>
          <p:cNvPicPr>
            <a:picLocks noChangeAspect="1"/>
          </p:cNvPicPr>
          <p:nvPr/>
        </p:nvPicPr>
        <p:blipFill>
          <a:blip r:embed="rId3"/>
          <a:stretch>
            <a:fillRect/>
          </a:stretch>
        </p:blipFill>
        <p:spPr>
          <a:xfrm>
            <a:off x="637376" y="1206872"/>
            <a:ext cx="3343202" cy="3547163"/>
          </a:xfrm>
          <a:prstGeom prst="rect">
            <a:avLst/>
          </a:prstGeom>
        </p:spPr>
      </p:pic>
      <p:sp>
        <p:nvSpPr>
          <p:cNvPr id="25" name="Freeform: Shape 24">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3E92738E-57BD-CED8-1A48-7FDC722E7BF3}"/>
              </a:ext>
            </a:extLst>
          </p:cNvPr>
          <p:cNvPicPr>
            <a:picLocks noChangeAspect="1"/>
          </p:cNvPicPr>
          <p:nvPr/>
        </p:nvPicPr>
        <p:blipFill>
          <a:blip r:embed="rId4"/>
          <a:stretch>
            <a:fillRect/>
          </a:stretch>
        </p:blipFill>
        <p:spPr>
          <a:xfrm>
            <a:off x="5545244" y="2434233"/>
            <a:ext cx="6020730" cy="2528705"/>
          </a:xfrm>
          <a:prstGeom prst="rect">
            <a:avLst/>
          </a:prstGeom>
        </p:spPr>
      </p:pic>
      <p:sp>
        <p:nvSpPr>
          <p:cNvPr id="2" name="Slide Number Placeholder 1">
            <a:extLst>
              <a:ext uri="{FF2B5EF4-FFF2-40B4-BE49-F238E27FC236}">
                <a16:creationId xmlns:a16="http://schemas.microsoft.com/office/drawing/2014/main" id="{4917EC93-7775-BA8C-F974-DAE80B2A8842}"/>
              </a:ext>
            </a:extLst>
          </p:cNvPr>
          <p:cNvSpPr>
            <a:spLocks noGrp="1"/>
          </p:cNvSpPr>
          <p:nvPr>
            <p:ph type="sldNum" sz="quarter" idx="12"/>
          </p:nvPr>
        </p:nvSpPr>
        <p:spPr>
          <a:xfrm>
            <a:off x="10707624" y="6382512"/>
            <a:ext cx="685800" cy="320040"/>
          </a:xfrm>
        </p:spPr>
        <p:txBody>
          <a:bodyPr>
            <a:normAutofit/>
          </a:bodyPr>
          <a:lstStyle/>
          <a:p>
            <a:pPr>
              <a:spcAft>
                <a:spcPts val="600"/>
              </a:spcAft>
            </a:pPr>
            <a:fld id="{AC76C314-45B1-47C5-8966-54BDB8DF2284}" type="slidenum">
              <a:rPr lang="en-US"/>
              <a:pPr>
                <a:spcAft>
                  <a:spcPts val="600"/>
                </a:spcAft>
              </a:pPr>
              <a:t>10</a:t>
            </a:fld>
            <a:endParaRPr lang="en-US"/>
          </a:p>
        </p:txBody>
      </p:sp>
    </p:spTree>
    <p:extLst>
      <p:ext uri="{BB962C8B-B14F-4D97-AF65-F5344CB8AC3E}">
        <p14:creationId xmlns:p14="http://schemas.microsoft.com/office/powerpoint/2010/main" val="2752176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B176E45-6DD8-1CB5-597A-5B6A8235F750}"/>
              </a:ext>
            </a:extLst>
          </p:cNvPr>
          <p:cNvPicPr>
            <a:picLocks noChangeAspect="1"/>
          </p:cNvPicPr>
          <p:nvPr/>
        </p:nvPicPr>
        <p:blipFill rotWithShape="1">
          <a:blip r:embed="rId2"/>
          <a:srcRect t="10662"/>
          <a:stretch/>
        </p:blipFill>
        <p:spPr>
          <a:xfrm>
            <a:off x="3903775" y="352925"/>
            <a:ext cx="4559700" cy="6102739"/>
          </a:xfrm>
          <a:prstGeom prst="rect">
            <a:avLst/>
          </a:prstGeom>
        </p:spPr>
      </p:pic>
      <p:sp>
        <p:nvSpPr>
          <p:cNvPr id="2" name="Slide Number Placeholder 1">
            <a:extLst>
              <a:ext uri="{FF2B5EF4-FFF2-40B4-BE49-F238E27FC236}">
                <a16:creationId xmlns:a16="http://schemas.microsoft.com/office/drawing/2014/main" id="{89AD1526-160E-05D4-CC08-562CF644CB90}"/>
              </a:ext>
            </a:extLst>
          </p:cNvPr>
          <p:cNvSpPr>
            <a:spLocks noGrp="1"/>
          </p:cNvSpPr>
          <p:nvPr>
            <p:ph type="sldNum" sz="quarter" idx="12"/>
          </p:nvPr>
        </p:nvSpPr>
        <p:spPr>
          <a:xfrm>
            <a:off x="11704320" y="6455664"/>
            <a:ext cx="448056" cy="365125"/>
          </a:xfrm>
        </p:spPr>
        <p:txBody>
          <a:bodyPr>
            <a:normAutofit/>
          </a:bodyPr>
          <a:lstStyle/>
          <a:p>
            <a:pPr>
              <a:spcAft>
                <a:spcPts val="600"/>
              </a:spcAft>
            </a:pPr>
            <a:fld id="{AC76C314-45B1-47C5-8966-54BDB8DF2284}" type="slidenum">
              <a:rPr lang="en-US" sz="1100">
                <a:solidFill>
                  <a:srgbClr val="FFFFFF"/>
                </a:solidFill>
              </a:rPr>
              <a:pPr>
                <a:spcAft>
                  <a:spcPts val="600"/>
                </a:spcAft>
              </a:pPr>
              <a:t>11</a:t>
            </a:fld>
            <a:endParaRPr lang="en-US" sz="1100">
              <a:solidFill>
                <a:srgbClr val="FFFFFF"/>
              </a:solidFill>
            </a:endParaRPr>
          </a:p>
        </p:txBody>
      </p:sp>
    </p:spTree>
    <p:extLst>
      <p:ext uri="{BB962C8B-B14F-4D97-AF65-F5344CB8AC3E}">
        <p14:creationId xmlns:p14="http://schemas.microsoft.com/office/powerpoint/2010/main" val="1499221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A document with text and images&#10;&#10;Description automatically generated">
            <a:extLst>
              <a:ext uri="{FF2B5EF4-FFF2-40B4-BE49-F238E27FC236}">
                <a16:creationId xmlns:a16="http://schemas.microsoft.com/office/drawing/2014/main" id="{077D28A2-52EF-0BFF-A01F-D5FA91BC9BAD}"/>
              </a:ext>
            </a:extLst>
          </p:cNvPr>
          <p:cNvPicPr>
            <a:picLocks noChangeAspect="1"/>
          </p:cNvPicPr>
          <p:nvPr/>
        </p:nvPicPr>
        <p:blipFill>
          <a:blip r:embed="rId2"/>
          <a:stretch>
            <a:fillRect/>
          </a:stretch>
        </p:blipFill>
        <p:spPr>
          <a:xfrm>
            <a:off x="488014" y="484632"/>
            <a:ext cx="4166280" cy="5888737"/>
          </a:xfrm>
          <a:prstGeom prst="rect">
            <a:avLst/>
          </a:prstGeom>
        </p:spPr>
      </p:pic>
      <p:pic>
        <p:nvPicPr>
          <p:cNvPr id="4" name="Picture 3" descr="A green and blue rectangular object with white text&#10;&#10;Description automatically generated">
            <a:extLst>
              <a:ext uri="{FF2B5EF4-FFF2-40B4-BE49-F238E27FC236}">
                <a16:creationId xmlns:a16="http://schemas.microsoft.com/office/drawing/2014/main" id="{24047684-6176-56EC-2427-BB7623E74EDC}"/>
              </a:ext>
            </a:extLst>
          </p:cNvPr>
          <p:cNvPicPr>
            <a:picLocks noChangeAspect="1"/>
          </p:cNvPicPr>
          <p:nvPr/>
        </p:nvPicPr>
        <p:blipFill>
          <a:blip r:embed="rId3"/>
          <a:stretch>
            <a:fillRect/>
          </a:stretch>
        </p:blipFill>
        <p:spPr>
          <a:xfrm>
            <a:off x="4976029" y="904749"/>
            <a:ext cx="6731338" cy="5048503"/>
          </a:xfrm>
          <a:prstGeom prst="rect">
            <a:avLst/>
          </a:prstGeom>
        </p:spPr>
      </p:pic>
      <p:sp>
        <p:nvSpPr>
          <p:cNvPr id="2" name="Slide Number Placeholder 1">
            <a:extLst>
              <a:ext uri="{FF2B5EF4-FFF2-40B4-BE49-F238E27FC236}">
                <a16:creationId xmlns:a16="http://schemas.microsoft.com/office/drawing/2014/main" id="{AF4DF173-968B-645A-54CC-D789DE45768E}"/>
              </a:ext>
            </a:extLst>
          </p:cNvPr>
          <p:cNvSpPr>
            <a:spLocks noGrp="1"/>
          </p:cNvSpPr>
          <p:nvPr>
            <p:ph type="sldNum" sz="quarter" idx="12"/>
          </p:nvPr>
        </p:nvSpPr>
        <p:spPr>
          <a:xfrm>
            <a:off x="10917767" y="6500896"/>
            <a:ext cx="952499" cy="274320"/>
          </a:xfrm>
        </p:spPr>
        <p:txBody>
          <a:bodyPr>
            <a:normAutofit/>
          </a:bodyPr>
          <a:lstStyle/>
          <a:p>
            <a:pPr>
              <a:spcAft>
                <a:spcPts val="600"/>
              </a:spcAft>
            </a:pPr>
            <a:fld id="{AC76C314-45B1-47C5-8966-54BDB8DF2284}" type="slidenum">
              <a:rPr lang="en-US" smtClean="0"/>
              <a:pPr>
                <a:spcAft>
                  <a:spcPts val="600"/>
                </a:spcAft>
              </a:pPr>
              <a:t>12</a:t>
            </a:fld>
            <a:endParaRPr lang="en-US"/>
          </a:p>
        </p:txBody>
      </p:sp>
    </p:spTree>
    <p:extLst>
      <p:ext uri="{BB962C8B-B14F-4D97-AF65-F5344CB8AC3E}">
        <p14:creationId xmlns:p14="http://schemas.microsoft.com/office/powerpoint/2010/main" val="871485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Slide Number Placeholder 1">
            <a:extLst>
              <a:ext uri="{FF2B5EF4-FFF2-40B4-BE49-F238E27FC236}">
                <a16:creationId xmlns:a16="http://schemas.microsoft.com/office/drawing/2014/main" id="{820592DC-F497-B73C-6557-C97C4BED5011}"/>
              </a:ext>
            </a:extLst>
          </p:cNvPr>
          <p:cNvSpPr>
            <a:spLocks noGrp="1"/>
          </p:cNvSpPr>
          <p:nvPr>
            <p:ph type="sldNum" sz="quarter" idx="12"/>
          </p:nvPr>
        </p:nvSpPr>
        <p:spPr>
          <a:xfrm>
            <a:off x="8805333" y="6356350"/>
            <a:ext cx="2743200" cy="365125"/>
          </a:xfrm>
        </p:spPr>
        <p:txBody>
          <a:bodyPr>
            <a:normAutofit/>
          </a:bodyPr>
          <a:lstStyle/>
          <a:p>
            <a:pPr>
              <a:spcAft>
                <a:spcPts val="600"/>
              </a:spcAft>
            </a:pPr>
            <a:fld id="{AC76C314-45B1-47C5-8966-54BDB8DF2284}" type="slidenum">
              <a:rPr lang="en-US" smtClean="0"/>
              <a:pPr>
                <a:spcAft>
                  <a:spcPts val="600"/>
                </a:spcAft>
              </a:pPr>
              <a:t>13</a:t>
            </a:fld>
            <a:endParaRPr lang="en-US"/>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oup of people sitting in a row&#10;&#10;Description automatically generated">
            <a:extLst>
              <a:ext uri="{FF2B5EF4-FFF2-40B4-BE49-F238E27FC236}">
                <a16:creationId xmlns:a16="http://schemas.microsoft.com/office/drawing/2014/main" id="{F4F1317A-A6A9-649E-59CB-7C9730EE261F}"/>
              </a:ext>
            </a:extLst>
          </p:cNvPr>
          <p:cNvPicPr>
            <a:picLocks noChangeAspect="1"/>
          </p:cNvPicPr>
          <p:nvPr/>
        </p:nvPicPr>
        <p:blipFill>
          <a:blip r:embed="rId3"/>
          <a:stretch>
            <a:fillRect/>
          </a:stretch>
        </p:blipFill>
        <p:spPr>
          <a:xfrm>
            <a:off x="643467" y="1057148"/>
            <a:ext cx="10905066" cy="4743702"/>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5647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2" name="Freeform: Shape 11">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1CA37A6-78C8-F894-F6E7-7253639D616F}"/>
              </a:ext>
            </a:extLst>
          </p:cNvPr>
          <p:cNvPicPr>
            <a:picLocks noChangeAspect="1"/>
          </p:cNvPicPr>
          <p:nvPr/>
        </p:nvPicPr>
        <p:blipFill>
          <a:blip r:embed="rId2"/>
          <a:stretch>
            <a:fillRect/>
          </a:stretch>
        </p:blipFill>
        <p:spPr>
          <a:xfrm>
            <a:off x="643467" y="743627"/>
            <a:ext cx="10905066" cy="5370744"/>
          </a:xfrm>
          <a:prstGeom prst="rect">
            <a:avLst/>
          </a:prstGeom>
          <a:ln>
            <a:noFill/>
          </a:ln>
        </p:spPr>
      </p:pic>
      <p:sp>
        <p:nvSpPr>
          <p:cNvPr id="2" name="Slide Number Placeholder 1">
            <a:extLst>
              <a:ext uri="{FF2B5EF4-FFF2-40B4-BE49-F238E27FC236}">
                <a16:creationId xmlns:a16="http://schemas.microsoft.com/office/drawing/2014/main" id="{B3029669-6B9D-8CA4-A559-E57EDCE8467B}"/>
              </a:ext>
            </a:extLst>
          </p:cNvPr>
          <p:cNvSpPr>
            <a:spLocks noGrp="1"/>
          </p:cNvSpPr>
          <p:nvPr>
            <p:ph type="sldNum" sz="quarter" idx="12"/>
          </p:nvPr>
        </p:nvSpPr>
        <p:spPr>
          <a:xfrm>
            <a:off x="8805333" y="6356350"/>
            <a:ext cx="2743200" cy="365125"/>
          </a:xfrm>
        </p:spPr>
        <p:txBody>
          <a:bodyPr>
            <a:normAutofit/>
          </a:bodyPr>
          <a:lstStyle/>
          <a:p>
            <a:pPr>
              <a:spcAft>
                <a:spcPts val="600"/>
              </a:spcAft>
            </a:pPr>
            <a:fld id="{AC76C314-45B1-47C5-8966-54BDB8DF2284}" type="slidenum">
              <a:rPr lang="en-US" smtClean="0"/>
              <a:pPr>
                <a:spcAft>
                  <a:spcPts val="600"/>
                </a:spcAft>
              </a:pPr>
              <a:t>14</a:t>
            </a:fld>
            <a:endParaRPr lang="en-US"/>
          </a:p>
        </p:txBody>
      </p:sp>
    </p:spTree>
    <p:extLst>
      <p:ext uri="{BB962C8B-B14F-4D97-AF65-F5344CB8AC3E}">
        <p14:creationId xmlns:p14="http://schemas.microsoft.com/office/powerpoint/2010/main" val="4193610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DAA6C16-BF9B-4A3E-BC70-EE6015D4F9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Description automatically generated">
            <a:extLst>
              <a:ext uri="{FF2B5EF4-FFF2-40B4-BE49-F238E27FC236}">
                <a16:creationId xmlns:a16="http://schemas.microsoft.com/office/drawing/2014/main" id="{5B4DC195-F96E-EB27-42C7-FEF4BDFD5A50}"/>
              </a:ext>
            </a:extLst>
          </p:cNvPr>
          <p:cNvPicPr>
            <a:picLocks noChangeAspect="1"/>
          </p:cNvPicPr>
          <p:nvPr/>
        </p:nvPicPr>
        <p:blipFill rotWithShape="1">
          <a:blip r:embed="rId3"/>
          <a:srcRect l="9763" r="15070" b="-2"/>
          <a:stretch/>
        </p:blipFill>
        <p:spPr>
          <a:xfrm>
            <a:off x="6" y="-1"/>
            <a:ext cx="6000749" cy="3911828"/>
          </a:xfrm>
          <a:custGeom>
            <a:avLst/>
            <a:gdLst/>
            <a:ahLst/>
            <a:cxnLst/>
            <a:rect l="l" t="t" r="r" b="b"/>
            <a:pathLst>
              <a:path w="6000749" h="3911828">
                <a:moveTo>
                  <a:pt x="0" y="0"/>
                </a:moveTo>
                <a:lnTo>
                  <a:pt x="6000749" y="0"/>
                </a:lnTo>
                <a:lnTo>
                  <a:pt x="6000749" y="3767827"/>
                </a:lnTo>
                <a:lnTo>
                  <a:pt x="5572124" y="3740378"/>
                </a:lnTo>
                <a:lnTo>
                  <a:pt x="0" y="3911828"/>
                </a:lnTo>
                <a:close/>
              </a:path>
            </a:pathLst>
          </a:custGeom>
        </p:spPr>
      </p:pic>
      <p:pic>
        <p:nvPicPr>
          <p:cNvPr id="6" name="Picture 5">
            <a:extLst>
              <a:ext uri="{FF2B5EF4-FFF2-40B4-BE49-F238E27FC236}">
                <a16:creationId xmlns:a16="http://schemas.microsoft.com/office/drawing/2014/main" id="{66196AE0-18C2-6302-C092-B7D33186A560}"/>
              </a:ext>
            </a:extLst>
          </p:cNvPr>
          <p:cNvPicPr>
            <a:picLocks noChangeAspect="1"/>
          </p:cNvPicPr>
          <p:nvPr/>
        </p:nvPicPr>
        <p:blipFill rotWithShape="1">
          <a:blip r:embed="rId4"/>
          <a:srcRect t="3683" r="1" b="1"/>
          <a:stretch/>
        </p:blipFill>
        <p:spPr>
          <a:xfrm>
            <a:off x="6191245" y="-1"/>
            <a:ext cx="6000750" cy="3988028"/>
          </a:xfrm>
          <a:custGeom>
            <a:avLst/>
            <a:gdLst/>
            <a:ahLst/>
            <a:cxnLst/>
            <a:rect l="l" t="t" r="r" b="b"/>
            <a:pathLst>
              <a:path w="6000750" h="3988028">
                <a:moveTo>
                  <a:pt x="0" y="0"/>
                </a:moveTo>
                <a:lnTo>
                  <a:pt x="6000750" y="0"/>
                </a:lnTo>
                <a:lnTo>
                  <a:pt x="6000750" y="797153"/>
                </a:lnTo>
                <a:lnTo>
                  <a:pt x="6000750" y="2634343"/>
                </a:lnTo>
                <a:lnTo>
                  <a:pt x="6000750" y="3911828"/>
                </a:lnTo>
                <a:lnTo>
                  <a:pt x="3248025" y="3988028"/>
                </a:lnTo>
                <a:lnTo>
                  <a:pt x="0" y="3780026"/>
                </a:lnTo>
                <a:close/>
              </a:path>
            </a:pathLst>
          </a:custGeom>
        </p:spPr>
      </p:pic>
      <p:sp>
        <p:nvSpPr>
          <p:cNvPr id="4" name="Slide Number Placeholder 3">
            <a:extLst>
              <a:ext uri="{FF2B5EF4-FFF2-40B4-BE49-F238E27FC236}">
                <a16:creationId xmlns:a16="http://schemas.microsoft.com/office/drawing/2014/main" id="{21AC9EC8-1110-A30C-C2CD-21BD8E285252}"/>
              </a:ext>
            </a:extLst>
          </p:cNvPr>
          <p:cNvSpPr>
            <a:spLocks noGrp="1"/>
          </p:cNvSpPr>
          <p:nvPr>
            <p:ph type="sldNum" sz="quarter" idx="12"/>
          </p:nvPr>
        </p:nvSpPr>
        <p:spPr>
          <a:xfrm>
            <a:off x="8737600" y="466933"/>
            <a:ext cx="2635250" cy="707886"/>
          </a:xfrm>
        </p:spPr>
        <p:txBody>
          <a:bodyPr>
            <a:normAutofit/>
          </a:bodyPr>
          <a:lstStyle/>
          <a:p>
            <a:pPr>
              <a:lnSpc>
                <a:spcPct val="90000"/>
              </a:lnSpc>
              <a:spcAft>
                <a:spcPts val="600"/>
              </a:spcAft>
            </a:pPr>
            <a:fld id="{AC76C314-45B1-47C5-8966-54BDB8DF2284}" type="slidenum">
              <a:rPr lang="en-US" sz="4400" smtClean="0">
                <a:solidFill>
                  <a:srgbClr val="FFFFFF"/>
                </a:solidFill>
              </a:rPr>
              <a:pPr>
                <a:lnSpc>
                  <a:spcPct val="90000"/>
                </a:lnSpc>
                <a:spcAft>
                  <a:spcPts val="600"/>
                </a:spcAft>
              </a:pPr>
              <a:t>15</a:t>
            </a:fld>
            <a:endParaRPr lang="en-US" sz="4400">
              <a:solidFill>
                <a:srgbClr val="FFFFFF"/>
              </a:solidFill>
            </a:endParaRPr>
          </a:p>
        </p:txBody>
      </p:sp>
      <p:grpSp>
        <p:nvGrpSpPr>
          <p:cNvPr id="26" name="Group 25">
            <a:extLst>
              <a:ext uri="{FF2B5EF4-FFF2-40B4-BE49-F238E27FC236}">
                <a16:creationId xmlns:a16="http://schemas.microsoft.com/office/drawing/2014/main" id="{A4AE1828-51FD-4AD7-BCF6-9AF5C696CE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27" name="Freeform: Shape 26">
              <a:extLst>
                <a:ext uri="{FF2B5EF4-FFF2-40B4-BE49-F238E27FC236}">
                  <a16:creationId xmlns:a16="http://schemas.microsoft.com/office/drawing/2014/main" id="{8542C7CD-02BE-4ADE-8D2F-DFB759D71A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840A04EE-8E37-4C28-B09B-A9593A4AAB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5">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F8BF1BAD-165C-CC3E-DAC1-72C68FBFCB3B}"/>
              </a:ext>
            </a:extLst>
          </p:cNvPr>
          <p:cNvSpPr>
            <a:spLocks noGrp="1"/>
          </p:cNvSpPr>
          <p:nvPr>
            <p:ph idx="1"/>
          </p:nvPr>
        </p:nvSpPr>
        <p:spPr>
          <a:xfrm>
            <a:off x="5664201" y="4766267"/>
            <a:ext cx="5692774" cy="1077411"/>
          </a:xfrm>
        </p:spPr>
        <p:txBody>
          <a:bodyPr>
            <a:normAutofit/>
          </a:bodyPr>
          <a:lstStyle/>
          <a:p>
            <a:r>
              <a:rPr lang="en-US" sz="1700">
                <a:solidFill>
                  <a:schemeClr val="bg1">
                    <a:alpha val="80000"/>
                  </a:schemeClr>
                </a:solidFill>
              </a:rPr>
              <a:t>https://wellbeingintl.org/climate-change-and-cop26/?gclid=CjwKCAiAk9itBhASEiwA1my_6wlGaJQgxgoYP4Pbdij3Gz1rib2pijUJsxCaPV3sQYWOA2nXdPiBGRoC9wYQAvD_BwE</a:t>
            </a:r>
            <a:endParaRPr lang="en-PK" sz="1700">
              <a:solidFill>
                <a:schemeClr val="bg1">
                  <a:alpha val="80000"/>
                </a:schemeClr>
              </a:solidFill>
            </a:endParaRPr>
          </a:p>
        </p:txBody>
      </p:sp>
    </p:spTree>
    <p:extLst>
      <p:ext uri="{BB962C8B-B14F-4D97-AF65-F5344CB8AC3E}">
        <p14:creationId xmlns:p14="http://schemas.microsoft.com/office/powerpoint/2010/main" val="2619866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74D7612B-C894-AFA6-7DD9-B893B529C596}"/>
              </a:ext>
            </a:extLst>
          </p:cNvPr>
          <p:cNvPicPr>
            <a:picLocks noChangeAspect="1"/>
          </p:cNvPicPr>
          <p:nvPr/>
        </p:nvPicPr>
        <p:blipFill>
          <a:blip r:embed="rId3"/>
          <a:srcRect r="-1" b="3045"/>
          <a:stretch/>
        </p:blipFill>
        <p:spPr>
          <a:xfrm>
            <a:off x="-3046" y="340423"/>
            <a:ext cx="4630139" cy="5265795"/>
          </a:xfrm>
          <a:prstGeom prst="rect">
            <a:avLst/>
          </a:prstGeom>
        </p:spPr>
      </p:pic>
      <p:pic>
        <p:nvPicPr>
          <p:cNvPr id="4" name="Picture 3">
            <a:extLst>
              <a:ext uri="{FF2B5EF4-FFF2-40B4-BE49-F238E27FC236}">
                <a16:creationId xmlns:a16="http://schemas.microsoft.com/office/drawing/2014/main" id="{D602E1EE-78F3-13C1-01F4-8E9501FF3CF8}"/>
              </a:ext>
            </a:extLst>
          </p:cNvPr>
          <p:cNvPicPr>
            <a:picLocks noChangeAspect="1"/>
          </p:cNvPicPr>
          <p:nvPr/>
        </p:nvPicPr>
        <p:blipFill rotWithShape="1">
          <a:blip r:embed="rId4"/>
          <a:srcRect r="570" b="2"/>
          <a:stretch/>
        </p:blipFill>
        <p:spPr>
          <a:xfrm>
            <a:off x="4901780" y="1071563"/>
            <a:ext cx="7290218" cy="5242298"/>
          </a:xfrm>
          <a:prstGeom prst="rect">
            <a:avLst/>
          </a:prstGeom>
        </p:spPr>
      </p:pic>
      <p:sp>
        <p:nvSpPr>
          <p:cNvPr id="2" name="Slide Number Placeholder 1">
            <a:extLst>
              <a:ext uri="{FF2B5EF4-FFF2-40B4-BE49-F238E27FC236}">
                <a16:creationId xmlns:a16="http://schemas.microsoft.com/office/drawing/2014/main" id="{2282D977-DB69-365D-9EB0-D32A2392A5C3}"/>
              </a:ext>
            </a:extLst>
          </p:cNvPr>
          <p:cNvSpPr>
            <a:spLocks noGrp="1"/>
          </p:cNvSpPr>
          <p:nvPr>
            <p:ph type="sldNum" sz="quarter" idx="12"/>
          </p:nvPr>
        </p:nvSpPr>
        <p:spPr>
          <a:xfrm>
            <a:off x="10707624" y="6382512"/>
            <a:ext cx="685800" cy="320040"/>
          </a:xfrm>
        </p:spPr>
        <p:txBody>
          <a:bodyPr>
            <a:normAutofit/>
          </a:bodyPr>
          <a:lstStyle/>
          <a:p>
            <a:pPr>
              <a:spcAft>
                <a:spcPts val="600"/>
              </a:spcAft>
            </a:pPr>
            <a:fld id="{AC76C314-45B1-47C5-8966-54BDB8DF2284}" type="slidenum">
              <a:rPr lang="en-US"/>
              <a:pPr>
                <a:spcAft>
                  <a:spcPts val="600"/>
                </a:spcAft>
              </a:pPr>
              <a:t>16</a:t>
            </a:fld>
            <a:endParaRPr lang="en-US"/>
          </a:p>
        </p:txBody>
      </p:sp>
      <p:sp>
        <p:nvSpPr>
          <p:cNvPr id="6" name="TextBox 5">
            <a:extLst>
              <a:ext uri="{FF2B5EF4-FFF2-40B4-BE49-F238E27FC236}">
                <a16:creationId xmlns:a16="http://schemas.microsoft.com/office/drawing/2014/main" id="{4C7CC001-0A9A-DA9A-BFD9-9AD82D237EA1}"/>
              </a:ext>
            </a:extLst>
          </p:cNvPr>
          <p:cNvSpPr txBox="1"/>
          <p:nvPr/>
        </p:nvSpPr>
        <p:spPr>
          <a:xfrm>
            <a:off x="126358" y="6062606"/>
            <a:ext cx="11497371" cy="369332"/>
          </a:xfrm>
          <a:prstGeom prst="rect">
            <a:avLst/>
          </a:prstGeom>
          <a:solidFill>
            <a:srgbClr val="9650B2"/>
          </a:solidFill>
        </p:spPr>
        <p:txBody>
          <a:bodyPr wrap="square">
            <a:spAutoFit/>
          </a:bodyPr>
          <a:lstStyle/>
          <a:p>
            <a:r>
              <a:rPr lang="en-US" b="1" dirty="0">
                <a:solidFill>
                  <a:schemeClr val="bg1"/>
                </a:solidFill>
              </a:rPr>
              <a:t>The next UN Climate Change Conference, COP31, will take place in Antalya, Türkiye, from November 9 to 20, 2026.</a:t>
            </a:r>
          </a:p>
        </p:txBody>
      </p:sp>
    </p:spTree>
    <p:extLst>
      <p:ext uri="{BB962C8B-B14F-4D97-AF65-F5344CB8AC3E}">
        <p14:creationId xmlns:p14="http://schemas.microsoft.com/office/powerpoint/2010/main" val="178958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2893" y="2270677"/>
            <a:ext cx="11079125" cy="2387600"/>
          </a:xfrm>
        </p:spPr>
        <p:txBody>
          <a:bodyPr>
            <a:normAutofit/>
          </a:bodyPr>
          <a:lstStyle/>
          <a:p>
            <a:r>
              <a:rPr lang="en-US" sz="3600" b="1" spc="-100" dirty="0">
                <a:solidFill>
                  <a:srgbClr val="0000CC"/>
                </a:solidFill>
                <a:latin typeface="Comic Sans MS" panose="030F0702030302020204" pitchFamily="66" charset="0"/>
                <a:cs typeface="Arial" panose="020B0604020202020204" pitchFamily="34" charset="0"/>
              </a:rPr>
              <a:t>EM-DAT: The International Disaster Database </a:t>
            </a:r>
            <a:br>
              <a:rPr lang="en-US" sz="3600" dirty="0"/>
            </a:br>
            <a:endParaRPr lang="en-US" sz="3600" dirty="0"/>
          </a:p>
        </p:txBody>
      </p:sp>
      <p:sp>
        <p:nvSpPr>
          <p:cNvPr id="3" name="Subtitle 2"/>
          <p:cNvSpPr>
            <a:spLocks noGrp="1"/>
          </p:cNvSpPr>
          <p:nvPr>
            <p:ph type="subTitle" idx="1"/>
          </p:nvPr>
        </p:nvSpPr>
        <p:spPr>
          <a:xfrm>
            <a:off x="1524000" y="4750352"/>
            <a:ext cx="9144000" cy="1655762"/>
          </a:xfrm>
        </p:spPr>
        <p:txBody>
          <a:bodyPr>
            <a:normAutofit/>
          </a:bodyPr>
          <a:lstStyle/>
          <a:p>
            <a:pPr>
              <a:lnSpc>
                <a:spcPct val="150000"/>
              </a:lnSpc>
            </a:pPr>
            <a:r>
              <a:rPr lang="en-US" sz="3200" b="1" spc="-100" dirty="0">
                <a:solidFill>
                  <a:srgbClr val="0000CC"/>
                </a:solidFill>
                <a:latin typeface="Comic Sans MS" panose="030F0702030302020204" pitchFamily="66" charset="0"/>
                <a:ea typeface="+mj-ea"/>
                <a:cs typeface="Arial" panose="020B0604020202020204" pitchFamily="34" charset="0"/>
              </a:rPr>
              <a:t>Centre for Research on the Epidemiology of Disasters (CRED)</a:t>
            </a:r>
          </a:p>
        </p:txBody>
      </p:sp>
      <p:pic>
        <p:nvPicPr>
          <p:cNvPr id="4" name="Picture 3"/>
          <p:cNvPicPr>
            <a:picLocks noChangeAspect="1"/>
          </p:cNvPicPr>
          <p:nvPr/>
        </p:nvPicPr>
        <p:blipFill>
          <a:blip r:embed="rId3"/>
          <a:stretch>
            <a:fillRect/>
          </a:stretch>
        </p:blipFill>
        <p:spPr>
          <a:xfrm>
            <a:off x="106325" y="29498"/>
            <a:ext cx="12036056" cy="2330930"/>
          </a:xfrm>
          <a:prstGeom prst="rect">
            <a:avLst/>
          </a:prstGeom>
        </p:spPr>
      </p:pic>
      <p:sp>
        <p:nvSpPr>
          <p:cNvPr id="5" name="Slide Number Placeholder 4"/>
          <p:cNvSpPr>
            <a:spLocks noGrp="1"/>
          </p:cNvSpPr>
          <p:nvPr>
            <p:ph type="sldNum" sz="quarter" idx="12"/>
          </p:nvPr>
        </p:nvSpPr>
        <p:spPr/>
        <p:txBody>
          <a:bodyPr/>
          <a:lstStyle/>
          <a:p>
            <a:fld id="{AC76C314-45B1-47C5-8966-54BDB8DF2284}" type="slidenum">
              <a:rPr lang="en-US" smtClean="0"/>
              <a:t>17</a:t>
            </a:fld>
            <a:endParaRPr lang="en-US"/>
          </a:p>
        </p:txBody>
      </p:sp>
    </p:spTree>
    <p:extLst>
      <p:ext uri="{BB962C8B-B14F-4D97-AF65-F5344CB8AC3E}">
        <p14:creationId xmlns:p14="http://schemas.microsoft.com/office/powerpoint/2010/main" val="1353764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EM-DAT</a:t>
            </a:r>
          </a:p>
        </p:txBody>
      </p:sp>
      <p:sp>
        <p:nvSpPr>
          <p:cNvPr id="3" name="Content Placeholder 2"/>
          <p:cNvSpPr>
            <a:spLocks noGrp="1"/>
          </p:cNvSpPr>
          <p:nvPr>
            <p:ph idx="1"/>
          </p:nvPr>
        </p:nvSpPr>
        <p:spPr/>
        <p:txBody>
          <a:bodyPr/>
          <a:lstStyle/>
          <a:p>
            <a:pPr>
              <a:lnSpc>
                <a:spcPct val="114000"/>
              </a:lnSpc>
            </a:pPr>
            <a:r>
              <a:rPr lang="en-US" dirty="0"/>
              <a:t>EM-DAT provides </a:t>
            </a:r>
            <a:r>
              <a:rPr lang="en-US" b="1" dirty="0">
                <a:solidFill>
                  <a:srgbClr val="2D2DD5"/>
                </a:solidFill>
              </a:rPr>
              <a:t>geographical</a:t>
            </a:r>
            <a:r>
              <a:rPr lang="en-US" dirty="0"/>
              <a:t>, </a:t>
            </a:r>
            <a:r>
              <a:rPr lang="en-US" b="1" dirty="0">
                <a:solidFill>
                  <a:srgbClr val="2D2DD5"/>
                </a:solidFill>
              </a:rPr>
              <a:t>temporal</a:t>
            </a:r>
            <a:r>
              <a:rPr lang="en-US" dirty="0"/>
              <a:t>, </a:t>
            </a:r>
            <a:r>
              <a:rPr lang="en-US" b="1" dirty="0">
                <a:solidFill>
                  <a:srgbClr val="2D2DD5"/>
                </a:solidFill>
              </a:rPr>
              <a:t>human </a:t>
            </a:r>
            <a:r>
              <a:rPr lang="en-US" dirty="0"/>
              <a:t>and </a:t>
            </a:r>
            <a:r>
              <a:rPr lang="en-US" b="1" dirty="0">
                <a:solidFill>
                  <a:srgbClr val="2D2DD5"/>
                </a:solidFill>
              </a:rPr>
              <a:t>economic</a:t>
            </a:r>
            <a:r>
              <a:rPr lang="en-US" dirty="0"/>
              <a:t> information on disasters at the country level.</a:t>
            </a:r>
          </a:p>
        </p:txBody>
      </p:sp>
      <p:sp>
        <p:nvSpPr>
          <p:cNvPr id="4" name="Slide Number Placeholder 3"/>
          <p:cNvSpPr>
            <a:spLocks noGrp="1"/>
          </p:cNvSpPr>
          <p:nvPr>
            <p:ph type="sldNum" sz="quarter" idx="12"/>
          </p:nvPr>
        </p:nvSpPr>
        <p:spPr/>
        <p:txBody>
          <a:bodyPr/>
          <a:lstStyle/>
          <a:p>
            <a:fld id="{AC76C314-45B1-47C5-8966-54BDB8DF2284}" type="slidenum">
              <a:rPr lang="en-US" smtClean="0"/>
              <a:t>18</a:t>
            </a:fld>
            <a:endParaRPr lang="en-US"/>
          </a:p>
        </p:txBody>
      </p:sp>
    </p:spTree>
    <p:extLst>
      <p:ext uri="{BB962C8B-B14F-4D97-AF65-F5344CB8AC3E}">
        <p14:creationId xmlns:p14="http://schemas.microsoft.com/office/powerpoint/2010/main" val="805870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800" b="1" spc="-100" dirty="0">
                <a:solidFill>
                  <a:srgbClr val="0000CC"/>
                </a:solidFill>
                <a:latin typeface="Comic Sans MS" panose="030F0702030302020204" pitchFamily="66" charset="0"/>
                <a:cs typeface="Arial" panose="020B0604020202020204" pitchFamily="34" charset="0"/>
              </a:rPr>
              <a:t>EM-DAT Screenshots </a:t>
            </a:r>
          </a:p>
        </p:txBody>
      </p:sp>
      <p:sp>
        <p:nvSpPr>
          <p:cNvPr id="5" name="Text Placeholder 4"/>
          <p:cNvSpPr>
            <a:spLocks noGrp="1"/>
          </p:cNvSpPr>
          <p:nvPr>
            <p:ph type="body" idx="1"/>
          </p:nvPr>
        </p:nvSpPr>
        <p:spPr>
          <a:xfrm>
            <a:off x="831850" y="5208104"/>
            <a:ext cx="10515600" cy="881546"/>
          </a:xfrm>
        </p:spPr>
        <p:txBody>
          <a:bodyPr>
            <a:normAutofit/>
          </a:bodyPr>
          <a:lstStyle/>
          <a:p>
            <a:r>
              <a:rPr lang="en-US" sz="3200" dirty="0"/>
              <a:t>Examples of database: Profiles and Trends</a:t>
            </a:r>
          </a:p>
        </p:txBody>
      </p:sp>
      <p:sp>
        <p:nvSpPr>
          <p:cNvPr id="2" name="Rectangle 1"/>
          <p:cNvSpPr/>
          <p:nvPr/>
        </p:nvSpPr>
        <p:spPr>
          <a:xfrm>
            <a:off x="3694176" y="2267712"/>
            <a:ext cx="5596128" cy="954107"/>
          </a:xfrm>
          <a:prstGeom prst="rect">
            <a:avLst/>
          </a:prstGeom>
        </p:spPr>
        <p:txBody>
          <a:bodyPr wrap="square">
            <a:spAutoFit/>
          </a:bodyPr>
          <a:lstStyle/>
          <a:p>
            <a:r>
              <a:rPr lang="en-US" sz="2800" dirty="0">
                <a:hlinkClick r:id="rId3"/>
              </a:rPr>
              <a:t>https://www.emdat.be/</a:t>
            </a:r>
          </a:p>
          <a:p>
            <a:r>
              <a:rPr lang="en-US" sz="2800" dirty="0"/>
              <a:t>https://public.emdat.be/</a:t>
            </a:r>
          </a:p>
        </p:txBody>
      </p:sp>
      <p:sp>
        <p:nvSpPr>
          <p:cNvPr id="3" name="Slide Number Placeholder 2"/>
          <p:cNvSpPr>
            <a:spLocks noGrp="1"/>
          </p:cNvSpPr>
          <p:nvPr>
            <p:ph type="sldNum" sz="quarter" idx="12"/>
          </p:nvPr>
        </p:nvSpPr>
        <p:spPr/>
        <p:txBody>
          <a:bodyPr/>
          <a:lstStyle/>
          <a:p>
            <a:fld id="{AC76C314-45B1-47C5-8966-54BDB8DF2284}" type="slidenum">
              <a:rPr lang="en-US" smtClean="0"/>
              <a:t>19</a:t>
            </a:fld>
            <a:endParaRPr lang="en-US"/>
          </a:p>
        </p:txBody>
      </p:sp>
    </p:spTree>
    <p:extLst>
      <p:ext uri="{BB962C8B-B14F-4D97-AF65-F5344CB8AC3E}">
        <p14:creationId xmlns:p14="http://schemas.microsoft.com/office/powerpoint/2010/main" val="649404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pic>
        <p:nvPicPr>
          <p:cNvPr id="4" name="Picture 3"/>
          <p:cNvPicPr>
            <a:picLocks noChangeAspect="1"/>
          </p:cNvPicPr>
          <p:nvPr/>
        </p:nvPicPr>
        <p:blipFill rotWithShape="1">
          <a:blip r:embed="rId2"/>
          <a:srcRect l="15196" t="22322" r="10259" b="19643"/>
          <a:stretch/>
        </p:blipFill>
        <p:spPr>
          <a:xfrm>
            <a:off x="184658" y="1041399"/>
            <a:ext cx="11809984" cy="5169354"/>
          </a:xfrm>
          <a:prstGeom prst="rect">
            <a:avLst/>
          </a:prstGeom>
        </p:spPr>
      </p:pic>
      <p:sp>
        <p:nvSpPr>
          <p:cNvPr id="5" name="Slide Number Placeholder 4"/>
          <p:cNvSpPr>
            <a:spLocks noGrp="1"/>
          </p:cNvSpPr>
          <p:nvPr>
            <p:ph type="sldNum" sz="quarter" idx="12"/>
          </p:nvPr>
        </p:nvSpPr>
        <p:spPr/>
        <p:txBody>
          <a:bodyPr/>
          <a:lstStyle/>
          <a:p>
            <a:fld id="{AC76C314-45B1-47C5-8966-54BDB8DF2284}" type="slidenum">
              <a:rPr lang="en-US" smtClean="0"/>
              <a:t>20</a:t>
            </a:fld>
            <a:endParaRPr lang="en-US"/>
          </a:p>
        </p:txBody>
      </p:sp>
    </p:spTree>
    <p:extLst>
      <p:ext uri="{BB962C8B-B14F-4D97-AF65-F5344CB8AC3E}">
        <p14:creationId xmlns:p14="http://schemas.microsoft.com/office/powerpoint/2010/main" val="2240949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998921" y="0"/>
            <a:ext cx="8506047" cy="6886923"/>
          </a:xfrm>
          <a:prstGeom prst="rect">
            <a:avLst/>
          </a:prstGeom>
        </p:spPr>
      </p:pic>
      <p:sp>
        <p:nvSpPr>
          <p:cNvPr id="2" name="Slide Number Placeholder 1"/>
          <p:cNvSpPr>
            <a:spLocks noGrp="1"/>
          </p:cNvSpPr>
          <p:nvPr>
            <p:ph type="sldNum" sz="quarter" idx="12"/>
          </p:nvPr>
        </p:nvSpPr>
        <p:spPr/>
        <p:txBody>
          <a:bodyPr/>
          <a:lstStyle/>
          <a:p>
            <a:fld id="{AC76C314-45B1-47C5-8966-54BDB8DF2284}" type="slidenum">
              <a:rPr lang="en-US" smtClean="0"/>
              <a:t>21</a:t>
            </a:fld>
            <a:endParaRPr lang="en-US"/>
          </a:p>
        </p:txBody>
      </p:sp>
    </p:spTree>
    <p:extLst>
      <p:ext uri="{BB962C8B-B14F-4D97-AF65-F5344CB8AC3E}">
        <p14:creationId xmlns:p14="http://schemas.microsoft.com/office/powerpoint/2010/main" val="815462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660434" y="642167"/>
            <a:ext cx="8809633" cy="5928753"/>
          </a:xfrm>
          <a:prstGeom prst="rect">
            <a:avLst/>
          </a:prstGeom>
        </p:spPr>
      </p:pic>
      <p:sp>
        <p:nvSpPr>
          <p:cNvPr id="3" name="Slide Number Placeholder 2"/>
          <p:cNvSpPr>
            <a:spLocks noGrp="1"/>
          </p:cNvSpPr>
          <p:nvPr>
            <p:ph type="sldNum" sz="quarter" idx="12"/>
          </p:nvPr>
        </p:nvSpPr>
        <p:spPr/>
        <p:txBody>
          <a:bodyPr/>
          <a:lstStyle/>
          <a:p>
            <a:fld id="{AC76C314-45B1-47C5-8966-54BDB8DF2284}" type="slidenum">
              <a:rPr lang="en-US" smtClean="0"/>
              <a:t>22</a:t>
            </a:fld>
            <a:endParaRPr lang="en-US"/>
          </a:p>
        </p:txBody>
      </p:sp>
    </p:spTree>
    <p:extLst>
      <p:ext uri="{BB962C8B-B14F-4D97-AF65-F5344CB8AC3E}">
        <p14:creationId xmlns:p14="http://schemas.microsoft.com/office/powerpoint/2010/main" val="1867870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Glossary</a:t>
            </a:r>
          </a:p>
        </p:txBody>
      </p:sp>
      <p:sp>
        <p:nvSpPr>
          <p:cNvPr id="3" name="Content Placeholder 2"/>
          <p:cNvSpPr>
            <a:spLocks noGrp="1"/>
          </p:cNvSpPr>
          <p:nvPr>
            <p:ph idx="1"/>
          </p:nvPr>
        </p:nvSpPr>
        <p:spPr/>
        <p:txBody>
          <a:bodyPr/>
          <a:lstStyle/>
          <a:p>
            <a:r>
              <a:rPr lang="en-US" dirty="0"/>
              <a:t>http://www.emdat.be/Glossary</a:t>
            </a:r>
          </a:p>
        </p:txBody>
      </p:sp>
      <p:sp>
        <p:nvSpPr>
          <p:cNvPr id="4" name="Slide Number Placeholder 3"/>
          <p:cNvSpPr>
            <a:spLocks noGrp="1"/>
          </p:cNvSpPr>
          <p:nvPr>
            <p:ph type="sldNum" sz="quarter" idx="12"/>
          </p:nvPr>
        </p:nvSpPr>
        <p:spPr/>
        <p:txBody>
          <a:bodyPr/>
          <a:lstStyle/>
          <a:p>
            <a:fld id="{AC76C314-45B1-47C5-8966-54BDB8DF2284}" type="slidenum">
              <a:rPr lang="en-US" smtClean="0"/>
              <a:t>23</a:t>
            </a:fld>
            <a:endParaRPr lang="en-US"/>
          </a:p>
        </p:txBody>
      </p:sp>
    </p:spTree>
    <p:extLst>
      <p:ext uri="{BB962C8B-B14F-4D97-AF65-F5344CB8AC3E}">
        <p14:creationId xmlns:p14="http://schemas.microsoft.com/office/powerpoint/2010/main" val="2820520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85060" y="667824"/>
            <a:ext cx="11958084" cy="6190176"/>
          </a:xfrm>
          <a:prstGeom prst="rect">
            <a:avLst/>
          </a:prstGeom>
        </p:spPr>
      </p:pic>
      <p:sp>
        <p:nvSpPr>
          <p:cNvPr id="2" name="Slide Number Placeholder 1"/>
          <p:cNvSpPr>
            <a:spLocks noGrp="1"/>
          </p:cNvSpPr>
          <p:nvPr>
            <p:ph type="sldNum" sz="quarter" idx="12"/>
          </p:nvPr>
        </p:nvSpPr>
        <p:spPr/>
        <p:txBody>
          <a:bodyPr/>
          <a:lstStyle/>
          <a:p>
            <a:fld id="{AC76C314-45B1-47C5-8966-54BDB8DF2284}" type="slidenum">
              <a:rPr lang="en-US" smtClean="0"/>
              <a:t>24</a:t>
            </a:fld>
            <a:endParaRPr lang="en-US"/>
          </a:p>
        </p:txBody>
      </p:sp>
    </p:spTree>
    <p:extLst>
      <p:ext uri="{BB962C8B-B14F-4D97-AF65-F5344CB8AC3E}">
        <p14:creationId xmlns:p14="http://schemas.microsoft.com/office/powerpoint/2010/main" val="1079620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48855" y="372138"/>
            <a:ext cx="11905777" cy="5007938"/>
          </a:xfrm>
          <a:prstGeom prst="rect">
            <a:avLst/>
          </a:prstGeom>
        </p:spPr>
      </p:pic>
      <p:sp>
        <p:nvSpPr>
          <p:cNvPr id="3" name="TextBox 2"/>
          <p:cNvSpPr txBox="1"/>
          <p:nvPr/>
        </p:nvSpPr>
        <p:spPr>
          <a:xfrm>
            <a:off x="1127051" y="5784112"/>
            <a:ext cx="7846828" cy="584775"/>
          </a:xfrm>
          <a:prstGeom prst="rect">
            <a:avLst/>
          </a:prstGeom>
          <a:noFill/>
        </p:spPr>
        <p:txBody>
          <a:bodyPr wrap="square" rtlCol="0">
            <a:spAutoFit/>
          </a:bodyPr>
          <a:lstStyle/>
          <a:p>
            <a:r>
              <a:rPr lang="en-US" sz="3200" dirty="0">
                <a:latin typeface="Comic Sans MS" panose="030F0702030302020204" pitchFamily="66" charset="0"/>
                <a:cs typeface="Arial" panose="020B0604020202020204" pitchFamily="34" charset="0"/>
              </a:rPr>
              <a:t>Any comment on these trends?</a:t>
            </a:r>
          </a:p>
        </p:txBody>
      </p:sp>
      <p:sp>
        <p:nvSpPr>
          <p:cNvPr id="4" name="Slide Number Placeholder 3"/>
          <p:cNvSpPr>
            <a:spLocks noGrp="1"/>
          </p:cNvSpPr>
          <p:nvPr>
            <p:ph type="sldNum" sz="quarter" idx="12"/>
          </p:nvPr>
        </p:nvSpPr>
        <p:spPr/>
        <p:txBody>
          <a:bodyPr/>
          <a:lstStyle/>
          <a:p>
            <a:fld id="{AC76C314-45B1-47C5-8966-54BDB8DF2284}" type="slidenum">
              <a:rPr lang="en-US" smtClean="0"/>
              <a:t>25</a:t>
            </a:fld>
            <a:endParaRPr lang="en-US"/>
          </a:p>
        </p:txBody>
      </p:sp>
    </p:spTree>
    <p:extLst>
      <p:ext uri="{BB962C8B-B14F-4D97-AF65-F5344CB8AC3E}">
        <p14:creationId xmlns:p14="http://schemas.microsoft.com/office/powerpoint/2010/main" val="281326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3470" y="425302"/>
            <a:ext cx="11865059" cy="6251945"/>
          </a:xfrm>
          <a:prstGeom prst="rect">
            <a:avLst/>
          </a:prstGeom>
        </p:spPr>
      </p:pic>
      <p:sp>
        <p:nvSpPr>
          <p:cNvPr id="3" name="Slide Number Placeholder 2"/>
          <p:cNvSpPr>
            <a:spLocks noGrp="1"/>
          </p:cNvSpPr>
          <p:nvPr>
            <p:ph type="sldNum" sz="quarter" idx="12"/>
          </p:nvPr>
        </p:nvSpPr>
        <p:spPr/>
        <p:txBody>
          <a:bodyPr/>
          <a:lstStyle/>
          <a:p>
            <a:fld id="{AC76C314-45B1-47C5-8966-54BDB8DF2284}" type="slidenum">
              <a:rPr lang="en-US" smtClean="0"/>
              <a:t>26</a:t>
            </a:fld>
            <a:endParaRPr lang="en-US"/>
          </a:p>
        </p:txBody>
      </p:sp>
    </p:spTree>
    <p:extLst>
      <p:ext uri="{BB962C8B-B14F-4D97-AF65-F5344CB8AC3E}">
        <p14:creationId xmlns:p14="http://schemas.microsoft.com/office/powerpoint/2010/main" val="168976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r="3605"/>
          <a:stretch/>
        </p:blipFill>
        <p:spPr>
          <a:xfrm>
            <a:off x="85060" y="796566"/>
            <a:ext cx="11994129" cy="5039486"/>
          </a:xfrm>
          <a:prstGeom prst="rect">
            <a:avLst/>
          </a:prstGeom>
        </p:spPr>
      </p:pic>
      <p:sp>
        <p:nvSpPr>
          <p:cNvPr id="3" name="TextBox 2"/>
          <p:cNvSpPr txBox="1"/>
          <p:nvPr/>
        </p:nvSpPr>
        <p:spPr>
          <a:xfrm>
            <a:off x="1127051" y="5784112"/>
            <a:ext cx="7846828" cy="584775"/>
          </a:xfrm>
          <a:prstGeom prst="rect">
            <a:avLst/>
          </a:prstGeom>
          <a:noFill/>
        </p:spPr>
        <p:txBody>
          <a:bodyPr wrap="square" rtlCol="0">
            <a:spAutoFit/>
          </a:bodyPr>
          <a:lstStyle/>
          <a:p>
            <a:r>
              <a:rPr lang="en-US" sz="3200" dirty="0">
                <a:latin typeface="Comic Sans MS" panose="030F0702030302020204" pitchFamily="66" charset="0"/>
                <a:cs typeface="Arial" panose="020B0604020202020204" pitchFamily="34" charset="0"/>
              </a:rPr>
              <a:t>Any comment on these trends?</a:t>
            </a:r>
          </a:p>
        </p:txBody>
      </p:sp>
      <p:sp>
        <p:nvSpPr>
          <p:cNvPr id="4" name="Slide Number Placeholder 3"/>
          <p:cNvSpPr>
            <a:spLocks noGrp="1"/>
          </p:cNvSpPr>
          <p:nvPr>
            <p:ph type="sldNum" sz="quarter" idx="12"/>
          </p:nvPr>
        </p:nvSpPr>
        <p:spPr/>
        <p:txBody>
          <a:bodyPr/>
          <a:lstStyle/>
          <a:p>
            <a:fld id="{AC76C314-45B1-47C5-8966-54BDB8DF2284}" type="slidenum">
              <a:rPr lang="en-US" smtClean="0"/>
              <a:t>27</a:t>
            </a:fld>
            <a:endParaRPr lang="en-US"/>
          </a:p>
        </p:txBody>
      </p:sp>
    </p:spTree>
    <p:extLst>
      <p:ext uri="{BB962C8B-B14F-4D97-AF65-F5344CB8AC3E}">
        <p14:creationId xmlns:p14="http://schemas.microsoft.com/office/powerpoint/2010/main" val="162734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8112" y="957262"/>
            <a:ext cx="11915775" cy="4943475"/>
          </a:xfrm>
          <a:prstGeom prst="rect">
            <a:avLst/>
          </a:prstGeom>
        </p:spPr>
      </p:pic>
      <p:sp>
        <p:nvSpPr>
          <p:cNvPr id="2" name="Slide Number Placeholder 1"/>
          <p:cNvSpPr>
            <a:spLocks noGrp="1"/>
          </p:cNvSpPr>
          <p:nvPr>
            <p:ph type="sldNum" sz="quarter" idx="12"/>
          </p:nvPr>
        </p:nvSpPr>
        <p:spPr/>
        <p:txBody>
          <a:bodyPr/>
          <a:lstStyle/>
          <a:p>
            <a:fld id="{AC76C314-45B1-47C5-8966-54BDB8DF2284}" type="slidenum">
              <a:rPr lang="en-US" smtClean="0"/>
              <a:t>28</a:t>
            </a:fld>
            <a:endParaRPr lang="en-US"/>
          </a:p>
        </p:txBody>
      </p:sp>
    </p:spTree>
    <p:extLst>
      <p:ext uri="{BB962C8B-B14F-4D97-AF65-F5344CB8AC3E}">
        <p14:creationId xmlns:p14="http://schemas.microsoft.com/office/powerpoint/2010/main" val="1721094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EM-DAT Criteria </a:t>
            </a:r>
          </a:p>
        </p:txBody>
      </p:sp>
      <p:sp>
        <p:nvSpPr>
          <p:cNvPr id="3" name="Content Placeholder 2"/>
          <p:cNvSpPr>
            <a:spLocks noGrp="1"/>
          </p:cNvSpPr>
          <p:nvPr>
            <p:ph sz="quarter" idx="1"/>
          </p:nvPr>
        </p:nvSpPr>
        <p:spPr>
          <a:xfrm>
            <a:off x="838200" y="1825624"/>
            <a:ext cx="11068050" cy="4651375"/>
          </a:xfrm>
        </p:spPr>
        <p:txBody>
          <a:bodyPr>
            <a:normAutofit lnSpcReduction="10000"/>
          </a:bodyPr>
          <a:lstStyle/>
          <a:p>
            <a:pPr>
              <a:lnSpc>
                <a:spcPct val="110000"/>
              </a:lnSpc>
              <a:spcBef>
                <a:spcPts val="1200"/>
              </a:spcBef>
              <a:spcAft>
                <a:spcPts val="1200"/>
              </a:spcAft>
            </a:pPr>
            <a:r>
              <a:rPr lang="en-US" dirty="0"/>
              <a:t>EM-DAT includes all disasters from 1900 until the present, conforming to at least one of the following criteria:</a:t>
            </a:r>
            <a:endParaRPr lang="en-US" sz="2200" dirty="0"/>
          </a:p>
          <a:p>
            <a:pPr lvl="1">
              <a:lnSpc>
                <a:spcPct val="110000"/>
              </a:lnSpc>
              <a:spcAft>
                <a:spcPts val="1200"/>
              </a:spcAft>
            </a:pPr>
            <a:r>
              <a:rPr lang="en-US" dirty="0">
                <a:solidFill>
                  <a:srgbClr val="FF0000"/>
                </a:solidFill>
              </a:rPr>
              <a:t>10 or more people reported killed</a:t>
            </a:r>
          </a:p>
          <a:p>
            <a:pPr lvl="1">
              <a:lnSpc>
                <a:spcPct val="110000"/>
              </a:lnSpc>
              <a:spcAft>
                <a:spcPts val="1200"/>
              </a:spcAft>
            </a:pPr>
            <a:r>
              <a:rPr lang="en-US" dirty="0">
                <a:solidFill>
                  <a:srgbClr val="FF0000"/>
                </a:solidFill>
              </a:rPr>
              <a:t>100 people or more reported affected</a:t>
            </a:r>
          </a:p>
          <a:p>
            <a:pPr lvl="1">
              <a:lnSpc>
                <a:spcPct val="110000"/>
              </a:lnSpc>
              <a:spcAft>
                <a:spcPts val="1200"/>
              </a:spcAft>
            </a:pPr>
            <a:r>
              <a:rPr lang="en-US" dirty="0">
                <a:solidFill>
                  <a:srgbClr val="FF0000"/>
                </a:solidFill>
              </a:rPr>
              <a:t>declaration of a state of emergency</a:t>
            </a:r>
          </a:p>
          <a:p>
            <a:pPr lvl="1">
              <a:lnSpc>
                <a:spcPct val="110000"/>
              </a:lnSpc>
              <a:spcAft>
                <a:spcPts val="1200"/>
              </a:spcAft>
            </a:pPr>
            <a:r>
              <a:rPr lang="en-US" dirty="0">
                <a:solidFill>
                  <a:srgbClr val="FF0000"/>
                </a:solidFill>
              </a:rPr>
              <a:t>call for international assistance.</a:t>
            </a:r>
          </a:p>
          <a:p>
            <a:pPr>
              <a:lnSpc>
                <a:spcPct val="110000"/>
              </a:lnSpc>
              <a:spcBef>
                <a:spcPts val="1200"/>
              </a:spcBef>
              <a:spcAft>
                <a:spcPts val="1200"/>
              </a:spcAft>
            </a:pPr>
            <a:endParaRPr lang="en-US" dirty="0"/>
          </a:p>
        </p:txBody>
      </p:sp>
      <p:sp>
        <p:nvSpPr>
          <p:cNvPr id="4" name="Slide Number Placeholder 3"/>
          <p:cNvSpPr>
            <a:spLocks noGrp="1"/>
          </p:cNvSpPr>
          <p:nvPr>
            <p:ph type="sldNum" sz="quarter" idx="12"/>
          </p:nvPr>
        </p:nvSpPr>
        <p:spPr/>
        <p:txBody>
          <a:bodyPr/>
          <a:lstStyle/>
          <a:p>
            <a:fld id="{AC76C314-45B1-47C5-8966-54BDB8DF2284}" type="slidenum">
              <a:rPr lang="en-US" smtClean="0"/>
              <a:t>29</a:t>
            </a:fld>
            <a:endParaRPr lang="en-US"/>
          </a:p>
        </p:txBody>
      </p:sp>
    </p:spTree>
    <p:extLst>
      <p:ext uri="{BB962C8B-B14F-4D97-AF65-F5344CB8AC3E}">
        <p14:creationId xmlns:p14="http://schemas.microsoft.com/office/powerpoint/2010/main" val="2488875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r>
              <a:rPr lang="en-US" dirty="0"/>
              <a:t>How does Risk Develop?</a:t>
            </a:r>
          </a:p>
        </p:txBody>
      </p:sp>
      <p:sp>
        <p:nvSpPr>
          <p:cNvPr id="31746" name="Content Placeholder 2"/>
          <p:cNvSpPr>
            <a:spLocks noGrp="1"/>
          </p:cNvSpPr>
          <p:nvPr>
            <p:ph sz="quarter" idx="1"/>
          </p:nvPr>
        </p:nvSpPr>
        <p:spPr>
          <a:xfrm>
            <a:off x="376518" y="1690688"/>
            <a:ext cx="11456894" cy="5030787"/>
          </a:xfrm>
        </p:spPr>
        <p:txBody>
          <a:bodyPr>
            <a:normAutofit/>
          </a:bodyPr>
          <a:lstStyle/>
          <a:p>
            <a:pPr>
              <a:lnSpc>
                <a:spcPct val="100000"/>
              </a:lnSpc>
            </a:pPr>
            <a:r>
              <a:rPr lang="en-US" dirty="0"/>
              <a:t>Hazard is a </a:t>
            </a:r>
            <a:r>
              <a:rPr lang="en-US" u="sng" dirty="0">
                <a:solidFill>
                  <a:srgbClr val="FF0000"/>
                </a:solidFill>
              </a:rPr>
              <a:t>danger</a:t>
            </a:r>
            <a:r>
              <a:rPr lang="en-US" dirty="0"/>
              <a:t> that a disaster event may develop.</a:t>
            </a:r>
          </a:p>
          <a:p>
            <a:pPr>
              <a:lnSpc>
                <a:spcPct val="100000"/>
              </a:lnSpc>
            </a:pPr>
            <a:r>
              <a:rPr lang="en-US" dirty="0"/>
              <a:t>A hazard may cause a disaster to a vulnerable society. </a:t>
            </a:r>
          </a:p>
          <a:p>
            <a:pPr>
              <a:lnSpc>
                <a:spcPct val="100000"/>
              </a:lnSpc>
            </a:pPr>
            <a:r>
              <a:rPr lang="en-US" dirty="0"/>
              <a:t>A disaster is a function of the risk process. </a:t>
            </a:r>
          </a:p>
          <a:p>
            <a:pPr>
              <a:lnSpc>
                <a:spcPct val="100000"/>
              </a:lnSpc>
            </a:pPr>
            <a:r>
              <a:rPr lang="en-US" dirty="0"/>
              <a:t>Risk results from the combination of </a:t>
            </a:r>
          </a:p>
          <a:p>
            <a:pPr lvl="1">
              <a:lnSpc>
                <a:spcPct val="100000"/>
              </a:lnSpc>
            </a:pPr>
            <a:r>
              <a:rPr lang="en-US" sz="2800" dirty="0">
                <a:solidFill>
                  <a:srgbClr val="2D2DD5"/>
                </a:solidFill>
              </a:rPr>
              <a:t>exposure to a hazard, </a:t>
            </a:r>
          </a:p>
          <a:p>
            <a:pPr lvl="1">
              <a:lnSpc>
                <a:spcPct val="100000"/>
              </a:lnSpc>
            </a:pPr>
            <a:r>
              <a:rPr lang="en-US" sz="2800" dirty="0">
                <a:solidFill>
                  <a:srgbClr val="2D2DD5"/>
                </a:solidFill>
              </a:rPr>
              <a:t>conditions of vulnerability and </a:t>
            </a:r>
          </a:p>
          <a:p>
            <a:pPr lvl="1">
              <a:lnSpc>
                <a:spcPct val="100000"/>
              </a:lnSpc>
            </a:pPr>
            <a:r>
              <a:rPr lang="en-US" sz="2800" dirty="0">
                <a:solidFill>
                  <a:srgbClr val="2D2DD5"/>
                </a:solidFill>
              </a:rPr>
              <a:t>insufficient capacity or measures to reduce the potential negative consequences of risk.</a:t>
            </a:r>
          </a:p>
        </p:txBody>
      </p:sp>
      <p:sp>
        <p:nvSpPr>
          <p:cNvPr id="2" name="Slide Number Placeholder 1"/>
          <p:cNvSpPr>
            <a:spLocks noGrp="1"/>
          </p:cNvSpPr>
          <p:nvPr>
            <p:ph type="sldNum" sz="quarter" idx="12"/>
          </p:nvPr>
        </p:nvSpPr>
        <p:spPr/>
        <p:txBody>
          <a:bodyPr/>
          <a:lstStyle/>
          <a:p>
            <a:fld id="{AC76C314-45B1-47C5-8966-54BDB8DF2284}" type="slidenum">
              <a:rPr lang="en-US" smtClean="0"/>
              <a:t>30</a:t>
            </a:fld>
            <a:endParaRPr lang="en-US"/>
          </a:p>
        </p:txBody>
      </p:sp>
    </p:spTree>
    <p:extLst>
      <p:ext uri="{BB962C8B-B14F-4D97-AF65-F5344CB8AC3E}">
        <p14:creationId xmlns:p14="http://schemas.microsoft.com/office/powerpoint/2010/main" val="3875219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sz="quarter" idx="1"/>
          </p:nvPr>
        </p:nvSpPr>
        <p:spPr>
          <a:xfrm>
            <a:off x="555813" y="508000"/>
            <a:ext cx="10772588" cy="5926666"/>
          </a:xfrm>
        </p:spPr>
        <p:txBody>
          <a:bodyPr>
            <a:normAutofit lnSpcReduction="10000"/>
          </a:bodyPr>
          <a:lstStyle/>
          <a:p>
            <a:pPr>
              <a:lnSpc>
                <a:spcPct val="114000"/>
              </a:lnSpc>
            </a:pPr>
            <a:r>
              <a:rPr lang="en-US" dirty="0"/>
              <a:t>A disaster happens when a hazard impacts on the vulnerable population and causes damages, casualties and disruptions.</a:t>
            </a:r>
          </a:p>
          <a:p>
            <a:pPr>
              <a:lnSpc>
                <a:spcPct val="114000"/>
              </a:lnSpc>
            </a:pPr>
            <a:r>
              <a:rPr lang="en-US" dirty="0">
                <a:solidFill>
                  <a:srgbClr val="FF0000"/>
                </a:solidFill>
              </a:rPr>
              <a:t>A hazard is </a:t>
            </a:r>
            <a:r>
              <a:rPr lang="en-US" u="sng" dirty="0">
                <a:solidFill>
                  <a:srgbClr val="FF0000"/>
                </a:solidFill>
              </a:rPr>
              <a:t>disastrous</a:t>
            </a:r>
            <a:r>
              <a:rPr lang="en-US" dirty="0">
                <a:solidFill>
                  <a:srgbClr val="FF0000"/>
                </a:solidFill>
              </a:rPr>
              <a:t> only when it affects people, their properties and activities.</a:t>
            </a:r>
          </a:p>
          <a:p>
            <a:pPr>
              <a:lnSpc>
                <a:spcPct val="114000"/>
              </a:lnSpc>
            </a:pPr>
            <a:r>
              <a:rPr lang="en-US" dirty="0"/>
              <a:t>For example; an earthquake in an uninhabited desert cannot be considered a disaster, no matter how strong the intensities produced </a:t>
            </a:r>
          </a:p>
          <a:p>
            <a:pPr>
              <a:lnSpc>
                <a:spcPct val="114000"/>
              </a:lnSpc>
            </a:pPr>
            <a:r>
              <a:rPr lang="en-US" dirty="0"/>
              <a:t>Disaster occurs only when </a:t>
            </a:r>
            <a:r>
              <a:rPr lang="en-US" b="1" i="1" dirty="0">
                <a:solidFill>
                  <a:srgbClr val="7030A0"/>
                </a:solidFill>
              </a:rPr>
              <a:t>hazards</a:t>
            </a:r>
            <a:r>
              <a:rPr lang="en-US" dirty="0"/>
              <a:t> and </a:t>
            </a:r>
            <a:r>
              <a:rPr lang="en-US" b="1" i="1" dirty="0">
                <a:solidFill>
                  <a:srgbClr val="7030A0"/>
                </a:solidFill>
              </a:rPr>
              <a:t>vulnerability</a:t>
            </a:r>
            <a:r>
              <a:rPr lang="en-US" dirty="0"/>
              <a:t> meet</a:t>
            </a:r>
          </a:p>
        </p:txBody>
      </p:sp>
      <p:sp>
        <p:nvSpPr>
          <p:cNvPr id="2" name="Slide Number Placeholder 1"/>
          <p:cNvSpPr>
            <a:spLocks noGrp="1"/>
          </p:cNvSpPr>
          <p:nvPr>
            <p:ph type="sldNum" sz="quarter" idx="12"/>
          </p:nvPr>
        </p:nvSpPr>
        <p:spPr/>
        <p:txBody>
          <a:bodyPr/>
          <a:lstStyle/>
          <a:p>
            <a:fld id="{AC76C314-45B1-47C5-8966-54BDB8DF2284}" type="slidenum">
              <a:rPr lang="en-US" smtClean="0"/>
              <a:t>31</a:t>
            </a:fld>
            <a:endParaRPr lang="en-US"/>
          </a:p>
        </p:txBody>
      </p:sp>
    </p:spTree>
    <p:extLst>
      <p:ext uri="{BB962C8B-B14F-4D97-AF65-F5344CB8AC3E}">
        <p14:creationId xmlns:p14="http://schemas.microsoft.com/office/powerpoint/2010/main" val="868832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1" name="Picture 2"/>
          <p:cNvPicPr>
            <a:picLocks noChangeAspect="1" noChangeArrowheads="1"/>
          </p:cNvPicPr>
          <p:nvPr/>
        </p:nvPicPr>
        <p:blipFill>
          <a:blip r:embed="rId3"/>
          <a:srcRect l="7031" t="12500" r="8594" b="15625"/>
          <a:stretch>
            <a:fillRect/>
          </a:stretch>
        </p:blipFill>
        <p:spPr bwMode="auto">
          <a:xfrm>
            <a:off x="372533" y="204852"/>
            <a:ext cx="10786534" cy="6891131"/>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AC76C314-45B1-47C5-8966-54BDB8DF2284}" type="slidenum">
              <a:rPr lang="en-US" smtClean="0"/>
              <a:t>32</a:t>
            </a:fld>
            <a:endParaRPr lang="en-US"/>
          </a:p>
        </p:txBody>
      </p:sp>
    </p:spTree>
    <p:extLst>
      <p:ext uri="{BB962C8B-B14F-4D97-AF65-F5344CB8AC3E}">
        <p14:creationId xmlns:p14="http://schemas.microsoft.com/office/powerpoint/2010/main" val="30180787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Assignment</a:t>
            </a:r>
          </a:p>
        </p:txBody>
      </p:sp>
      <p:sp>
        <p:nvSpPr>
          <p:cNvPr id="3" name="Content Placeholder 2"/>
          <p:cNvSpPr>
            <a:spLocks noGrp="1"/>
          </p:cNvSpPr>
          <p:nvPr>
            <p:ph idx="1"/>
          </p:nvPr>
        </p:nvSpPr>
        <p:spPr/>
        <p:txBody>
          <a:bodyPr/>
          <a:lstStyle/>
          <a:p>
            <a:pPr marL="514350" indent="-514350">
              <a:buFont typeface="+mj-lt"/>
              <a:buAutoNum type="arabicPeriod"/>
            </a:pPr>
            <a:r>
              <a:rPr lang="en-US" dirty="0"/>
              <a:t>Explore further at </a:t>
            </a:r>
            <a:r>
              <a:rPr lang="en-US" dirty="0">
                <a:hlinkClick r:id="rId2"/>
              </a:rPr>
              <a:t>http://www.emdat.be/database</a:t>
            </a:r>
            <a:endParaRPr lang="en-US" dirty="0"/>
          </a:p>
          <a:p>
            <a:pPr marL="0" indent="0">
              <a:buNone/>
            </a:pPr>
            <a:endParaRPr lang="en-US" dirty="0"/>
          </a:p>
          <a:p>
            <a:pPr marL="514350" indent="-514350">
              <a:buFont typeface="+mj-lt"/>
              <a:buAutoNum type="arabicPeriod" startAt="2"/>
            </a:pPr>
            <a:r>
              <a:rPr lang="en-US" dirty="0"/>
              <a:t>Look at</a:t>
            </a:r>
          </a:p>
          <a:p>
            <a:pPr marL="0" indent="0">
              <a:buNone/>
            </a:pPr>
            <a:r>
              <a:rPr lang="en-US" dirty="0">
                <a:hlinkClick r:id="rId3"/>
              </a:rPr>
              <a:t>http://unisdr.org/files/7817_UNISDRTerminologyEnglish.pdf</a:t>
            </a:r>
            <a:endParaRPr lang="en-US" dirty="0"/>
          </a:p>
          <a:p>
            <a:pPr marL="0" indent="0">
              <a:buNone/>
            </a:pPr>
            <a:r>
              <a:rPr lang="en-US" dirty="0"/>
              <a:t>For subject related terminologies</a:t>
            </a:r>
          </a:p>
          <a:p>
            <a:pPr marL="0" indent="0">
              <a:buNone/>
            </a:pPr>
            <a:r>
              <a:rPr lang="en-US" dirty="0"/>
              <a:t> </a:t>
            </a:r>
          </a:p>
          <a:p>
            <a:endParaRPr lang="en-US" dirty="0"/>
          </a:p>
        </p:txBody>
      </p:sp>
      <p:sp>
        <p:nvSpPr>
          <p:cNvPr id="4" name="Slide Number Placeholder 3"/>
          <p:cNvSpPr>
            <a:spLocks noGrp="1"/>
          </p:cNvSpPr>
          <p:nvPr>
            <p:ph type="sldNum" sz="quarter" idx="12"/>
          </p:nvPr>
        </p:nvSpPr>
        <p:spPr/>
        <p:txBody>
          <a:bodyPr/>
          <a:lstStyle/>
          <a:p>
            <a:fld id="{AC76C314-45B1-47C5-8966-54BDB8DF2284}" type="slidenum">
              <a:rPr lang="en-US" smtClean="0"/>
              <a:t>33</a:t>
            </a:fld>
            <a:endParaRPr lang="en-US"/>
          </a:p>
        </p:txBody>
      </p:sp>
    </p:spTree>
    <p:extLst>
      <p:ext uri="{BB962C8B-B14F-4D97-AF65-F5344CB8AC3E}">
        <p14:creationId xmlns:p14="http://schemas.microsoft.com/office/powerpoint/2010/main" val="4259935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p:sp>
        <p:nvSpPr>
          <p:cNvPr id="3" name="Content Placeholder 2"/>
          <p:cNvSpPr>
            <a:spLocks noGrp="1"/>
          </p:cNvSpPr>
          <p:nvPr>
            <p:ph idx="1"/>
          </p:nvPr>
        </p:nvSpPr>
        <p:spPr>
          <a:xfrm>
            <a:off x="838199" y="1825625"/>
            <a:ext cx="10921409" cy="4745296"/>
          </a:xfrm>
        </p:spPr>
        <p:txBody>
          <a:bodyPr>
            <a:normAutofit fontScale="92500" lnSpcReduction="10000"/>
          </a:bodyPr>
          <a:lstStyle/>
          <a:p>
            <a:pPr marL="0" indent="0">
              <a:buNone/>
            </a:pPr>
            <a:r>
              <a:rPr lang="en-US" dirty="0"/>
              <a:t>Go to the EM-DAT database and determine</a:t>
            </a:r>
          </a:p>
          <a:p>
            <a:pPr marL="0" indent="0">
              <a:buNone/>
            </a:pPr>
            <a:r>
              <a:rPr lang="en-US" dirty="0">
                <a:solidFill>
                  <a:srgbClr val="2D2DD5"/>
                </a:solidFill>
              </a:rPr>
              <a:t>Historically, which disaster type has more</a:t>
            </a:r>
          </a:p>
          <a:p>
            <a:pPr marL="971550" lvl="1" indent="-514350">
              <a:buFont typeface="+mj-lt"/>
              <a:buAutoNum type="arabicPeriod"/>
            </a:pPr>
            <a:r>
              <a:rPr lang="en-US">
                <a:solidFill>
                  <a:srgbClr val="FF0000"/>
                </a:solidFill>
              </a:rPr>
              <a:t>Total number?</a:t>
            </a:r>
            <a:endParaRPr lang="en-US" dirty="0">
              <a:solidFill>
                <a:srgbClr val="FF0000"/>
              </a:solidFill>
            </a:endParaRPr>
          </a:p>
          <a:p>
            <a:pPr marL="971550" lvl="1" indent="-514350">
              <a:buFont typeface="+mj-lt"/>
              <a:buAutoNum type="arabicPeriod"/>
            </a:pPr>
            <a:r>
              <a:rPr lang="en-US" dirty="0">
                <a:solidFill>
                  <a:srgbClr val="FF0000"/>
                </a:solidFill>
              </a:rPr>
              <a:t>Total Deaths?</a:t>
            </a:r>
          </a:p>
          <a:p>
            <a:pPr marL="971550" lvl="1" indent="-514350">
              <a:buFont typeface="+mj-lt"/>
              <a:buAutoNum type="arabicPeriod"/>
            </a:pPr>
            <a:r>
              <a:rPr lang="en-US" dirty="0">
                <a:solidFill>
                  <a:srgbClr val="FF0000"/>
                </a:solidFill>
              </a:rPr>
              <a:t>Total affected?</a:t>
            </a:r>
          </a:p>
          <a:p>
            <a:pPr marL="971550" lvl="1" indent="-514350">
              <a:buFont typeface="+mj-lt"/>
              <a:buAutoNum type="arabicPeriod"/>
            </a:pPr>
            <a:r>
              <a:rPr lang="en-US" dirty="0">
                <a:solidFill>
                  <a:srgbClr val="FF0000"/>
                </a:solidFill>
              </a:rPr>
              <a:t>Total estimated damages?</a:t>
            </a:r>
          </a:p>
          <a:p>
            <a:pPr marL="971550" lvl="1" indent="-514350">
              <a:buFont typeface="+mj-lt"/>
              <a:buAutoNum type="arabicPeriod"/>
            </a:pPr>
            <a:endParaRPr lang="en-US" dirty="0"/>
          </a:p>
          <a:p>
            <a:pPr marL="0" indent="0">
              <a:lnSpc>
                <a:spcPct val="100000"/>
              </a:lnSpc>
              <a:buNone/>
            </a:pPr>
            <a:r>
              <a:rPr lang="en-US" dirty="0">
                <a:solidFill>
                  <a:schemeClr val="accent6">
                    <a:lumMod val="75000"/>
                  </a:schemeClr>
                </a:solidFill>
              </a:rPr>
              <a:t>You will find out that the answers to 1, 2, and 3 would not be the same. </a:t>
            </a:r>
          </a:p>
          <a:p>
            <a:pPr marL="0" indent="0">
              <a:lnSpc>
                <a:spcPct val="100000"/>
              </a:lnSpc>
              <a:buNone/>
            </a:pPr>
            <a:r>
              <a:rPr lang="en-US" dirty="0"/>
              <a:t>Do you have any explanation for this difference?</a:t>
            </a:r>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fld id="{AC76C314-45B1-47C5-8966-54BDB8DF2284}" type="slidenum">
              <a:rPr lang="en-US" smtClean="0"/>
              <a:t>34</a:t>
            </a:fld>
            <a:endParaRPr lang="en-US"/>
          </a:p>
        </p:txBody>
      </p:sp>
    </p:spTree>
    <p:extLst>
      <p:ext uri="{BB962C8B-B14F-4D97-AF65-F5344CB8AC3E}">
        <p14:creationId xmlns:p14="http://schemas.microsoft.com/office/powerpoint/2010/main" val="3324334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09800" y="457200"/>
            <a:ext cx="7543800" cy="762000"/>
          </a:xfrm>
        </p:spPr>
        <p:txBody>
          <a:bodyPr/>
          <a:lstStyle/>
          <a:p>
            <a:pPr>
              <a:defRPr/>
            </a:pPr>
            <a:r>
              <a:rPr lang="en-US" sz="4000" b="1" dirty="0">
                <a:solidFill>
                  <a:srgbClr val="0000CC"/>
                </a:solidFill>
                <a:latin typeface="Comic Sans MS" panose="030F0702030302020204" pitchFamily="66" charset="0"/>
                <a:cs typeface="Arial" panose="020B0604020202020204" pitchFamily="34" charset="0"/>
              </a:rPr>
              <a:t>Discussion/Comment/Question</a:t>
            </a:r>
          </a:p>
        </p:txBody>
      </p:sp>
      <p:pic>
        <p:nvPicPr>
          <p:cNvPr id="44035" name="Picture 4" descr="3d characters around a table assembling a jigsaw puzz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700" y="1752601"/>
            <a:ext cx="6096000" cy="403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AC76C314-45B1-47C5-8966-54BDB8DF2284}" type="slidenum">
              <a:rPr lang="en-US" smtClean="0"/>
              <a:t>35</a:t>
            </a:fld>
            <a:endParaRPr lang="en-US"/>
          </a:p>
        </p:txBody>
      </p:sp>
    </p:spTree>
    <p:extLst>
      <p:ext uri="{BB962C8B-B14F-4D97-AF65-F5344CB8AC3E}">
        <p14:creationId xmlns:p14="http://schemas.microsoft.com/office/powerpoint/2010/main" val="2758758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8354</TotalTime>
  <Words>737</Words>
  <Application>Microsoft Office PowerPoint</Application>
  <PresentationFormat>Widescreen</PresentationFormat>
  <Paragraphs>126</Paragraphs>
  <Slides>35</Slides>
  <Notes>24</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Comic Sans MS</vt:lpstr>
      <vt:lpstr>Office Theme</vt:lpstr>
      <vt:lpstr>PowerPoint Presentation</vt:lpstr>
      <vt:lpstr>PowerPoint Presentation</vt:lpstr>
      <vt:lpstr>PowerPoint Presentation</vt:lpstr>
      <vt:lpstr>PowerPoint Presentation</vt:lpstr>
      <vt:lpstr>PowerPoint Presentation</vt:lpstr>
      <vt:lpstr>PowerPoint Presentation</vt:lpstr>
      <vt:lpstr>Climate Reports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EM-DAT: The International Disaster Database  </vt:lpstr>
      <vt:lpstr>EM-DAT</vt:lpstr>
      <vt:lpstr>EM-DAT Screenshots </vt:lpstr>
      <vt:lpstr>PowerPoint Presentation</vt:lpstr>
      <vt:lpstr>PowerPoint Presentation</vt:lpstr>
      <vt:lpstr>PowerPoint Presentation</vt:lpstr>
      <vt:lpstr>Glossary</vt:lpstr>
      <vt:lpstr>PowerPoint Presentation</vt:lpstr>
      <vt:lpstr>PowerPoint Presentation</vt:lpstr>
      <vt:lpstr>PowerPoint Presentation</vt:lpstr>
      <vt:lpstr>PowerPoint Presentation</vt:lpstr>
      <vt:lpstr>PowerPoint Presentation</vt:lpstr>
      <vt:lpstr>EM-DAT Criteria </vt:lpstr>
      <vt:lpstr>How does Risk Develop?</vt:lpstr>
      <vt:lpstr>PowerPoint Presentation</vt:lpstr>
      <vt:lpstr>PowerPoint Presentation</vt:lpstr>
      <vt:lpstr>Reading Assignment</vt:lpstr>
      <vt:lpstr>Assignment</vt:lpstr>
      <vt:lpstr>Discussion/Comment/Question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Arjumand</dc:creator>
  <cp:lastModifiedBy>Arjumand Zaidi</cp:lastModifiedBy>
  <cp:revision>235</cp:revision>
  <dcterms:created xsi:type="dcterms:W3CDTF">2016-08-22T06:10:37Z</dcterms:created>
  <dcterms:modified xsi:type="dcterms:W3CDTF">2026-08-12T06:31:46Z</dcterms:modified>
</cp:coreProperties>
</file>