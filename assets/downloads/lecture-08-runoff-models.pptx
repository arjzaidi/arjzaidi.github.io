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33"/>
  </p:notesMasterIdLst>
  <p:sldIdLst>
    <p:sldId id="256" r:id="rId2"/>
    <p:sldId id="273" r:id="rId3"/>
    <p:sldId id="274" r:id="rId4"/>
    <p:sldId id="276" r:id="rId5"/>
    <p:sldId id="277" r:id="rId6"/>
    <p:sldId id="278" r:id="rId7"/>
    <p:sldId id="343" r:id="rId8"/>
    <p:sldId id="350" r:id="rId9"/>
    <p:sldId id="283" r:id="rId10"/>
    <p:sldId id="280" r:id="rId11"/>
    <p:sldId id="301" r:id="rId12"/>
    <p:sldId id="296" r:id="rId13"/>
    <p:sldId id="297" r:id="rId14"/>
    <p:sldId id="302" r:id="rId15"/>
    <p:sldId id="304" r:id="rId16"/>
    <p:sldId id="310" r:id="rId17"/>
    <p:sldId id="298" r:id="rId18"/>
    <p:sldId id="314" r:id="rId19"/>
    <p:sldId id="320" r:id="rId20"/>
    <p:sldId id="309" r:id="rId21"/>
    <p:sldId id="349" r:id="rId22"/>
    <p:sldId id="305" r:id="rId23"/>
    <p:sldId id="306" r:id="rId24"/>
    <p:sldId id="272" r:id="rId25"/>
    <p:sldId id="257" r:id="rId26"/>
    <p:sldId id="258" r:id="rId27"/>
    <p:sldId id="339" r:id="rId28"/>
    <p:sldId id="325" r:id="rId29"/>
    <p:sldId id="326" r:id="rId30"/>
    <p:sldId id="327" r:id="rId31"/>
    <p:sldId id="328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7D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0" autoAdjust="0"/>
    <p:restoredTop sz="83797" autoAdjust="0"/>
  </p:normalViewPr>
  <p:slideViewPr>
    <p:cSldViewPr>
      <p:cViewPr varScale="1">
        <p:scale>
          <a:sx n="89" d="100"/>
          <a:sy n="89" d="100"/>
        </p:scale>
        <p:origin x="552" y="6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823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200" d="100"/>
        <a:sy n="200" d="100"/>
      </p:scale>
      <p:origin x="0" y="-3289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5A1BC4D-7C40-4B04-89EE-51C013C0A4F0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83094DFE-59DD-4FBA-B5BC-903D3A326306}">
      <dgm:prSet/>
      <dgm:spPr/>
      <dgm:t>
        <a:bodyPr/>
        <a:lstStyle/>
        <a:p>
          <a:r>
            <a:rPr lang="en-US" b="1"/>
            <a:t>Rational Method</a:t>
          </a:r>
          <a:endParaRPr lang="en-US"/>
        </a:p>
      </dgm:t>
    </dgm:pt>
    <dgm:pt modelId="{9991D11C-71E2-4D27-9010-82C95DB325A7}" type="parTrans" cxnId="{67F476E1-71D5-4E66-92CC-77BB191EDB7C}">
      <dgm:prSet/>
      <dgm:spPr/>
      <dgm:t>
        <a:bodyPr/>
        <a:lstStyle/>
        <a:p>
          <a:endParaRPr lang="en-US"/>
        </a:p>
      </dgm:t>
    </dgm:pt>
    <dgm:pt modelId="{DF451A63-B8DE-4D6B-BF6A-4C1C479E0E97}" type="sibTrans" cxnId="{67F476E1-71D5-4E66-92CC-77BB191EDB7C}">
      <dgm:prSet/>
      <dgm:spPr/>
      <dgm:t>
        <a:bodyPr/>
        <a:lstStyle/>
        <a:p>
          <a:endParaRPr lang="en-US"/>
        </a:p>
      </dgm:t>
    </dgm:pt>
    <dgm:pt modelId="{D2217338-A953-4E1C-8F73-9A584B157A9C}">
      <dgm:prSet/>
      <dgm:spPr/>
      <dgm:t>
        <a:bodyPr/>
        <a:lstStyle/>
        <a:p>
          <a:r>
            <a:rPr lang="en-US" b="1"/>
            <a:t>NRCS Method</a:t>
          </a:r>
          <a:endParaRPr lang="en-US"/>
        </a:p>
      </dgm:t>
    </dgm:pt>
    <dgm:pt modelId="{11999CC0-0341-4DCA-89A5-687D9871B2AB}" type="parTrans" cxnId="{E0F31686-EF3E-4FB2-85F8-CE7D09B09D59}">
      <dgm:prSet/>
      <dgm:spPr/>
      <dgm:t>
        <a:bodyPr/>
        <a:lstStyle/>
        <a:p>
          <a:endParaRPr lang="en-US"/>
        </a:p>
      </dgm:t>
    </dgm:pt>
    <dgm:pt modelId="{923587D8-FAB7-438F-AB93-E67C6F2B0E16}" type="sibTrans" cxnId="{E0F31686-EF3E-4FB2-85F8-CE7D09B09D59}">
      <dgm:prSet/>
      <dgm:spPr/>
      <dgm:t>
        <a:bodyPr/>
        <a:lstStyle/>
        <a:p>
          <a:endParaRPr lang="en-US"/>
        </a:p>
      </dgm:t>
    </dgm:pt>
    <dgm:pt modelId="{70A46233-9973-4F6D-B818-B194C9ED7495}" type="pres">
      <dgm:prSet presAssocID="{A5A1BC4D-7C40-4B04-89EE-51C013C0A4F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BDCE35C-6E19-499B-ABD8-1EDC93150F88}" type="pres">
      <dgm:prSet presAssocID="{83094DFE-59DD-4FBA-B5BC-903D3A326306}" presName="hierRoot1" presStyleCnt="0"/>
      <dgm:spPr/>
    </dgm:pt>
    <dgm:pt modelId="{C1395A07-F51A-4D25-96FA-BF60AD3D3711}" type="pres">
      <dgm:prSet presAssocID="{83094DFE-59DD-4FBA-B5BC-903D3A326306}" presName="composite" presStyleCnt="0"/>
      <dgm:spPr/>
    </dgm:pt>
    <dgm:pt modelId="{CDDF82AD-B792-447F-A29E-396F63DA9B24}" type="pres">
      <dgm:prSet presAssocID="{83094DFE-59DD-4FBA-B5BC-903D3A326306}" presName="background" presStyleLbl="node0" presStyleIdx="0" presStyleCnt="2"/>
      <dgm:spPr/>
    </dgm:pt>
    <dgm:pt modelId="{0BBD1D10-CEFF-4413-8B64-1821A682BA15}" type="pres">
      <dgm:prSet presAssocID="{83094DFE-59DD-4FBA-B5BC-903D3A326306}" presName="text" presStyleLbl="fgAcc0" presStyleIdx="0" presStyleCnt="2">
        <dgm:presLayoutVars>
          <dgm:chPref val="3"/>
        </dgm:presLayoutVars>
      </dgm:prSet>
      <dgm:spPr/>
    </dgm:pt>
    <dgm:pt modelId="{C4AE92F4-E0DD-4CF8-9384-65B8278A6C7C}" type="pres">
      <dgm:prSet presAssocID="{83094DFE-59DD-4FBA-B5BC-903D3A326306}" presName="hierChild2" presStyleCnt="0"/>
      <dgm:spPr/>
    </dgm:pt>
    <dgm:pt modelId="{94C8B7ED-77A9-4E37-9255-A686EDB508FA}" type="pres">
      <dgm:prSet presAssocID="{D2217338-A953-4E1C-8F73-9A584B157A9C}" presName="hierRoot1" presStyleCnt="0"/>
      <dgm:spPr/>
    </dgm:pt>
    <dgm:pt modelId="{ED97EC4C-8C8E-4801-A7A1-3A44CCEC111B}" type="pres">
      <dgm:prSet presAssocID="{D2217338-A953-4E1C-8F73-9A584B157A9C}" presName="composite" presStyleCnt="0"/>
      <dgm:spPr/>
    </dgm:pt>
    <dgm:pt modelId="{817267A5-5458-41E7-B402-5D48E7938DF9}" type="pres">
      <dgm:prSet presAssocID="{D2217338-A953-4E1C-8F73-9A584B157A9C}" presName="background" presStyleLbl="node0" presStyleIdx="1" presStyleCnt="2"/>
      <dgm:spPr/>
    </dgm:pt>
    <dgm:pt modelId="{D42AC1F1-8996-47A2-BB21-AB280EE91C53}" type="pres">
      <dgm:prSet presAssocID="{D2217338-A953-4E1C-8F73-9A584B157A9C}" presName="text" presStyleLbl="fgAcc0" presStyleIdx="1" presStyleCnt="2">
        <dgm:presLayoutVars>
          <dgm:chPref val="3"/>
        </dgm:presLayoutVars>
      </dgm:prSet>
      <dgm:spPr/>
    </dgm:pt>
    <dgm:pt modelId="{6242FC43-2414-4169-83CE-34FA99ABEB3A}" type="pres">
      <dgm:prSet presAssocID="{D2217338-A953-4E1C-8F73-9A584B157A9C}" presName="hierChild2" presStyleCnt="0"/>
      <dgm:spPr/>
    </dgm:pt>
  </dgm:ptLst>
  <dgm:cxnLst>
    <dgm:cxn modelId="{B8EA165A-AA6A-4E86-B85C-FEB8AA1D5D78}" type="presOf" srcId="{83094DFE-59DD-4FBA-B5BC-903D3A326306}" destId="{0BBD1D10-CEFF-4413-8B64-1821A682BA15}" srcOrd="0" destOrd="0" presId="urn:microsoft.com/office/officeart/2005/8/layout/hierarchy1"/>
    <dgm:cxn modelId="{E0F31686-EF3E-4FB2-85F8-CE7D09B09D59}" srcId="{A5A1BC4D-7C40-4B04-89EE-51C013C0A4F0}" destId="{D2217338-A953-4E1C-8F73-9A584B157A9C}" srcOrd="1" destOrd="0" parTransId="{11999CC0-0341-4DCA-89A5-687D9871B2AB}" sibTransId="{923587D8-FAB7-438F-AB93-E67C6F2B0E16}"/>
    <dgm:cxn modelId="{42F7D6AE-1EE9-412A-A5A1-14DEEC8B7B4A}" type="presOf" srcId="{A5A1BC4D-7C40-4B04-89EE-51C013C0A4F0}" destId="{70A46233-9973-4F6D-B818-B194C9ED7495}" srcOrd="0" destOrd="0" presId="urn:microsoft.com/office/officeart/2005/8/layout/hierarchy1"/>
    <dgm:cxn modelId="{67F476E1-71D5-4E66-92CC-77BB191EDB7C}" srcId="{A5A1BC4D-7C40-4B04-89EE-51C013C0A4F0}" destId="{83094DFE-59DD-4FBA-B5BC-903D3A326306}" srcOrd="0" destOrd="0" parTransId="{9991D11C-71E2-4D27-9010-82C95DB325A7}" sibTransId="{DF451A63-B8DE-4D6B-BF6A-4C1C479E0E97}"/>
    <dgm:cxn modelId="{03122EFF-1720-4505-85BA-251C0714BBB0}" type="presOf" srcId="{D2217338-A953-4E1C-8F73-9A584B157A9C}" destId="{D42AC1F1-8996-47A2-BB21-AB280EE91C53}" srcOrd="0" destOrd="0" presId="urn:microsoft.com/office/officeart/2005/8/layout/hierarchy1"/>
    <dgm:cxn modelId="{6753070E-7FB5-406E-A61A-BD39DA4EF6D6}" type="presParOf" srcId="{70A46233-9973-4F6D-B818-B194C9ED7495}" destId="{9BDCE35C-6E19-499B-ABD8-1EDC93150F88}" srcOrd="0" destOrd="0" presId="urn:microsoft.com/office/officeart/2005/8/layout/hierarchy1"/>
    <dgm:cxn modelId="{AC924396-4375-44D4-9DF7-FFBC6D56141F}" type="presParOf" srcId="{9BDCE35C-6E19-499B-ABD8-1EDC93150F88}" destId="{C1395A07-F51A-4D25-96FA-BF60AD3D3711}" srcOrd="0" destOrd="0" presId="urn:microsoft.com/office/officeart/2005/8/layout/hierarchy1"/>
    <dgm:cxn modelId="{99B54918-17B2-4DBD-9C13-415BAC083545}" type="presParOf" srcId="{C1395A07-F51A-4D25-96FA-BF60AD3D3711}" destId="{CDDF82AD-B792-447F-A29E-396F63DA9B24}" srcOrd="0" destOrd="0" presId="urn:microsoft.com/office/officeart/2005/8/layout/hierarchy1"/>
    <dgm:cxn modelId="{B536392E-E2E8-42B0-ABAB-922A6965BCEE}" type="presParOf" srcId="{C1395A07-F51A-4D25-96FA-BF60AD3D3711}" destId="{0BBD1D10-CEFF-4413-8B64-1821A682BA15}" srcOrd="1" destOrd="0" presId="urn:microsoft.com/office/officeart/2005/8/layout/hierarchy1"/>
    <dgm:cxn modelId="{9AADE2B5-1952-4138-804E-471CE0751231}" type="presParOf" srcId="{9BDCE35C-6E19-499B-ABD8-1EDC93150F88}" destId="{C4AE92F4-E0DD-4CF8-9384-65B8278A6C7C}" srcOrd="1" destOrd="0" presId="urn:microsoft.com/office/officeart/2005/8/layout/hierarchy1"/>
    <dgm:cxn modelId="{49514099-6401-49A9-9155-472FDEF01E79}" type="presParOf" srcId="{70A46233-9973-4F6D-B818-B194C9ED7495}" destId="{94C8B7ED-77A9-4E37-9255-A686EDB508FA}" srcOrd="1" destOrd="0" presId="urn:microsoft.com/office/officeart/2005/8/layout/hierarchy1"/>
    <dgm:cxn modelId="{0F9AD4F4-5896-44FE-A3E9-CE312DCF81C8}" type="presParOf" srcId="{94C8B7ED-77A9-4E37-9255-A686EDB508FA}" destId="{ED97EC4C-8C8E-4801-A7A1-3A44CCEC111B}" srcOrd="0" destOrd="0" presId="urn:microsoft.com/office/officeart/2005/8/layout/hierarchy1"/>
    <dgm:cxn modelId="{A48452CB-E00E-4183-AC9F-D4B83E6B4BDB}" type="presParOf" srcId="{ED97EC4C-8C8E-4801-A7A1-3A44CCEC111B}" destId="{817267A5-5458-41E7-B402-5D48E7938DF9}" srcOrd="0" destOrd="0" presId="urn:microsoft.com/office/officeart/2005/8/layout/hierarchy1"/>
    <dgm:cxn modelId="{2A543B5B-7CD3-45E4-A612-61770C24DD7D}" type="presParOf" srcId="{ED97EC4C-8C8E-4801-A7A1-3A44CCEC111B}" destId="{D42AC1F1-8996-47A2-BB21-AB280EE91C53}" srcOrd="1" destOrd="0" presId="urn:microsoft.com/office/officeart/2005/8/layout/hierarchy1"/>
    <dgm:cxn modelId="{31D37537-670D-4C1F-ADE6-8782572A2F71}" type="presParOf" srcId="{94C8B7ED-77A9-4E37-9255-A686EDB508FA}" destId="{6242FC43-2414-4169-83CE-34FA99ABEB3A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B7F8803-6831-454B-945D-A7CE425078EC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9C1DB65E-DB0B-4ED3-90BA-61C2942F64A4}">
      <dgm:prSet/>
      <dgm:spPr/>
      <dgm:t>
        <a:bodyPr/>
        <a:lstStyle/>
        <a:p>
          <a:r>
            <a:rPr lang="en-US"/>
            <a:t>To calculate peak runoff from small watersheds</a:t>
          </a:r>
        </a:p>
      </dgm:t>
    </dgm:pt>
    <dgm:pt modelId="{9A590FD5-C976-4251-9104-F71A464E1103}" type="parTrans" cxnId="{880EE106-89C1-411F-B15C-697CD0C1C0A7}">
      <dgm:prSet/>
      <dgm:spPr/>
      <dgm:t>
        <a:bodyPr/>
        <a:lstStyle/>
        <a:p>
          <a:endParaRPr lang="en-US"/>
        </a:p>
      </dgm:t>
    </dgm:pt>
    <dgm:pt modelId="{88D4062F-ABE2-456F-8D06-335E8F1A561A}" type="sibTrans" cxnId="{880EE106-89C1-411F-B15C-697CD0C1C0A7}">
      <dgm:prSet/>
      <dgm:spPr/>
      <dgm:t>
        <a:bodyPr/>
        <a:lstStyle/>
        <a:p>
          <a:endParaRPr lang="en-US"/>
        </a:p>
      </dgm:t>
    </dgm:pt>
    <dgm:pt modelId="{FF4702BB-2174-443E-AF96-11C92FC1EFD3}">
      <dgm:prSet/>
      <dgm:spPr/>
      <dgm:t>
        <a:bodyPr/>
        <a:lstStyle/>
        <a:p>
          <a:r>
            <a:rPr lang="en-US"/>
            <a:t>Provides peak runoff rate from a catchment given:</a:t>
          </a:r>
        </a:p>
      </dgm:t>
    </dgm:pt>
    <dgm:pt modelId="{B8A9C055-300B-498D-A3ED-1D92308C0EB0}" type="parTrans" cxnId="{F485B315-8EAC-49E0-B13B-70D40D9404E9}">
      <dgm:prSet/>
      <dgm:spPr/>
      <dgm:t>
        <a:bodyPr/>
        <a:lstStyle/>
        <a:p>
          <a:endParaRPr lang="en-US"/>
        </a:p>
      </dgm:t>
    </dgm:pt>
    <dgm:pt modelId="{EFD5E0E8-00C1-4604-979B-98EE9C84F1B2}" type="sibTrans" cxnId="{F485B315-8EAC-49E0-B13B-70D40D9404E9}">
      <dgm:prSet/>
      <dgm:spPr/>
      <dgm:t>
        <a:bodyPr/>
        <a:lstStyle/>
        <a:p>
          <a:endParaRPr lang="en-US"/>
        </a:p>
      </dgm:t>
    </dgm:pt>
    <dgm:pt modelId="{E1841509-AF6F-4A79-B056-4312AF748B13}">
      <dgm:prSet/>
      <dgm:spPr/>
      <dgm:t>
        <a:bodyPr/>
        <a:lstStyle/>
        <a:p>
          <a:r>
            <a:rPr lang="en-US"/>
            <a:t>the runoff coefficient C, </a:t>
          </a:r>
        </a:p>
      </dgm:t>
    </dgm:pt>
    <dgm:pt modelId="{B1134991-9D39-4650-89BB-0F55B316047A}" type="parTrans" cxnId="{0E58CCED-D209-444E-B7EC-2F26366B54E2}">
      <dgm:prSet/>
      <dgm:spPr/>
      <dgm:t>
        <a:bodyPr/>
        <a:lstStyle/>
        <a:p>
          <a:endParaRPr lang="en-US"/>
        </a:p>
      </dgm:t>
    </dgm:pt>
    <dgm:pt modelId="{EF32F840-C1EB-4ADB-A69B-98F6103C1CB3}" type="sibTrans" cxnId="{0E58CCED-D209-444E-B7EC-2F26366B54E2}">
      <dgm:prSet/>
      <dgm:spPr/>
      <dgm:t>
        <a:bodyPr/>
        <a:lstStyle/>
        <a:p>
          <a:endParaRPr lang="en-US"/>
        </a:p>
      </dgm:t>
    </dgm:pt>
    <dgm:pt modelId="{AC63EC29-F717-4DFF-BCA9-6542FC42F91C}">
      <dgm:prSet/>
      <dgm:spPr/>
      <dgm:t>
        <a:bodyPr/>
        <a:lstStyle/>
        <a:p>
          <a:r>
            <a:rPr lang="en-US"/>
            <a:t>the time of concentration T</a:t>
          </a:r>
          <a:r>
            <a:rPr lang="en-US" baseline="-25000"/>
            <a:t>c</a:t>
          </a:r>
          <a:r>
            <a:rPr lang="en-US"/>
            <a:t>, </a:t>
          </a:r>
        </a:p>
      </dgm:t>
    </dgm:pt>
    <dgm:pt modelId="{810A0B38-DA5F-467A-A376-073214EA287D}" type="parTrans" cxnId="{9DFC912F-59E5-461A-A1FB-7127DD6562A0}">
      <dgm:prSet/>
      <dgm:spPr/>
      <dgm:t>
        <a:bodyPr/>
        <a:lstStyle/>
        <a:p>
          <a:endParaRPr lang="en-US"/>
        </a:p>
      </dgm:t>
    </dgm:pt>
    <dgm:pt modelId="{DC68FDC0-D998-41D9-AAB1-8ED657AD29FD}" type="sibTrans" cxnId="{9DFC912F-59E5-461A-A1FB-7127DD6562A0}">
      <dgm:prSet/>
      <dgm:spPr/>
      <dgm:t>
        <a:bodyPr/>
        <a:lstStyle/>
        <a:p>
          <a:endParaRPr lang="en-US"/>
        </a:p>
      </dgm:t>
    </dgm:pt>
    <dgm:pt modelId="{7D0EA878-4BE8-46BF-909F-92791B21602C}">
      <dgm:prSet/>
      <dgm:spPr/>
      <dgm:t>
        <a:bodyPr/>
        <a:lstStyle/>
        <a:p>
          <a:r>
            <a:rPr lang="en-US"/>
            <a:t>the area of the catchment, and </a:t>
          </a:r>
        </a:p>
      </dgm:t>
    </dgm:pt>
    <dgm:pt modelId="{665FCB35-B016-42D8-BACF-7435AE14BD04}" type="parTrans" cxnId="{BF42F2C7-0431-438A-87D3-FC7879273330}">
      <dgm:prSet/>
      <dgm:spPr/>
      <dgm:t>
        <a:bodyPr/>
        <a:lstStyle/>
        <a:p>
          <a:endParaRPr lang="en-US"/>
        </a:p>
      </dgm:t>
    </dgm:pt>
    <dgm:pt modelId="{D2B4BFD6-78D4-4F8D-A552-8398DE34A296}" type="sibTrans" cxnId="{BF42F2C7-0431-438A-87D3-FC7879273330}">
      <dgm:prSet/>
      <dgm:spPr/>
      <dgm:t>
        <a:bodyPr/>
        <a:lstStyle/>
        <a:p>
          <a:endParaRPr lang="en-US"/>
        </a:p>
      </dgm:t>
    </dgm:pt>
    <dgm:pt modelId="{18F708C0-A2B0-4A6C-9191-397D0FC46973}">
      <dgm:prSet/>
      <dgm:spPr/>
      <dgm:t>
        <a:bodyPr/>
        <a:lstStyle/>
        <a:p>
          <a:r>
            <a:rPr lang="en-US"/>
            <a:t>the information to calculate the input or design storm or rainfall event</a:t>
          </a:r>
        </a:p>
      </dgm:t>
    </dgm:pt>
    <dgm:pt modelId="{4CA1EC9E-6A80-4E4D-B6A5-F3A28D0B59B1}" type="parTrans" cxnId="{0BB6767E-E3EA-4275-B0EB-45B919272C6F}">
      <dgm:prSet/>
      <dgm:spPr/>
      <dgm:t>
        <a:bodyPr/>
        <a:lstStyle/>
        <a:p>
          <a:endParaRPr lang="en-US"/>
        </a:p>
      </dgm:t>
    </dgm:pt>
    <dgm:pt modelId="{19EA6400-073F-45F0-A035-3751E1093054}" type="sibTrans" cxnId="{0BB6767E-E3EA-4275-B0EB-45B919272C6F}">
      <dgm:prSet/>
      <dgm:spPr/>
      <dgm:t>
        <a:bodyPr/>
        <a:lstStyle/>
        <a:p>
          <a:endParaRPr lang="en-US"/>
        </a:p>
      </dgm:t>
    </dgm:pt>
    <dgm:pt modelId="{0886EE6E-7357-419B-AA33-ACF2A5434BD6}" type="pres">
      <dgm:prSet presAssocID="{4B7F8803-6831-454B-945D-A7CE425078EC}" presName="linear" presStyleCnt="0">
        <dgm:presLayoutVars>
          <dgm:dir/>
          <dgm:animLvl val="lvl"/>
          <dgm:resizeHandles val="exact"/>
        </dgm:presLayoutVars>
      </dgm:prSet>
      <dgm:spPr/>
    </dgm:pt>
    <dgm:pt modelId="{E1602F5F-76C7-44C0-BE40-48A919E3DC16}" type="pres">
      <dgm:prSet presAssocID="{9C1DB65E-DB0B-4ED3-90BA-61C2942F64A4}" presName="parentLin" presStyleCnt="0"/>
      <dgm:spPr/>
    </dgm:pt>
    <dgm:pt modelId="{02BC44AD-702A-4E50-8679-9C6BC1A0BA66}" type="pres">
      <dgm:prSet presAssocID="{9C1DB65E-DB0B-4ED3-90BA-61C2942F64A4}" presName="parentLeftMargin" presStyleLbl="node1" presStyleIdx="0" presStyleCnt="2"/>
      <dgm:spPr/>
    </dgm:pt>
    <dgm:pt modelId="{E2CF72FF-A365-4C4B-B2FA-761212FB9BA9}" type="pres">
      <dgm:prSet presAssocID="{9C1DB65E-DB0B-4ED3-90BA-61C2942F64A4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2C3DF66D-3C33-416A-AE69-8C73ED063121}" type="pres">
      <dgm:prSet presAssocID="{9C1DB65E-DB0B-4ED3-90BA-61C2942F64A4}" presName="negativeSpace" presStyleCnt="0"/>
      <dgm:spPr/>
    </dgm:pt>
    <dgm:pt modelId="{C11EF2C6-7FE7-4BB3-8E4A-CB47D4508C96}" type="pres">
      <dgm:prSet presAssocID="{9C1DB65E-DB0B-4ED3-90BA-61C2942F64A4}" presName="childText" presStyleLbl="conFgAcc1" presStyleIdx="0" presStyleCnt="2">
        <dgm:presLayoutVars>
          <dgm:bulletEnabled val="1"/>
        </dgm:presLayoutVars>
      </dgm:prSet>
      <dgm:spPr/>
    </dgm:pt>
    <dgm:pt modelId="{76ADC8D3-703A-4866-AD2E-7F75F24C88C7}" type="pres">
      <dgm:prSet presAssocID="{88D4062F-ABE2-456F-8D06-335E8F1A561A}" presName="spaceBetweenRectangles" presStyleCnt="0"/>
      <dgm:spPr/>
    </dgm:pt>
    <dgm:pt modelId="{B4858BBC-951C-4A81-9096-A586E75E779F}" type="pres">
      <dgm:prSet presAssocID="{FF4702BB-2174-443E-AF96-11C92FC1EFD3}" presName="parentLin" presStyleCnt="0"/>
      <dgm:spPr/>
    </dgm:pt>
    <dgm:pt modelId="{A6935FD1-9AE6-457D-8DE9-B2EAA8D8B6BF}" type="pres">
      <dgm:prSet presAssocID="{FF4702BB-2174-443E-AF96-11C92FC1EFD3}" presName="parentLeftMargin" presStyleLbl="node1" presStyleIdx="0" presStyleCnt="2"/>
      <dgm:spPr/>
    </dgm:pt>
    <dgm:pt modelId="{CBCFCE08-646B-4493-B159-8E38399CBCA9}" type="pres">
      <dgm:prSet presAssocID="{FF4702BB-2174-443E-AF96-11C92FC1EFD3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AF9CBF59-B8B2-459A-9180-886143C9F41A}" type="pres">
      <dgm:prSet presAssocID="{FF4702BB-2174-443E-AF96-11C92FC1EFD3}" presName="negativeSpace" presStyleCnt="0"/>
      <dgm:spPr/>
    </dgm:pt>
    <dgm:pt modelId="{CE226E2F-766B-4A35-819C-DC0D6D96237D}" type="pres">
      <dgm:prSet presAssocID="{FF4702BB-2174-443E-AF96-11C92FC1EFD3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89082604-DC41-4B27-BF3E-136EC76350B0}" type="presOf" srcId="{9C1DB65E-DB0B-4ED3-90BA-61C2942F64A4}" destId="{E2CF72FF-A365-4C4B-B2FA-761212FB9BA9}" srcOrd="1" destOrd="0" presId="urn:microsoft.com/office/officeart/2005/8/layout/list1"/>
    <dgm:cxn modelId="{880EE106-89C1-411F-B15C-697CD0C1C0A7}" srcId="{4B7F8803-6831-454B-945D-A7CE425078EC}" destId="{9C1DB65E-DB0B-4ED3-90BA-61C2942F64A4}" srcOrd="0" destOrd="0" parTransId="{9A590FD5-C976-4251-9104-F71A464E1103}" sibTransId="{88D4062F-ABE2-456F-8D06-335E8F1A561A}"/>
    <dgm:cxn modelId="{04302E09-7131-45EE-9B46-D76F843AF713}" type="presOf" srcId="{FF4702BB-2174-443E-AF96-11C92FC1EFD3}" destId="{CBCFCE08-646B-4493-B159-8E38399CBCA9}" srcOrd="1" destOrd="0" presId="urn:microsoft.com/office/officeart/2005/8/layout/list1"/>
    <dgm:cxn modelId="{F485B315-8EAC-49E0-B13B-70D40D9404E9}" srcId="{4B7F8803-6831-454B-945D-A7CE425078EC}" destId="{FF4702BB-2174-443E-AF96-11C92FC1EFD3}" srcOrd="1" destOrd="0" parTransId="{B8A9C055-300B-498D-A3ED-1D92308C0EB0}" sibTransId="{EFD5E0E8-00C1-4604-979B-98EE9C84F1B2}"/>
    <dgm:cxn modelId="{2C1EEF15-325A-4752-8025-D41C730A93CC}" type="presOf" srcId="{E1841509-AF6F-4A79-B056-4312AF748B13}" destId="{CE226E2F-766B-4A35-819C-DC0D6D96237D}" srcOrd="0" destOrd="0" presId="urn:microsoft.com/office/officeart/2005/8/layout/list1"/>
    <dgm:cxn modelId="{11021E17-49D0-44C2-A6DB-07BC1C094CA0}" type="presOf" srcId="{7D0EA878-4BE8-46BF-909F-92791B21602C}" destId="{CE226E2F-766B-4A35-819C-DC0D6D96237D}" srcOrd="0" destOrd="2" presId="urn:microsoft.com/office/officeart/2005/8/layout/list1"/>
    <dgm:cxn modelId="{50EC201E-5DA3-4291-BD3A-1AA06E6894E9}" type="presOf" srcId="{AC63EC29-F717-4DFF-BCA9-6542FC42F91C}" destId="{CE226E2F-766B-4A35-819C-DC0D6D96237D}" srcOrd="0" destOrd="1" presId="urn:microsoft.com/office/officeart/2005/8/layout/list1"/>
    <dgm:cxn modelId="{9DFC912F-59E5-461A-A1FB-7127DD6562A0}" srcId="{FF4702BB-2174-443E-AF96-11C92FC1EFD3}" destId="{AC63EC29-F717-4DFF-BCA9-6542FC42F91C}" srcOrd="1" destOrd="0" parTransId="{810A0B38-DA5F-467A-A376-073214EA287D}" sibTransId="{DC68FDC0-D998-41D9-AAB1-8ED657AD29FD}"/>
    <dgm:cxn modelId="{FEC3733D-B3E4-4D38-9EB3-CA66B76E3940}" type="presOf" srcId="{4B7F8803-6831-454B-945D-A7CE425078EC}" destId="{0886EE6E-7357-419B-AA33-ACF2A5434BD6}" srcOrd="0" destOrd="0" presId="urn:microsoft.com/office/officeart/2005/8/layout/list1"/>
    <dgm:cxn modelId="{DA4B1764-7DB5-4D2D-8770-6650C9D94CAE}" type="presOf" srcId="{FF4702BB-2174-443E-AF96-11C92FC1EFD3}" destId="{A6935FD1-9AE6-457D-8DE9-B2EAA8D8B6BF}" srcOrd="0" destOrd="0" presId="urn:microsoft.com/office/officeart/2005/8/layout/list1"/>
    <dgm:cxn modelId="{721D5647-FE46-4A5B-B2DE-153F85B97E14}" type="presOf" srcId="{18F708C0-A2B0-4A6C-9191-397D0FC46973}" destId="{CE226E2F-766B-4A35-819C-DC0D6D96237D}" srcOrd="0" destOrd="3" presId="urn:microsoft.com/office/officeart/2005/8/layout/list1"/>
    <dgm:cxn modelId="{0BB6767E-E3EA-4275-B0EB-45B919272C6F}" srcId="{FF4702BB-2174-443E-AF96-11C92FC1EFD3}" destId="{18F708C0-A2B0-4A6C-9191-397D0FC46973}" srcOrd="3" destOrd="0" parTransId="{4CA1EC9E-6A80-4E4D-B6A5-F3A28D0B59B1}" sibTransId="{19EA6400-073F-45F0-A035-3751E1093054}"/>
    <dgm:cxn modelId="{A19857B9-D676-4E20-898B-EF3D223EA9A8}" type="presOf" srcId="{9C1DB65E-DB0B-4ED3-90BA-61C2942F64A4}" destId="{02BC44AD-702A-4E50-8679-9C6BC1A0BA66}" srcOrd="0" destOrd="0" presId="urn:microsoft.com/office/officeart/2005/8/layout/list1"/>
    <dgm:cxn modelId="{BF42F2C7-0431-438A-87D3-FC7879273330}" srcId="{FF4702BB-2174-443E-AF96-11C92FC1EFD3}" destId="{7D0EA878-4BE8-46BF-909F-92791B21602C}" srcOrd="2" destOrd="0" parTransId="{665FCB35-B016-42D8-BACF-7435AE14BD04}" sibTransId="{D2B4BFD6-78D4-4F8D-A552-8398DE34A296}"/>
    <dgm:cxn modelId="{0E58CCED-D209-444E-B7EC-2F26366B54E2}" srcId="{FF4702BB-2174-443E-AF96-11C92FC1EFD3}" destId="{E1841509-AF6F-4A79-B056-4312AF748B13}" srcOrd="0" destOrd="0" parTransId="{B1134991-9D39-4650-89BB-0F55B316047A}" sibTransId="{EF32F840-C1EB-4ADB-A69B-98F6103C1CB3}"/>
    <dgm:cxn modelId="{5745DA13-F8E3-4A9C-B5C8-A562DCCF59ED}" type="presParOf" srcId="{0886EE6E-7357-419B-AA33-ACF2A5434BD6}" destId="{E1602F5F-76C7-44C0-BE40-48A919E3DC16}" srcOrd="0" destOrd="0" presId="urn:microsoft.com/office/officeart/2005/8/layout/list1"/>
    <dgm:cxn modelId="{9A4BD7C7-C619-42D3-99B7-4B887F9EAB19}" type="presParOf" srcId="{E1602F5F-76C7-44C0-BE40-48A919E3DC16}" destId="{02BC44AD-702A-4E50-8679-9C6BC1A0BA66}" srcOrd="0" destOrd="0" presId="urn:microsoft.com/office/officeart/2005/8/layout/list1"/>
    <dgm:cxn modelId="{7E4F5BB5-9224-4326-9DAD-E23A9A12C66B}" type="presParOf" srcId="{E1602F5F-76C7-44C0-BE40-48A919E3DC16}" destId="{E2CF72FF-A365-4C4B-B2FA-761212FB9BA9}" srcOrd="1" destOrd="0" presId="urn:microsoft.com/office/officeart/2005/8/layout/list1"/>
    <dgm:cxn modelId="{D183656F-588A-4680-B018-467DB4689B5D}" type="presParOf" srcId="{0886EE6E-7357-419B-AA33-ACF2A5434BD6}" destId="{2C3DF66D-3C33-416A-AE69-8C73ED063121}" srcOrd="1" destOrd="0" presId="urn:microsoft.com/office/officeart/2005/8/layout/list1"/>
    <dgm:cxn modelId="{F498FCA6-5296-4970-859F-123672D717F2}" type="presParOf" srcId="{0886EE6E-7357-419B-AA33-ACF2A5434BD6}" destId="{C11EF2C6-7FE7-4BB3-8E4A-CB47D4508C96}" srcOrd="2" destOrd="0" presId="urn:microsoft.com/office/officeart/2005/8/layout/list1"/>
    <dgm:cxn modelId="{4D55BB0B-530D-4BDF-A4A3-795099D3CACF}" type="presParOf" srcId="{0886EE6E-7357-419B-AA33-ACF2A5434BD6}" destId="{76ADC8D3-703A-4866-AD2E-7F75F24C88C7}" srcOrd="3" destOrd="0" presId="urn:microsoft.com/office/officeart/2005/8/layout/list1"/>
    <dgm:cxn modelId="{C309DDDD-016F-49C0-B081-0C65A11619D8}" type="presParOf" srcId="{0886EE6E-7357-419B-AA33-ACF2A5434BD6}" destId="{B4858BBC-951C-4A81-9096-A586E75E779F}" srcOrd="4" destOrd="0" presId="urn:microsoft.com/office/officeart/2005/8/layout/list1"/>
    <dgm:cxn modelId="{35986FE1-60D8-4032-AEC9-A9428AA8AADD}" type="presParOf" srcId="{B4858BBC-951C-4A81-9096-A586E75E779F}" destId="{A6935FD1-9AE6-457D-8DE9-B2EAA8D8B6BF}" srcOrd="0" destOrd="0" presId="urn:microsoft.com/office/officeart/2005/8/layout/list1"/>
    <dgm:cxn modelId="{8C3373BC-9C7E-445D-8B33-E74437086150}" type="presParOf" srcId="{B4858BBC-951C-4A81-9096-A586E75E779F}" destId="{CBCFCE08-646B-4493-B159-8E38399CBCA9}" srcOrd="1" destOrd="0" presId="urn:microsoft.com/office/officeart/2005/8/layout/list1"/>
    <dgm:cxn modelId="{E0F69D4F-DA6C-4B29-810A-7F436AEC70B2}" type="presParOf" srcId="{0886EE6E-7357-419B-AA33-ACF2A5434BD6}" destId="{AF9CBF59-B8B2-459A-9180-886143C9F41A}" srcOrd="5" destOrd="0" presId="urn:microsoft.com/office/officeart/2005/8/layout/list1"/>
    <dgm:cxn modelId="{A081FE67-06A4-42F1-B155-F31CD5B34D2D}" type="presParOf" srcId="{0886EE6E-7357-419B-AA33-ACF2A5434BD6}" destId="{CE226E2F-766B-4A35-819C-DC0D6D96237D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DF82AD-B792-447F-A29E-396F63DA9B24}">
      <dsp:nvSpPr>
        <dsp:cNvPr id="0" name=""/>
        <dsp:cNvSpPr/>
      </dsp:nvSpPr>
      <dsp:spPr>
        <a:xfrm>
          <a:off x="1227" y="297257"/>
          <a:ext cx="4309690" cy="273665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BBD1D10-CEFF-4413-8B64-1821A682BA15}">
      <dsp:nvSpPr>
        <dsp:cNvPr id="0" name=""/>
        <dsp:cNvSpPr/>
      </dsp:nvSpPr>
      <dsp:spPr>
        <a:xfrm>
          <a:off x="480082" y="752169"/>
          <a:ext cx="4309690" cy="273665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b="1" kern="1200"/>
            <a:t>Rational Method</a:t>
          </a:r>
          <a:endParaRPr lang="en-US" sz="6500" kern="1200"/>
        </a:p>
      </dsp:txBody>
      <dsp:txXfrm>
        <a:off x="560236" y="832323"/>
        <a:ext cx="4149382" cy="2576345"/>
      </dsp:txXfrm>
    </dsp:sp>
    <dsp:sp modelId="{817267A5-5458-41E7-B402-5D48E7938DF9}">
      <dsp:nvSpPr>
        <dsp:cNvPr id="0" name=""/>
        <dsp:cNvSpPr/>
      </dsp:nvSpPr>
      <dsp:spPr>
        <a:xfrm>
          <a:off x="5268627" y="297257"/>
          <a:ext cx="4309690" cy="273665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2AC1F1-8996-47A2-BB21-AB280EE91C53}">
      <dsp:nvSpPr>
        <dsp:cNvPr id="0" name=""/>
        <dsp:cNvSpPr/>
      </dsp:nvSpPr>
      <dsp:spPr>
        <a:xfrm>
          <a:off x="5747481" y="752169"/>
          <a:ext cx="4309690" cy="273665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b="1" kern="1200"/>
            <a:t>NRCS Method</a:t>
          </a:r>
          <a:endParaRPr lang="en-US" sz="6500" kern="1200"/>
        </a:p>
      </dsp:txBody>
      <dsp:txXfrm>
        <a:off x="5827635" y="832323"/>
        <a:ext cx="4149382" cy="257634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1EF2C6-7FE7-4BB3-8E4A-CB47D4508C96}">
      <dsp:nvSpPr>
        <dsp:cNvPr id="0" name=""/>
        <dsp:cNvSpPr/>
      </dsp:nvSpPr>
      <dsp:spPr>
        <a:xfrm>
          <a:off x="0" y="551589"/>
          <a:ext cx="10058399" cy="554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2CF72FF-A365-4C4B-B2FA-761212FB9BA9}">
      <dsp:nvSpPr>
        <dsp:cNvPr id="0" name=""/>
        <dsp:cNvSpPr/>
      </dsp:nvSpPr>
      <dsp:spPr>
        <a:xfrm>
          <a:off x="502920" y="226869"/>
          <a:ext cx="7040880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129" tIns="0" rIns="266129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To calculate peak runoff from small watersheds</a:t>
          </a:r>
        </a:p>
      </dsp:txBody>
      <dsp:txXfrm>
        <a:off x="534623" y="258572"/>
        <a:ext cx="6977474" cy="586034"/>
      </dsp:txXfrm>
    </dsp:sp>
    <dsp:sp modelId="{CE226E2F-766B-4A35-819C-DC0D6D96237D}">
      <dsp:nvSpPr>
        <dsp:cNvPr id="0" name=""/>
        <dsp:cNvSpPr/>
      </dsp:nvSpPr>
      <dsp:spPr>
        <a:xfrm>
          <a:off x="0" y="1549509"/>
          <a:ext cx="10058399" cy="20097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0644" tIns="458216" rIns="780644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the runoff coefficient C, 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the time of concentration T</a:t>
          </a:r>
          <a:r>
            <a:rPr lang="en-US" sz="2200" kern="1200" baseline="-25000"/>
            <a:t>c</a:t>
          </a:r>
          <a:r>
            <a:rPr lang="en-US" sz="2200" kern="1200"/>
            <a:t>, 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the area of the catchment, and 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the information to calculate the input or design storm or rainfall event</a:t>
          </a:r>
        </a:p>
      </dsp:txBody>
      <dsp:txXfrm>
        <a:off x="0" y="1549509"/>
        <a:ext cx="10058399" cy="2009700"/>
      </dsp:txXfrm>
    </dsp:sp>
    <dsp:sp modelId="{CBCFCE08-646B-4493-B159-8E38399CBCA9}">
      <dsp:nvSpPr>
        <dsp:cNvPr id="0" name=""/>
        <dsp:cNvSpPr/>
      </dsp:nvSpPr>
      <dsp:spPr>
        <a:xfrm>
          <a:off x="502920" y="1224790"/>
          <a:ext cx="7040880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129" tIns="0" rIns="266129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Provides peak runoff rate from a catchment given:</a:t>
          </a:r>
        </a:p>
      </dsp:txBody>
      <dsp:txXfrm>
        <a:off x="534623" y="1256493"/>
        <a:ext cx="6977474" cy="5860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BAC195-5F45-4632-9B9A-646FF1FE29B1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B00BE8-E3C3-4EE8-83F1-7C5880FA2C8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2034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tre.iastate.edu/pubs/stormwater/documents/2C-5NRCSTR-55Methodology.pdf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tre.iastate.edu/pubs/stormwater/documents/2C-5NRCSTR-55Methodology.pdf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hyperlink" Target="http://njscdea.ncdea.org/CurveNumbers.pdf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wichita.gov/Government/Departments/PWU/StandardsStormwater/Volume%202-06,%20Chapter%204.pdf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tre.iastate.edu/pubs/stormwater/documents/2C-5NRCSTR-55Methodology.pdf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tre.iastate.edu/pubs/stormwater/documents/2C-5NRCSTR-55Methodology.pdf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scribd.com/doc/25083452/time-area-method" TargetMode="External"/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sida.org.pk/pages.aspx?id=82" TargetMode="External"/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00BE8-E3C3-4EE8-83F1-7C5880FA2C8C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49694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Rational: Deterministic lumped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00BE8-E3C3-4EE8-83F1-7C5880FA2C8C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36110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Also called Lloyd</a:t>
            </a:r>
            <a:r>
              <a:rPr lang="en-US" baseline="0" dirty="0"/>
              <a:t> Davies Method, 1850</a:t>
            </a:r>
            <a:endParaRPr lang="en-US" dirty="0"/>
          </a:p>
          <a:p>
            <a:r>
              <a:rPr lang="en-US" dirty="0"/>
              <a:t>Source: The McGraw-Hill civil engineering PE exam depth guide: water resources By Emmanuel U. </a:t>
            </a:r>
            <a:r>
              <a:rPr lang="en-US" dirty="0" err="1"/>
              <a:t>Nzewi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00BE8-E3C3-4EE8-83F1-7C5880FA2C8C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7386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Source: The McGraw-Hill civil engineering PE exam depth guide: water resources By Emmanuel U. </a:t>
            </a:r>
            <a:r>
              <a:rPr lang="en-US" dirty="0" err="1"/>
              <a:t>Nzewi</a:t>
            </a:r>
            <a:r>
              <a:rPr lang="en-US" dirty="0"/>
              <a:t>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Catchment is concentrated: that is, rainfall duration is longer than or at least equal to the time of concentration of the watershed.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00BE8-E3C3-4EE8-83F1-7C5880FA2C8C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4286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 = runoff coefficient, ratio of the total runoff rate to the precipitation, dimensionless</a:t>
            </a:r>
          </a:p>
          <a:p>
            <a:endParaRPr lang="en-US" dirty="0"/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Intensity-Duration-Frequency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IDF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curves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00BE8-E3C3-4EE8-83F1-7C5880FA2C8C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6305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Hydrologic Analysis and Design by </a:t>
            </a:r>
            <a:r>
              <a:rPr lang="en-US" dirty="0" err="1"/>
              <a:t>McCuen</a:t>
            </a:r>
            <a:r>
              <a:rPr lang="en-US" dirty="0"/>
              <a:t> (2</a:t>
            </a:r>
            <a:r>
              <a:rPr lang="en-US" baseline="30000" dirty="0"/>
              <a:t>nd</a:t>
            </a:r>
            <a:r>
              <a:rPr lang="en-US" dirty="0"/>
              <a:t> Ed)</a:t>
            </a:r>
          </a:p>
          <a:p>
            <a:endParaRPr lang="en-US" dirty="0"/>
          </a:p>
          <a:p>
            <a:r>
              <a:rPr lang="en-US" dirty="0"/>
              <a:t>Slopes are in %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00BE8-E3C3-4EE8-83F1-7C5880FA2C8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3004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B00BE8-E3C3-4EE8-83F1-7C5880FA2C8C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5769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91440" marR="0" lvl="0" indent="-9144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tabLst/>
              <a:defRPr/>
            </a:pPr>
            <a:r>
              <a:rPr lang="en-US" dirty="0"/>
              <a:t>C reflects the effect of landuse, soil and slope on runoff</a:t>
            </a:r>
            <a:r>
              <a:rPr lang="en-US" baseline="0" dirty="0"/>
              <a:t> potential assuming watershed is homogeneous. If drainage basin has different runoff potentials then it’s subdivided. </a:t>
            </a:r>
          </a:p>
          <a:p>
            <a:pPr marL="91440" marR="0" lvl="0" indent="-9144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tabLst/>
              <a:defRPr/>
            </a:pPr>
            <a:r>
              <a:rPr lang="en-US" sz="1200" dirty="0"/>
              <a:t>Example McCuen page 381 (378 in 2</a:t>
            </a:r>
            <a:r>
              <a:rPr lang="en-US" sz="1200" baseline="30000" dirty="0"/>
              <a:t>nd</a:t>
            </a:r>
            <a:r>
              <a:rPr lang="en-US" sz="1200" dirty="0"/>
              <a:t> Edition)</a:t>
            </a:r>
            <a:endParaRPr lang="en-IN" sz="1200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00BE8-E3C3-4EE8-83F1-7C5880FA2C8C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1469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00BE8-E3C3-4EE8-83F1-7C5880FA2C8C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453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Eq-1 Derived</a:t>
            </a:r>
            <a:r>
              <a:rPr lang="en-US" baseline="0" dirty="0"/>
              <a:t> </a:t>
            </a:r>
            <a:r>
              <a:rPr lang="en-US" dirty="0"/>
              <a:t>by NRCS from experimental plots for numerous soils and vegetative cover conditions.</a:t>
            </a:r>
          </a:p>
          <a:p>
            <a:r>
              <a:rPr lang="en-US" dirty="0"/>
              <a:t>The simplified NRCS method can be used for drainage areas up to 2,000 acres.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If P- I</a:t>
            </a:r>
            <a:r>
              <a:rPr lang="en-US" sz="1200" baseline="-25000" dirty="0"/>
              <a:t>a</a:t>
            </a:r>
            <a:r>
              <a:rPr lang="en-US" sz="1200" dirty="0"/>
              <a:t> is negative then Q=0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hlinkClick r:id="rId3"/>
              </a:rPr>
              <a:t>http://www.ctre.iastate.edu/pubs/stormwater/documents/2C-5NRCSTR-55Methodology.pdf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00BE8-E3C3-4EE8-83F1-7C5880FA2C8C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1763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Equation 2 was developed mainly for small watersheds from recorded storm data that included total rainfall amount in a calendar day but not its distribution with respect to time. Therefore, this method is appropriate for estimating direct runoff from 24-hour or one-day storm rainfall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00BE8-E3C3-4EE8-83F1-7C5880FA2C8C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1262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Source: http://njscdea.ncdea.org/CurveNumbers.pdf</a:t>
            </a:r>
          </a:p>
          <a:p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00BE8-E3C3-4EE8-83F1-7C5880FA2C8C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99786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Series of curve for different</a:t>
            </a:r>
            <a:r>
              <a:rPr lang="en-US" baseline="0" dirty="0"/>
              <a:t> curve numbers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00BE8-E3C3-4EE8-83F1-7C5880FA2C8C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9273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http://www.ctre.iastate.edu/pubs/stormwater/documents/2C-5NRCSTR-55Methodology.pdf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00BE8-E3C3-4EE8-83F1-7C5880FA2C8C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4419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Average antecedent soil moisture conditions (AMC II) are recommended for most hydrologic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00BE8-E3C3-4EE8-83F1-7C5880FA2C8C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0438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referred to as Antecedent Runoff Condition (ARC).</a:t>
            </a:r>
          </a:p>
          <a:p>
            <a:endParaRPr lang="en-US" dirty="0"/>
          </a:p>
          <a:p>
            <a:r>
              <a:rPr lang="en-US" dirty="0">
                <a:hlinkClick r:id="rId3"/>
              </a:rPr>
              <a:t>http://njscdea.ncdea.org/CurveNumbers.pdf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00BE8-E3C3-4EE8-83F1-7C5880FA2C8C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4037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http://www.wichita.gov/Government/Departments/PWU/StandardsStormwater/Volume%202-06,%20Chapter%204.pdf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00BE8-E3C3-4EE8-83F1-7C5880FA2C8C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8836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http://www.ctre.iastate.edu/pubs/stormwater/documents/2C-5NRCSTR-55Methodology.pdf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00BE8-E3C3-4EE8-83F1-7C5880FA2C8C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1561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http://www.ctre.iastate.edu/pubs/stormwater/documents/2C-5NRCSTR-55Methodology.pdf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00BE8-E3C3-4EE8-83F1-7C5880FA2C8C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0311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Source: http://njscdea.ncdea.org/CurveNumbers.pdf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00BE8-E3C3-4EE8-83F1-7C5880FA2C8C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4572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Source: The McGraw-Hill civil engineering PE exam guide: breadth and depth By Roger Dodge Woodson, Kimberly Griffin.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00BE8-E3C3-4EE8-83F1-7C5880FA2C8C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6982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2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97283" name="Rectangle 3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Source: </a:t>
            </a:r>
            <a:r>
              <a:rPr lang="en-US" dirty="0" err="1"/>
              <a:t>Bedient</a:t>
            </a:r>
            <a:r>
              <a:rPr lang="en-US" dirty="0"/>
              <a:t> page 111</a:t>
            </a:r>
          </a:p>
        </p:txBody>
      </p:sp>
    </p:spTree>
    <p:extLst>
      <p:ext uri="{BB962C8B-B14F-4D97-AF65-F5344CB8AC3E}">
        <p14:creationId xmlns:p14="http://schemas.microsoft.com/office/powerpoint/2010/main" val="323169016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2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00355" name="Rectangle 3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Isochrones: a line on a map or diagram connecting places from which it takes the same time to travel to a certain point. Isochrones of equal translation</a:t>
            </a:r>
            <a:r>
              <a:rPr lang="en-US" baseline="0" dirty="0"/>
              <a:t> time numbered upstream from the outlet</a:t>
            </a:r>
          </a:p>
          <a:p>
            <a:r>
              <a:rPr lang="en-US" dirty="0">
                <a:hlinkClick r:id="rId3"/>
              </a:rPr>
              <a:t>Source: http://www.scribd.com/doc/25083452/time-area-method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35862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Map layout prepared by M. </a:t>
            </a:r>
            <a:r>
              <a:rPr lang="en-US" dirty="0" err="1"/>
              <a:t>Arslan</a:t>
            </a:r>
            <a:r>
              <a:rPr lang="en-US" dirty="0"/>
              <a:t> student MS-5 batch at RS and </a:t>
            </a:r>
            <a:r>
              <a:rPr lang="en-US" dirty="0" err="1"/>
              <a:t>GISc</a:t>
            </a:r>
            <a:r>
              <a:rPr lang="en-US" dirty="0"/>
              <a:t>,</a:t>
            </a:r>
            <a:r>
              <a:rPr lang="en-US" baseline="0" dirty="0"/>
              <a:t> IST Karachi Campus.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00BE8-E3C3-4EE8-83F1-7C5880FA2C8C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3624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u="sng" dirty="0">
                <a:hlinkClick r:id="rId3"/>
              </a:rPr>
              <a:t>Source: SIDA:</a:t>
            </a:r>
            <a:r>
              <a:rPr lang="en-US" u="sng" baseline="0" dirty="0">
                <a:hlinkClick r:id="rId3"/>
              </a:rPr>
              <a:t> </a:t>
            </a:r>
            <a:r>
              <a:rPr lang="en-US" dirty="0">
                <a:hlinkClick r:id="rId3"/>
              </a:rPr>
              <a:t>http://www.sida.org.pk/pages.aspx?id=82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00BE8-E3C3-4EE8-83F1-7C5880FA2C8C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8553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00BE8-E3C3-4EE8-83F1-7C5880FA2C8C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88042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00BE8-E3C3-4EE8-83F1-7C5880FA2C8C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124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7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K" sz="1800"/>
          </a:p>
        </p:txBody>
      </p:sp>
      <p:sp>
        <p:nvSpPr>
          <p:cNvPr id="8" name="Rectangle 7"/>
          <p:cNvSpPr/>
          <p:nvPr/>
        </p:nvSpPr>
        <p:spPr>
          <a:xfrm>
            <a:off x="17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K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BFC91-9C8F-42CE-881F-3D0AD923AB13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9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64567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BFC91-9C8F-42CE-881F-3D0AD923AB13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58869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7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7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BFC91-9C8F-42CE-881F-3D0AD923AB13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9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6266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5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7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BFC91-9C8F-42CE-881F-3D0AD923AB13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567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5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BFC91-9C8F-42CE-881F-3D0AD923AB13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8260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BFC91-9C8F-42CE-881F-3D0AD923AB13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8855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7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K"/>
          </a:p>
        </p:txBody>
      </p:sp>
      <p:sp>
        <p:nvSpPr>
          <p:cNvPr id="6" name="Rectangle 5"/>
          <p:cNvSpPr/>
          <p:nvPr/>
        </p:nvSpPr>
        <p:spPr>
          <a:xfrm>
            <a:off x="17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K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BFC91-9C8F-42CE-881F-3D0AD923AB13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877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8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13650" y="731520"/>
            <a:ext cx="6679191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3" y="6459787"/>
            <a:ext cx="2618511" cy="365125"/>
          </a:xfrm>
        </p:spPr>
        <p:txBody>
          <a:bodyPr/>
          <a:lstStyle>
            <a:lvl1pPr algn="l">
              <a:defRPr/>
            </a:lvl1pPr>
          </a:lstStyle>
          <a:p>
            <a:fld id="{8B5BFC91-9C8F-42CE-881F-3D0AD923AB13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7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1927039-71DE-4AA5-9A86-9CA42D795FD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29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K"/>
          </a:p>
        </p:txBody>
      </p:sp>
      <p:sp>
        <p:nvSpPr>
          <p:cNvPr id="9" name="Rectangle 8"/>
          <p:cNvSpPr/>
          <p:nvPr/>
        </p:nvSpPr>
        <p:spPr>
          <a:xfrm>
            <a:off x="17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K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936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907024"/>
            <a:ext cx="1011936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BFC91-9C8F-42CE-881F-3D0AD923AB13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8760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BFC91-9C8F-42CE-881F-3D0AD923AB13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36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7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7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414780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414779"/>
            <a:ext cx="7734300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BFC91-9C8F-42CE-881F-3D0AD923AB13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029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K" sz="1800"/>
          </a:p>
        </p:txBody>
      </p:sp>
      <p:sp>
        <p:nvSpPr>
          <p:cNvPr id="9" name="Rectangle 8"/>
          <p:cNvSpPr/>
          <p:nvPr/>
        </p:nvSpPr>
        <p:spPr>
          <a:xfrm>
            <a:off x="1" y="6334316"/>
            <a:ext cx="12192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K" sz="180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5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79" y="1845734"/>
            <a:ext cx="100584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2" y="6459787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8B5BFC91-9C8F-42CE-881F-3D0AD923AB13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6" y="6459787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60" y="6459787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F1927039-71DE-4AA5-9A86-9CA42D795FDD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6900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0000"/>
            <a:shade val="97000"/>
            <a:satMod val="1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C6E698C-8155-4B8B-BDC9-B7299772B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48952" y="643467"/>
            <a:ext cx="7172487" cy="5054008"/>
          </a:xfrm>
        </p:spPr>
        <p:txBody>
          <a:bodyPr anchor="ctr">
            <a:normAutofit/>
          </a:bodyPr>
          <a:lstStyle/>
          <a:p>
            <a:pPr>
              <a:spcBef>
                <a:spcPts val="1800"/>
              </a:spcBef>
              <a:spcAft>
                <a:spcPts val="3000"/>
              </a:spcAft>
            </a:pPr>
            <a:br>
              <a:rPr lang="fr-FR" sz="6600" cap="all" dirty="0">
                <a:solidFill>
                  <a:schemeClr val="tx2"/>
                </a:solidFill>
                <a:effectLst>
                  <a:reflection blurRad="12700" stA="48000" endA="300" endPos="55000" dir="5400000" sy="-90000" algn="bl" rotWithShape="0"/>
                </a:effectLst>
              </a:rPr>
            </a:br>
            <a:r>
              <a:rPr lang="fr-FR" sz="6600" b="1" cap="all" dirty="0" err="1">
                <a:solidFill>
                  <a:schemeClr val="tx2"/>
                </a:solidFill>
                <a:effectLst>
                  <a:reflection blurRad="12700" stA="48000" endA="300" endPos="55000" dir="5400000" sy="-90000" algn="bl" rotWithShape="0"/>
                </a:effectLst>
              </a:rPr>
              <a:t>Runoff</a:t>
            </a:r>
            <a:r>
              <a:rPr lang="fr-FR" sz="6600" b="1" cap="all" dirty="0">
                <a:solidFill>
                  <a:schemeClr val="tx2"/>
                </a:solidFill>
                <a:effectLst>
                  <a:reflection blurRad="12700" stA="48000" endA="300" endPos="55000" dir="5400000" sy="-90000" algn="bl" rotWithShape="0"/>
                </a:effectLst>
              </a:rPr>
              <a:t> </a:t>
            </a:r>
            <a:r>
              <a:rPr lang="fr-FR" sz="6600" b="1" cap="all" dirty="0" err="1">
                <a:solidFill>
                  <a:schemeClr val="tx2"/>
                </a:solidFill>
                <a:effectLst>
                  <a:reflection blurRad="12700" stA="48000" endA="300" endPos="55000" dir="5400000" sy="-90000" algn="bl" rotWithShape="0"/>
                </a:effectLst>
              </a:rPr>
              <a:t>models</a:t>
            </a:r>
            <a:endParaRPr lang="en-US" sz="6600" b="1" cap="all" dirty="0">
              <a:solidFill>
                <a:schemeClr val="tx2"/>
              </a:solidFill>
              <a:effectLst>
                <a:reflection blurRad="12700" stA="48000" endA="300" endPos="55000" dir="5400000" sy="-90000" algn="bl" rotWithShape="0"/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3299" y="643467"/>
            <a:ext cx="3311856" cy="5054008"/>
          </a:xfrm>
        </p:spPr>
        <p:txBody>
          <a:bodyPr anchor="ctr">
            <a:normAutofit/>
          </a:bodyPr>
          <a:lstStyle/>
          <a:p>
            <a:pPr algn="r"/>
            <a:r>
              <a:rPr lang="en-US" b="1">
                <a:solidFill>
                  <a:schemeClr val="tx1"/>
                </a:solidFill>
              </a:rPr>
              <a:t>Watershed modeling </a:t>
            </a:r>
          </a:p>
          <a:p>
            <a:pPr algn="r"/>
            <a:r>
              <a:rPr lang="en-US" b="1">
                <a:solidFill>
                  <a:schemeClr val="tx1"/>
                </a:solidFill>
              </a:rPr>
              <a:t>USPCASW, MUET</a:t>
            </a:r>
          </a:p>
          <a:p>
            <a:pPr algn="r"/>
            <a:r>
              <a:rPr lang="en-US" b="1">
                <a:solidFill>
                  <a:schemeClr val="tx1"/>
                </a:solidFill>
              </a:rPr>
              <a:t>Fall 2026</a:t>
            </a:r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9525C9A-1972-4836-BA7A-706C946EF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42053" y="1570271"/>
            <a:ext cx="0" cy="3200400"/>
          </a:xfrm>
          <a:prstGeom prst="line">
            <a:avLst/>
          </a:prstGeom>
          <a:ln w="31750">
            <a:solidFill>
              <a:schemeClr val="accent2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05250E5-90D0-4E41-B9BD-FF661DE540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336792"/>
            <a:ext cx="12188825" cy="521208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K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1973C2-EB8B-452A-A698-4A252FD3A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0162E77-11AD-44A7-84EC-40C59EEFB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1601" y="634946"/>
            <a:ext cx="6368142" cy="1450757"/>
          </a:xfrm>
        </p:spPr>
        <p:txBody>
          <a:bodyPr>
            <a:normAutofit/>
          </a:bodyPr>
          <a:lstStyle/>
          <a:p>
            <a:r>
              <a:rPr lang="en-US" cap="all">
                <a:effectLst>
                  <a:reflection blurRad="12700" stA="48000" endA="300" endPos="55000" dir="5400000" sy="-90000" algn="bl" rotWithShape="0"/>
                </a:effectLst>
              </a:rPr>
              <a:t>Runoff models</a:t>
            </a:r>
          </a:p>
        </p:txBody>
      </p:sp>
      <p:pic>
        <p:nvPicPr>
          <p:cNvPr id="6" name="Picture 5" descr="Underwater shot of a whirlpool">
            <a:extLst>
              <a:ext uri="{FF2B5EF4-FFF2-40B4-BE49-F238E27FC236}">
                <a16:creationId xmlns:a16="http://schemas.microsoft.com/office/drawing/2014/main" id="{3B9BA7FF-8E3E-42D9-BD0C-3FAF24D893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054" r="32726" b="1"/>
          <a:stretch>
            <a:fillRect/>
          </a:stretch>
        </p:blipFill>
        <p:spPr>
          <a:xfrm>
            <a:off x="20" y="-12128"/>
            <a:ext cx="4654276" cy="6870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AB158E9-1B40-4CD6-95F0-95CA11DF7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87617" y="2085703"/>
            <a:ext cx="6170686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1" y="2198914"/>
            <a:ext cx="6368142" cy="3670180"/>
          </a:xfrm>
        </p:spPr>
        <p:txBody>
          <a:bodyPr>
            <a:normAutofit/>
          </a:bodyPr>
          <a:lstStyle/>
          <a:p>
            <a:r>
              <a:rPr lang="en-US" b="1"/>
              <a:t>Peak runoff models</a:t>
            </a:r>
          </a:p>
          <a:p>
            <a:pPr lvl="1"/>
            <a:r>
              <a:rPr lang="en-US"/>
              <a:t>Provide only the estimates of peak discharge from the watershed</a:t>
            </a:r>
          </a:p>
          <a:p>
            <a:r>
              <a:rPr lang="en-US" b="1"/>
              <a:t>Continuous runoff models</a:t>
            </a:r>
          </a:p>
          <a:p>
            <a:pPr lvl="1"/>
            <a:r>
              <a:rPr lang="en-US"/>
              <a:t>This class of runoff models provides storm hydrographs for a given rainfall hyetograph</a:t>
            </a:r>
          </a:p>
          <a:p>
            <a:pPr lvl="1"/>
            <a:r>
              <a:rPr lang="en-US"/>
              <a:t> Provide an estimate of runoff vs. time series</a:t>
            </a:r>
          </a:p>
          <a:p>
            <a:pPr lv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1927039-71DE-4AA5-9A86-9CA42D795FDD}" type="slidenum"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pPr>
                <a:spcAft>
                  <a:spcPts val="600"/>
                </a:spcAft>
              </a:pPr>
              <a:t>2</a:t>
            </a:fld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cap="all">
                <a:effectLst>
                  <a:reflection blurRad="12700" stA="48000" endA="300" endPos="55000" dir="5400000" sy="-90000" algn="bl" rotWithShape="0"/>
                </a:effectLst>
              </a:rPr>
              <a:t>Peak runoff models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1927039-71DE-4AA5-9A86-9CA42D795FDD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1BFC1366-67DA-5267-7807-4C99D79CC91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2777776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cap="all">
                <a:effectLst>
                  <a:reflection blurRad="12700" stA="48000" endA="300" endPos="55000" dir="5400000" sy="-90000" algn="bl" rotWithShape="0"/>
                </a:effectLst>
              </a:rPr>
              <a:t>Rational Method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1927039-71DE-4AA5-9A86-9CA42D795FDD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7FDD3A62-22A3-D86C-430C-56476B487E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86296608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46960" y="286605"/>
            <a:ext cx="7543800" cy="1237396"/>
          </a:xfrm>
        </p:spPr>
        <p:txBody>
          <a:bodyPr>
            <a:normAutofit/>
          </a:bodyPr>
          <a:lstStyle/>
          <a:p>
            <a:r>
              <a:rPr lang="en-US" sz="3200" cap="all" dirty="0">
                <a:solidFill>
                  <a:schemeClr val="tx2"/>
                </a:solidFill>
                <a:effectLst>
                  <a:reflection blurRad="12700" stA="48000" endA="300" endPos="55000" dir="5400000" sy="-90000" algn="bl" rotWithShape="0"/>
                </a:effectLst>
              </a:rPr>
              <a:t>Rational Method: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1" y="2133600"/>
            <a:ext cx="8458200" cy="3735494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800" dirty="0"/>
              <a:t>Catchment is small </a:t>
            </a:r>
            <a:r>
              <a:rPr lang="en-US" sz="2800" dirty="0">
                <a:solidFill>
                  <a:schemeClr val="accent1">
                    <a:lumMod val="50000"/>
                  </a:schemeClr>
                </a:solidFill>
              </a:rPr>
              <a:t>(less than 200 acres)</a:t>
            </a:r>
          </a:p>
          <a:p>
            <a:pPr marL="457200" indent="-4572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800" dirty="0"/>
              <a:t>Catchment is </a:t>
            </a:r>
            <a:r>
              <a:rPr lang="en-US" sz="2800" u="sng" dirty="0"/>
              <a:t>concentrated</a:t>
            </a:r>
          </a:p>
          <a:p>
            <a:pPr marL="457200" indent="-4572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800" dirty="0"/>
              <a:t>Rainfall intensity is uniform over the area of study</a:t>
            </a:r>
          </a:p>
          <a:p>
            <a:pPr marL="457200" indent="-4572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800" dirty="0"/>
              <a:t>The runoff coefficient is </a:t>
            </a:r>
            <a:r>
              <a:rPr lang="en-US" sz="2800" u="sng" dirty="0"/>
              <a:t>catch-all coefficie</a:t>
            </a:r>
            <a:r>
              <a:rPr lang="en-US" sz="2800" dirty="0"/>
              <a:t>nt that incorporates all losses of the catchment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563" y="0"/>
            <a:ext cx="7543800" cy="780196"/>
          </a:xfrm>
        </p:spPr>
        <p:txBody>
          <a:bodyPr>
            <a:normAutofit/>
          </a:bodyPr>
          <a:lstStyle/>
          <a:p>
            <a:r>
              <a:rPr lang="en-US" sz="3200" cap="all">
                <a:solidFill>
                  <a:schemeClr val="tx2"/>
                </a:solidFill>
                <a:effectLst>
                  <a:reflection blurRad="12700" stA="48000" endA="300" endPos="55000" dir="5400000" sy="-90000" algn="bl" rotWithShape="0"/>
                </a:effectLst>
              </a:rPr>
              <a:t>Rational method: formula</a:t>
            </a:r>
            <a:endParaRPr lang="en-IN" sz="3200" cap="all" dirty="0">
              <a:solidFill>
                <a:schemeClr val="tx2"/>
              </a:solidFill>
              <a:effectLst>
                <a:reflection blurRad="12700" stA="48000" endA="300" endPos="55000" dir="5400000" sy="-90000" algn="bl" rotWithShape="0"/>
              </a:effectLst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52600" y="1066800"/>
            <a:ext cx="9906000" cy="5392986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3200" dirty="0" err="1">
                <a:solidFill>
                  <a:schemeClr val="accent2">
                    <a:lumMod val="75000"/>
                  </a:schemeClr>
                </a:solidFill>
              </a:rPr>
              <a:t>Qp</a:t>
            </a:r>
            <a:r>
              <a:rPr lang="en-US" sz="3200" dirty="0">
                <a:solidFill>
                  <a:schemeClr val="accent2">
                    <a:lumMod val="75000"/>
                  </a:schemeClr>
                </a:solidFill>
              </a:rPr>
              <a:t> = </a:t>
            </a:r>
            <a:r>
              <a:rPr lang="en-US" sz="3200" dirty="0" err="1">
                <a:solidFill>
                  <a:schemeClr val="accent2">
                    <a:lumMod val="75000"/>
                  </a:schemeClr>
                </a:solidFill>
              </a:rPr>
              <a:t>CI</a:t>
            </a:r>
            <a:r>
              <a:rPr lang="en-US" sz="3200" baseline="-25000" dirty="0" err="1">
                <a:solidFill>
                  <a:schemeClr val="accent2">
                    <a:lumMod val="75000"/>
                  </a:schemeClr>
                </a:solidFill>
              </a:rPr>
              <a:t>i</a:t>
            </a:r>
            <a:r>
              <a:rPr lang="en-US" sz="3200" dirty="0" err="1">
                <a:solidFill>
                  <a:schemeClr val="accent2">
                    <a:lumMod val="75000"/>
                  </a:schemeClr>
                </a:solidFill>
              </a:rPr>
              <a:t>A</a:t>
            </a:r>
            <a:r>
              <a:rPr lang="en-US" sz="3200" dirty="0">
                <a:solidFill>
                  <a:schemeClr val="accent2">
                    <a:lumMod val="75000"/>
                  </a:schemeClr>
                </a:solidFill>
              </a:rPr>
              <a:t> </a:t>
            </a:r>
          </a:p>
          <a:p>
            <a:pPr>
              <a:spcAft>
                <a:spcPts val="1200"/>
              </a:spcAft>
            </a:pPr>
            <a:r>
              <a:rPr lang="en-US" sz="2400" dirty="0" err="1"/>
              <a:t>Qp</a:t>
            </a:r>
            <a:r>
              <a:rPr lang="en-US" sz="2400" dirty="0"/>
              <a:t> = Peak discharge (</a:t>
            </a:r>
            <a:r>
              <a:rPr lang="en-US" sz="2400" dirty="0" err="1"/>
              <a:t>cfs</a:t>
            </a:r>
            <a:r>
              <a:rPr lang="en-US" sz="2400" dirty="0"/>
              <a:t>)</a:t>
            </a:r>
          </a:p>
          <a:p>
            <a:pPr>
              <a:spcAft>
                <a:spcPts val="1200"/>
              </a:spcAft>
            </a:pPr>
            <a:r>
              <a:rPr lang="en-US" sz="2400" dirty="0"/>
              <a:t>C = runoff coefficient (function of soil type, </a:t>
            </a:r>
            <a:r>
              <a:rPr lang="en-US" sz="2400" dirty="0" err="1"/>
              <a:t>landuse</a:t>
            </a:r>
            <a:r>
              <a:rPr lang="en-US" sz="2400" dirty="0"/>
              <a:t>/cover, and watershed slope)</a:t>
            </a:r>
          </a:p>
          <a:p>
            <a:pPr>
              <a:spcAft>
                <a:spcPts val="1200"/>
              </a:spcAft>
            </a:pPr>
            <a:r>
              <a:rPr lang="en-US" sz="2400" dirty="0" err="1"/>
              <a:t>I</a:t>
            </a:r>
            <a:r>
              <a:rPr lang="en-US" sz="2400" baseline="-25000" dirty="0" err="1"/>
              <a:t>i</a:t>
            </a:r>
            <a:r>
              <a:rPr lang="en-US" sz="2400" dirty="0"/>
              <a:t> = average rainfall intensity (in/</a:t>
            </a:r>
            <a:r>
              <a:rPr lang="en-US" sz="2400" dirty="0" err="1"/>
              <a:t>hr</a:t>
            </a:r>
            <a:r>
              <a:rPr lang="en-US" sz="2400" dirty="0"/>
              <a:t>) </a:t>
            </a:r>
            <a:r>
              <a:rPr lang="en-IN" sz="2400" dirty="0"/>
              <a:t>for a storm duration equal to the time of concentration, T</a:t>
            </a:r>
            <a:r>
              <a:rPr lang="en-US" sz="2400" baseline="-25000" dirty="0"/>
              <a:t>c</a:t>
            </a:r>
          </a:p>
          <a:p>
            <a:pPr>
              <a:spcAft>
                <a:spcPts val="1200"/>
              </a:spcAft>
            </a:pPr>
            <a:r>
              <a:rPr lang="en-US" sz="2400" dirty="0"/>
              <a:t>A = area (acre)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400" b="1" dirty="0">
                <a:solidFill>
                  <a:schemeClr val="accent1">
                    <a:lumMod val="50000"/>
                  </a:schemeClr>
                </a:solidFill>
              </a:rPr>
              <a:t>For runoff coefficient: </a:t>
            </a:r>
            <a:r>
              <a:rPr lang="en-US" sz="2400" dirty="0"/>
              <a:t>refer to Bedient Table 6-5, page 381 (more detailed table in McCuen book --will be shared)</a:t>
            </a:r>
          </a:p>
          <a:p>
            <a:pPr marL="0" indent="0">
              <a:buNone/>
            </a:pPr>
            <a:endParaRPr lang="en-IN" sz="3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rcRect l="29167" t="18148" r="31250" b="12963"/>
          <a:stretch/>
        </p:blipFill>
        <p:spPr>
          <a:xfrm>
            <a:off x="2819400" y="20741"/>
            <a:ext cx="6781800" cy="6639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1771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C3259A-459A-B893-3641-32EBF11DD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5"/>
            <a:ext cx="10058400" cy="856395"/>
          </a:xfrm>
        </p:spPr>
        <p:txBody>
          <a:bodyPr/>
          <a:lstStyle/>
          <a:p>
            <a:r>
              <a:rPr lang="en-PK" b="1" dirty="0">
                <a:latin typeface="Google Sans"/>
              </a:rPr>
              <a:t>Key Details of Table 7-9</a:t>
            </a:r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B2C12C2-DB17-8965-948D-33C5462F97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7800"/>
            <a:ext cx="10591800" cy="4876800"/>
          </a:xfrm>
          <a:solidFill>
            <a:schemeClr val="bg1"/>
          </a:solidFill>
        </p:spPr>
        <p:txBody>
          <a:bodyPr>
            <a:normAutofit fontScale="92500" lnSpcReduction="10000"/>
          </a:bodyPr>
          <a:lstStyle/>
          <a:p>
            <a:pPr marL="0" lvl="0" indent="0">
              <a:lnSpc>
                <a:spcPct val="120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en-PK" sz="2600" b="1" dirty="0">
                <a:solidFill>
                  <a:schemeClr val="accent2"/>
                </a:solidFill>
              </a:rPr>
              <a:t>Parameters covered:</a:t>
            </a:r>
          </a:p>
          <a:p>
            <a:pPr marL="742950" marR="0" lvl="1" indent="-285750">
              <a:lnSpc>
                <a:spcPct val="12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PK" sz="2400" b="1" dirty="0"/>
              <a:t>Land Use / Cover Types: </a:t>
            </a:r>
            <a:r>
              <a:rPr lang="en-PK" sz="2400" dirty="0"/>
              <a:t>such as agricultural, residential, commercial, industrial, or open/natural land covers like grasslands and forests.</a:t>
            </a:r>
          </a:p>
          <a:p>
            <a:pPr marL="742950" marR="0" lvl="1" indent="-285750">
              <a:lnSpc>
                <a:spcPct val="12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PK" sz="2400" b="1" dirty="0"/>
              <a:t>Hydrologic Soil Groups (A, B, C, D): </a:t>
            </a:r>
            <a:r>
              <a:rPr lang="en-PK" sz="2400" dirty="0"/>
              <a:t>Classifies soils based on infiltration and transmission rates (from high infiltration sand/gravel types in Group A to low infiltration clay types in Group D).</a:t>
            </a:r>
          </a:p>
          <a:p>
            <a:pPr marL="742950" marR="0" lvl="1" indent="-285750">
              <a:lnSpc>
                <a:spcPct val="12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PK" sz="2400" b="1" dirty="0"/>
              <a:t>Slope Ranges: </a:t>
            </a:r>
            <a:r>
              <a:rPr lang="en-PK" sz="2400" dirty="0"/>
              <a:t>Categorized by general gradient classes (e.g., flat, rolling, steep)</a:t>
            </a:r>
            <a:r>
              <a:rPr lang="en-US" sz="2400" dirty="0"/>
              <a:t>,</a:t>
            </a:r>
            <a:r>
              <a:rPr lang="en-PK" sz="2400" dirty="0"/>
              <a:t> which affect the velocity and volume of surface runoff. </a:t>
            </a:r>
          </a:p>
          <a:p>
            <a:pPr marL="0" marR="0" lvl="0" indent="0">
              <a:lnSpc>
                <a:spcPct val="120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en-PK" sz="2400" b="1" dirty="0">
                <a:solidFill>
                  <a:schemeClr val="accent2"/>
                </a:solidFill>
              </a:rPr>
              <a:t>Application: </a:t>
            </a:r>
            <a:r>
              <a:rPr lang="en-PK" sz="2400" dirty="0"/>
              <a:t>The table values represent empirical runoff coefficients (C) used in peak discharge equations</a:t>
            </a:r>
            <a:r>
              <a:rPr lang="en-US" sz="2400" dirty="0"/>
              <a:t>. </a:t>
            </a:r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12950981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304801"/>
            <a:ext cx="8229600" cy="1219200"/>
          </a:xfrm>
        </p:spPr>
        <p:txBody>
          <a:bodyPr>
            <a:normAutofit/>
          </a:bodyPr>
          <a:lstStyle/>
          <a:p>
            <a:r>
              <a:rPr lang="en-US" sz="3200" cap="all">
                <a:solidFill>
                  <a:schemeClr val="tx2"/>
                </a:solidFill>
                <a:effectLst>
                  <a:reflection blurRad="12700" stA="48000" endA="300" endPos="55000" dir="5400000" sy="-90000" algn="bl" rotWithShape="0"/>
                </a:effectLst>
              </a:rPr>
              <a:t>Runoff coefficient for nonhomogeneous area</a:t>
            </a:r>
            <a:endParaRPr lang="en-IN" sz="3200" cap="all" dirty="0">
              <a:solidFill>
                <a:schemeClr val="tx2"/>
              </a:solidFill>
              <a:effectLst>
                <a:reflection blurRad="12700" stA="48000" endA="300" endPos="55000" dir="5400000" sy="-90000" algn="bl" rotWithShape="0"/>
              </a:effectLst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3000" y="2667000"/>
            <a:ext cx="9906000" cy="3202094"/>
          </a:xfrm>
        </p:spPr>
        <p:txBody>
          <a:bodyPr>
            <a:normAutofit/>
          </a:bodyPr>
          <a:lstStyle/>
          <a:p>
            <a:r>
              <a:rPr lang="en-US" sz="2800" dirty="0"/>
              <a:t>Weighted runoff coefficient based on the area of each land use</a:t>
            </a:r>
          </a:p>
          <a:p>
            <a:endParaRPr lang="en-US" sz="2800" dirty="0"/>
          </a:p>
          <a:p>
            <a:pPr algn="ctr"/>
            <a:r>
              <a:rPr lang="en-US" sz="3200" dirty="0" err="1"/>
              <a:t>Cw</a:t>
            </a:r>
            <a:r>
              <a:rPr lang="en-US" sz="3200" dirty="0"/>
              <a:t> = ∑</a:t>
            </a:r>
            <a:r>
              <a:rPr lang="en-US" sz="3200" baseline="-25000" dirty="0"/>
              <a:t>j=1</a:t>
            </a:r>
            <a:r>
              <a:rPr lang="en-US" sz="3200" baseline="30000" dirty="0"/>
              <a:t>n</a:t>
            </a:r>
            <a:r>
              <a:rPr lang="en-US" sz="3200" dirty="0"/>
              <a:t> </a:t>
            </a:r>
            <a:r>
              <a:rPr lang="en-US" sz="3200" dirty="0" err="1"/>
              <a:t>Cj</a:t>
            </a:r>
            <a:r>
              <a:rPr lang="en-US" sz="3200" dirty="0"/>
              <a:t> Aj/ ∑</a:t>
            </a:r>
            <a:r>
              <a:rPr lang="en-US" sz="3200" baseline="-25000" dirty="0"/>
              <a:t>j=1</a:t>
            </a:r>
            <a:r>
              <a:rPr lang="en-US" sz="3200" baseline="30000" dirty="0"/>
              <a:t>n</a:t>
            </a:r>
            <a:r>
              <a:rPr lang="en-US" sz="3200" dirty="0"/>
              <a:t> Aj</a:t>
            </a:r>
          </a:p>
          <a:p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6400" y="228600"/>
            <a:ext cx="8686800" cy="1219200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676400"/>
            <a:ext cx="11125200" cy="4664853"/>
          </a:xfrm>
        </p:spPr>
        <p:txBody>
          <a:bodyPr>
            <a:normAutofit/>
          </a:bodyPr>
          <a:lstStyle/>
          <a:p>
            <a:pPr marL="450850" indent="-45085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450850" algn="l"/>
              </a:tabLst>
            </a:pPr>
            <a:r>
              <a:rPr lang="en-US" sz="2800" dirty="0"/>
              <a:t>By </a:t>
            </a:r>
            <a:r>
              <a:rPr lang="en-IN" sz="2800" dirty="0"/>
              <a:t>the USA Soil Conservation Service (now called the Natural Resources Conservation Service), division of the USDA (US Department of Agriculture)</a:t>
            </a:r>
          </a:p>
          <a:p>
            <a:pPr marL="450850" indent="-45085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450850" algn="l"/>
              </a:tabLst>
            </a:pPr>
            <a:r>
              <a:rPr lang="en-IN" sz="2800" dirty="0"/>
              <a:t>To predict peak discharge due to a 24-hr storm event</a:t>
            </a:r>
          </a:p>
          <a:p>
            <a:pPr marL="450850" indent="-45085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450850" algn="l"/>
              </a:tabLst>
            </a:pPr>
            <a:r>
              <a:rPr lang="en-US" sz="2800" dirty="0"/>
              <a:t>Empirically derived relationships that use precipitation, land cover, hydrologic soil group, and watershed characteristics to estimate runoff depth. When combined with a unit hydrograph method, it can also be used to estimate peak discharge and runoff hydrographs.</a:t>
            </a:r>
          </a:p>
          <a:p>
            <a:pPr marL="450850" indent="-45085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450850" algn="l"/>
              </a:tabLst>
            </a:pPr>
            <a:r>
              <a:rPr lang="en-IN" sz="2800" dirty="0"/>
              <a:t>More sophisticated approach than the Rational Method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IN" sz="2800" dirty="0"/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IN" sz="2800" dirty="0"/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1828800" y="457200"/>
            <a:ext cx="8686800" cy="8382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en-US" sz="3200" b="1" cap="all" dirty="0">
                <a:solidFill>
                  <a:schemeClr val="tx2"/>
                </a:solidFill>
                <a:effectLst>
                  <a:reflection blurRad="12700" stA="48000" endA="300" endPos="55000" dir="5400000" sy="-90000" algn="bl" rotWithShape="0"/>
                </a:effectLst>
                <a:latin typeface="+mj-lt"/>
                <a:ea typeface="+mj-ea"/>
                <a:cs typeface="+mj-cs"/>
              </a:rPr>
              <a:t>NRCS Runoff Curve Number Methods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46960" y="286605"/>
            <a:ext cx="7543800" cy="1313596"/>
          </a:xfrm>
        </p:spPr>
        <p:txBody>
          <a:bodyPr>
            <a:normAutofit/>
          </a:bodyPr>
          <a:lstStyle/>
          <a:p>
            <a:r>
              <a:rPr lang="en-US" sz="4000" cap="all" dirty="0">
                <a:solidFill>
                  <a:schemeClr val="tx2"/>
                </a:solidFill>
                <a:effectLst>
                  <a:reflection blurRad="12700" stA="48000" endA="300" endPos="55000" dir="5400000" sy="-90000" algn="bl" rotWithShape="0"/>
                </a:effectLst>
              </a:rPr>
              <a:t>NRCS Curve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3001" y="1845734"/>
            <a:ext cx="10069484" cy="46140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Curve number is a coefficient that reduces the total precipitation to runoff potential, after “losses”</a:t>
            </a:r>
          </a:p>
          <a:p>
            <a:pPr lvl="1">
              <a:lnSpc>
                <a:spcPct val="100000"/>
              </a:lnSpc>
            </a:pPr>
            <a:r>
              <a:rPr lang="fr-FR" sz="2400" dirty="0">
                <a:solidFill>
                  <a:schemeClr val="accent1">
                    <a:lumMod val="50000"/>
                  </a:schemeClr>
                </a:solidFill>
              </a:rPr>
              <a:t>Evaporation</a:t>
            </a:r>
          </a:p>
          <a:p>
            <a:pPr lvl="1">
              <a:lnSpc>
                <a:spcPct val="100000"/>
              </a:lnSpc>
            </a:pPr>
            <a:r>
              <a:rPr lang="fr-FR" sz="2400" dirty="0">
                <a:solidFill>
                  <a:schemeClr val="accent1">
                    <a:lumMod val="50000"/>
                  </a:schemeClr>
                </a:solidFill>
              </a:rPr>
              <a:t>Absorption</a:t>
            </a:r>
          </a:p>
          <a:p>
            <a:pPr lvl="1">
              <a:lnSpc>
                <a:spcPct val="100000"/>
              </a:lnSpc>
            </a:pPr>
            <a:r>
              <a:rPr lang="fr-FR" sz="2400" dirty="0">
                <a:solidFill>
                  <a:schemeClr val="accent1">
                    <a:lumMod val="50000"/>
                  </a:schemeClr>
                </a:solidFill>
              </a:rPr>
              <a:t>Transpiration </a:t>
            </a:r>
          </a:p>
          <a:p>
            <a:pPr lvl="1">
              <a:lnSpc>
                <a:spcPct val="100000"/>
              </a:lnSpc>
            </a:pPr>
            <a:r>
              <a:rPr lang="fr-FR" sz="2400" dirty="0">
                <a:solidFill>
                  <a:schemeClr val="accent1">
                    <a:lumMod val="50000"/>
                  </a:schemeClr>
                </a:solidFill>
              </a:rPr>
              <a:t>Surface Storage</a:t>
            </a:r>
            <a:endParaRPr lang="en-US" sz="2400" dirty="0">
              <a:solidFill>
                <a:schemeClr val="accent1">
                  <a:lumMod val="50000"/>
                </a:schemeClr>
              </a:solidFill>
            </a:endParaRPr>
          </a:p>
          <a:p>
            <a:pPr>
              <a:lnSpc>
                <a:spcPct val="100000"/>
              </a:lnSpc>
            </a:pPr>
            <a:r>
              <a:rPr lang="en-US" sz="2400" i="1" dirty="0">
                <a:solidFill>
                  <a:schemeClr val="accent1"/>
                </a:solidFill>
              </a:rPr>
              <a:t> The higher the CN value, the higher the runoff potential will be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It is essential to use the CN value that best mimics the </a:t>
            </a:r>
            <a:r>
              <a:rPr lang="en-US" sz="2400" b="1" u="sng" dirty="0">
                <a:solidFill>
                  <a:schemeClr val="accent1"/>
                </a:solidFill>
              </a:rPr>
              <a:t>Ground Cover Type</a:t>
            </a:r>
            <a:r>
              <a:rPr lang="en-US" sz="2400" dirty="0"/>
              <a:t> and </a:t>
            </a:r>
            <a:r>
              <a:rPr lang="en-US" sz="2400" b="1" u="sng" dirty="0">
                <a:solidFill>
                  <a:schemeClr val="accent1"/>
                </a:solidFill>
              </a:rPr>
              <a:t>Hydrologic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46960" y="286605"/>
            <a:ext cx="7543800" cy="1267558"/>
          </a:xfrm>
        </p:spPr>
        <p:txBody>
          <a:bodyPr>
            <a:normAutofit/>
          </a:bodyPr>
          <a:lstStyle/>
          <a:p>
            <a:r>
              <a:rPr lang="en-US" sz="4000" cap="all" dirty="0">
                <a:solidFill>
                  <a:schemeClr val="tx2"/>
                </a:solidFill>
                <a:effectLst>
                  <a:reflection blurRad="12700" stA="48000" endA="300" endPos="55000" dir="5400000" sy="-90000" algn="bl" rotWithShape="0"/>
                </a:effectLst>
              </a:rPr>
              <a:t>NRCS Rainfall-Runoff Equation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" y="1752600"/>
            <a:ext cx="11201400" cy="4630986"/>
          </a:xfrm>
        </p:spPr>
        <p:txBody>
          <a:bodyPr>
            <a:normAutofit/>
          </a:bodyPr>
          <a:lstStyle/>
          <a:p>
            <a:r>
              <a:rPr lang="en-US" dirty="0"/>
              <a:t> The following equation presents the relationship between accumulated rainfall and accumulated runoff</a:t>
            </a:r>
          </a:p>
          <a:p>
            <a:endParaRPr lang="en-US" sz="2100" dirty="0"/>
          </a:p>
          <a:p>
            <a:r>
              <a:rPr lang="en-US" sz="2100" dirty="0"/>
              <a:t>Where:</a:t>
            </a:r>
          </a:p>
          <a:p>
            <a:r>
              <a:rPr lang="en-US" sz="2100" dirty="0"/>
              <a:t>Q = accumulated direct runoff (inches </a:t>
            </a:r>
            <a:r>
              <a:rPr lang="en-US" sz="2100" dirty="0">
                <a:solidFill>
                  <a:srgbClr val="FF0000"/>
                </a:solidFill>
              </a:rPr>
              <a:t>or mm</a:t>
            </a:r>
            <a:r>
              <a:rPr lang="en-US" sz="2100" dirty="0"/>
              <a:t>) </a:t>
            </a:r>
          </a:p>
          <a:p>
            <a:pPr>
              <a:lnSpc>
                <a:spcPct val="120000"/>
              </a:lnSpc>
            </a:pPr>
            <a:r>
              <a:rPr lang="en-US" sz="2100" dirty="0"/>
              <a:t>P = accumulated rainfall (potential maximum runoff) (inches </a:t>
            </a:r>
            <a:r>
              <a:rPr lang="en-US" sz="2100" dirty="0">
                <a:solidFill>
                  <a:srgbClr val="FF0000"/>
                </a:solidFill>
              </a:rPr>
              <a:t>or mm</a:t>
            </a:r>
            <a:r>
              <a:rPr lang="en-US" sz="2100" dirty="0"/>
              <a:t>)</a:t>
            </a:r>
          </a:p>
          <a:p>
            <a:pPr>
              <a:lnSpc>
                <a:spcPct val="120000"/>
              </a:lnSpc>
            </a:pPr>
            <a:r>
              <a:rPr lang="en-US" sz="2100" dirty="0"/>
              <a:t>I</a:t>
            </a:r>
            <a:r>
              <a:rPr lang="en-US" sz="2100" baseline="-25000" dirty="0"/>
              <a:t>a</a:t>
            </a:r>
            <a:r>
              <a:rPr lang="en-US" sz="2100" dirty="0"/>
              <a:t> = initial abstraction including surface storage, interception, evaporation, and infiltration prior to any runoff occurring (inches </a:t>
            </a:r>
            <a:r>
              <a:rPr lang="en-US" sz="2100" dirty="0">
                <a:solidFill>
                  <a:srgbClr val="FF0000"/>
                </a:solidFill>
              </a:rPr>
              <a:t>or mm</a:t>
            </a:r>
            <a:r>
              <a:rPr lang="en-US" sz="2100" dirty="0"/>
              <a:t>) </a:t>
            </a:r>
          </a:p>
          <a:p>
            <a:r>
              <a:rPr lang="en-US" sz="2100" dirty="0"/>
              <a:t>S = potential maximum soil moisture retention after runoff begins (inches </a:t>
            </a:r>
            <a:r>
              <a:rPr lang="en-US" sz="2100" dirty="0">
                <a:solidFill>
                  <a:srgbClr val="FF0000"/>
                </a:solidFill>
              </a:rPr>
              <a:t>or mm</a:t>
            </a:r>
            <a:r>
              <a:rPr lang="en-US" sz="2100" dirty="0"/>
              <a:t>)</a:t>
            </a:r>
          </a:p>
          <a:p>
            <a:r>
              <a:rPr lang="en-US" sz="2100" dirty="0">
                <a:solidFill>
                  <a:schemeClr val="accent2"/>
                </a:solidFill>
              </a:rPr>
              <a:t>Note: </a:t>
            </a:r>
            <a:r>
              <a:rPr lang="pt-BR" sz="2100" dirty="0">
                <a:solidFill>
                  <a:schemeClr val="accent2"/>
                </a:solidFill>
              </a:rPr>
              <a:t>for P ≤ I</a:t>
            </a:r>
            <a:r>
              <a:rPr lang="pt-BR" sz="2100" baseline="-25000" dirty="0">
                <a:solidFill>
                  <a:schemeClr val="accent2"/>
                </a:solidFill>
              </a:rPr>
              <a:t>a</a:t>
            </a:r>
            <a:r>
              <a:rPr lang="pt-BR" sz="2100" dirty="0">
                <a:solidFill>
                  <a:schemeClr val="accent2"/>
                </a:solidFill>
              </a:rPr>
              <a:t>, Q = 0</a:t>
            </a:r>
            <a:endParaRPr lang="en-US" sz="2100" dirty="0">
              <a:solidFill>
                <a:schemeClr val="accent2"/>
              </a:solidFill>
            </a:endParaRPr>
          </a:p>
          <a:p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7848600" y="2514600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Equation 1</a:t>
            </a:r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909185" y="2206169"/>
            <a:ext cx="2101215" cy="9825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57400" y="286605"/>
            <a:ext cx="8016240" cy="1134289"/>
          </a:xfrm>
        </p:spPr>
        <p:txBody>
          <a:bodyPr>
            <a:normAutofit/>
          </a:bodyPr>
          <a:lstStyle/>
          <a:p>
            <a:r>
              <a:rPr lang="en-US" sz="4000" cap="all" dirty="0">
                <a:solidFill>
                  <a:schemeClr val="tx2"/>
                </a:solidFill>
                <a:effectLst>
                  <a:reflection blurRad="12700" stA="48000" endA="300" endPos="55000" dir="5400000" sy="-90000" algn="bl" rotWithShape="0"/>
                </a:effectLst>
              </a:rPr>
              <a:t>potential maximum retention (S)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3000" y="1737361"/>
            <a:ext cx="10820400" cy="4968239"/>
          </a:xfrm>
        </p:spPr>
        <p:txBody>
          <a:bodyPr/>
          <a:lstStyle/>
          <a:p>
            <a:r>
              <a:rPr lang="en-US" sz="2800" dirty="0"/>
              <a:t>Potential maximum retention (S) can be calculated using Equation 2.</a:t>
            </a:r>
          </a:p>
          <a:p>
            <a:endParaRPr lang="en-US" dirty="0"/>
          </a:p>
          <a:p>
            <a:pPr>
              <a:buNone/>
            </a:pPr>
            <a:endParaRPr lang="en-US" sz="1900" dirty="0"/>
          </a:p>
          <a:p>
            <a:pPr>
              <a:buNone/>
            </a:pPr>
            <a:r>
              <a:rPr lang="en-US" sz="1900" dirty="0"/>
              <a:t>Where: </a:t>
            </a:r>
          </a:p>
          <a:p>
            <a:r>
              <a:rPr lang="en-US" sz="1900" dirty="0"/>
              <a:t>z=10 for English measurement units, or 254 for metric </a:t>
            </a:r>
          </a:p>
          <a:p>
            <a:r>
              <a:rPr lang="en-US" sz="1900" dirty="0"/>
              <a:t>CN = Runoff Curve Number (0 - 100)</a:t>
            </a:r>
          </a:p>
          <a:p>
            <a:r>
              <a:rPr lang="en-US" dirty="0"/>
              <a:t>Generally, I</a:t>
            </a:r>
            <a:r>
              <a:rPr lang="en-US" baseline="-25000" dirty="0"/>
              <a:t>a</a:t>
            </a:r>
            <a:r>
              <a:rPr lang="en-US" dirty="0"/>
              <a:t> may be estimated as  </a:t>
            </a:r>
            <a:r>
              <a:rPr lang="en-US" b="1" dirty="0"/>
              <a:t>I</a:t>
            </a:r>
            <a:r>
              <a:rPr lang="en-US" b="1" baseline="-25000" dirty="0"/>
              <a:t>a</a:t>
            </a:r>
            <a:r>
              <a:rPr lang="en-US" b="1" dirty="0"/>
              <a:t> = 0.2 S</a:t>
            </a:r>
            <a:r>
              <a:rPr lang="en-US" dirty="0"/>
              <a:t>		                          Equation 3</a:t>
            </a:r>
          </a:p>
          <a:p>
            <a:r>
              <a:rPr lang="en-US" dirty="0"/>
              <a:t>Substituting </a:t>
            </a:r>
            <a:r>
              <a:rPr lang="en-US" dirty="0" err="1"/>
              <a:t>I</a:t>
            </a:r>
            <a:r>
              <a:rPr lang="en-US" baseline="-25000" dirty="0" err="1"/>
              <a:t>a</a:t>
            </a:r>
            <a:r>
              <a:rPr lang="en-US" dirty="0"/>
              <a:t> value in Equation 1</a:t>
            </a:r>
          </a:p>
          <a:p>
            <a:endParaRPr lang="en-US" dirty="0"/>
          </a:p>
          <a:p>
            <a:pPr algn="ctr">
              <a:buNone/>
            </a:pPr>
            <a:endParaRPr lang="en-US" sz="1900" dirty="0"/>
          </a:p>
        </p:txBody>
      </p:sp>
      <p:sp>
        <p:nvSpPr>
          <p:cNvPr id="5" name="TextBox 4"/>
          <p:cNvSpPr txBox="1"/>
          <p:nvPr/>
        </p:nvSpPr>
        <p:spPr>
          <a:xfrm>
            <a:off x="7920989" y="2781300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Equation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49244" y="5719846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Equation 4</a:t>
            </a:r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105400" y="5334000"/>
            <a:ext cx="2143125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495800" y="2286000"/>
            <a:ext cx="2647950" cy="99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0" y="228600"/>
            <a:ext cx="8686800" cy="685800"/>
          </a:xfrm>
        </p:spPr>
        <p:txBody>
          <a:bodyPr>
            <a:noAutofit/>
          </a:bodyPr>
          <a:lstStyle/>
          <a:p>
            <a:r>
              <a:rPr lang="en-US" sz="4000" cap="all" dirty="0">
                <a:solidFill>
                  <a:schemeClr val="tx2"/>
                </a:solidFill>
                <a:effectLst>
                  <a:reflection blurRad="12700" stA="48000" endA="300" endPos="55000" dir="5400000" sy="-90000" algn="bl" rotWithShape="0"/>
                </a:effectLst>
              </a:rPr>
              <a:t>NRCS Runoff equations</a:t>
            </a:r>
          </a:p>
        </p:txBody>
      </p:sp>
      <p:pic>
        <p:nvPicPr>
          <p:cNvPr id="4" name="Picture 3"/>
          <p:cNvPicPr/>
          <p:nvPr/>
        </p:nvPicPr>
        <p:blipFill>
          <a:blip r:embed="rId3"/>
          <a:srcRect l="8333" t="21368" r="6410" b="9402"/>
          <a:stretch>
            <a:fillRect/>
          </a:stretch>
        </p:blipFill>
        <p:spPr bwMode="auto">
          <a:xfrm>
            <a:off x="1752600" y="1295400"/>
            <a:ext cx="8763000" cy="541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/>
          <p:nvPr/>
        </p:nvPicPr>
        <p:blipFill>
          <a:blip r:embed="rId3"/>
          <a:srcRect l="19872" t="21581" r="5609" b="9402"/>
          <a:stretch>
            <a:fillRect/>
          </a:stretch>
        </p:blipFill>
        <p:spPr bwMode="auto">
          <a:xfrm>
            <a:off x="1828801" y="457200"/>
            <a:ext cx="8534399" cy="6172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86605"/>
            <a:ext cx="10058400" cy="627795"/>
          </a:xfrm>
        </p:spPr>
        <p:txBody>
          <a:bodyPr>
            <a:normAutofit fontScale="90000"/>
          </a:bodyPr>
          <a:lstStyle/>
          <a:p>
            <a:r>
              <a:rPr lang="en-US" dirty="0"/>
              <a:t>Curve Number CN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1219200"/>
            <a:ext cx="10972800" cy="5029200"/>
          </a:xfrm>
          <a:solidFill>
            <a:schemeClr val="bg1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The principal physical watershed characteristics affecting the relationship between rainfall and runoff are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accent2"/>
                </a:solidFill>
              </a:rPr>
              <a:t>land use, land treatment,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accent2"/>
                </a:solidFill>
              </a:rPr>
              <a:t>soil types, and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accent2"/>
                </a:solidFill>
              </a:rPr>
              <a:t>land slope</a:t>
            </a:r>
            <a:r>
              <a:rPr lang="en-US" sz="2000" dirty="0"/>
              <a:t>.</a:t>
            </a:r>
          </a:p>
          <a:p>
            <a:pPr>
              <a:lnSpc>
                <a:spcPct val="100000"/>
              </a:lnSpc>
            </a:pPr>
            <a:r>
              <a:rPr lang="en-US" dirty="0"/>
              <a:t>NRCS method uses a combination of soil conditions and land uses (ground cover) to assign a runoff factor to an area (CN).</a:t>
            </a:r>
          </a:p>
          <a:p>
            <a:pPr>
              <a:lnSpc>
                <a:spcPct val="100000"/>
              </a:lnSpc>
            </a:pPr>
            <a:r>
              <a:rPr lang="en-US" dirty="0"/>
              <a:t>CN indicates the runoff potential of an area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accent2"/>
                </a:solidFill>
              </a:rPr>
              <a:t> The higher the CN, the higher the runoff potential</a:t>
            </a:r>
          </a:p>
          <a:p>
            <a:pPr>
              <a:lnSpc>
                <a:spcPct val="100000"/>
              </a:lnSpc>
            </a:pPr>
            <a:r>
              <a:rPr lang="en-US" dirty="0"/>
              <a:t>Soil properties also influence the relationship between runoff and rainfall since soils have differing rates of infiltration.</a:t>
            </a:r>
          </a:p>
          <a:p>
            <a:pPr>
              <a:lnSpc>
                <a:spcPct val="100000"/>
              </a:lnSpc>
            </a:pPr>
            <a:r>
              <a:rPr lang="en-US" dirty="0"/>
              <a:t>Based on infiltration rates, the NRCS has divided soils into four hydrologic soil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2087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05000" y="304803"/>
            <a:ext cx="7543800" cy="761998"/>
          </a:xfrm>
        </p:spPr>
        <p:txBody>
          <a:bodyPr>
            <a:normAutofit/>
          </a:bodyPr>
          <a:lstStyle/>
          <a:p>
            <a:r>
              <a:rPr lang="en-US" sz="4000" cap="all" dirty="0">
                <a:solidFill>
                  <a:schemeClr val="tx2"/>
                </a:solidFill>
                <a:effectLst>
                  <a:reflection blurRad="12700" stA="48000" endA="300" endPos="55000" dir="5400000" sy="-90000" algn="bl" rotWithShape="0"/>
                </a:effectLst>
              </a:rPr>
              <a:t>Hydrologic Soil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1219200"/>
            <a:ext cx="11125200" cy="5105400"/>
          </a:xfrm>
          <a:solidFill>
            <a:schemeClr val="bg1"/>
          </a:solidFill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dirty="0">
                <a:solidFill>
                  <a:schemeClr val="accent1"/>
                </a:solidFill>
              </a:rPr>
              <a:t>Hydrologic Group is a grouping of soils that have similar runoff potential under similar storm and land cover conditions</a:t>
            </a:r>
          </a:p>
          <a:p>
            <a:pPr>
              <a:lnSpc>
                <a:spcPct val="110000"/>
              </a:lnSpc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Group A Soils:  </a:t>
            </a:r>
            <a:r>
              <a:rPr lang="en-US" dirty="0"/>
              <a:t>High infiltration (low runoff). Sand, loamy sand, or sandy loam. Infiltration rate &gt; 0.3 inch/hr when wet.</a:t>
            </a:r>
          </a:p>
          <a:p>
            <a:pPr>
              <a:lnSpc>
                <a:spcPct val="110000"/>
              </a:lnSpc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Group B Soils:  </a:t>
            </a:r>
            <a:r>
              <a:rPr lang="en-US" dirty="0"/>
              <a:t>Moderate infiltration (moderate runoff).   Silt loam or loam. Infiltration rate 0.15 to 0.3 inch/hr when wet.</a:t>
            </a:r>
          </a:p>
          <a:p>
            <a:pPr>
              <a:lnSpc>
                <a:spcPct val="110000"/>
              </a:lnSpc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Group C Soils:  </a:t>
            </a:r>
            <a:r>
              <a:rPr lang="en-US" dirty="0"/>
              <a:t>Low infiltration (moderate to high runoff).   Sandy clay loam. Infiltration rate 0.05 to 0.15 inch/hr when wet.</a:t>
            </a:r>
          </a:p>
          <a:p>
            <a:pPr>
              <a:lnSpc>
                <a:spcPct val="120000"/>
              </a:lnSpc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Group D Soils:  </a:t>
            </a:r>
            <a:r>
              <a:rPr lang="en-US" dirty="0"/>
              <a:t>Very low infiltration (high runoff).   Clay loam, silty clay loam, sandy clay, silty clay, or clay. Infiltration rate 0 to 0.05 inch/hr when wet.</a:t>
            </a:r>
          </a:p>
          <a:p>
            <a:pPr>
              <a:lnSpc>
                <a:spcPct val="110000"/>
              </a:lnSpc>
            </a:pPr>
            <a:r>
              <a:rPr lang="en-US" dirty="0">
                <a:solidFill>
                  <a:srgbClr val="F27D26"/>
                </a:solidFill>
              </a:rPr>
              <a:t>Effects of Urbanization: </a:t>
            </a:r>
            <a:r>
              <a:rPr lang="en-US" dirty="0"/>
              <a:t>Consider the effects of urbanization on the natural hydrologic soil group. For compacted soil, you should make appropriate changes to the selected soil group. </a:t>
            </a:r>
          </a:p>
          <a:p>
            <a:pPr>
              <a:lnSpc>
                <a:spcPct val="110000"/>
              </a:lnSpc>
            </a:pPr>
            <a:r>
              <a:rPr lang="en-US" dirty="0">
                <a:solidFill>
                  <a:srgbClr val="F27D26"/>
                </a:solidFill>
              </a:rPr>
              <a:t>Antecedent soil moisture conditions: </a:t>
            </a:r>
            <a:r>
              <a:rPr lang="en-US" dirty="0"/>
              <a:t>AMC I, II, and III</a:t>
            </a:r>
          </a:p>
          <a:p>
            <a:pPr>
              <a:lnSpc>
                <a:spcPct val="110000"/>
              </a:lnSpc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0" y="286605"/>
            <a:ext cx="8763000" cy="1084996"/>
          </a:xfrm>
        </p:spPr>
        <p:txBody>
          <a:bodyPr>
            <a:normAutofit/>
          </a:bodyPr>
          <a:lstStyle/>
          <a:p>
            <a:r>
              <a:rPr lang="en-US" sz="3500" cap="all" dirty="0">
                <a:solidFill>
                  <a:schemeClr val="tx2"/>
                </a:solidFill>
                <a:effectLst>
                  <a:reflection blurRad="12700" stA="48000" endA="300" endPos="55000" dir="5400000" sy="-90000" algn="bl" rotWithShape="0"/>
                </a:effectLst>
              </a:rPr>
              <a:t>Antecedent soil moisture conditions-AMC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981200"/>
            <a:ext cx="10439400" cy="434340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AMC is the preceding relative moisture of the pervious surfaces prior to the rainfall event</a:t>
            </a:r>
          </a:p>
          <a:p>
            <a:endParaRPr lang="en-US" dirty="0"/>
          </a:p>
          <a:p>
            <a:pPr lvl="1"/>
            <a:r>
              <a:rPr lang="en-US" sz="2000" b="1" dirty="0">
                <a:solidFill>
                  <a:schemeClr val="accent2"/>
                </a:solidFill>
              </a:rPr>
              <a:t>Low</a:t>
            </a:r>
            <a:r>
              <a:rPr lang="en-US" sz="2000" dirty="0">
                <a:solidFill>
                  <a:schemeClr val="accent2"/>
                </a:solidFill>
              </a:rPr>
              <a:t>: </a:t>
            </a:r>
            <a:r>
              <a:rPr lang="en-US" sz="2000" dirty="0"/>
              <a:t>when there has been little preceding rainfall </a:t>
            </a:r>
          </a:p>
          <a:p>
            <a:pPr lvl="1"/>
            <a:r>
              <a:rPr lang="en-US" sz="2000" b="1" dirty="0">
                <a:solidFill>
                  <a:schemeClr val="accent2"/>
                </a:solidFill>
              </a:rPr>
              <a:t>High: </a:t>
            </a:r>
            <a:r>
              <a:rPr lang="en-US" sz="2000" dirty="0"/>
              <a:t>when there has been considerable preceding rainfall prior to the modeled rainfall event</a:t>
            </a:r>
          </a:p>
          <a:p>
            <a:pPr lvl="1"/>
            <a:endParaRPr lang="en-US" dirty="0"/>
          </a:p>
          <a:p>
            <a:pPr algn="ctr"/>
            <a:r>
              <a:rPr lang="en-US" b="1" dirty="0">
                <a:solidFill>
                  <a:schemeClr val="accent2"/>
                </a:solidFill>
              </a:rPr>
              <a:t>ACM I (dry), ACM II (average), and ACM III (wet)</a:t>
            </a:r>
          </a:p>
          <a:p>
            <a:pPr algn="ctr"/>
            <a:endParaRPr lang="en-US" b="1" dirty="0">
              <a:solidFill>
                <a:schemeClr val="accent2"/>
              </a:solidFill>
            </a:endParaRPr>
          </a:p>
          <a:p>
            <a:pPr algn="ctr"/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For modeling purposes, we consider watersheds to be AMC II, which is essentially an average moisture condition</a:t>
            </a:r>
          </a:p>
          <a:p>
            <a:pPr algn="ctr"/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For areas with high water table conditions, AMC III antecedent soil moisture conditions may be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66098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CNs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46960" y="4648200"/>
            <a:ext cx="7543801" cy="1220894"/>
          </a:xfrm>
        </p:spPr>
        <p:txBody>
          <a:bodyPr/>
          <a:lstStyle/>
          <a:p>
            <a:pPr marL="91440" lvl="1" indent="-91440">
              <a:spcBef>
                <a:spcPts val="1200"/>
              </a:spcBef>
              <a:spcAft>
                <a:spcPts val="200"/>
              </a:spcAft>
              <a:buSzPct val="100000"/>
              <a:buFont typeface="Calibri" panose="020F0502020204030204" pitchFamily="34" charset="0"/>
              <a:buChar char=" "/>
            </a:pPr>
            <a:r>
              <a:rPr lang="en-US" sz="2400" dirty="0">
                <a:solidFill>
                  <a:schemeClr val="accent2"/>
                </a:solidFill>
              </a:rPr>
              <a:t>A CN of 100 is to be used for permanent water surfaces such as lakes and ponds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l="30000" t="32222" r="41666" b="51482"/>
          <a:stretch/>
        </p:blipFill>
        <p:spPr>
          <a:xfrm>
            <a:off x="2514600" y="2057401"/>
            <a:ext cx="6918960" cy="223848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8636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rcRect l="30833" t="4859" r="31250" b="6297"/>
          <a:stretch/>
        </p:blipFill>
        <p:spPr>
          <a:xfrm>
            <a:off x="2590800" y="113212"/>
            <a:ext cx="7162800" cy="621574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46960" y="286605"/>
            <a:ext cx="7543800" cy="1008796"/>
          </a:xfrm>
        </p:spPr>
        <p:txBody>
          <a:bodyPr>
            <a:normAutofit/>
          </a:bodyPr>
          <a:lstStyle/>
          <a:p>
            <a:r>
              <a:rPr lang="en-US" sz="4000" cap="all" dirty="0">
                <a:solidFill>
                  <a:schemeClr val="tx2"/>
                </a:solidFill>
                <a:effectLst>
                  <a:reflection blurRad="12700" stA="48000" endA="300" endPos="55000" dir="5400000" sy="-90000" algn="bl" rotWithShape="0"/>
                </a:effectLst>
              </a:rPr>
              <a:t>Composite Curve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1" y="1845734"/>
            <a:ext cx="10317480" cy="4023360"/>
          </a:xfrm>
        </p:spPr>
        <p:txBody>
          <a:bodyPr/>
          <a:lstStyle/>
          <a:p>
            <a:r>
              <a:rPr lang="en-US" dirty="0"/>
              <a:t>When a drainage area has more than one land use</a:t>
            </a:r>
          </a:p>
          <a:p>
            <a:r>
              <a:rPr lang="en-US" dirty="0"/>
              <a:t>When Composite CN is used</a:t>
            </a:r>
          </a:p>
          <a:p>
            <a:pPr lvl="1"/>
            <a:endParaRPr lang="en-US" sz="2000" dirty="0"/>
          </a:p>
          <a:p>
            <a:pPr lvl="1"/>
            <a:r>
              <a:rPr lang="en-US" sz="2000" dirty="0"/>
              <a:t>The drainage area is considered a uniform land use represented by the composite curve number</a:t>
            </a:r>
          </a:p>
          <a:p>
            <a:pPr lvl="1"/>
            <a:r>
              <a:rPr lang="en-US" sz="2000" dirty="0"/>
              <a:t>can be calculated by using the weighted method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2647" y="4249844"/>
            <a:ext cx="7972425" cy="1619250"/>
          </a:xfrm>
          <a:prstGeom prst="rect">
            <a:avLst/>
          </a:prstGeom>
          <a:ln w="38100">
            <a:solidFill>
              <a:srgbClr val="F27D26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7106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07607" y="304800"/>
            <a:ext cx="7543800" cy="703996"/>
          </a:xfrm>
        </p:spPr>
        <p:txBody>
          <a:bodyPr>
            <a:normAutofit/>
          </a:bodyPr>
          <a:lstStyle/>
          <a:p>
            <a:r>
              <a:rPr lang="en-US" sz="4000" cap="all" dirty="0">
                <a:solidFill>
                  <a:schemeClr val="tx2"/>
                </a:solidFill>
                <a:effectLst>
                  <a:reflection blurRad="12700" stA="48000" endA="300" endPos="55000" dir="5400000" sy="-90000" algn="bl" rotWithShape="0"/>
                </a:effectLst>
              </a:rPr>
              <a:t>Example</a:t>
            </a: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/>
          <a:srcRect l="10938" t="19792" r="9375" b="13542"/>
          <a:stretch>
            <a:fillRect/>
          </a:stretch>
        </p:blipFill>
        <p:spPr bwMode="auto">
          <a:xfrm>
            <a:off x="1071715" y="1066800"/>
            <a:ext cx="9748685" cy="5257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/>
          <a:srcRect l="8594" t="19792" r="11719" b="6250"/>
          <a:stretch>
            <a:fillRect/>
          </a:stretch>
        </p:blipFill>
        <p:spPr bwMode="auto">
          <a:xfrm>
            <a:off x="1676400" y="304800"/>
            <a:ext cx="8763000" cy="640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46960" y="286605"/>
            <a:ext cx="7543800" cy="1084996"/>
          </a:xfrm>
        </p:spPr>
        <p:txBody>
          <a:bodyPr>
            <a:normAutofit/>
          </a:bodyPr>
          <a:lstStyle/>
          <a:p>
            <a:r>
              <a:rPr lang="en-US" sz="4000" cap="all" dirty="0">
                <a:solidFill>
                  <a:schemeClr val="tx2"/>
                </a:solidFill>
                <a:effectLst>
                  <a:reflection blurRad="12700" stA="48000" endA="300" endPos="55000" dir="5400000" sy="-90000" algn="bl" rotWithShape="0"/>
                </a:effectLst>
              </a:rPr>
              <a:t>Continuous Runoff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46960" y="2057400"/>
            <a:ext cx="7543801" cy="3811694"/>
          </a:xfrm>
        </p:spPr>
        <p:txBody>
          <a:bodyPr>
            <a:normAutofit/>
          </a:bodyPr>
          <a:lstStyle/>
          <a:p>
            <a:r>
              <a:rPr lang="en-US" sz="2800" b="1" dirty="0"/>
              <a:t>Time area method</a:t>
            </a:r>
          </a:p>
          <a:p>
            <a:r>
              <a:rPr lang="en-US" sz="2800" b="1" dirty="0"/>
              <a:t>Unit Hydrograph Techniques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2"/>
          <p:cNvSpPr>
            <a:spLocks noGrp="1"/>
          </p:cNvSpPr>
          <p:nvPr>
            <p:ph type="title"/>
          </p:nvPr>
        </p:nvSpPr>
        <p:spPr>
          <a:xfrm>
            <a:off x="2133600" y="228600"/>
            <a:ext cx="8153400" cy="990600"/>
          </a:xfrm>
        </p:spPr>
        <p:txBody>
          <a:bodyPr>
            <a:normAutofit/>
          </a:bodyPr>
          <a:lstStyle/>
          <a:p>
            <a:r>
              <a:rPr lang="en-US" sz="4000" cap="all" dirty="0">
                <a:solidFill>
                  <a:schemeClr val="tx2"/>
                </a:solidFill>
                <a:effectLst>
                  <a:reflection blurRad="12700" stA="48000" endA="300" endPos="55000" dir="5400000" sy="-90000" algn="bl" rotWithShape="0"/>
                </a:effectLst>
              </a:rPr>
              <a:t>Time Area Method</a:t>
            </a:r>
          </a:p>
        </p:txBody>
      </p:sp>
      <p:sp>
        <p:nvSpPr>
          <p:cNvPr id="96259" name="Rectangle 3"/>
          <p:cNvSpPr>
            <a:spLocks noGrp="1"/>
          </p:cNvSpPr>
          <p:nvPr>
            <p:ph idx="1"/>
          </p:nvPr>
        </p:nvSpPr>
        <p:spPr>
          <a:xfrm>
            <a:off x="762000" y="1862386"/>
            <a:ext cx="10896599" cy="4572000"/>
          </a:xfrm>
        </p:spPr>
        <p:txBody>
          <a:bodyPr>
            <a:normAutofit/>
          </a:bodyPr>
          <a:lstStyle/>
          <a:p>
            <a:pPr marL="355600" indent="-355600">
              <a:buFont typeface="Wingdings" panose="05000000000000000000" pitchFamily="2" charset="2"/>
              <a:buChar char="§"/>
            </a:pPr>
            <a:r>
              <a:rPr lang="en-US" sz="2400" dirty="0"/>
              <a:t>Develop to address </a:t>
            </a:r>
            <a:r>
              <a:rPr lang="en-US" sz="2400" u="sng" dirty="0"/>
              <a:t>non-uniform rainfall </a:t>
            </a:r>
            <a:r>
              <a:rPr lang="en-US" sz="2400" dirty="0"/>
              <a:t>in large areas</a:t>
            </a:r>
          </a:p>
          <a:p>
            <a:pPr marL="355600" indent="-355600">
              <a:buFont typeface="Wingdings" panose="05000000000000000000" pitchFamily="2" charset="2"/>
              <a:buChar char="§"/>
            </a:pPr>
            <a:r>
              <a:rPr lang="en-US" sz="2400" dirty="0"/>
              <a:t>Convert rainfall excess into a hydrograph</a:t>
            </a:r>
          </a:p>
          <a:p>
            <a:pPr marL="355600" indent="-355600">
              <a:buFont typeface="Wingdings" panose="05000000000000000000" pitchFamily="2" charset="2"/>
              <a:buChar char="§"/>
            </a:pPr>
            <a:r>
              <a:rPr lang="en-US" sz="2400" dirty="0"/>
              <a:t>Concept of time-area histogram is used</a:t>
            </a:r>
          </a:p>
          <a:p>
            <a:pPr marL="355600" indent="-355600">
              <a:buFont typeface="Wingdings" panose="05000000000000000000" pitchFamily="2" charset="2"/>
              <a:buChar char="§"/>
            </a:pPr>
            <a:r>
              <a:rPr lang="en-US" sz="2400" dirty="0"/>
              <a:t>This method assumes that outflow hydrograph results from pure translation of direct runoff to the outlet at uniform velocity, ignoring any storage effects in the watershed</a:t>
            </a:r>
          </a:p>
          <a:p>
            <a:pPr marL="355600" indent="-355600">
              <a:buFont typeface="Wingdings" panose="05000000000000000000" pitchFamily="2" charset="2"/>
              <a:buChar char="§"/>
            </a:pPr>
            <a:r>
              <a:rPr lang="en-US" sz="2400" dirty="0"/>
              <a:t>Watershed is divided into </a:t>
            </a:r>
            <a:r>
              <a:rPr lang="en-US" sz="2400" u="sng" dirty="0"/>
              <a:t>subareas with distinct runoff translation times</a:t>
            </a:r>
            <a:r>
              <a:rPr lang="en-US" sz="2400" dirty="0"/>
              <a:t> to the outlet </a:t>
            </a:r>
          </a:p>
          <a:p>
            <a:pPr marL="355600" indent="-355600">
              <a:buFont typeface="Wingdings" panose="05000000000000000000" pitchFamily="2" charset="2"/>
              <a:buChar char="§"/>
            </a:pPr>
            <a:r>
              <a:rPr lang="en-US" sz="2400" dirty="0"/>
              <a:t>Subareas are delineated with </a:t>
            </a:r>
            <a:r>
              <a:rPr lang="en-US" sz="2400" b="1" dirty="0">
                <a:solidFill>
                  <a:schemeClr val="accent2"/>
                </a:solidFill>
              </a:rPr>
              <a:t>isochrones of equal translation time</a:t>
            </a:r>
            <a:r>
              <a:rPr lang="en-US" sz="2400" dirty="0">
                <a:solidFill>
                  <a:schemeClr val="accent2"/>
                </a:solidFill>
              </a:rPr>
              <a:t> </a:t>
            </a:r>
            <a:r>
              <a:rPr lang="en-US" sz="2400" dirty="0"/>
              <a:t>(numbered upstream from the outlet)</a:t>
            </a:r>
          </a:p>
          <a:p>
            <a:endParaRPr lang="en-US" dirty="0">
              <a:solidFill>
                <a:schemeClr val="accent2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3" cstate="print"/>
          <a:srcRect l="27161" t="22298" r="2368" b="15193"/>
          <a:stretch/>
        </p:blipFill>
        <p:spPr>
          <a:xfrm>
            <a:off x="1905001" y="457201"/>
            <a:ext cx="8614061" cy="5363493"/>
          </a:xfrm>
          <a:ln/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7086601" y="1066801"/>
            <a:ext cx="2846763" cy="248510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2362200" y="5257800"/>
            <a:ext cx="7589520" cy="822960"/>
          </a:xfrm>
        </p:spPr>
        <p:txBody>
          <a:bodyPr/>
          <a:lstStyle/>
          <a:p>
            <a:r>
              <a:rPr lang="en-US" dirty="0"/>
              <a:t>HYDROGRAPHS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half" idx="2"/>
          </p:nvPr>
        </p:nvSpPr>
        <p:spPr>
          <a:xfrm>
            <a:off x="2362200" y="6263640"/>
            <a:ext cx="7589520" cy="594360"/>
          </a:xfrm>
        </p:spPr>
        <p:txBody>
          <a:bodyPr>
            <a:normAutofit/>
          </a:bodyPr>
          <a:lstStyle/>
          <a:p>
            <a:r>
              <a:rPr lang="en-US" sz="2400" dirty="0"/>
              <a:t>Floods 2013 in </a:t>
            </a:r>
            <a:r>
              <a:rPr lang="en-US" sz="2400" dirty="0" err="1"/>
              <a:t>Sindh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27</a:t>
            </a:fld>
            <a:endParaRPr lang="en-US"/>
          </a:p>
        </p:txBody>
      </p:sp>
      <p:pic>
        <p:nvPicPr>
          <p:cNvPr id="3074" name="Picture 2" descr="C:\Users\master\Downloads\flood map in Pakistan2.jpg"/>
          <p:cNvPicPr>
            <a:picLocks noChangeAspect="1" noChangeArrowheads="1"/>
          </p:cNvPicPr>
          <p:nvPr/>
        </p:nvPicPr>
        <p:blipFill>
          <a:blip r:embed="rId3"/>
          <a:srcRect b="15493"/>
          <a:stretch>
            <a:fillRect/>
          </a:stretch>
        </p:blipFill>
        <p:spPr bwMode="auto">
          <a:xfrm>
            <a:off x="1524000" y="-1"/>
            <a:ext cx="9144000" cy="546804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27039-71DE-4AA5-9A86-9CA42D795FDD}" type="slidenum">
              <a:rPr lang="en-US" smtClean="0"/>
              <a:pPr/>
              <a:t>28</a:t>
            </a:fld>
            <a:endParaRPr lang="en-US"/>
          </a:p>
        </p:txBody>
      </p:sp>
      <p:pic>
        <p:nvPicPr>
          <p:cNvPr id="1026" name="Picture 2" descr="http://www.sida.org.pk/download/flood/2013/30-8-13/GSK300813-1.jpg"/>
          <p:cNvPicPr>
            <a:picLocks noGrp="1" noChangeAspect="1" noChangeArrowheads="1"/>
          </p:cNvPicPr>
          <p:nvPr>
            <p:ph idx="429496729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9200" y="57530"/>
            <a:ext cx="9290860" cy="6374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38185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Rectangle 2054">
            <a:extLst>
              <a:ext uri="{FF2B5EF4-FFF2-40B4-BE49-F238E27FC236}">
                <a16:creationId xmlns:a16="http://schemas.microsoft.com/office/drawing/2014/main" id="{AE1AF813-2D2F-4B78-9216-388AF161E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K"/>
          </a:p>
        </p:txBody>
      </p:sp>
      <p:sp>
        <p:nvSpPr>
          <p:cNvPr id="2057" name="Rectangle 2056">
            <a:extLst>
              <a:ext uri="{FF2B5EF4-FFF2-40B4-BE49-F238E27FC236}">
                <a16:creationId xmlns:a16="http://schemas.microsoft.com/office/drawing/2014/main" id="{C47181D2-95D5-4439-9BDF-14D4FDC7BD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K"/>
          </a:p>
        </p:txBody>
      </p:sp>
      <p:pic>
        <p:nvPicPr>
          <p:cNvPr id="2050" name="Picture 2" descr="http://www.sida.org.pk/download/flood/2013/30-8-13/GSK300813-2.jpg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0" b="3767"/>
          <a:stretch>
            <a:fillRect/>
          </a:stretch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457200">
              <a:spcAft>
                <a:spcPts val="600"/>
              </a:spcAft>
            </a:pPr>
            <a:fld id="{F1927039-71DE-4AA5-9A86-9CA42D795FDD}" type="slidenum">
              <a:rPr lang="en-US" smtClean="0"/>
              <a:pPr defTabSz="457200">
                <a:spcAft>
                  <a:spcPts val="600"/>
                </a:spcAft>
              </a:pPr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4033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9" name="Rectangle 3078">
            <a:extLst>
              <a:ext uri="{FF2B5EF4-FFF2-40B4-BE49-F238E27FC236}">
                <a16:creationId xmlns:a16="http://schemas.microsoft.com/office/drawing/2014/main" id="{AE1AF813-2D2F-4B78-9216-388AF161E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K"/>
          </a:p>
        </p:txBody>
      </p:sp>
      <p:sp>
        <p:nvSpPr>
          <p:cNvPr id="3081" name="Rectangle 3080">
            <a:extLst>
              <a:ext uri="{FF2B5EF4-FFF2-40B4-BE49-F238E27FC236}">
                <a16:creationId xmlns:a16="http://schemas.microsoft.com/office/drawing/2014/main" id="{C47181D2-95D5-4439-9BDF-14D4FDC7BD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K"/>
          </a:p>
        </p:txBody>
      </p:sp>
      <p:pic>
        <p:nvPicPr>
          <p:cNvPr id="3074" name="Picture 2" descr="http://www.sida.org.pk/download/flood/2013/30-8-13/GSK300813-4.jpg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7"/>
          <a:stretch>
            <a:fillRect/>
          </a:stretch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457200">
              <a:spcAft>
                <a:spcPts val="600"/>
              </a:spcAft>
            </a:pPr>
            <a:fld id="{F1927039-71DE-4AA5-9A86-9CA42D795FDD}" type="slidenum">
              <a:rPr lang="en-US" smtClean="0"/>
              <a:pPr defTabSz="457200">
                <a:spcAft>
                  <a:spcPts val="600"/>
                </a:spcAft>
              </a:pPr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6956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3" name="Rectangle 4102">
            <a:extLst>
              <a:ext uri="{FF2B5EF4-FFF2-40B4-BE49-F238E27FC236}">
                <a16:creationId xmlns:a16="http://schemas.microsoft.com/office/drawing/2014/main" id="{AE1AF813-2D2F-4B78-9216-388AF161E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K"/>
          </a:p>
        </p:txBody>
      </p:sp>
      <p:sp>
        <p:nvSpPr>
          <p:cNvPr id="4105" name="Rectangle 4104">
            <a:extLst>
              <a:ext uri="{FF2B5EF4-FFF2-40B4-BE49-F238E27FC236}">
                <a16:creationId xmlns:a16="http://schemas.microsoft.com/office/drawing/2014/main" id="{C47181D2-95D5-4439-9BDF-14D4FDC7BD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K"/>
          </a:p>
        </p:txBody>
      </p:sp>
      <p:pic>
        <p:nvPicPr>
          <p:cNvPr id="4098" name="Picture 2" descr="http://www.sida.org.pk/download/flood/2013/30-8-13/GSK300813-6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025"/>
          <a:stretch>
            <a:fillRect/>
          </a:stretch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457200">
              <a:spcAft>
                <a:spcPts val="600"/>
              </a:spcAft>
            </a:pPr>
            <a:fld id="{F1927039-71DE-4AA5-9A86-9CA42D795FDD}" type="slidenum">
              <a:rPr lang="en-US" smtClean="0"/>
              <a:pPr defTabSz="457200">
                <a:spcAft>
                  <a:spcPts val="600"/>
                </a:spcAft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90337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B4AE051-09DA-4586-8D76-F23E7D69429E}">
  <we:reference id="wa200010725" version="1.0.0.1" store="en-001" storeType="OMEX"/>
  <we:alternateReferences>
    <we:reference id="wa200010725" version="1.0.0.1" store="WA200010725" storeType="OMEX"/>
  </we:alternateReferences>
  <we:properties>
    <we:property name="claude.fileId" value="&quot;180744e0-5fe7-42f8-974e-be942ff98cd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9148</TotalTime>
  <Words>1813</Words>
  <Application>Microsoft Office PowerPoint</Application>
  <PresentationFormat>Widescreen</PresentationFormat>
  <Paragraphs>218</Paragraphs>
  <Slides>31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Arial</vt:lpstr>
      <vt:lpstr>Calibri</vt:lpstr>
      <vt:lpstr>Calibri Light</vt:lpstr>
      <vt:lpstr>Google Sans</vt:lpstr>
      <vt:lpstr>Wingdings</vt:lpstr>
      <vt:lpstr>Retrospect</vt:lpstr>
      <vt:lpstr> Runoff models</vt:lpstr>
      <vt:lpstr>Runoff models</vt:lpstr>
      <vt:lpstr>Peak runoff models</vt:lpstr>
      <vt:lpstr>Rational Method</vt:lpstr>
      <vt:lpstr>Rational Method: Assumptions</vt:lpstr>
      <vt:lpstr>Rational method: formula</vt:lpstr>
      <vt:lpstr>PowerPoint Presentation</vt:lpstr>
      <vt:lpstr>Key Details of Table 7-9</vt:lpstr>
      <vt:lpstr>Runoff coefficient for nonhomogeneous area</vt:lpstr>
      <vt:lpstr> </vt:lpstr>
      <vt:lpstr>NRCS Curve number</vt:lpstr>
      <vt:lpstr>NRCS Rainfall-Runoff Equation</vt:lpstr>
      <vt:lpstr>potential maximum retention (S)</vt:lpstr>
      <vt:lpstr>NRCS Runoff equations</vt:lpstr>
      <vt:lpstr>PowerPoint Presentation</vt:lpstr>
      <vt:lpstr>Curve Number CN</vt:lpstr>
      <vt:lpstr>Hydrologic Soil Groups</vt:lpstr>
      <vt:lpstr>Antecedent soil moisture conditions-AMC</vt:lpstr>
      <vt:lpstr>CNs </vt:lpstr>
      <vt:lpstr>PowerPoint Presentation</vt:lpstr>
      <vt:lpstr>Composite Curve Number</vt:lpstr>
      <vt:lpstr>Example</vt:lpstr>
      <vt:lpstr>PowerPoint Presentation</vt:lpstr>
      <vt:lpstr>Continuous Runoff Models</vt:lpstr>
      <vt:lpstr>Time Area Method</vt:lpstr>
      <vt:lpstr>PowerPoint Presentation</vt:lpstr>
      <vt:lpstr>HYDROGRAPHS</vt:lpstr>
      <vt:lpstr>PowerPoint Presentation</vt:lpstr>
      <vt:lpstr>PowerPoint Presentation</vt:lpstr>
      <vt:lpstr>PowerPoint Presentation</vt:lpstr>
      <vt:lpstr>PowerPoint Presentation</vt:lpstr>
    </vt:vector>
  </TitlesOfParts>
  <Company>Suparco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Watershed Management Hydrograph, Unit Hydrograph Theory</dc:title>
  <dc:creator>Zaidi</dc:creator>
  <cp:lastModifiedBy>Arjumand Zaidi</cp:lastModifiedBy>
  <cp:revision>607</cp:revision>
  <dcterms:created xsi:type="dcterms:W3CDTF">2010-11-25T06:24:43Z</dcterms:created>
  <dcterms:modified xsi:type="dcterms:W3CDTF">2026-10-13T05:41:19Z</dcterms:modified>
</cp:coreProperties>
</file>