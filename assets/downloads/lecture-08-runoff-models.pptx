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64"/>
  </p:notesMasterIdLst>
  <p:sldIdLst>
    <p:sldId id="256" r:id="rId2"/>
    <p:sldId id="353" r:id="rId3"/>
    <p:sldId id="354" r:id="rId4"/>
    <p:sldId id="322" r:id="rId5"/>
    <p:sldId id="323" r:id="rId6"/>
    <p:sldId id="351" r:id="rId7"/>
    <p:sldId id="352" r:id="rId8"/>
    <p:sldId id="275" r:id="rId9"/>
    <p:sldId id="303" r:id="rId10"/>
    <p:sldId id="336" r:id="rId11"/>
    <p:sldId id="330" r:id="rId12"/>
    <p:sldId id="279" r:id="rId13"/>
    <p:sldId id="262" r:id="rId14"/>
    <p:sldId id="300" r:id="rId15"/>
    <p:sldId id="264" r:id="rId16"/>
    <p:sldId id="339" r:id="rId17"/>
    <p:sldId id="325" r:id="rId18"/>
    <p:sldId id="326" r:id="rId19"/>
    <p:sldId id="327" r:id="rId20"/>
    <p:sldId id="328" r:id="rId21"/>
    <p:sldId id="266" r:id="rId22"/>
    <p:sldId id="332" r:id="rId23"/>
    <p:sldId id="333" r:id="rId24"/>
    <p:sldId id="282" r:id="rId25"/>
    <p:sldId id="263" r:id="rId26"/>
    <p:sldId id="334" r:id="rId27"/>
    <p:sldId id="308" r:id="rId28"/>
    <p:sldId id="355" r:id="rId29"/>
    <p:sldId id="273" r:id="rId30"/>
    <p:sldId id="356" r:id="rId31"/>
    <p:sldId id="274" r:id="rId32"/>
    <p:sldId id="276" r:id="rId33"/>
    <p:sldId id="277" r:id="rId34"/>
    <p:sldId id="278" r:id="rId35"/>
    <p:sldId id="343" r:id="rId36"/>
    <p:sldId id="350" r:id="rId37"/>
    <p:sldId id="283" r:id="rId38"/>
    <p:sldId id="357" r:id="rId39"/>
    <p:sldId id="280" r:id="rId40"/>
    <p:sldId id="301" r:id="rId41"/>
    <p:sldId id="296" r:id="rId42"/>
    <p:sldId id="297" r:id="rId43"/>
    <p:sldId id="302" r:id="rId44"/>
    <p:sldId id="304" r:id="rId45"/>
    <p:sldId id="310" r:id="rId46"/>
    <p:sldId id="298" r:id="rId47"/>
    <p:sldId id="314" r:id="rId48"/>
    <p:sldId id="320" r:id="rId49"/>
    <p:sldId id="309" r:id="rId50"/>
    <p:sldId id="349" r:id="rId51"/>
    <p:sldId id="305" r:id="rId52"/>
    <p:sldId id="306" r:id="rId53"/>
    <p:sldId id="358" r:id="rId54"/>
    <p:sldId id="272" r:id="rId55"/>
    <p:sldId id="257" r:id="rId56"/>
    <p:sldId id="258" r:id="rId57"/>
    <p:sldId id="359" r:id="rId58"/>
    <p:sldId id="360" r:id="rId59"/>
    <p:sldId id="361" r:id="rId60"/>
    <p:sldId id="362" r:id="rId61"/>
    <p:sldId id="363" r:id="rId62"/>
    <p:sldId id="364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7D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3797" autoAdjust="0"/>
  </p:normalViewPr>
  <p:slideViewPr>
    <p:cSldViewPr>
      <p:cViewPr varScale="1">
        <p:scale>
          <a:sx n="89" d="100"/>
          <a:sy n="89" d="100"/>
        </p:scale>
        <p:origin x="552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823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328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A1BC4D-7C40-4B04-89EE-51C013C0A4F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094DFE-59DD-4FBA-B5BC-903D3A326306}">
      <dgm:prSet/>
      <dgm:spPr/>
      <dgm:t>
        <a:bodyPr/>
        <a:lstStyle/>
        <a:p>
          <a:r>
            <a:rPr lang="en-US" b="1"/>
            <a:t>Rational Method</a:t>
          </a:r>
          <a:endParaRPr lang="en-US"/>
        </a:p>
      </dgm:t>
    </dgm:pt>
    <dgm:pt modelId="{9991D11C-71E2-4D27-9010-82C95DB325A7}" type="parTrans" cxnId="{67F476E1-71D5-4E66-92CC-77BB191EDB7C}">
      <dgm:prSet/>
      <dgm:spPr/>
      <dgm:t>
        <a:bodyPr/>
        <a:lstStyle/>
        <a:p>
          <a:endParaRPr lang="en-US"/>
        </a:p>
      </dgm:t>
    </dgm:pt>
    <dgm:pt modelId="{DF451A63-B8DE-4D6B-BF6A-4C1C479E0E97}" type="sibTrans" cxnId="{67F476E1-71D5-4E66-92CC-77BB191EDB7C}">
      <dgm:prSet/>
      <dgm:spPr/>
      <dgm:t>
        <a:bodyPr/>
        <a:lstStyle/>
        <a:p>
          <a:endParaRPr lang="en-US"/>
        </a:p>
      </dgm:t>
    </dgm:pt>
    <dgm:pt modelId="{D2217338-A953-4E1C-8F73-9A584B157A9C}">
      <dgm:prSet/>
      <dgm:spPr/>
      <dgm:t>
        <a:bodyPr/>
        <a:lstStyle/>
        <a:p>
          <a:r>
            <a:rPr lang="en-US" b="1"/>
            <a:t>NRCS Method</a:t>
          </a:r>
          <a:endParaRPr lang="en-US"/>
        </a:p>
      </dgm:t>
    </dgm:pt>
    <dgm:pt modelId="{11999CC0-0341-4DCA-89A5-687D9871B2AB}" type="parTrans" cxnId="{E0F31686-EF3E-4FB2-85F8-CE7D09B09D59}">
      <dgm:prSet/>
      <dgm:spPr/>
      <dgm:t>
        <a:bodyPr/>
        <a:lstStyle/>
        <a:p>
          <a:endParaRPr lang="en-US"/>
        </a:p>
      </dgm:t>
    </dgm:pt>
    <dgm:pt modelId="{923587D8-FAB7-438F-AB93-E67C6F2B0E16}" type="sibTrans" cxnId="{E0F31686-EF3E-4FB2-85F8-CE7D09B09D59}">
      <dgm:prSet/>
      <dgm:spPr/>
      <dgm:t>
        <a:bodyPr/>
        <a:lstStyle/>
        <a:p>
          <a:endParaRPr lang="en-US"/>
        </a:p>
      </dgm:t>
    </dgm:pt>
    <dgm:pt modelId="{70A46233-9973-4F6D-B818-B194C9ED7495}" type="pres">
      <dgm:prSet presAssocID="{A5A1BC4D-7C40-4B04-89EE-51C013C0A4F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DCE35C-6E19-499B-ABD8-1EDC93150F88}" type="pres">
      <dgm:prSet presAssocID="{83094DFE-59DD-4FBA-B5BC-903D3A326306}" presName="hierRoot1" presStyleCnt="0"/>
      <dgm:spPr/>
    </dgm:pt>
    <dgm:pt modelId="{C1395A07-F51A-4D25-96FA-BF60AD3D3711}" type="pres">
      <dgm:prSet presAssocID="{83094DFE-59DD-4FBA-B5BC-903D3A326306}" presName="composite" presStyleCnt="0"/>
      <dgm:spPr/>
    </dgm:pt>
    <dgm:pt modelId="{CDDF82AD-B792-447F-A29E-396F63DA9B24}" type="pres">
      <dgm:prSet presAssocID="{83094DFE-59DD-4FBA-B5BC-903D3A326306}" presName="background" presStyleLbl="node0" presStyleIdx="0" presStyleCnt="2"/>
      <dgm:spPr/>
    </dgm:pt>
    <dgm:pt modelId="{0BBD1D10-CEFF-4413-8B64-1821A682BA15}" type="pres">
      <dgm:prSet presAssocID="{83094DFE-59DD-4FBA-B5BC-903D3A326306}" presName="text" presStyleLbl="fgAcc0" presStyleIdx="0" presStyleCnt="2">
        <dgm:presLayoutVars>
          <dgm:chPref val="3"/>
        </dgm:presLayoutVars>
      </dgm:prSet>
      <dgm:spPr/>
    </dgm:pt>
    <dgm:pt modelId="{C4AE92F4-E0DD-4CF8-9384-65B8278A6C7C}" type="pres">
      <dgm:prSet presAssocID="{83094DFE-59DD-4FBA-B5BC-903D3A326306}" presName="hierChild2" presStyleCnt="0"/>
      <dgm:spPr/>
    </dgm:pt>
    <dgm:pt modelId="{94C8B7ED-77A9-4E37-9255-A686EDB508FA}" type="pres">
      <dgm:prSet presAssocID="{D2217338-A953-4E1C-8F73-9A584B157A9C}" presName="hierRoot1" presStyleCnt="0"/>
      <dgm:spPr/>
    </dgm:pt>
    <dgm:pt modelId="{ED97EC4C-8C8E-4801-A7A1-3A44CCEC111B}" type="pres">
      <dgm:prSet presAssocID="{D2217338-A953-4E1C-8F73-9A584B157A9C}" presName="composite" presStyleCnt="0"/>
      <dgm:spPr/>
    </dgm:pt>
    <dgm:pt modelId="{817267A5-5458-41E7-B402-5D48E7938DF9}" type="pres">
      <dgm:prSet presAssocID="{D2217338-A953-4E1C-8F73-9A584B157A9C}" presName="background" presStyleLbl="node0" presStyleIdx="1" presStyleCnt="2"/>
      <dgm:spPr/>
    </dgm:pt>
    <dgm:pt modelId="{D42AC1F1-8996-47A2-BB21-AB280EE91C53}" type="pres">
      <dgm:prSet presAssocID="{D2217338-A953-4E1C-8F73-9A584B157A9C}" presName="text" presStyleLbl="fgAcc0" presStyleIdx="1" presStyleCnt="2">
        <dgm:presLayoutVars>
          <dgm:chPref val="3"/>
        </dgm:presLayoutVars>
      </dgm:prSet>
      <dgm:spPr/>
    </dgm:pt>
    <dgm:pt modelId="{6242FC43-2414-4169-83CE-34FA99ABEB3A}" type="pres">
      <dgm:prSet presAssocID="{D2217338-A953-4E1C-8F73-9A584B157A9C}" presName="hierChild2" presStyleCnt="0"/>
      <dgm:spPr/>
    </dgm:pt>
  </dgm:ptLst>
  <dgm:cxnLst>
    <dgm:cxn modelId="{B8EA165A-AA6A-4E86-B85C-FEB8AA1D5D78}" type="presOf" srcId="{83094DFE-59DD-4FBA-B5BC-903D3A326306}" destId="{0BBD1D10-CEFF-4413-8B64-1821A682BA15}" srcOrd="0" destOrd="0" presId="urn:microsoft.com/office/officeart/2005/8/layout/hierarchy1"/>
    <dgm:cxn modelId="{E0F31686-EF3E-4FB2-85F8-CE7D09B09D59}" srcId="{A5A1BC4D-7C40-4B04-89EE-51C013C0A4F0}" destId="{D2217338-A953-4E1C-8F73-9A584B157A9C}" srcOrd="1" destOrd="0" parTransId="{11999CC0-0341-4DCA-89A5-687D9871B2AB}" sibTransId="{923587D8-FAB7-438F-AB93-E67C6F2B0E16}"/>
    <dgm:cxn modelId="{42F7D6AE-1EE9-412A-A5A1-14DEEC8B7B4A}" type="presOf" srcId="{A5A1BC4D-7C40-4B04-89EE-51C013C0A4F0}" destId="{70A46233-9973-4F6D-B818-B194C9ED7495}" srcOrd="0" destOrd="0" presId="urn:microsoft.com/office/officeart/2005/8/layout/hierarchy1"/>
    <dgm:cxn modelId="{67F476E1-71D5-4E66-92CC-77BB191EDB7C}" srcId="{A5A1BC4D-7C40-4B04-89EE-51C013C0A4F0}" destId="{83094DFE-59DD-4FBA-B5BC-903D3A326306}" srcOrd="0" destOrd="0" parTransId="{9991D11C-71E2-4D27-9010-82C95DB325A7}" sibTransId="{DF451A63-B8DE-4D6B-BF6A-4C1C479E0E97}"/>
    <dgm:cxn modelId="{03122EFF-1720-4505-85BA-251C0714BBB0}" type="presOf" srcId="{D2217338-A953-4E1C-8F73-9A584B157A9C}" destId="{D42AC1F1-8996-47A2-BB21-AB280EE91C53}" srcOrd="0" destOrd="0" presId="urn:microsoft.com/office/officeart/2005/8/layout/hierarchy1"/>
    <dgm:cxn modelId="{6753070E-7FB5-406E-A61A-BD39DA4EF6D6}" type="presParOf" srcId="{70A46233-9973-4F6D-B818-B194C9ED7495}" destId="{9BDCE35C-6E19-499B-ABD8-1EDC93150F88}" srcOrd="0" destOrd="0" presId="urn:microsoft.com/office/officeart/2005/8/layout/hierarchy1"/>
    <dgm:cxn modelId="{AC924396-4375-44D4-9DF7-FFBC6D56141F}" type="presParOf" srcId="{9BDCE35C-6E19-499B-ABD8-1EDC93150F88}" destId="{C1395A07-F51A-4D25-96FA-BF60AD3D3711}" srcOrd="0" destOrd="0" presId="urn:microsoft.com/office/officeart/2005/8/layout/hierarchy1"/>
    <dgm:cxn modelId="{99B54918-17B2-4DBD-9C13-415BAC083545}" type="presParOf" srcId="{C1395A07-F51A-4D25-96FA-BF60AD3D3711}" destId="{CDDF82AD-B792-447F-A29E-396F63DA9B24}" srcOrd="0" destOrd="0" presId="urn:microsoft.com/office/officeart/2005/8/layout/hierarchy1"/>
    <dgm:cxn modelId="{B536392E-E2E8-42B0-ABAB-922A6965BCEE}" type="presParOf" srcId="{C1395A07-F51A-4D25-96FA-BF60AD3D3711}" destId="{0BBD1D10-CEFF-4413-8B64-1821A682BA15}" srcOrd="1" destOrd="0" presId="urn:microsoft.com/office/officeart/2005/8/layout/hierarchy1"/>
    <dgm:cxn modelId="{9AADE2B5-1952-4138-804E-471CE0751231}" type="presParOf" srcId="{9BDCE35C-6E19-499B-ABD8-1EDC93150F88}" destId="{C4AE92F4-E0DD-4CF8-9384-65B8278A6C7C}" srcOrd="1" destOrd="0" presId="urn:microsoft.com/office/officeart/2005/8/layout/hierarchy1"/>
    <dgm:cxn modelId="{49514099-6401-49A9-9155-472FDEF01E79}" type="presParOf" srcId="{70A46233-9973-4F6D-B818-B194C9ED7495}" destId="{94C8B7ED-77A9-4E37-9255-A686EDB508FA}" srcOrd="1" destOrd="0" presId="urn:microsoft.com/office/officeart/2005/8/layout/hierarchy1"/>
    <dgm:cxn modelId="{0F9AD4F4-5896-44FE-A3E9-CE312DCF81C8}" type="presParOf" srcId="{94C8B7ED-77A9-4E37-9255-A686EDB508FA}" destId="{ED97EC4C-8C8E-4801-A7A1-3A44CCEC111B}" srcOrd="0" destOrd="0" presId="urn:microsoft.com/office/officeart/2005/8/layout/hierarchy1"/>
    <dgm:cxn modelId="{A48452CB-E00E-4183-AC9F-D4B83E6B4BDB}" type="presParOf" srcId="{ED97EC4C-8C8E-4801-A7A1-3A44CCEC111B}" destId="{817267A5-5458-41E7-B402-5D48E7938DF9}" srcOrd="0" destOrd="0" presId="urn:microsoft.com/office/officeart/2005/8/layout/hierarchy1"/>
    <dgm:cxn modelId="{2A543B5B-7CD3-45E4-A612-61770C24DD7D}" type="presParOf" srcId="{ED97EC4C-8C8E-4801-A7A1-3A44CCEC111B}" destId="{D42AC1F1-8996-47A2-BB21-AB280EE91C53}" srcOrd="1" destOrd="0" presId="urn:microsoft.com/office/officeart/2005/8/layout/hierarchy1"/>
    <dgm:cxn modelId="{31D37537-670D-4C1F-ADE6-8782572A2F71}" type="presParOf" srcId="{94C8B7ED-77A9-4E37-9255-A686EDB508FA}" destId="{6242FC43-2414-4169-83CE-34FA99ABEB3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7F8803-6831-454B-945D-A7CE425078E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C1DB65E-DB0B-4ED3-90BA-61C2942F64A4}">
      <dgm:prSet/>
      <dgm:spPr/>
      <dgm:t>
        <a:bodyPr/>
        <a:lstStyle/>
        <a:p>
          <a:r>
            <a:rPr lang="en-US"/>
            <a:t>To calculate peak runoff from small watersheds</a:t>
          </a:r>
        </a:p>
      </dgm:t>
    </dgm:pt>
    <dgm:pt modelId="{9A590FD5-C976-4251-9104-F71A464E1103}" type="parTrans" cxnId="{880EE106-89C1-411F-B15C-697CD0C1C0A7}">
      <dgm:prSet/>
      <dgm:spPr/>
      <dgm:t>
        <a:bodyPr/>
        <a:lstStyle/>
        <a:p>
          <a:endParaRPr lang="en-US"/>
        </a:p>
      </dgm:t>
    </dgm:pt>
    <dgm:pt modelId="{88D4062F-ABE2-456F-8D06-335E8F1A561A}" type="sibTrans" cxnId="{880EE106-89C1-411F-B15C-697CD0C1C0A7}">
      <dgm:prSet/>
      <dgm:spPr/>
      <dgm:t>
        <a:bodyPr/>
        <a:lstStyle/>
        <a:p>
          <a:endParaRPr lang="en-US"/>
        </a:p>
      </dgm:t>
    </dgm:pt>
    <dgm:pt modelId="{FF4702BB-2174-443E-AF96-11C92FC1EFD3}">
      <dgm:prSet/>
      <dgm:spPr/>
      <dgm:t>
        <a:bodyPr/>
        <a:lstStyle/>
        <a:p>
          <a:r>
            <a:rPr lang="en-US"/>
            <a:t>Provides peak runoff rate from a catchment given:</a:t>
          </a:r>
        </a:p>
      </dgm:t>
    </dgm:pt>
    <dgm:pt modelId="{B8A9C055-300B-498D-A3ED-1D92308C0EB0}" type="parTrans" cxnId="{F485B315-8EAC-49E0-B13B-70D40D9404E9}">
      <dgm:prSet/>
      <dgm:spPr/>
      <dgm:t>
        <a:bodyPr/>
        <a:lstStyle/>
        <a:p>
          <a:endParaRPr lang="en-US"/>
        </a:p>
      </dgm:t>
    </dgm:pt>
    <dgm:pt modelId="{EFD5E0E8-00C1-4604-979B-98EE9C84F1B2}" type="sibTrans" cxnId="{F485B315-8EAC-49E0-B13B-70D40D9404E9}">
      <dgm:prSet/>
      <dgm:spPr/>
      <dgm:t>
        <a:bodyPr/>
        <a:lstStyle/>
        <a:p>
          <a:endParaRPr lang="en-US"/>
        </a:p>
      </dgm:t>
    </dgm:pt>
    <dgm:pt modelId="{E1841509-AF6F-4A79-B056-4312AF748B13}">
      <dgm:prSet/>
      <dgm:spPr/>
      <dgm:t>
        <a:bodyPr/>
        <a:lstStyle/>
        <a:p>
          <a:r>
            <a:rPr lang="en-US"/>
            <a:t>the runoff coefficient C, </a:t>
          </a:r>
        </a:p>
      </dgm:t>
    </dgm:pt>
    <dgm:pt modelId="{B1134991-9D39-4650-89BB-0F55B316047A}" type="parTrans" cxnId="{0E58CCED-D209-444E-B7EC-2F26366B54E2}">
      <dgm:prSet/>
      <dgm:spPr/>
      <dgm:t>
        <a:bodyPr/>
        <a:lstStyle/>
        <a:p>
          <a:endParaRPr lang="en-US"/>
        </a:p>
      </dgm:t>
    </dgm:pt>
    <dgm:pt modelId="{EF32F840-C1EB-4ADB-A69B-98F6103C1CB3}" type="sibTrans" cxnId="{0E58CCED-D209-444E-B7EC-2F26366B54E2}">
      <dgm:prSet/>
      <dgm:spPr/>
      <dgm:t>
        <a:bodyPr/>
        <a:lstStyle/>
        <a:p>
          <a:endParaRPr lang="en-US"/>
        </a:p>
      </dgm:t>
    </dgm:pt>
    <dgm:pt modelId="{AC63EC29-F717-4DFF-BCA9-6542FC42F91C}">
      <dgm:prSet/>
      <dgm:spPr/>
      <dgm:t>
        <a:bodyPr/>
        <a:lstStyle/>
        <a:p>
          <a:r>
            <a:rPr lang="en-US"/>
            <a:t>the time of concentration T</a:t>
          </a:r>
          <a:r>
            <a:rPr lang="en-US" baseline="-25000"/>
            <a:t>c</a:t>
          </a:r>
          <a:r>
            <a:rPr lang="en-US"/>
            <a:t>, </a:t>
          </a:r>
        </a:p>
      </dgm:t>
    </dgm:pt>
    <dgm:pt modelId="{810A0B38-DA5F-467A-A376-073214EA287D}" type="parTrans" cxnId="{9DFC912F-59E5-461A-A1FB-7127DD6562A0}">
      <dgm:prSet/>
      <dgm:spPr/>
      <dgm:t>
        <a:bodyPr/>
        <a:lstStyle/>
        <a:p>
          <a:endParaRPr lang="en-US"/>
        </a:p>
      </dgm:t>
    </dgm:pt>
    <dgm:pt modelId="{DC68FDC0-D998-41D9-AAB1-8ED657AD29FD}" type="sibTrans" cxnId="{9DFC912F-59E5-461A-A1FB-7127DD6562A0}">
      <dgm:prSet/>
      <dgm:spPr/>
      <dgm:t>
        <a:bodyPr/>
        <a:lstStyle/>
        <a:p>
          <a:endParaRPr lang="en-US"/>
        </a:p>
      </dgm:t>
    </dgm:pt>
    <dgm:pt modelId="{7D0EA878-4BE8-46BF-909F-92791B21602C}">
      <dgm:prSet/>
      <dgm:spPr/>
      <dgm:t>
        <a:bodyPr/>
        <a:lstStyle/>
        <a:p>
          <a:r>
            <a:rPr lang="en-US"/>
            <a:t>the area of the catchment, and </a:t>
          </a:r>
        </a:p>
      </dgm:t>
    </dgm:pt>
    <dgm:pt modelId="{665FCB35-B016-42D8-BACF-7435AE14BD04}" type="parTrans" cxnId="{BF42F2C7-0431-438A-87D3-FC7879273330}">
      <dgm:prSet/>
      <dgm:spPr/>
      <dgm:t>
        <a:bodyPr/>
        <a:lstStyle/>
        <a:p>
          <a:endParaRPr lang="en-US"/>
        </a:p>
      </dgm:t>
    </dgm:pt>
    <dgm:pt modelId="{D2B4BFD6-78D4-4F8D-A552-8398DE34A296}" type="sibTrans" cxnId="{BF42F2C7-0431-438A-87D3-FC7879273330}">
      <dgm:prSet/>
      <dgm:spPr/>
      <dgm:t>
        <a:bodyPr/>
        <a:lstStyle/>
        <a:p>
          <a:endParaRPr lang="en-US"/>
        </a:p>
      </dgm:t>
    </dgm:pt>
    <dgm:pt modelId="{18F708C0-A2B0-4A6C-9191-397D0FC46973}">
      <dgm:prSet/>
      <dgm:spPr/>
      <dgm:t>
        <a:bodyPr/>
        <a:lstStyle/>
        <a:p>
          <a:r>
            <a:rPr lang="en-US"/>
            <a:t>the information to calculate the input or design storm or rainfall event</a:t>
          </a:r>
        </a:p>
      </dgm:t>
    </dgm:pt>
    <dgm:pt modelId="{4CA1EC9E-6A80-4E4D-B6A5-F3A28D0B59B1}" type="parTrans" cxnId="{0BB6767E-E3EA-4275-B0EB-45B919272C6F}">
      <dgm:prSet/>
      <dgm:spPr/>
      <dgm:t>
        <a:bodyPr/>
        <a:lstStyle/>
        <a:p>
          <a:endParaRPr lang="en-US"/>
        </a:p>
      </dgm:t>
    </dgm:pt>
    <dgm:pt modelId="{19EA6400-073F-45F0-A035-3751E1093054}" type="sibTrans" cxnId="{0BB6767E-E3EA-4275-B0EB-45B919272C6F}">
      <dgm:prSet/>
      <dgm:spPr/>
      <dgm:t>
        <a:bodyPr/>
        <a:lstStyle/>
        <a:p>
          <a:endParaRPr lang="en-US"/>
        </a:p>
      </dgm:t>
    </dgm:pt>
    <dgm:pt modelId="{0886EE6E-7357-419B-AA33-ACF2A5434BD6}" type="pres">
      <dgm:prSet presAssocID="{4B7F8803-6831-454B-945D-A7CE425078EC}" presName="linear" presStyleCnt="0">
        <dgm:presLayoutVars>
          <dgm:dir/>
          <dgm:animLvl val="lvl"/>
          <dgm:resizeHandles val="exact"/>
        </dgm:presLayoutVars>
      </dgm:prSet>
      <dgm:spPr/>
    </dgm:pt>
    <dgm:pt modelId="{E1602F5F-76C7-44C0-BE40-48A919E3DC16}" type="pres">
      <dgm:prSet presAssocID="{9C1DB65E-DB0B-4ED3-90BA-61C2942F64A4}" presName="parentLin" presStyleCnt="0"/>
      <dgm:spPr/>
    </dgm:pt>
    <dgm:pt modelId="{02BC44AD-702A-4E50-8679-9C6BC1A0BA66}" type="pres">
      <dgm:prSet presAssocID="{9C1DB65E-DB0B-4ED3-90BA-61C2942F64A4}" presName="parentLeftMargin" presStyleLbl="node1" presStyleIdx="0" presStyleCnt="2"/>
      <dgm:spPr/>
    </dgm:pt>
    <dgm:pt modelId="{E2CF72FF-A365-4C4B-B2FA-761212FB9BA9}" type="pres">
      <dgm:prSet presAssocID="{9C1DB65E-DB0B-4ED3-90BA-61C2942F64A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C3DF66D-3C33-416A-AE69-8C73ED063121}" type="pres">
      <dgm:prSet presAssocID="{9C1DB65E-DB0B-4ED3-90BA-61C2942F64A4}" presName="negativeSpace" presStyleCnt="0"/>
      <dgm:spPr/>
    </dgm:pt>
    <dgm:pt modelId="{C11EF2C6-7FE7-4BB3-8E4A-CB47D4508C96}" type="pres">
      <dgm:prSet presAssocID="{9C1DB65E-DB0B-4ED3-90BA-61C2942F64A4}" presName="childText" presStyleLbl="conFgAcc1" presStyleIdx="0" presStyleCnt="2">
        <dgm:presLayoutVars>
          <dgm:bulletEnabled val="1"/>
        </dgm:presLayoutVars>
      </dgm:prSet>
      <dgm:spPr/>
    </dgm:pt>
    <dgm:pt modelId="{76ADC8D3-703A-4866-AD2E-7F75F24C88C7}" type="pres">
      <dgm:prSet presAssocID="{88D4062F-ABE2-456F-8D06-335E8F1A561A}" presName="spaceBetweenRectangles" presStyleCnt="0"/>
      <dgm:spPr/>
    </dgm:pt>
    <dgm:pt modelId="{B4858BBC-951C-4A81-9096-A586E75E779F}" type="pres">
      <dgm:prSet presAssocID="{FF4702BB-2174-443E-AF96-11C92FC1EFD3}" presName="parentLin" presStyleCnt="0"/>
      <dgm:spPr/>
    </dgm:pt>
    <dgm:pt modelId="{A6935FD1-9AE6-457D-8DE9-B2EAA8D8B6BF}" type="pres">
      <dgm:prSet presAssocID="{FF4702BB-2174-443E-AF96-11C92FC1EFD3}" presName="parentLeftMargin" presStyleLbl="node1" presStyleIdx="0" presStyleCnt="2"/>
      <dgm:spPr/>
    </dgm:pt>
    <dgm:pt modelId="{CBCFCE08-646B-4493-B159-8E38399CBCA9}" type="pres">
      <dgm:prSet presAssocID="{FF4702BB-2174-443E-AF96-11C92FC1EFD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F9CBF59-B8B2-459A-9180-886143C9F41A}" type="pres">
      <dgm:prSet presAssocID="{FF4702BB-2174-443E-AF96-11C92FC1EFD3}" presName="negativeSpace" presStyleCnt="0"/>
      <dgm:spPr/>
    </dgm:pt>
    <dgm:pt modelId="{CE226E2F-766B-4A35-819C-DC0D6D96237D}" type="pres">
      <dgm:prSet presAssocID="{FF4702BB-2174-443E-AF96-11C92FC1EFD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9082604-DC41-4B27-BF3E-136EC76350B0}" type="presOf" srcId="{9C1DB65E-DB0B-4ED3-90BA-61C2942F64A4}" destId="{E2CF72FF-A365-4C4B-B2FA-761212FB9BA9}" srcOrd="1" destOrd="0" presId="urn:microsoft.com/office/officeart/2005/8/layout/list1"/>
    <dgm:cxn modelId="{880EE106-89C1-411F-B15C-697CD0C1C0A7}" srcId="{4B7F8803-6831-454B-945D-A7CE425078EC}" destId="{9C1DB65E-DB0B-4ED3-90BA-61C2942F64A4}" srcOrd="0" destOrd="0" parTransId="{9A590FD5-C976-4251-9104-F71A464E1103}" sibTransId="{88D4062F-ABE2-456F-8D06-335E8F1A561A}"/>
    <dgm:cxn modelId="{04302E09-7131-45EE-9B46-D76F843AF713}" type="presOf" srcId="{FF4702BB-2174-443E-AF96-11C92FC1EFD3}" destId="{CBCFCE08-646B-4493-B159-8E38399CBCA9}" srcOrd="1" destOrd="0" presId="urn:microsoft.com/office/officeart/2005/8/layout/list1"/>
    <dgm:cxn modelId="{F485B315-8EAC-49E0-B13B-70D40D9404E9}" srcId="{4B7F8803-6831-454B-945D-A7CE425078EC}" destId="{FF4702BB-2174-443E-AF96-11C92FC1EFD3}" srcOrd="1" destOrd="0" parTransId="{B8A9C055-300B-498D-A3ED-1D92308C0EB0}" sibTransId="{EFD5E0E8-00C1-4604-979B-98EE9C84F1B2}"/>
    <dgm:cxn modelId="{2C1EEF15-325A-4752-8025-D41C730A93CC}" type="presOf" srcId="{E1841509-AF6F-4A79-B056-4312AF748B13}" destId="{CE226E2F-766B-4A35-819C-DC0D6D96237D}" srcOrd="0" destOrd="0" presId="urn:microsoft.com/office/officeart/2005/8/layout/list1"/>
    <dgm:cxn modelId="{11021E17-49D0-44C2-A6DB-07BC1C094CA0}" type="presOf" srcId="{7D0EA878-4BE8-46BF-909F-92791B21602C}" destId="{CE226E2F-766B-4A35-819C-DC0D6D96237D}" srcOrd="0" destOrd="2" presId="urn:microsoft.com/office/officeart/2005/8/layout/list1"/>
    <dgm:cxn modelId="{50EC201E-5DA3-4291-BD3A-1AA06E6894E9}" type="presOf" srcId="{AC63EC29-F717-4DFF-BCA9-6542FC42F91C}" destId="{CE226E2F-766B-4A35-819C-DC0D6D96237D}" srcOrd="0" destOrd="1" presId="urn:microsoft.com/office/officeart/2005/8/layout/list1"/>
    <dgm:cxn modelId="{9DFC912F-59E5-461A-A1FB-7127DD6562A0}" srcId="{FF4702BB-2174-443E-AF96-11C92FC1EFD3}" destId="{AC63EC29-F717-4DFF-BCA9-6542FC42F91C}" srcOrd="1" destOrd="0" parTransId="{810A0B38-DA5F-467A-A376-073214EA287D}" sibTransId="{DC68FDC0-D998-41D9-AAB1-8ED657AD29FD}"/>
    <dgm:cxn modelId="{FEC3733D-B3E4-4D38-9EB3-CA66B76E3940}" type="presOf" srcId="{4B7F8803-6831-454B-945D-A7CE425078EC}" destId="{0886EE6E-7357-419B-AA33-ACF2A5434BD6}" srcOrd="0" destOrd="0" presId="urn:microsoft.com/office/officeart/2005/8/layout/list1"/>
    <dgm:cxn modelId="{DA4B1764-7DB5-4D2D-8770-6650C9D94CAE}" type="presOf" srcId="{FF4702BB-2174-443E-AF96-11C92FC1EFD3}" destId="{A6935FD1-9AE6-457D-8DE9-B2EAA8D8B6BF}" srcOrd="0" destOrd="0" presId="urn:microsoft.com/office/officeart/2005/8/layout/list1"/>
    <dgm:cxn modelId="{721D5647-FE46-4A5B-B2DE-153F85B97E14}" type="presOf" srcId="{18F708C0-A2B0-4A6C-9191-397D0FC46973}" destId="{CE226E2F-766B-4A35-819C-DC0D6D96237D}" srcOrd="0" destOrd="3" presId="urn:microsoft.com/office/officeart/2005/8/layout/list1"/>
    <dgm:cxn modelId="{0BB6767E-E3EA-4275-B0EB-45B919272C6F}" srcId="{FF4702BB-2174-443E-AF96-11C92FC1EFD3}" destId="{18F708C0-A2B0-4A6C-9191-397D0FC46973}" srcOrd="3" destOrd="0" parTransId="{4CA1EC9E-6A80-4E4D-B6A5-F3A28D0B59B1}" sibTransId="{19EA6400-073F-45F0-A035-3751E1093054}"/>
    <dgm:cxn modelId="{A19857B9-D676-4E20-898B-EF3D223EA9A8}" type="presOf" srcId="{9C1DB65E-DB0B-4ED3-90BA-61C2942F64A4}" destId="{02BC44AD-702A-4E50-8679-9C6BC1A0BA66}" srcOrd="0" destOrd="0" presId="urn:microsoft.com/office/officeart/2005/8/layout/list1"/>
    <dgm:cxn modelId="{BF42F2C7-0431-438A-87D3-FC7879273330}" srcId="{FF4702BB-2174-443E-AF96-11C92FC1EFD3}" destId="{7D0EA878-4BE8-46BF-909F-92791B21602C}" srcOrd="2" destOrd="0" parTransId="{665FCB35-B016-42D8-BACF-7435AE14BD04}" sibTransId="{D2B4BFD6-78D4-4F8D-A552-8398DE34A296}"/>
    <dgm:cxn modelId="{0E58CCED-D209-444E-B7EC-2F26366B54E2}" srcId="{FF4702BB-2174-443E-AF96-11C92FC1EFD3}" destId="{E1841509-AF6F-4A79-B056-4312AF748B13}" srcOrd="0" destOrd="0" parTransId="{B1134991-9D39-4650-89BB-0F55B316047A}" sibTransId="{EF32F840-C1EB-4ADB-A69B-98F6103C1CB3}"/>
    <dgm:cxn modelId="{5745DA13-F8E3-4A9C-B5C8-A562DCCF59ED}" type="presParOf" srcId="{0886EE6E-7357-419B-AA33-ACF2A5434BD6}" destId="{E1602F5F-76C7-44C0-BE40-48A919E3DC16}" srcOrd="0" destOrd="0" presId="urn:microsoft.com/office/officeart/2005/8/layout/list1"/>
    <dgm:cxn modelId="{9A4BD7C7-C619-42D3-99B7-4B887F9EAB19}" type="presParOf" srcId="{E1602F5F-76C7-44C0-BE40-48A919E3DC16}" destId="{02BC44AD-702A-4E50-8679-9C6BC1A0BA66}" srcOrd="0" destOrd="0" presId="urn:microsoft.com/office/officeart/2005/8/layout/list1"/>
    <dgm:cxn modelId="{7E4F5BB5-9224-4326-9DAD-E23A9A12C66B}" type="presParOf" srcId="{E1602F5F-76C7-44C0-BE40-48A919E3DC16}" destId="{E2CF72FF-A365-4C4B-B2FA-761212FB9BA9}" srcOrd="1" destOrd="0" presId="urn:microsoft.com/office/officeart/2005/8/layout/list1"/>
    <dgm:cxn modelId="{D183656F-588A-4680-B018-467DB4689B5D}" type="presParOf" srcId="{0886EE6E-7357-419B-AA33-ACF2A5434BD6}" destId="{2C3DF66D-3C33-416A-AE69-8C73ED063121}" srcOrd="1" destOrd="0" presId="urn:microsoft.com/office/officeart/2005/8/layout/list1"/>
    <dgm:cxn modelId="{F498FCA6-5296-4970-859F-123672D717F2}" type="presParOf" srcId="{0886EE6E-7357-419B-AA33-ACF2A5434BD6}" destId="{C11EF2C6-7FE7-4BB3-8E4A-CB47D4508C96}" srcOrd="2" destOrd="0" presId="urn:microsoft.com/office/officeart/2005/8/layout/list1"/>
    <dgm:cxn modelId="{4D55BB0B-530D-4BDF-A4A3-795099D3CACF}" type="presParOf" srcId="{0886EE6E-7357-419B-AA33-ACF2A5434BD6}" destId="{76ADC8D3-703A-4866-AD2E-7F75F24C88C7}" srcOrd="3" destOrd="0" presId="urn:microsoft.com/office/officeart/2005/8/layout/list1"/>
    <dgm:cxn modelId="{C309DDDD-016F-49C0-B081-0C65A11619D8}" type="presParOf" srcId="{0886EE6E-7357-419B-AA33-ACF2A5434BD6}" destId="{B4858BBC-951C-4A81-9096-A586E75E779F}" srcOrd="4" destOrd="0" presId="urn:microsoft.com/office/officeart/2005/8/layout/list1"/>
    <dgm:cxn modelId="{35986FE1-60D8-4032-AEC9-A9428AA8AADD}" type="presParOf" srcId="{B4858BBC-951C-4A81-9096-A586E75E779F}" destId="{A6935FD1-9AE6-457D-8DE9-B2EAA8D8B6BF}" srcOrd="0" destOrd="0" presId="urn:microsoft.com/office/officeart/2005/8/layout/list1"/>
    <dgm:cxn modelId="{8C3373BC-9C7E-445D-8B33-E74437086150}" type="presParOf" srcId="{B4858BBC-951C-4A81-9096-A586E75E779F}" destId="{CBCFCE08-646B-4493-B159-8E38399CBCA9}" srcOrd="1" destOrd="0" presId="urn:microsoft.com/office/officeart/2005/8/layout/list1"/>
    <dgm:cxn modelId="{E0F69D4F-DA6C-4B29-810A-7F436AEC70B2}" type="presParOf" srcId="{0886EE6E-7357-419B-AA33-ACF2A5434BD6}" destId="{AF9CBF59-B8B2-459A-9180-886143C9F41A}" srcOrd="5" destOrd="0" presId="urn:microsoft.com/office/officeart/2005/8/layout/list1"/>
    <dgm:cxn modelId="{A081FE67-06A4-42F1-B155-F31CD5B34D2D}" type="presParOf" srcId="{0886EE6E-7357-419B-AA33-ACF2A5434BD6}" destId="{CE226E2F-766B-4A35-819C-DC0D6D96237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DF82AD-B792-447F-A29E-396F63DA9B24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BD1D10-CEFF-4413-8B64-1821A682BA15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/>
            <a:t>Rational Method</a:t>
          </a:r>
          <a:endParaRPr lang="en-US" sz="6500" kern="1200"/>
        </a:p>
      </dsp:txBody>
      <dsp:txXfrm>
        <a:off x="560236" y="832323"/>
        <a:ext cx="4149382" cy="2576345"/>
      </dsp:txXfrm>
    </dsp:sp>
    <dsp:sp modelId="{817267A5-5458-41E7-B402-5D48E7938DF9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2AC1F1-8996-47A2-BB21-AB280EE91C53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/>
            <a:t>NRCS Method</a:t>
          </a:r>
          <a:endParaRPr lang="en-US" sz="6500" kern="1200"/>
        </a:p>
      </dsp:txBody>
      <dsp:txXfrm>
        <a:off x="5827635" y="832323"/>
        <a:ext cx="4149382" cy="25763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EF2C6-7FE7-4BB3-8E4A-CB47D4508C96}">
      <dsp:nvSpPr>
        <dsp:cNvPr id="0" name=""/>
        <dsp:cNvSpPr/>
      </dsp:nvSpPr>
      <dsp:spPr>
        <a:xfrm>
          <a:off x="0" y="551589"/>
          <a:ext cx="10058399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CF72FF-A365-4C4B-B2FA-761212FB9BA9}">
      <dsp:nvSpPr>
        <dsp:cNvPr id="0" name=""/>
        <dsp:cNvSpPr/>
      </dsp:nvSpPr>
      <dsp:spPr>
        <a:xfrm>
          <a:off x="502920" y="226869"/>
          <a:ext cx="704088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calculate peak runoff from small watersheds</a:t>
          </a:r>
        </a:p>
      </dsp:txBody>
      <dsp:txXfrm>
        <a:off x="534623" y="258572"/>
        <a:ext cx="6977474" cy="586034"/>
      </dsp:txXfrm>
    </dsp:sp>
    <dsp:sp modelId="{CE226E2F-766B-4A35-819C-DC0D6D96237D}">
      <dsp:nvSpPr>
        <dsp:cNvPr id="0" name=""/>
        <dsp:cNvSpPr/>
      </dsp:nvSpPr>
      <dsp:spPr>
        <a:xfrm>
          <a:off x="0" y="1549509"/>
          <a:ext cx="10058399" cy="2009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458216" rIns="780644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the runoff coefficient C,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the time of concentration T</a:t>
          </a:r>
          <a:r>
            <a:rPr lang="en-US" sz="2200" kern="1200" baseline="-25000"/>
            <a:t>c</a:t>
          </a:r>
          <a:r>
            <a:rPr lang="en-US" sz="2200" kern="1200"/>
            <a:t>,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the area of the catchment, and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the information to calculate the input or design storm or rainfall event</a:t>
          </a:r>
        </a:p>
      </dsp:txBody>
      <dsp:txXfrm>
        <a:off x="0" y="1549509"/>
        <a:ext cx="10058399" cy="2009700"/>
      </dsp:txXfrm>
    </dsp:sp>
    <dsp:sp modelId="{CBCFCE08-646B-4493-B159-8E38399CBCA9}">
      <dsp:nvSpPr>
        <dsp:cNvPr id="0" name=""/>
        <dsp:cNvSpPr/>
      </dsp:nvSpPr>
      <dsp:spPr>
        <a:xfrm>
          <a:off x="502920" y="1224790"/>
          <a:ext cx="704088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Provides peak runoff rate from a catchment given:</a:t>
          </a:r>
        </a:p>
      </dsp:txBody>
      <dsp:txXfrm>
        <a:off x="534623" y="1256493"/>
        <a:ext cx="6977474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AC195-5F45-4632-9B9A-646FF1FE29B1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00BE8-E3C3-4EE8-83F1-7C5880FA2C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03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da.org.pk/pages.aspx?id=82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tre.iastate.edu/pubs/stormwater/documents/2C-5NRCSTR-55Methodology.pdf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tre.iastate.edu/pubs/stormwater/documents/2C-5NRCSTR-55Methodology.pdf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njscdea.ncdea.org/CurveNumbers.pdf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chita.gov/Government/Departments/PWU/StandardsStormwater/Volume%202-06,%20Chapter%204.pdf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tre.iastate.edu/pubs/stormwater/documents/2C-5NRCSTR-55Methodology.pdf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tre.iastate.edu/pubs/stormwater/documents/2C-5NRCSTR-55Methodology.pdf" TargetMode="External"/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ribd.com/doc/25083452/time-area-method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969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Source: The McGraw-Hill civil engineering PE exam depth guide: water resources By Emmanuel U. </a:t>
            </a:r>
            <a:r>
              <a:rPr lang="en-US" dirty="0" err="1"/>
              <a:t>Nzewi</a:t>
            </a:r>
            <a:r>
              <a:rPr lang="en-US" dirty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Catchment is concentrated: that is, rainfall duration is longer than or at least equal to the time of concentration of the watershed.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28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1202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Peak timing and volume depend on watershed and storm conditions.</a:t>
            </a:r>
          </a:p>
          <a:p>
            <a:r>
              <a:rPr dirty="0"/>
              <a:t>Reference: https://www.hec.usace.army.mil/software/hec-hms/ ; https://www.nrcs.usda.gov/resources/guides-and-instructions/engineering-field-handbook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84100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Source: </a:t>
            </a:r>
            <a:r>
              <a:rPr lang="en-US" dirty="0" err="1"/>
              <a:t>usf</a:t>
            </a:r>
            <a:endParaRPr lang="en-US" dirty="0"/>
          </a:p>
          <a:p>
            <a:pPr eaLnBrk="1" hangingPunct="1">
              <a:spcBef>
                <a:spcPct val="0"/>
              </a:spcBef>
            </a:pPr>
            <a:r>
              <a:rPr lang="fr-FR" dirty="0"/>
              <a:t>Losses = interception, infiltration, dépression Storage, </a:t>
            </a:r>
            <a:r>
              <a:rPr lang="en-US" dirty="0"/>
              <a:t>etc. (sometimes called basin recharge)</a:t>
            </a:r>
          </a:p>
          <a:p>
            <a:pPr eaLnBrk="1" hangingPunct="1">
              <a:spcBef>
                <a:spcPct val="0"/>
              </a:spcBef>
            </a:pPr>
            <a:endParaRPr lang="en-US" dirty="0"/>
          </a:p>
          <a:p>
            <a:pPr eaLnBrk="1" hangingPunct="1">
              <a:spcBef>
                <a:spcPct val="0"/>
              </a:spcBef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term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recession curve 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sometimes reserved for any descending limb of the hydrograph. </a:t>
            </a:r>
            <a:endParaRPr lang="en-US" dirty="0"/>
          </a:p>
          <a:p>
            <a:pPr eaLnBrk="1" hangingPunct="1">
              <a:spcBef>
                <a:spcPct val="0"/>
              </a:spcBef>
            </a:pPr>
            <a:r>
              <a:rPr lang="en-US" dirty="0"/>
              <a:t>.</a:t>
            </a:r>
          </a:p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C1AF16-15B8-4BCA-AEA7-BE1055A38E7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267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Stress that runoff is an event response produced by both </a:t>
            </a:r>
            <a:r>
              <a:rPr lang="en-US" dirty="0"/>
              <a:t>the storm and the </a:t>
            </a:r>
            <a:r>
              <a:rPr dirty="0"/>
              <a:t>watershed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371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8A229-1B92-F92C-27D6-02508220D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42A18-8221-8A3C-8AF9-7343E0141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24E3F-AB7E-7459-D25C-F0C8239D6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6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dirty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Not all rainfall is equivalent, as well.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4C43F-3F93-F7EE-37F2-3888A397AC6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6560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58320"/>
                </a:solidFill>
                <a:latin typeface="Arial"/>
                <a:ea typeface="Arial"/>
                <a:cs typeface="Arial"/>
              </a:rPr>
              <a:t>Ask Question: What decision changes when the hydrograph changes?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087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Map layout prepared by M. </a:t>
            </a:r>
            <a:r>
              <a:rPr lang="en-US" dirty="0" err="1"/>
              <a:t>Arslan</a:t>
            </a:r>
            <a:r>
              <a:rPr lang="en-US" dirty="0"/>
              <a:t> student MS-5 batch at RS and </a:t>
            </a:r>
            <a:r>
              <a:rPr lang="en-US" dirty="0" err="1"/>
              <a:t>GISc</a:t>
            </a:r>
            <a:r>
              <a:rPr lang="en-US" dirty="0"/>
              <a:t>,</a:t>
            </a:r>
            <a:r>
              <a:rPr lang="en-US" baseline="0" dirty="0"/>
              <a:t> IST Karachi Campus.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62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>
                <a:hlinkClick r:id="rId3"/>
              </a:rPr>
              <a:t>Source: SIDA:</a:t>
            </a:r>
            <a:r>
              <a:rPr lang="en-US" u="sng" baseline="0" dirty="0">
                <a:hlinkClick r:id="rId3"/>
              </a:rPr>
              <a:t> </a:t>
            </a:r>
            <a:r>
              <a:rPr lang="en-US" dirty="0">
                <a:hlinkClick r:id="rId3"/>
              </a:rPr>
              <a:t>http://www.sida.org.pk/pages.aspx?id=82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55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80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24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FFFF00"/>
                </a:solidFill>
                <a:latin typeface="Arial"/>
                <a:ea typeface="Arial"/>
                <a:cs typeface="Arial"/>
              </a:rPr>
              <a:t>In drylands, rainfall thresholds and flow connectivity matter more than averages.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826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- https://gpm.nasa.gov/data/imerg</a:t>
            </a:r>
          </a:p>
          <a:p>
            <a:r>
              <a:rPr dirty="0"/>
              <a:t>- https://www.chc.ucsb.edu/data/chirps</a:t>
            </a:r>
          </a:p>
          <a:p>
            <a:r>
              <a:rPr dirty="0"/>
              <a:t>- https://community.wmo.int/en/activity-areas/hydrology-and-water-resources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9869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Reference: https://www.hec.usace.army.mil/software/hec-hms/ ; https://www.nrcs.usda.gov/resources/guides-and-instructions/engineering-field-handbook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88773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Reference: https://www.hec.usace.army.mil/software/hec-hms/ ; https://www.nrcs.usda.gov/resources/guides-and-instructions/engineering-field-handbook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013104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Rational: Deterministic lumped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110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Also called Lloyd</a:t>
            </a:r>
            <a:r>
              <a:rPr lang="en-US" baseline="0" dirty="0"/>
              <a:t> Davies Method, 1850</a:t>
            </a:r>
            <a:endParaRPr lang="en-US" dirty="0"/>
          </a:p>
          <a:p>
            <a:r>
              <a:rPr lang="en-US" dirty="0"/>
              <a:t>Source: The McGraw-Hill civil engineering PE exam depth guide: water resources By Emmanuel U. </a:t>
            </a:r>
            <a:r>
              <a:rPr lang="en-US" dirty="0" err="1"/>
              <a:t>Nzewi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386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Source: The McGraw-Hill civil engineering PE exam depth guide: water resources By Emmanuel U. </a:t>
            </a:r>
            <a:r>
              <a:rPr lang="en-US" dirty="0" err="1"/>
              <a:t>Nzewi</a:t>
            </a:r>
            <a:r>
              <a:rPr lang="en-US" dirty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Catchment is concentrated: that is, rainfall duration is longer than or at least equal to the time of concentration of the watershed.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28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 = runoff coefficient, ratio of the total runoff rate to the precipitation, dimensionless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Intensity-Duration-Frequency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curves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6305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Hydrologic Analysis and Design by </a:t>
            </a:r>
            <a:r>
              <a:rPr lang="en-US" dirty="0" err="1"/>
              <a:t>McCuen</a:t>
            </a:r>
            <a:r>
              <a:rPr lang="en-US" dirty="0"/>
              <a:t> (2</a:t>
            </a:r>
            <a:r>
              <a:rPr lang="en-US" baseline="30000" dirty="0"/>
              <a:t>nd</a:t>
            </a:r>
            <a:r>
              <a:rPr lang="en-US" dirty="0"/>
              <a:t> Ed)</a:t>
            </a:r>
          </a:p>
          <a:p>
            <a:endParaRPr lang="en-US" dirty="0"/>
          </a:p>
          <a:p>
            <a:r>
              <a:rPr lang="en-US" dirty="0"/>
              <a:t>Slopes are in 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004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769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lang="en-US" dirty="0"/>
              <a:t>C reflects the effect of landuse, soil and slope on runoff</a:t>
            </a:r>
            <a:r>
              <a:rPr lang="en-US" baseline="0" dirty="0"/>
              <a:t> potential assuming watershed is homogeneous. If drainage basin has different runoff potentials then it’s subdivided. 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lang="en-US" sz="1200" dirty="0"/>
              <a:t>Example McCuen page 381 (378 in 2</a:t>
            </a:r>
            <a:r>
              <a:rPr lang="en-US" sz="1200" baseline="30000" dirty="0"/>
              <a:t>nd</a:t>
            </a:r>
            <a:r>
              <a:rPr lang="en-US" sz="1200" dirty="0"/>
              <a:t> Edition)</a:t>
            </a:r>
            <a:endParaRPr lang="en-IN" sz="120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469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453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Eq-1 Derived</a:t>
            </a:r>
            <a:r>
              <a:rPr lang="en-US" baseline="0" dirty="0"/>
              <a:t> </a:t>
            </a:r>
            <a:r>
              <a:rPr lang="en-US" dirty="0"/>
              <a:t>by NRCS from experimental plots for numerous soils and vegetative cover conditions.</a:t>
            </a:r>
          </a:p>
          <a:p>
            <a:r>
              <a:rPr lang="en-US" dirty="0"/>
              <a:t>The simplified NRCS method can be used for drainage areas up to 2,000 acres.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If P- I</a:t>
            </a:r>
            <a:r>
              <a:rPr lang="en-US" sz="1200" baseline="-25000" dirty="0"/>
              <a:t>a</a:t>
            </a:r>
            <a:r>
              <a:rPr lang="en-US" sz="1200" dirty="0"/>
              <a:t> is negative then Q=0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http://www.ctre.iastate.edu/pubs/stormwater/documents/2C-5NRCSTR-55Methodology.pdf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763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Equation 2 was developed mainly for small watersheds from recorded storm data that included total rainfall amount in a calendar day but not its distribution with respect to time. Therefore, this method is appropriate for estimating direct runoff from 24-hour or one-day storm rainfall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262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Source: http://njscdea.ncdea.org/CurveNumbers.pdf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786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Series of curve for different</a:t>
            </a:r>
            <a:r>
              <a:rPr lang="en-US" baseline="0" dirty="0"/>
              <a:t> curve numbers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273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http://www.ctre.iastate.edu/pubs/stormwater/documents/2C-5NRCSTR-55Methodology.pdf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419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antecedent soil moisture conditions (AMC II) are recommended for most hydrologic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438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referred to as Antecedent Runoff Condition (ARC).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http://njscdea.ncdea.org/CurveNumbers.pdf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037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http://www.wichita.gov/Government/Departments/PWU/StandardsStormwater/Volume%202-06,%20Chapter%204.pdf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836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http://www.ctre.iastate.edu/pubs/stormwater/documents/2C-5NRCSTR-55Methodology.pdf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561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http://www.ctre.iastate.edu/pubs/stormwater/documents/2C-5NRCSTR-55Methodology.pdf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311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Source: http://njscdea.ncdea.org/CurveNumbers.pdf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572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Source: The McGraw-Hill civil engineering PE exam guide: breadth and depth By Roger Dodge Woodson, Kimberly Griffin.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982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Source: </a:t>
            </a:r>
            <a:r>
              <a:rPr lang="en-US" dirty="0" err="1"/>
              <a:t>Bedient</a:t>
            </a:r>
            <a:r>
              <a:rPr lang="en-US" dirty="0"/>
              <a:t> page 111</a:t>
            </a:r>
          </a:p>
        </p:txBody>
      </p:sp>
    </p:spTree>
    <p:extLst>
      <p:ext uri="{BB962C8B-B14F-4D97-AF65-F5344CB8AC3E}">
        <p14:creationId xmlns:p14="http://schemas.microsoft.com/office/powerpoint/2010/main" val="32316901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Isochrones: a line on a map or diagram connecting places from which it takes the same time to travel to a certain point. Isochrones of equal translation</a:t>
            </a:r>
            <a:r>
              <a:rPr lang="en-US" baseline="0" dirty="0"/>
              <a:t> time numbered upstream from the outlet</a:t>
            </a:r>
          </a:p>
          <a:p>
            <a:r>
              <a:rPr lang="en-US" dirty="0">
                <a:hlinkClick r:id="rId3"/>
              </a:rPr>
              <a:t>Source: http://www.scribd.com/doc/25083452/time-area-method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5862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Source: The McGraw-Hill civil engineering PE exam depth guide: water resources By Emmanuel U. </a:t>
            </a:r>
            <a:r>
              <a:rPr lang="en-US" dirty="0" err="1"/>
              <a:t>Nzewi</a:t>
            </a:r>
            <a:r>
              <a:rPr lang="en-US" dirty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Catchment is concentrated: that is, rainfall duration is longer than or at least equal to the time of concentration of the watershed.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286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Source: The McGraw-Hill civil engineering PE exam depth guide: water resources By Emmanuel U. </a:t>
            </a:r>
            <a:r>
              <a:rPr lang="en-US" dirty="0" err="1"/>
              <a:t>Nzewi</a:t>
            </a:r>
            <a:r>
              <a:rPr lang="en-US" dirty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Catchment is concentrated: that is, rainfall duration is longer than or at least equal to the time of concentration of the watershed.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286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Source: The McGraw-Hill civil engineering PE exam depth guide: water resources By Emmanuel U. </a:t>
            </a:r>
            <a:r>
              <a:rPr lang="en-US" dirty="0" err="1"/>
              <a:t>Nzewi</a:t>
            </a:r>
            <a:r>
              <a:rPr lang="en-US" dirty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Catchment is concentrated: that is, rainfall duration is longer than or at least equal to the time of concentration of the watershed.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286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Source: The McGraw-Hill civil engineering PE exam depth guide: water resources By Emmanuel U. </a:t>
            </a:r>
            <a:r>
              <a:rPr lang="en-US" dirty="0" err="1"/>
              <a:t>Nzewi</a:t>
            </a:r>
            <a:r>
              <a:rPr lang="en-US" dirty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Catchment is concentrated: that is, rainfall duration is longer than or at least equal to the time of concentration of the watershed.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286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Source: The McGraw-Hill civil engineering PE exam depth guide: water resources By Emmanuel U. </a:t>
            </a:r>
            <a:r>
              <a:rPr lang="en-US" dirty="0" err="1"/>
              <a:t>Nzewi</a:t>
            </a:r>
            <a:r>
              <a:rPr lang="en-US" dirty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Catchment is concentrated: that is, rainfall duration is longer than or at least equal to the time of concentration of the watershed.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00BE8-E3C3-4EE8-83F1-7C5880FA2C8C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2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 sz="1800"/>
          </a:p>
        </p:txBody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FC91-9C8F-42CE-881F-3D0AD923AB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45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FC91-9C8F-42CE-881F-3D0AD923AB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8869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FC91-9C8F-42CE-881F-3D0AD923AB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266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FC91-9C8F-42CE-881F-3D0AD923AB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67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FC91-9C8F-42CE-881F-3D0AD923AB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26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FC91-9C8F-42CE-881F-3D0AD923AB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85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FC91-9C8F-42CE-881F-3D0AD923AB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77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8B5BFC91-9C8F-42CE-881F-3D0AD923AB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927039-71DE-4AA5-9A86-9CA42D795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FC91-9C8F-42CE-881F-3D0AD923AB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76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FC91-9C8F-42CE-881F-3D0AD923AB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FC91-9C8F-42CE-881F-3D0AD923AB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29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27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 sz="1800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B5BFC91-9C8F-42CE-881F-3D0AD923AB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1927039-71DE-4AA5-9A86-9CA42D795FD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90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48952" y="643467"/>
            <a:ext cx="7172487" cy="5054008"/>
          </a:xfrm>
        </p:spPr>
        <p:txBody>
          <a:bodyPr anchor="ctr">
            <a:normAutofit/>
          </a:bodyPr>
          <a:lstStyle/>
          <a:p>
            <a:pPr>
              <a:spcBef>
                <a:spcPts val="1800"/>
              </a:spcBef>
              <a:spcAft>
                <a:spcPts val="3000"/>
              </a:spcAft>
            </a:pPr>
            <a:br>
              <a:rPr lang="fr-FR" sz="66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</a:br>
            <a:r>
              <a:rPr lang="fr-FR" sz="6600" b="1" cap="all" dirty="0" err="1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Runoff</a:t>
            </a:r>
            <a:r>
              <a:rPr lang="fr-FR" sz="6600" b="1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 </a:t>
            </a:r>
            <a:r>
              <a:rPr lang="fr-FR" sz="6600" b="1" cap="all" dirty="0" err="1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models</a:t>
            </a:r>
            <a:endParaRPr lang="en-US" sz="6600" b="1" cap="all" dirty="0"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3299" y="643467"/>
            <a:ext cx="3311856" cy="5054008"/>
          </a:xfrm>
        </p:spPr>
        <p:txBody>
          <a:bodyPr anchor="ctr">
            <a:norm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Watershed modeling </a:t>
            </a:r>
          </a:p>
          <a:p>
            <a:pPr algn="r"/>
            <a:r>
              <a:rPr lang="en-US" b="1">
                <a:solidFill>
                  <a:schemeClr val="tx1"/>
                </a:solidFill>
              </a:rPr>
              <a:t>USPCASW, MUET</a:t>
            </a:r>
          </a:p>
          <a:p>
            <a:pPr algn="r"/>
            <a:r>
              <a:rPr lang="en-US" b="1">
                <a:solidFill>
                  <a:schemeClr val="tx1"/>
                </a:solidFill>
              </a:rPr>
              <a:t>Fall 2026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42053" y="1570271"/>
            <a:ext cx="0" cy="3200400"/>
          </a:xfrm>
          <a:prstGeom prst="line">
            <a:avLst/>
          </a:prstGeom>
          <a:ln w="31750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05250E5-90D0-4E41-B9BD-FF661DE54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336792"/>
            <a:ext cx="12188825" cy="52120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237396"/>
          </a:xfrm>
        </p:spPr>
        <p:txBody>
          <a:bodyPr>
            <a:normAutofit/>
          </a:bodyPr>
          <a:lstStyle/>
          <a:p>
            <a:r>
              <a:rPr lang="en-US" sz="3200" cap="all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Learning Objectives</a:t>
            </a:r>
            <a:endParaRPr lang="en-US" sz="3200" cap="all" dirty="0"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2133600"/>
            <a:ext cx="8458200" cy="3735494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From rainfall to runoff — effective rainfall, infiltration and runoff generation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Hydrograph analysis — rising limb, peak and recession, and what controls hydrograph shape</a:t>
            </a:r>
            <a:endParaRPr lang="en-US" sz="2800" u="sng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Rainfall–runoff modeling — inputs, method choice, calibration, validation and trust</a:t>
            </a:r>
            <a:endParaRPr lang="en-US" sz="2800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Two families of runoff models — peak runoff models and continuous runoff models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The Rational Method — assumptions, the peak-discharge formula and the runoff coefficient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The NRCS Curve Number method — the rainfall–runoff equation, S and initial abstraction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Hydrologic soil groups, antecedent moisture conditions, and the composite curve number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Continuous runoff models — the time-area method and isochrones, and unit hydrograph techniques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Flood hydrographs and the 2013 Sindh floods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4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462427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US"/>
              <a:t>1. From rainfall to runoff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5140895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7E6EB"/>
                </a:solidFill>
              </a:defRPr>
            </a:pPr>
            <a:r>
              <a:rPr lang="en-US"/>
              <a:t>Effective rainfall, infiltration and runoff generation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CF521-2D77-2CA4-5D21-B09B591E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40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96846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chemeClr val="accent1"/>
                </a:solidFill>
                <a:latin typeface="Aptos Display"/>
              </a:rPr>
              <a:t>From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G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ross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R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ainfall to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E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ffective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R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ainfall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834640" cy="1371600"/>
          </a:xfrm>
          <a:prstGeom prst="roundRect">
            <a:avLst/>
          </a:prstGeom>
          <a:solidFill>
            <a:srgbClr val="EBF2F6"/>
          </a:solidFill>
          <a:ln>
            <a:solidFill>
              <a:srgbClr val="36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74B"/>
                </a:solidFill>
              </a:defRPr>
            </a:pPr>
            <a:r>
              <a:t>Gross precipitation</a:t>
            </a:r>
          </a:p>
          <a:p>
            <a:pPr>
              <a:defRPr sz="1200">
                <a:solidFill>
                  <a:srgbClr val="2D2D2D"/>
                </a:solidFill>
              </a:defRPr>
            </a:pPr>
            <a:r>
              <a:t>Rain measured by gauge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828800"/>
            <a:ext cx="2834640" cy="1371600"/>
          </a:xfrm>
          <a:prstGeom prst="roundRect">
            <a:avLst/>
          </a:prstGeom>
          <a:solidFill>
            <a:srgbClr val="EBF2F6"/>
          </a:solidFill>
          <a:ln>
            <a:solidFill>
              <a:srgbClr val="36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74B"/>
                </a:solidFill>
              </a:defRPr>
            </a:pPr>
            <a:r>
              <a:t>Interception &amp; infiltration</a:t>
            </a:r>
          </a:p>
          <a:p>
            <a:pPr>
              <a:defRPr sz="1200">
                <a:solidFill>
                  <a:srgbClr val="2D2D2D"/>
                </a:solidFill>
              </a:defRPr>
            </a:pPr>
            <a:r>
              <a:t>Losses / storage before runoff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828800"/>
            <a:ext cx="2834640" cy="1371600"/>
          </a:xfrm>
          <a:prstGeom prst="roundRect">
            <a:avLst/>
          </a:prstGeom>
          <a:solidFill>
            <a:srgbClr val="EBF2F6"/>
          </a:solidFill>
          <a:ln>
            <a:solidFill>
              <a:srgbClr val="36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74B"/>
                </a:solidFill>
              </a:defRPr>
            </a:pPr>
            <a:r>
              <a:t>Effective rainfall</a:t>
            </a:r>
          </a:p>
          <a:p>
            <a:pPr>
              <a:defRPr sz="1200">
                <a:solidFill>
                  <a:srgbClr val="2D2D2D"/>
                </a:solidFill>
              </a:defRPr>
            </a:pPr>
            <a:r>
              <a:t>Portion contributing to streamflow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20440" y="2267712"/>
            <a:ext cx="502920" cy="457200"/>
          </a:xfrm>
          <a:prstGeom prst="rightArrow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7040880" y="2267712"/>
            <a:ext cx="502920" cy="457200"/>
          </a:xfrm>
          <a:prstGeom prst="rightArrow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8036" y="3840480"/>
            <a:ext cx="1089660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Effective</a:t>
            </a:r>
            <a:r>
              <a:rPr sz="2800" b="1" dirty="0">
                <a:solidFill>
                  <a:schemeClr val="accent5">
                    <a:lumMod val="75000"/>
                  </a:schemeClr>
                </a:solidFill>
              </a:rPr>
              <a:t> precipitation = gross precipitation − loss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es</a:t>
            </a:r>
            <a:endParaRPr sz="2800" b="1" dirty="0"/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Effective rainfall is the portion of rainfall that produces a perceptible streamflow response.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Not all rainfall becomes surface runoff; some infiltrates, is stored, or contributes to subsurface flow.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DC18BF-D965-B9ED-8CE4-0FD455AB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39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672318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chemeClr val="accent1"/>
                </a:solidFill>
                <a:latin typeface="Aptos Display"/>
              </a:rPr>
              <a:t>Infiltration and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R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unoff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G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2673" y="1573876"/>
            <a:ext cx="1078992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Dry soil may initially have </a:t>
            </a:r>
            <a:r>
              <a:rPr lang="en-US" sz="2800" dirty="0"/>
              <a:t>a </a:t>
            </a:r>
            <a:r>
              <a:rPr sz="2800" dirty="0"/>
              <a:t>high infiltration capacity.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If rainfall intensity/rate is below infiltration capacity, little or no overland flow occurs, although interflow may still develop.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With continuing rainfall, soil becomes wetter</a:t>
            </a:r>
            <a:r>
              <a:rPr lang="en-US" sz="2800" dirty="0"/>
              <a:t>,</a:t>
            </a:r>
            <a:r>
              <a:rPr sz="2800" dirty="0"/>
              <a:t> and infiltration capacity can decline.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When rainfall exceeds the capacity of the soil to absorb water, excess water contributes to runoff.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0095A-5052-B0D1-FAB8-7A1DF969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3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2577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chemeClr val="accent1"/>
                </a:solidFill>
                <a:latin typeface="Aptos Display"/>
              </a:rPr>
              <a:t>Rainfall–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R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unoff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R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45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A catchment can be treated as a system that transforms rainfall input into streamflow output.</a:t>
            </a:r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Inputs include rainfall amount, intensity, duration</a:t>
            </a:r>
            <a:r>
              <a:rPr lang="en-US" sz="2800" dirty="0"/>
              <a:t>,</a:t>
            </a:r>
            <a:r>
              <a:rPr sz="2800" dirty="0"/>
              <a:t> and spatial distribution.</a:t>
            </a:r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The catchment controls the transformation through soils, land cover, slope, drainage</a:t>
            </a:r>
            <a:r>
              <a:rPr lang="en-US" sz="2800" dirty="0"/>
              <a:t>,</a:t>
            </a:r>
            <a:r>
              <a:rPr sz="2800" dirty="0"/>
              <a:t> and storage.</a:t>
            </a:r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>
                <a:solidFill>
                  <a:schemeClr val="accent5"/>
                </a:solidFill>
              </a:rPr>
              <a:t>The observed output is discharge at the catchment outlet</a:t>
            </a:r>
            <a:r>
              <a:rPr sz="28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B635A-9F6D-F455-C40D-D72C995A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24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4420056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GB"/>
              <a:t>2. Hydrograph Analysis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3839641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7E6EB"/>
                </a:solidFill>
              </a:defRPr>
            </a:pPr>
            <a:r>
              <a:rPr lang="en-US" dirty="0"/>
              <a:t>From observed rainfall to streamflow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CF521-2D77-2CA4-5D21-B09B591E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73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4637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chemeClr val="accent1"/>
                </a:solidFill>
                <a:latin typeface="Aptos Display"/>
              </a:rPr>
              <a:t>Hydrograph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0" y="1325880"/>
            <a:ext cx="5577840" cy="4206240"/>
          </a:xfrm>
          <a:prstGeom prst="rect">
            <a:avLst/>
          </a:prstGeom>
          <a:solidFill>
            <a:srgbClr val="F9F9F9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6080760" y="4892040"/>
            <a:ext cx="4754880" cy="0"/>
          </a:xfrm>
          <a:prstGeom prst="line">
            <a:avLst/>
          </a:prstGeom>
          <a:ln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080760" y="1828800"/>
            <a:ext cx="0" cy="3063240"/>
          </a:xfrm>
          <a:prstGeom prst="line">
            <a:avLst/>
          </a:prstGeom>
          <a:ln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126480" y="4572000"/>
            <a:ext cx="594360" cy="228600"/>
          </a:xfrm>
          <a:prstGeom prst="line">
            <a:avLst/>
          </a:prstGeom>
          <a:ln w="31750">
            <a:solidFill>
              <a:srgbClr val="40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720840" y="3840480"/>
            <a:ext cx="594360" cy="731520"/>
          </a:xfrm>
          <a:prstGeom prst="line">
            <a:avLst/>
          </a:prstGeom>
          <a:ln w="31750">
            <a:solidFill>
              <a:srgbClr val="40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315200" y="2468880"/>
            <a:ext cx="594360" cy="1371600"/>
          </a:xfrm>
          <a:prstGeom prst="line">
            <a:avLst/>
          </a:prstGeom>
          <a:ln w="31750">
            <a:solidFill>
              <a:srgbClr val="40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909560" y="1828800"/>
            <a:ext cx="502920" cy="640080"/>
          </a:xfrm>
          <a:prstGeom prst="line">
            <a:avLst/>
          </a:prstGeom>
          <a:ln w="31750">
            <a:solidFill>
              <a:srgbClr val="40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12480" y="1828800"/>
            <a:ext cx="502920" cy="502920"/>
          </a:xfrm>
          <a:prstGeom prst="line">
            <a:avLst/>
          </a:prstGeom>
          <a:ln w="31750">
            <a:solidFill>
              <a:srgbClr val="40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915400" y="2331720"/>
            <a:ext cx="548640" cy="822960"/>
          </a:xfrm>
          <a:prstGeom prst="line">
            <a:avLst/>
          </a:prstGeom>
          <a:ln w="31750">
            <a:solidFill>
              <a:srgbClr val="40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64040" y="3154680"/>
            <a:ext cx="685800" cy="731520"/>
          </a:xfrm>
          <a:prstGeom prst="line">
            <a:avLst/>
          </a:prstGeom>
          <a:ln w="31750">
            <a:solidFill>
              <a:srgbClr val="40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49840" y="3886200"/>
            <a:ext cx="640080" cy="502920"/>
          </a:xfrm>
          <a:prstGeom prst="line">
            <a:avLst/>
          </a:prstGeom>
          <a:ln w="31750">
            <a:solidFill>
              <a:srgbClr val="407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03720" y="44348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374B"/>
                </a:solidFill>
              </a:defRPr>
            </a:pPr>
            <a:r>
              <a:t>Rising limb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374B"/>
                </a:solidFill>
              </a:defRPr>
            </a:pPr>
            <a:r>
              <a:t>Peak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7889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374B"/>
                </a:solidFill>
              </a:defRPr>
            </a:pPr>
            <a:r>
              <a:t>Recession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508760"/>
            <a:ext cx="4663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D2D2D"/>
                </a:solidFill>
                <a:latin typeface="Aptos"/>
              </a:defRPr>
            </a:pPr>
            <a:r>
              <a:rPr sz="2400" b="1" dirty="0"/>
              <a:t>Hydrograph:</a:t>
            </a:r>
            <a:r>
              <a:rPr sz="2400" dirty="0"/>
              <a:t> discharge plotted against time at a channel location.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506E57-0B0F-824C-ED03-C40C593A3D9B}"/>
              </a:ext>
            </a:extLst>
          </p:cNvPr>
          <p:cNvSpPr txBox="1"/>
          <p:nvPr/>
        </p:nvSpPr>
        <p:spPr>
          <a:xfrm>
            <a:off x="7791103" y="5000982"/>
            <a:ext cx="174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PK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5F1185-124D-0330-1838-091C61E5A54E}"/>
              </a:ext>
            </a:extLst>
          </p:cNvPr>
          <p:cNvSpPr txBox="1"/>
          <p:nvPr/>
        </p:nvSpPr>
        <p:spPr>
          <a:xfrm>
            <a:off x="5721927" y="2468880"/>
            <a:ext cx="461665" cy="132033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Discharge</a:t>
            </a:r>
            <a:endParaRPr lang="en-PK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8211DB9-8357-8D61-71CE-CC34B2F2C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90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82047"/>
            <a:ext cx="1124712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900" b="1">
                <a:solidFill>
                  <a:srgbClr val="24445F"/>
                </a:solidFill>
                <a:latin typeface="Aptos"/>
              </a:defRPr>
            </a:pPr>
            <a:r>
              <a:rPr kumimoji="0" sz="2900" b="1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How do we read a 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</a:t>
            </a:r>
            <a:r>
              <a:rPr kumimoji="0" sz="2900" b="1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lood 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</a:t>
            </a:r>
            <a:r>
              <a:rPr kumimoji="0" sz="2900" b="1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ydrograph?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96942"/>
            <a:ext cx="1005840" cy="502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56862"/>
            <a:ext cx="110642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900" b="0">
                <a:solidFill>
                  <a:srgbClr val="1766A3"/>
                </a:solidFill>
                <a:latin typeface="Aptos"/>
              </a:defRPr>
            </a:pP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1766A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Peak, timing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1766A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1766A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and volume—all matter for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900" b="0">
                <a:solidFill>
                  <a:srgbClr val="687989"/>
                </a:solidFill>
                <a:latin typeface="Aptos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8798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FAO-organized training | Balochistan Irrigation Department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699B8E-E7F9-B800-4354-E1596CB09D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" t="2935" r="-191" b="5639"/>
          <a:stretch>
            <a:fillRect/>
          </a:stretch>
        </p:blipFill>
        <p:spPr>
          <a:xfrm>
            <a:off x="960120" y="1342751"/>
            <a:ext cx="9043873" cy="516777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F56F2-3ADB-0E3B-122B-AAF16B419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77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 idx="4294967295"/>
          </p:nvPr>
        </p:nvSpPr>
        <p:spPr>
          <a:xfrm>
            <a:off x="699654" y="452582"/>
            <a:ext cx="8229600" cy="7620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 Display"/>
                <a:ea typeface="Calibri"/>
                <a:cs typeface="Calibri"/>
              </a:rPr>
              <a:t>Hydrograph Analysis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4294967295"/>
          </p:nvPr>
        </p:nvSpPr>
        <p:spPr>
          <a:xfrm>
            <a:off x="643966" y="1309255"/>
            <a:ext cx="10127673" cy="38401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2D2D2D"/>
                </a:solidFill>
                <a:latin typeface="Aptos"/>
              </a:rPr>
              <a:t>Hydrologic response of rainfall at the outlet of an area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2D2D2D"/>
                </a:solidFill>
                <a:latin typeface="Aptos"/>
              </a:rPr>
              <a:t>Hydrograph: Graph of discharge (cubic feet per second) in a channel vs. time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2D2D2D"/>
                </a:solidFill>
                <a:latin typeface="Aptos"/>
              </a:rPr>
              <a:t>Area under curve yields the volume of runoff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Stream flow = Direct Runoff + Base flow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Direct Runoff (DRO) = Rainfall Excess or (rainfall – losses)</a:t>
            </a:r>
          </a:p>
          <a:p>
            <a:pPr eaLnBrk="1" hangingPunct="1">
              <a:buFont typeface="Arial" charset="0"/>
              <a:buNone/>
            </a:pPr>
            <a:endParaRPr lang="en-US" sz="2400" dirty="0"/>
          </a:p>
        </p:txBody>
      </p:sp>
      <p:pic>
        <p:nvPicPr>
          <p:cNvPr id="3789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79872" y="4565808"/>
            <a:ext cx="2819400" cy="215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524000" y="6581778"/>
            <a:ext cx="2895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新細明體" panose="02020500000000000000" pitchFamily="18" charset="-120"/>
                <a:cs typeface="新細明體"/>
              </a:rPr>
              <a:t>Source: Prof. Ke-Sheng Cheng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C76D82-DD1D-970A-5508-4AAC5BE4F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70DC35-9B43-4C3F-93A9-29FFD06F2AC8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329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675858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What controls hydrograph shape?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389120"/>
          </a:xfrm>
          <a:prstGeom prst="roundRect">
            <a:avLst/>
          </a:prstGeom>
          <a:solidFill>
            <a:srgbClr val="EBF2F6"/>
          </a:solidFill>
          <a:ln>
            <a:solidFill>
              <a:srgbClr val="36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F374B"/>
                </a:solidFill>
              </a:defRPr>
            </a:pPr>
            <a:r>
              <a:rPr lang="en-US" dirty="0"/>
              <a:t>Storm/climate</a:t>
            </a: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</a:defRPr>
            </a:pPr>
            <a:r>
              <a:rPr sz="2000" dirty="0"/>
              <a:t>Rainfall </a:t>
            </a:r>
            <a:r>
              <a:rPr lang="en-US" sz="2000" dirty="0"/>
              <a:t>I</a:t>
            </a:r>
            <a:r>
              <a:rPr sz="2000" dirty="0"/>
              <a:t>ntensity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</a:defRPr>
            </a:pPr>
            <a:r>
              <a:rPr sz="2000" dirty="0"/>
              <a:t>Rainfall </a:t>
            </a:r>
            <a:r>
              <a:rPr lang="en-US" sz="2000" dirty="0"/>
              <a:t>D</a:t>
            </a:r>
            <a:r>
              <a:rPr sz="2000" dirty="0"/>
              <a:t>uration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</a:defRPr>
            </a:pPr>
            <a:r>
              <a:rPr lang="en-US" sz="2000" dirty="0"/>
              <a:t>Rainfall </a:t>
            </a:r>
            <a:r>
              <a:rPr sz="2000" dirty="0"/>
              <a:t>Spatial </a:t>
            </a:r>
            <a:r>
              <a:rPr lang="en-US" sz="2000" dirty="0"/>
              <a:t>D</a:t>
            </a:r>
            <a:r>
              <a:rPr sz="2000" dirty="0"/>
              <a:t>istribution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</a:defRPr>
            </a:pPr>
            <a:r>
              <a:rPr lang="en-US" sz="2000" dirty="0"/>
              <a:t>Rainfall </a:t>
            </a:r>
            <a:r>
              <a:rPr sz="2000" dirty="0"/>
              <a:t>Temporal </a:t>
            </a:r>
            <a:r>
              <a:rPr lang="en-US" sz="2000" dirty="0"/>
              <a:t>D</a:t>
            </a:r>
            <a:r>
              <a:rPr sz="2000" dirty="0"/>
              <a:t>istribution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4754880" cy="4389120"/>
          </a:xfrm>
          <a:prstGeom prst="roundRect">
            <a:avLst/>
          </a:prstGeom>
          <a:solidFill>
            <a:srgbClr val="EBF2F6"/>
          </a:solidFill>
          <a:ln>
            <a:solidFill>
              <a:srgbClr val="36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F374B"/>
                </a:solidFill>
              </a:defRPr>
            </a:pPr>
            <a:r>
              <a:rPr dirty="0"/>
              <a:t>Catchment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</a:defRPr>
            </a:pPr>
            <a:r>
              <a:rPr sz="2000" dirty="0"/>
              <a:t>Catchment </a:t>
            </a:r>
            <a:r>
              <a:rPr lang="en-US" sz="2000" dirty="0"/>
              <a:t>S</a:t>
            </a:r>
            <a:r>
              <a:rPr sz="2000" dirty="0"/>
              <a:t>ize and </a:t>
            </a:r>
            <a:r>
              <a:rPr lang="en-US" sz="2000" dirty="0"/>
              <a:t>S</a:t>
            </a:r>
            <a:r>
              <a:rPr sz="2000" dirty="0"/>
              <a:t>hape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</a:defRPr>
            </a:pPr>
            <a:r>
              <a:rPr sz="2000" dirty="0"/>
              <a:t>Slope and </a:t>
            </a:r>
            <a:r>
              <a:rPr lang="en-US" sz="2000" dirty="0"/>
              <a:t>E</a:t>
            </a:r>
            <a:r>
              <a:rPr sz="2000" dirty="0"/>
              <a:t>levation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</a:defRPr>
            </a:pPr>
            <a:r>
              <a:rPr sz="2000" dirty="0"/>
              <a:t>Soil and </a:t>
            </a:r>
            <a:r>
              <a:rPr lang="en-US" sz="2000" dirty="0"/>
              <a:t>L</a:t>
            </a:r>
            <a:r>
              <a:rPr sz="2000" dirty="0"/>
              <a:t>and cover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</a:defRPr>
            </a:pPr>
            <a:r>
              <a:rPr sz="2000" dirty="0"/>
              <a:t>Drainage density, </a:t>
            </a:r>
            <a:r>
              <a:rPr lang="en-US" sz="2000" dirty="0"/>
              <a:t>R</a:t>
            </a:r>
            <a:r>
              <a:rPr sz="2000" dirty="0"/>
              <a:t>oughness</a:t>
            </a:r>
            <a:r>
              <a:rPr lang="en-US" sz="2000" dirty="0"/>
              <a:t>,</a:t>
            </a:r>
            <a:r>
              <a:rPr sz="2000" dirty="0"/>
              <a:t> and </a:t>
            </a:r>
            <a:r>
              <a:rPr lang="en-US" sz="2000" dirty="0"/>
              <a:t>S</a:t>
            </a:r>
            <a:r>
              <a:rPr sz="2000" dirty="0"/>
              <a:t>torage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</a:defRPr>
            </a:pPr>
            <a:r>
              <a:rPr sz="2000" dirty="0"/>
              <a:t>Antecedent </a:t>
            </a:r>
            <a:r>
              <a:rPr lang="en-US" sz="2000" dirty="0"/>
              <a:t>M</a:t>
            </a:r>
            <a:r>
              <a:rPr sz="2000" dirty="0"/>
              <a:t>oisture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F024D-50FD-6171-061B-A7EC83864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43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30083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How </a:t>
            </a:r>
            <a:r>
              <a:rPr lang="en-US"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C</a:t>
            </a:r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atchment </a:t>
            </a:r>
            <a:r>
              <a:rPr lang="en-US"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C</a:t>
            </a:r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haracteristics </a:t>
            </a:r>
            <a:r>
              <a:rPr lang="en-US"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C</a:t>
            </a:r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hange </a:t>
            </a:r>
            <a:r>
              <a:rPr lang="en-US"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R</a:t>
            </a:r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esponse</a:t>
            </a:r>
            <a:r>
              <a:rPr lang="en-US"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?</a:t>
            </a:r>
            <a:endParaRPr sz="3600" b="1" dirty="0">
              <a:solidFill>
                <a:srgbClr val="156082"/>
              </a:solidFill>
              <a:latin typeface="Aptos Display"/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238847"/>
            <a:ext cx="107899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Steeper slopes generally produce faster runoff and a sharper hydrograph response.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Impervious or highly developed surfaces can reduce infiltration and increase rapid runoff.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Larger catchments generally produce greater runoff volume for the same rainfall depth, but their response is often broader and slower.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Vegetation, soil properties, channel length, drainage density</a:t>
            </a:r>
            <a:r>
              <a:rPr lang="en-US" sz="2400" dirty="0"/>
              <a:t>,</a:t>
            </a:r>
            <a:r>
              <a:rPr sz="2400" dirty="0"/>
              <a:t> and natural/channel storage also modify the response.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Snowmelt at high elevation can produce broader, lower-peaked flood responses than intense rainfall.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BFF10-3DF5-0C08-33DB-5595E7103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90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8A99E7C-0B7D-49F1-8DBE-B4F162FCDA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6AAB"/>
          </a:solidFill>
          <a:ln w="9525">
            <a:solidFill>
              <a:srgbClr val="116AA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6616820-5275-65E9-EC2A-078DBE0D1D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94" b="5044"/>
          <a:stretch>
            <a:fillRect/>
          </a:stretch>
        </p:blipFill>
        <p:spPr>
          <a:xfrm>
            <a:off x="962891" y="355022"/>
            <a:ext cx="9754585" cy="5889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E54292-46B8-6C87-0667-5FBCD19AA1EF}"/>
              </a:ext>
            </a:extLst>
          </p:cNvPr>
          <p:cNvSpPr/>
          <p:nvPr/>
        </p:nvSpPr>
        <p:spPr>
          <a:xfrm>
            <a:off x="962891" y="755073"/>
            <a:ext cx="9538854" cy="2770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292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EB8A0-2730-E66F-1B3E-3D0E0218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43C33A2-C62A-8911-2B4D-54140C5356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6AAB"/>
          </a:solidFill>
          <a:ln w="9525">
            <a:solidFill>
              <a:srgbClr val="116AA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3C370E6-F492-6083-7B13-85FB9AAB6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94" y="846604"/>
            <a:ext cx="11278356" cy="516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301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5B7BB6E-BE8E-413A-9129-C29786AD57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6AAB"/>
          </a:solidFill>
          <a:ln w="9525">
            <a:solidFill>
              <a:srgbClr val="116AA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1200BF-A94D-4F30-9D34-3AF1C9D63D1F}"/>
              </a:ext>
            </a:extLst>
          </p:cNvPr>
          <p:cNvSpPr>
            <a:spLocks noGrp="1"/>
          </p:cNvSpPr>
          <p:nvPr/>
        </p:nvSpPr>
        <p:spPr>
          <a:xfrm>
            <a:off x="514350" y="1076325"/>
            <a:ext cx="895350" cy="47625"/>
          </a:xfrm>
          <a:prstGeom prst="rect">
            <a:avLst/>
          </a:prstGeom>
          <a:solidFill>
            <a:srgbClr val="F58320"/>
          </a:solidFill>
          <a:ln w="9525">
            <a:solidFill>
              <a:srgbClr val="F5832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43B608-AA2F-457E-9BE3-C59896A76138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25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2625" b="1" i="0" u="none" strike="noStrike" kern="1200" cap="none" spc="0" normalizeH="0" baseline="0" noProof="0" dirty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Same monthly rainfall—different runoff risk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F7D322-A1C4-4138-AE62-FC9F2FE2CFE6}"/>
              </a:ext>
            </a:extLst>
          </p:cNvPr>
          <p:cNvSpPr>
            <a:spLocks noGrp="1"/>
          </p:cNvSpPr>
          <p:nvPr/>
        </p:nvSpPr>
        <p:spPr>
          <a:xfrm>
            <a:off x="11182350" y="3619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10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54545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776C925A-098D-4AC5-827C-0647BFF37269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953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EB3DC-0858-4FCD-B0A0-F3F7F7FA1D83}"/>
              </a:ext>
            </a:extLst>
          </p:cNvPr>
          <p:cNvSpPr>
            <a:spLocks noGrp="1"/>
          </p:cNvSpPr>
          <p:nvPr/>
        </p:nvSpPr>
        <p:spPr>
          <a:xfrm>
            <a:off x="10524796" y="3787139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F58320"/>
                </a:solidFill>
                <a:latin typeface="Arial"/>
                <a:ea typeface="Arial"/>
                <a:cs typeface="Arial"/>
              </a:defRPr>
            </a:pP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srgbClr val="F5832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AD9389-CAC6-C122-29C1-104DCC8C8F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0" t="12778" r="1656" b="3345"/>
          <a:stretch>
            <a:fillRect/>
          </a:stretch>
        </p:blipFill>
        <p:spPr>
          <a:xfrm>
            <a:off x="1461654" y="1253820"/>
            <a:ext cx="8801101" cy="51460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572A3B-66BD-E4CC-12B9-DF4A4B24574B}"/>
              </a:ext>
            </a:extLst>
          </p:cNvPr>
          <p:cNvSpPr/>
          <p:nvPr/>
        </p:nvSpPr>
        <p:spPr>
          <a:xfrm>
            <a:off x="4606636" y="1607127"/>
            <a:ext cx="2355273" cy="1253837"/>
          </a:xfrm>
          <a:prstGeom prst="rect">
            <a:avLst/>
          </a:prstGeom>
          <a:solidFill>
            <a:srgbClr val="F9C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FA0C8B-3545-19C5-3F59-C5433C25A934}"/>
              </a:ext>
            </a:extLst>
          </p:cNvPr>
          <p:cNvSpPr/>
          <p:nvPr/>
        </p:nvSpPr>
        <p:spPr>
          <a:xfrm>
            <a:off x="8077200" y="1607127"/>
            <a:ext cx="2185555" cy="13684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AFEA83-A6AE-B68B-DE86-ACA52866CC28}"/>
              </a:ext>
            </a:extLst>
          </p:cNvPr>
          <p:cNvSpPr/>
          <p:nvPr/>
        </p:nvSpPr>
        <p:spPr>
          <a:xfrm>
            <a:off x="6961909" y="3061855"/>
            <a:ext cx="2791691" cy="1163781"/>
          </a:xfrm>
          <a:prstGeom prst="roundRect">
            <a:avLst/>
          </a:prstGeom>
          <a:solidFill>
            <a:srgbClr val="D7EE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E54D1C-44D1-42AE-6A0F-BD81504342D4}"/>
              </a:ext>
            </a:extLst>
          </p:cNvPr>
          <p:cNvSpPr/>
          <p:nvPr/>
        </p:nvSpPr>
        <p:spPr>
          <a:xfrm>
            <a:off x="1461654" y="5659582"/>
            <a:ext cx="8742219" cy="703118"/>
          </a:xfrm>
          <a:prstGeom prst="roundRect">
            <a:avLst/>
          </a:prstGeom>
          <a:solidFill>
            <a:srgbClr val="FFE89F"/>
          </a:solidFill>
          <a:ln>
            <a:solidFill>
              <a:srgbClr val="FFE8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308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362200" y="5257800"/>
            <a:ext cx="7589520" cy="822960"/>
          </a:xfrm>
        </p:spPr>
        <p:txBody>
          <a:bodyPr/>
          <a:lstStyle/>
          <a:p>
            <a:r>
              <a:rPr lang="en-US" dirty="0"/>
              <a:t>HYDROGRAPHS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>
          <a:xfrm>
            <a:off x="2362200" y="6263640"/>
            <a:ext cx="7589520" cy="594360"/>
          </a:xfrm>
        </p:spPr>
        <p:txBody>
          <a:bodyPr>
            <a:normAutofit/>
          </a:bodyPr>
          <a:lstStyle/>
          <a:p>
            <a:r>
              <a:rPr lang="en-US" sz="2400" dirty="0"/>
              <a:t>Floods 2013 in </a:t>
            </a:r>
            <a:r>
              <a:rPr lang="en-US" sz="2400" dirty="0" err="1"/>
              <a:t>Sindh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074" name="Picture 2" descr="C:\Users\master\Downloads\flood map in Pakistan2.jpg"/>
          <p:cNvPicPr>
            <a:picLocks noChangeAspect="1" noChangeArrowheads="1"/>
          </p:cNvPicPr>
          <p:nvPr/>
        </p:nvPicPr>
        <p:blipFill>
          <a:blip r:embed="rId3"/>
          <a:srcRect b="15493"/>
          <a:stretch>
            <a:fillRect/>
          </a:stretch>
        </p:blipFill>
        <p:spPr bwMode="auto">
          <a:xfrm>
            <a:off x="1524000" y="-1"/>
            <a:ext cx="9144000" cy="546804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6" name="Picture 2" descr="http://www.sida.org.pk/download/flood/2013/30-8-13/GSK300813-1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7530"/>
            <a:ext cx="9290860" cy="6374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818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AE1AF813-2D2F-4B78-9216-388AF161E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C47181D2-95D5-4439-9BDF-14D4FDC7B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2050" name="Picture 2" descr="http://www.sida.org.pk/download/flood/2013/30-8-13/GSK300813-2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0" b="3767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F1927039-71DE-4AA5-9A86-9CA42D795FDD}" type="slidenum">
              <a:rPr lang="en-US" smtClean="0"/>
              <a:pPr defTabSz="457200"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03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AE1AF813-2D2F-4B78-9216-388AF161E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C47181D2-95D5-4439-9BDF-14D4FDC7B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3074" name="Picture 2" descr="http://www.sida.org.pk/download/flood/2013/30-8-13/GSK300813-4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F1927039-71DE-4AA5-9A86-9CA42D795FDD}" type="slidenum">
              <a:rPr lang="en-US" smtClean="0"/>
              <a:pPr defTabSz="457200"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95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AE1AF813-2D2F-4B78-9216-388AF161E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C47181D2-95D5-4439-9BDF-14D4FDC7B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4098" name="Picture 2" descr="http://www.sida.org.pk/download/flood/2013/30-8-13/GSK300813-6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2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F1927039-71DE-4AA5-9A86-9CA42D795FDD}" type="slidenum">
              <a:rPr lang="en-US" smtClean="0"/>
              <a:pPr defTabSz="457200"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0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84FC19-1DED-43A1-8C5B-D0C2518670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8320"/>
          </a:solidFill>
          <a:ln w="9525">
            <a:solidFill>
              <a:srgbClr val="F5832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A89790-52BC-4794-8CC1-B9EFD6EA842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14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lang="en-PK" sz="3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03</a:t>
            </a:r>
            <a:endParaRPr kumimoji="0" sz="3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95C000-0A48-45E9-9AFC-1B9ADC0B647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7524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lang="en-GB" sz="3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Rainfall–runoff modeling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F7354D-FC6C-4A54-9CAB-E9D7903DFC6F}"/>
              </a:ext>
            </a:extLst>
          </p:cNvPr>
          <p:cNvSpPr>
            <a:spLocks noGrp="1"/>
          </p:cNvSpPr>
          <p:nvPr/>
        </p:nvSpPr>
        <p:spPr>
          <a:xfrm>
            <a:off x="546537" y="3476625"/>
            <a:ext cx="8108731" cy="16841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E5ECF4"/>
                </a:solidFill>
                <a:latin typeface="Arial"/>
                <a:ea typeface="Arial"/>
                <a:cs typeface="Arial"/>
              </a:defRPr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From observed rainfall and catchment characteristics to predicted discharge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E6F9C1-92D8-49AA-8D1E-FDF671238C2A}"/>
              </a:ext>
            </a:extLst>
          </p:cNvPr>
          <p:cNvSpPr>
            <a:spLocks noGrp="1"/>
          </p:cNvSpPr>
          <p:nvPr/>
        </p:nvSpPr>
        <p:spPr>
          <a:xfrm>
            <a:off x="8858250" y="1428750"/>
            <a:ext cx="2000250" cy="400050"/>
          </a:xfrm>
          <a:prstGeom prst="roundRect">
            <a:avLst>
              <a:gd name="adj" fmla="val 28571"/>
            </a:avLst>
          </a:prstGeom>
          <a:solidFill>
            <a:srgbClr val="5792C9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364005-FA71-46DB-AA2E-FF1527059E58}"/>
              </a:ext>
            </a:extLst>
          </p:cNvPr>
          <p:cNvSpPr>
            <a:spLocks noGrp="1"/>
          </p:cNvSpPr>
          <p:nvPr/>
        </p:nvSpPr>
        <p:spPr>
          <a:xfrm>
            <a:off x="8858250" y="2143125"/>
            <a:ext cx="1790700" cy="400050"/>
          </a:xfrm>
          <a:prstGeom prst="roundRect">
            <a:avLst>
              <a:gd name="adj" fmla="val 28571"/>
            </a:avLst>
          </a:prstGeom>
          <a:solidFill>
            <a:srgbClr val="5792C9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CC02DD-6004-4908-96C1-A3F97F648E9E}"/>
              </a:ext>
            </a:extLst>
          </p:cNvPr>
          <p:cNvSpPr>
            <a:spLocks noGrp="1"/>
          </p:cNvSpPr>
          <p:nvPr/>
        </p:nvSpPr>
        <p:spPr>
          <a:xfrm>
            <a:off x="8858250" y="2857500"/>
            <a:ext cx="1581150" cy="400050"/>
          </a:xfrm>
          <a:prstGeom prst="roundRect">
            <a:avLst>
              <a:gd name="adj" fmla="val 28571"/>
            </a:avLst>
          </a:prstGeom>
          <a:solidFill>
            <a:srgbClr val="5792C9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6AA760-FDE0-4C92-BADE-D0F593178D99}"/>
              </a:ext>
            </a:extLst>
          </p:cNvPr>
          <p:cNvSpPr>
            <a:spLocks noGrp="1"/>
          </p:cNvSpPr>
          <p:nvPr/>
        </p:nvSpPr>
        <p:spPr>
          <a:xfrm>
            <a:off x="8858250" y="3571875"/>
            <a:ext cx="1371600" cy="400050"/>
          </a:xfrm>
          <a:prstGeom prst="roundRect">
            <a:avLst>
              <a:gd name="adj" fmla="val 28571"/>
            </a:avLst>
          </a:prstGeom>
          <a:solidFill>
            <a:srgbClr val="5792C9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066251-6320-4ABE-B7BB-0160A464BF1E}"/>
              </a:ext>
            </a:extLst>
          </p:cNvPr>
          <p:cNvSpPr>
            <a:spLocks noGrp="1"/>
          </p:cNvSpPr>
          <p:nvPr/>
        </p:nvSpPr>
        <p:spPr>
          <a:xfrm>
            <a:off x="8858250" y="4286250"/>
            <a:ext cx="1162050" cy="400050"/>
          </a:xfrm>
          <a:prstGeom prst="roundRect">
            <a:avLst>
              <a:gd name="adj" fmla="val 28571"/>
            </a:avLst>
          </a:prstGeom>
          <a:solidFill>
            <a:srgbClr val="5792C9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2206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682872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Rainfall–</a:t>
            </a:r>
            <a:r>
              <a:rPr lang="en-US"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R</a:t>
            </a:r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unoff </a:t>
            </a:r>
            <a:r>
              <a:rPr lang="en-US"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M</a:t>
            </a:r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odeling </a:t>
            </a:r>
            <a:r>
              <a:rPr lang="en-US"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C</a:t>
            </a:r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b="1" dirty="0">
                <a:solidFill>
                  <a:schemeClr val="accent5">
                    <a:lumMod val="75000"/>
                  </a:schemeClr>
                </a:solidFill>
              </a:rPr>
              <a:t>Objective:</a:t>
            </a:r>
            <a:r>
              <a:rPr sz="2400" dirty="0"/>
              <a:t> estimate the runoff or streamflow response produced by a rainfall event or rainfall time series.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Inputs may include rainfall, soil properties, land cover, topography</a:t>
            </a:r>
            <a:r>
              <a:rPr lang="en-US" sz="2400" dirty="0"/>
              <a:t>,</a:t>
            </a:r>
            <a:r>
              <a:rPr sz="2400" dirty="0"/>
              <a:t> and antecedent conditions.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Observed discharge is used for calibration and evaluation where measurements are available.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Model choice depends on the purpose, data availability, catchment scale</a:t>
            </a:r>
            <a:r>
              <a:rPr lang="en-US" sz="2400" dirty="0"/>
              <a:t>,</a:t>
            </a:r>
            <a:r>
              <a:rPr sz="2400" dirty="0"/>
              <a:t> and required level of detail.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25CC7-AA26-DC99-1668-2C4DC33C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8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60922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A simple </a:t>
            </a:r>
            <a:r>
              <a:rPr lang="en-US"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C</a:t>
            </a:r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onceptual </a:t>
            </a:r>
            <a:r>
              <a:rPr lang="en-US"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M</a:t>
            </a:r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920240" cy="1143000"/>
          </a:xfrm>
          <a:prstGeom prst="roundRect">
            <a:avLst/>
          </a:prstGeom>
          <a:solidFill>
            <a:srgbClr val="EBF2F6"/>
          </a:solidFill>
          <a:ln>
            <a:solidFill>
              <a:srgbClr val="36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rPr dirty="0">
                <a:solidFill>
                  <a:schemeClr val="accent5">
                    <a:lumMod val="75000"/>
                  </a:schemeClr>
                </a:solidFill>
              </a:rPr>
              <a:t>Rainfall</a:t>
            </a:r>
            <a:br>
              <a:rPr dirty="0">
                <a:solidFill>
                  <a:schemeClr val="accent5">
                    <a:lumMod val="75000"/>
                  </a:schemeClr>
                </a:solidFill>
              </a:rPr>
            </a:br>
            <a:r>
              <a:rPr dirty="0">
                <a:solidFill>
                  <a:schemeClr val="accent5">
                    <a:lumMod val="75000"/>
                  </a:schemeClr>
                </a:solidFill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103120"/>
            <a:ext cx="1920240" cy="1143000"/>
          </a:xfrm>
          <a:prstGeom prst="roundRect">
            <a:avLst/>
          </a:prstGeom>
          <a:solidFill>
            <a:srgbClr val="EBF2F6"/>
          </a:solidFill>
          <a:ln>
            <a:solidFill>
              <a:srgbClr val="36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rPr dirty="0">
                <a:solidFill>
                  <a:schemeClr val="accent5">
                    <a:lumMod val="75000"/>
                  </a:schemeClr>
                </a:solidFill>
              </a:rPr>
              <a:t>Catchment</a:t>
            </a:r>
            <a:br>
              <a:rPr dirty="0">
                <a:solidFill>
                  <a:schemeClr val="accent5">
                    <a:lumMod val="75000"/>
                  </a:schemeClr>
                </a:solidFill>
              </a:rPr>
            </a:br>
            <a:r>
              <a:rPr dirty="0">
                <a:solidFill>
                  <a:schemeClr val="accent5">
                    <a:lumMod val="75000"/>
                  </a:schemeClr>
                </a:solidFill>
              </a:rPr>
              <a:t>Processes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103120"/>
            <a:ext cx="1920240" cy="1143000"/>
          </a:xfrm>
          <a:prstGeom prst="roundRect">
            <a:avLst/>
          </a:prstGeom>
          <a:solidFill>
            <a:srgbClr val="EBF2F6"/>
          </a:solidFill>
          <a:ln>
            <a:solidFill>
              <a:srgbClr val="36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rPr dirty="0">
                <a:solidFill>
                  <a:schemeClr val="accent5">
                    <a:lumMod val="75000"/>
                  </a:schemeClr>
                </a:solidFill>
              </a:rPr>
              <a:t>Runoff</a:t>
            </a:r>
            <a:br>
              <a:rPr dirty="0">
                <a:solidFill>
                  <a:schemeClr val="accent5">
                    <a:lumMod val="75000"/>
                  </a:schemeClr>
                </a:solidFill>
              </a:rPr>
            </a:br>
            <a:r>
              <a:rPr dirty="0">
                <a:solidFill>
                  <a:schemeClr val="accent5">
                    <a:lumMod val="75000"/>
                  </a:schemeClr>
                </a:solidFill>
              </a:rPr>
              <a:t>Transformation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2103120"/>
            <a:ext cx="1920240" cy="1143000"/>
          </a:xfrm>
          <a:prstGeom prst="roundRect">
            <a:avLst/>
          </a:prstGeom>
          <a:solidFill>
            <a:srgbClr val="EBF2F6"/>
          </a:solidFill>
          <a:ln>
            <a:solidFill>
              <a:srgbClr val="36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rPr dirty="0">
                <a:solidFill>
                  <a:schemeClr val="accent5">
                    <a:lumMod val="75000"/>
                  </a:schemeClr>
                </a:solidFill>
              </a:rPr>
              <a:t>Discharge</a:t>
            </a:r>
            <a:br>
              <a:rPr dirty="0">
                <a:solidFill>
                  <a:schemeClr val="accent5">
                    <a:lumMod val="75000"/>
                  </a:schemeClr>
                </a:solidFill>
              </a:rPr>
            </a:br>
            <a:r>
              <a:rPr dirty="0">
                <a:solidFill>
                  <a:schemeClr val="accent5">
                    <a:lumMod val="75000"/>
                  </a:schemeClr>
                </a:solidFill>
              </a:rPr>
              <a:t>Output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51760" y="2423160"/>
            <a:ext cx="685800" cy="457200"/>
          </a:xfrm>
          <a:prstGeom prst="rightArrow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5577840" y="2423160"/>
            <a:ext cx="685800" cy="457200"/>
          </a:xfrm>
          <a:prstGeom prst="rightArrow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8321040" y="2423160"/>
            <a:ext cx="685800" cy="457200"/>
          </a:xfrm>
          <a:prstGeom prst="rightArrow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126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Losses and storage control how much rainfall becomes effective rainfall.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Catchment routing controls when that water reaches the outlet.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29FBCED-5222-E881-EF8A-CE534101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0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A65042B-8B0A-4F74-A883-D3949124C3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6AAB"/>
          </a:solidFill>
          <a:ln w="9525">
            <a:solidFill>
              <a:srgbClr val="116AA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AE1527-614B-4501-91EB-AC48C92CB021}"/>
              </a:ext>
            </a:extLst>
          </p:cNvPr>
          <p:cNvSpPr>
            <a:spLocks noGrp="1"/>
          </p:cNvSpPr>
          <p:nvPr/>
        </p:nvSpPr>
        <p:spPr>
          <a:xfrm>
            <a:off x="514350" y="1076325"/>
            <a:ext cx="895350" cy="47625"/>
          </a:xfrm>
          <a:prstGeom prst="rect">
            <a:avLst/>
          </a:prstGeom>
          <a:solidFill>
            <a:srgbClr val="F58320"/>
          </a:solidFill>
          <a:ln w="9525">
            <a:solidFill>
              <a:srgbClr val="F5832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E29F0-0488-4C0B-830E-5480434DED65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116AAB"/>
                </a:solidFill>
                <a:latin typeface="Arial"/>
                <a:ea typeface="Arial"/>
                <a:cs typeface="Arial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6AA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RAINFALL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495030-25EB-455A-BF13-58EB7095C7D5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25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2625" b="1" i="0" u="none" strike="noStrike" kern="1200" cap="none" spc="0" normalizeH="0" baseline="0" noProof="0" dirty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Gauge and </a:t>
            </a:r>
            <a:r>
              <a:rPr kumimoji="0" lang="en-US" sz="2625" b="1" i="0" u="none" strike="noStrike" kern="1200" cap="none" spc="0" normalizeH="0" baseline="0" noProof="0" dirty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</a:t>
            </a:r>
            <a:r>
              <a:rPr kumimoji="0" sz="2625" b="1" i="0" u="none" strike="noStrike" kern="1200" cap="none" spc="0" normalizeH="0" baseline="0" noProof="0" dirty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atellite data are </a:t>
            </a:r>
            <a:r>
              <a:rPr kumimoji="0" lang="en-US" sz="2625" b="1" i="0" u="none" strike="noStrike" kern="1200" cap="none" spc="0" normalizeH="0" baseline="0" noProof="0" dirty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</a:t>
            </a:r>
            <a:r>
              <a:rPr kumimoji="0" sz="2625" b="1" i="0" u="none" strike="noStrike" kern="1200" cap="none" spc="0" normalizeH="0" baseline="0" noProof="0" dirty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omplements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84AB3842-A5C7-43B0-9841-E3A5D461B0A6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953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8FF911-5941-422A-9D75-B00EA1A1D1B3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5467350" cy="2390775"/>
          </a:xfrm>
          <a:prstGeom prst="rect">
            <a:avLst/>
          </a:prstGeom>
          <a:solidFill>
            <a:srgbClr val="E5ECF4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386586-49A2-40F4-B518-94D7A7C539BB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5467350" cy="76200"/>
          </a:xfrm>
          <a:prstGeom prst="rect">
            <a:avLst/>
          </a:prstGeom>
          <a:solidFill>
            <a:srgbClr val="116AAB"/>
          </a:solidFill>
          <a:ln w="9525">
            <a:solidFill>
              <a:srgbClr val="116AA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1E93C5-4CB7-4D60-B505-A08F53081D2A}"/>
              </a:ext>
            </a:extLst>
          </p:cNvPr>
          <p:cNvSpPr>
            <a:spLocks noGrp="1"/>
          </p:cNvSpPr>
          <p:nvPr/>
        </p:nvSpPr>
        <p:spPr>
          <a:xfrm>
            <a:off x="704850" y="1562100"/>
            <a:ext cx="5086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Gauge strengths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F174B0-9204-4B79-A210-668B24C4A312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50863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Direct point measurement; long local records where maintained.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D98468-70C7-4F57-A0D8-0057B242AFA2}"/>
              </a:ext>
            </a:extLst>
          </p:cNvPr>
          <p:cNvSpPr>
            <a:spLocks noGrp="1"/>
          </p:cNvSpPr>
          <p:nvPr/>
        </p:nvSpPr>
        <p:spPr>
          <a:xfrm>
            <a:off x="6210300" y="1314450"/>
            <a:ext cx="5467350" cy="2390775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EA4A2A-7B25-4977-AB6D-433CBF9B23FB}"/>
              </a:ext>
            </a:extLst>
          </p:cNvPr>
          <p:cNvSpPr>
            <a:spLocks noGrp="1"/>
          </p:cNvSpPr>
          <p:nvPr/>
        </p:nvSpPr>
        <p:spPr>
          <a:xfrm>
            <a:off x="6210300" y="1314450"/>
            <a:ext cx="5467350" cy="76200"/>
          </a:xfrm>
          <a:prstGeom prst="rect">
            <a:avLst/>
          </a:prstGeom>
          <a:solidFill>
            <a:srgbClr val="F58320"/>
          </a:solidFill>
          <a:ln w="9525">
            <a:solidFill>
              <a:srgbClr val="F5832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A04B67-3C5C-4B83-B2B7-2862794BAF65}"/>
              </a:ext>
            </a:extLst>
          </p:cNvPr>
          <p:cNvSpPr>
            <a:spLocks noGrp="1"/>
          </p:cNvSpPr>
          <p:nvPr/>
        </p:nvSpPr>
        <p:spPr>
          <a:xfrm>
            <a:off x="6400800" y="1562100"/>
            <a:ext cx="5086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Gauge limitations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F6C5C5-B5E1-4B73-8600-1F28C9FC40D1}"/>
              </a:ext>
            </a:extLst>
          </p:cNvPr>
          <p:cNvSpPr>
            <a:spLocks noGrp="1"/>
          </p:cNvSpPr>
          <p:nvPr/>
        </p:nvSpPr>
        <p:spPr>
          <a:xfrm>
            <a:off x="6400800" y="2114550"/>
            <a:ext cx="50863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Sparse coverage; missing values; wind/exposure errors.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80E1C7-0761-4CB2-AD59-77A0A5977886}"/>
              </a:ext>
            </a:extLst>
          </p:cNvPr>
          <p:cNvSpPr>
            <a:spLocks noGrp="1"/>
          </p:cNvSpPr>
          <p:nvPr/>
        </p:nvSpPr>
        <p:spPr>
          <a:xfrm>
            <a:off x="514350" y="3933825"/>
            <a:ext cx="5467350" cy="2390775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FC0F2B-8147-4CB9-9C53-17006776459F}"/>
              </a:ext>
            </a:extLst>
          </p:cNvPr>
          <p:cNvSpPr>
            <a:spLocks noGrp="1"/>
          </p:cNvSpPr>
          <p:nvPr/>
        </p:nvSpPr>
        <p:spPr>
          <a:xfrm>
            <a:off x="514350" y="3933825"/>
            <a:ext cx="5467350" cy="76200"/>
          </a:xfrm>
          <a:prstGeom prst="rect">
            <a:avLst/>
          </a:prstGeom>
          <a:solidFill>
            <a:srgbClr val="6C8E5B"/>
          </a:solidFill>
          <a:ln w="9525">
            <a:solidFill>
              <a:srgbClr val="6C8E5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297295-F655-4FBA-B119-FBE7BDE20A6B}"/>
              </a:ext>
            </a:extLst>
          </p:cNvPr>
          <p:cNvSpPr>
            <a:spLocks noGrp="1"/>
          </p:cNvSpPr>
          <p:nvPr/>
        </p:nvSpPr>
        <p:spPr>
          <a:xfrm>
            <a:off x="704850" y="4181475"/>
            <a:ext cx="5086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Satellite strengths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CE2F49-8990-404A-98E4-C842548CE31D}"/>
              </a:ext>
            </a:extLst>
          </p:cNvPr>
          <p:cNvSpPr>
            <a:spLocks noGrp="1"/>
          </p:cNvSpPr>
          <p:nvPr/>
        </p:nvSpPr>
        <p:spPr>
          <a:xfrm>
            <a:off x="704850" y="4733925"/>
            <a:ext cx="50863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Spatially complete, near-real-time products.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E3C2E9-1E9B-4BC2-9B1C-FD4CCD92BB7F}"/>
              </a:ext>
            </a:extLst>
          </p:cNvPr>
          <p:cNvSpPr>
            <a:spLocks noGrp="1"/>
          </p:cNvSpPr>
          <p:nvPr/>
        </p:nvSpPr>
        <p:spPr>
          <a:xfrm>
            <a:off x="6210300" y="3933825"/>
            <a:ext cx="5467350" cy="2390775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39B802-057F-4341-9C4E-F525EE7FF918}"/>
              </a:ext>
            </a:extLst>
          </p:cNvPr>
          <p:cNvSpPr>
            <a:spLocks noGrp="1"/>
          </p:cNvSpPr>
          <p:nvPr/>
        </p:nvSpPr>
        <p:spPr>
          <a:xfrm>
            <a:off x="6210300" y="3933825"/>
            <a:ext cx="5467350" cy="76200"/>
          </a:xfrm>
          <a:prstGeom prst="rect">
            <a:avLst/>
          </a:prstGeom>
          <a:solidFill>
            <a:srgbClr val="5792C9"/>
          </a:solidFill>
          <a:ln w="9525">
            <a:solidFill>
              <a:srgbClr val="5792C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9D8B06-06AD-4C4E-A241-DF39562F1439}"/>
              </a:ext>
            </a:extLst>
          </p:cNvPr>
          <p:cNvSpPr>
            <a:spLocks noGrp="1"/>
          </p:cNvSpPr>
          <p:nvPr/>
        </p:nvSpPr>
        <p:spPr>
          <a:xfrm>
            <a:off x="6400800" y="4181475"/>
            <a:ext cx="5086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Satellite limitations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CFB559-C2EF-429D-9A61-48956F52550C}"/>
              </a:ext>
            </a:extLst>
          </p:cNvPr>
          <p:cNvSpPr>
            <a:spLocks noGrp="1"/>
          </p:cNvSpPr>
          <p:nvPr/>
        </p:nvSpPr>
        <p:spPr>
          <a:xfrm>
            <a:off x="6400800" y="4733925"/>
            <a:ext cx="50863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Bias in mountains and intense localized storms; validate locally.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7416AE-0B96-4C22-8802-A4E3AC29DED4}"/>
              </a:ext>
            </a:extLst>
          </p:cNvPr>
          <p:cNvSpPr>
            <a:spLocks noGrp="1"/>
          </p:cNvSpPr>
          <p:nvPr/>
        </p:nvSpPr>
        <p:spPr>
          <a:xfrm>
            <a:off x="7905750" y="6496050"/>
            <a:ext cx="3771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Rainfall–Runoff Processes in Dryland Watersheds</a:t>
            </a:r>
          </a:p>
        </p:txBody>
      </p:sp>
    </p:spTree>
    <p:extLst>
      <p:ext uri="{BB962C8B-B14F-4D97-AF65-F5344CB8AC3E}">
        <p14:creationId xmlns:p14="http://schemas.microsoft.com/office/powerpoint/2010/main" val="2136423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900" b="1">
                <a:solidFill>
                  <a:srgbClr val="24445F"/>
                </a:solidFill>
                <a:latin typeface="Aptos"/>
              </a:defRPr>
            </a:pPr>
            <a:r>
              <a:rPr kumimoji="0" sz="2900" b="1" i="0" u="none" strike="noStrike" kern="1200" cap="none" spc="0" normalizeH="0" baseline="0" noProof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Choosing a rainfall–runoff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005840" cy="502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0642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900" b="0">
                <a:solidFill>
                  <a:srgbClr val="1766A3"/>
                </a:solidFill>
                <a:latin typeface="Aptos"/>
              </a:defRPr>
            </a:pP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1766A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method should match the decision, watershed scale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1766A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1766A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and available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88136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sz="2300" b="1" dirty="0">
                <a:solidFill>
                  <a:srgbClr val="24445F"/>
                </a:solidFill>
                <a:latin typeface="Aptos"/>
              </a:rPr>
              <a:t>Rational Method: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Estimates peak discharge for suitable small catchments; not event volume.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sz="2300" b="1" dirty="0">
                <a:solidFill>
                  <a:srgbClr val="24445F"/>
                </a:solidFill>
                <a:latin typeface="Aptos"/>
              </a:rPr>
              <a:t>Curve Number Method: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Estimates event runoff depth from rainfall, soil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and land-cover conditions.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sz="2300" b="1" u="none" strike="noStrike" kern="1200" cap="none" spc="0" normalizeH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Hydrological </a:t>
            </a:r>
            <a:r>
              <a:rPr kumimoji="0" lang="en-US" sz="2300" b="1" u="none" strike="noStrike" kern="1200" cap="none" spc="0" normalizeH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and Hydraulic (H&amp;H) </a:t>
            </a:r>
            <a:r>
              <a:rPr kumimoji="0" sz="2300" b="1" u="none" strike="noStrike" kern="1200" cap="none" spc="0" normalizeH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</a:t>
            </a:r>
            <a:r>
              <a:rPr kumimoji="0" lang="en-US" sz="2300" b="1" u="none" strike="noStrike" kern="1200" cap="none" spc="0" normalizeH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ing</a:t>
            </a:r>
            <a:r>
              <a:rPr kumimoji="0" sz="2300" b="1" u="none" strike="noStrike" kern="1200" cap="none" spc="0" normalizeH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: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Can simulate runoff timing and routing when suitable data are available.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 local evidence and check assumptions before accepting results.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10E7F-A871-A689-C984-FF9390A8A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84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1921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 Display"/>
                <a:ea typeface="Calibri"/>
                <a:cs typeface="Calibri"/>
              </a:rPr>
              <a:t>Regression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 Display"/>
                <a:ea typeface="Calibri"/>
                <a:cs typeface="Calibri"/>
              </a:rPr>
              <a:t>or ML </a:t>
            </a: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 Display"/>
                <a:ea typeface="Calibri"/>
                <a:cs typeface="Calibri"/>
              </a:rPr>
              <a:t>as a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 Display"/>
                <a:ea typeface="Calibri"/>
                <a:cs typeface="Calibri"/>
              </a:rPr>
              <a:t>H</a:t>
            </a: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 Display"/>
                <a:ea typeface="Calibri"/>
                <a:cs typeface="Calibri"/>
              </a:rPr>
              <a:t>ydrologic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 Display"/>
                <a:ea typeface="Calibri"/>
                <a:cs typeface="Calibri"/>
              </a:rPr>
              <a:t>A</a:t>
            </a: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 Display"/>
                <a:ea typeface="Calibri"/>
                <a:cs typeface="Calibri"/>
              </a:rPr>
              <a:t>nalysis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 Display"/>
                <a:ea typeface="Calibri"/>
                <a:cs typeface="Calibri"/>
              </a:rPr>
              <a:t>T</a:t>
            </a: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 Display"/>
                <a:ea typeface="Calibri"/>
                <a:cs typeface="Calibri"/>
              </a:rPr>
              <a:t>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solidFill>
                  <a:srgbClr val="2D2D2D"/>
                </a:solidFill>
                <a:latin typeface="Apto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Regression can relate runoff or streamflow to explanatory variables when a suitable data record is available.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solidFill>
                  <a:srgbClr val="2D2D2D"/>
                </a:solidFill>
                <a:latin typeface="Aptos"/>
              </a:defRPr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R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egression works best for long time periods.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solidFill>
                  <a:srgbClr val="2D2D2D"/>
                </a:solidFill>
                <a:latin typeface="Apto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Possible predictors may include rainfall characteristics, basin descriptors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,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 or other hydrometeorological variables.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solidFill>
                  <a:srgbClr val="2D2D2D"/>
                </a:solidFill>
                <a:latin typeface="Apto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Regression is an empirical relationship; it should be evaluated using appropriate goodness-of-fit and validation measures.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D0CCD-D3B1-1B66-B2DD-89154E27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5C08C-AF17-853C-BB43-0AD52358823B}"/>
              </a:ext>
            </a:extLst>
          </p:cNvPr>
          <p:cNvSpPr txBox="1"/>
          <p:nvPr/>
        </p:nvSpPr>
        <p:spPr>
          <a:xfrm>
            <a:off x="11475720" y="6368533"/>
            <a:ext cx="872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C1FF6DA9-008F-8B48-92A6-B652298478BF}" type="slidenum">
              <a:rPr lang="en-US" sz="1800" smtClean="0"/>
              <a:pPr/>
              <a:t>26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51530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900" b="1">
                <a:solidFill>
                  <a:srgbClr val="24445F"/>
                </a:solidFill>
                <a:latin typeface="Aptos"/>
              </a:defRPr>
            </a:pPr>
            <a:r>
              <a:rPr sz="3600" b="1" dirty="0">
                <a:solidFill>
                  <a:srgbClr val="156082"/>
                </a:solidFill>
                <a:latin typeface="Aptos Display"/>
                <a:ea typeface="Calibri"/>
                <a:cs typeface="Calibri"/>
              </a:rPr>
              <a:t>Can we trust the model results?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005840" cy="502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900" b="0">
                <a:solidFill>
                  <a:srgbClr val="1766A3"/>
                </a:solidFill>
                <a:latin typeface="Apto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766A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good-looking result is not enough without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88136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Check rainfall depth, timing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and spatial coverage.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Compare simulated and observed flood peaks, timing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and volume.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Test reasonable ranges of uncertain parameters.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Validate with another event or independent field evidence.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Report uncertainty rather than relying on one number.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2CFFB-28D6-F61E-54FA-EF618234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8182" y="6335569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58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607307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US"/>
              <a:t>4. Two families of runoff models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5132046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7E6EB"/>
                </a:solidFill>
              </a:defRPr>
            </a:pPr>
            <a:r>
              <a:rPr lang="en-US"/>
              <a:t>Peak runoff models and continuous runoff models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CF521-2D77-2CA4-5D21-B09B591E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15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cap="all">
                <a:effectLst>
                  <a:reflection blurRad="12700" stA="48000" endA="300" endPos="55000" dir="5400000" sy="-90000" algn="bl" rotWithShape="0"/>
                </a:effectLst>
              </a:rPr>
              <a:t>Runoff models</a:t>
            </a:r>
          </a:p>
        </p:txBody>
      </p:sp>
      <p:pic>
        <p:nvPicPr>
          <p:cNvPr id="6" name="Picture 5" descr="Underwater shot of a whirlpool">
            <a:extLst>
              <a:ext uri="{FF2B5EF4-FFF2-40B4-BE49-F238E27FC236}">
                <a16:creationId xmlns:a16="http://schemas.microsoft.com/office/drawing/2014/main" id="{3B9BA7FF-8E3E-42D9-BD0C-3FAF24D893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54" r="32726" b="1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r>
              <a:rPr lang="en-US" b="1"/>
              <a:t>Peak runoff models</a:t>
            </a:r>
          </a:p>
          <a:p>
            <a:pPr lvl="1"/>
            <a:r>
              <a:rPr lang="en-US"/>
              <a:t>Provide only the estimates of peak discharge from the watershed</a:t>
            </a:r>
          </a:p>
          <a:p>
            <a:r>
              <a:rPr lang="en-US" b="1"/>
              <a:t>Continuous runoff models</a:t>
            </a:r>
          </a:p>
          <a:p>
            <a:pPr lvl="1"/>
            <a:r>
              <a:rPr lang="en-US"/>
              <a:t>This class of runoff models provides storm hydrographs for a given rainfall hyetograph</a:t>
            </a:r>
          </a:p>
          <a:p>
            <a:pPr lvl="1"/>
            <a:r>
              <a:rPr lang="en-US"/>
              <a:t> Provide an estimate of runoff vs. time series</a:t>
            </a:r>
          </a:p>
          <a:p>
            <a:pPr lv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1927039-71DE-4AA5-9A86-9CA42D795FDD}" type="slidenum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29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849726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US"/>
              <a:t>5. Peak runoff models — the Rational Method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6859250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7E6EB"/>
                </a:solidFill>
              </a:defRPr>
            </a:pPr>
            <a:r>
              <a:rPr lang="en-US"/>
              <a:t>Assumptions, the peak-discharge formula and the runoff coefficient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CF521-2D77-2CA4-5D21-B09B591E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93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cap="all">
                <a:effectLst>
                  <a:reflection blurRad="12700" stA="48000" endA="300" endPos="55000" dir="5400000" sy="-90000" algn="bl" rotWithShape="0"/>
                </a:effectLst>
              </a:rPr>
              <a:t>Peak runoff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1927039-71DE-4AA5-9A86-9CA42D795FDD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BFC1366-67DA-5267-7807-4C99D79CC9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2777776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cap="all">
                <a:effectLst>
                  <a:reflection blurRad="12700" stA="48000" endA="300" endPos="55000" dir="5400000" sy="-90000" algn="bl" rotWithShape="0"/>
                </a:effectLst>
              </a:rPr>
              <a:t>Rational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1927039-71DE-4AA5-9A86-9CA42D795FDD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FDD3A62-22A3-D86C-430C-56476B487E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629660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237396"/>
          </a:xfrm>
        </p:spPr>
        <p:txBody>
          <a:bodyPr>
            <a:normAutofit/>
          </a:bodyPr>
          <a:lstStyle/>
          <a:p>
            <a:r>
              <a:rPr lang="en-US" sz="32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Rational Method: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2133600"/>
            <a:ext cx="8458200" cy="3735494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Catchment is small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(less than 200 acres)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Catchment is </a:t>
            </a:r>
            <a:r>
              <a:rPr lang="en-US" sz="2800" u="sng" dirty="0"/>
              <a:t>concentrated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Rainfall intensity is uniform over the area of study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runoff coefficient is </a:t>
            </a:r>
            <a:r>
              <a:rPr lang="en-US" sz="2800" u="sng" dirty="0"/>
              <a:t>catch-all coefficie</a:t>
            </a:r>
            <a:r>
              <a:rPr lang="en-US" sz="2800" dirty="0"/>
              <a:t>nt that incorporates all losses of the catchment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563" y="0"/>
            <a:ext cx="7543800" cy="780196"/>
          </a:xfrm>
        </p:spPr>
        <p:txBody>
          <a:bodyPr>
            <a:normAutofit/>
          </a:bodyPr>
          <a:lstStyle/>
          <a:p>
            <a:r>
              <a:rPr lang="en-US" sz="3200" cap="all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Rational method: formula</a:t>
            </a:r>
            <a:endParaRPr lang="en-IN" sz="3200" cap="all" dirty="0"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066800"/>
            <a:ext cx="9906000" cy="539298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Qp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 = 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CI</a:t>
            </a:r>
            <a:r>
              <a:rPr lang="en-US" sz="3200" baseline="-25000" dirty="0" err="1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>
              <a:spcAft>
                <a:spcPts val="1200"/>
              </a:spcAft>
            </a:pPr>
            <a:r>
              <a:rPr lang="en-US" sz="2400" dirty="0" err="1"/>
              <a:t>Qp</a:t>
            </a:r>
            <a:r>
              <a:rPr lang="en-US" sz="2400" dirty="0"/>
              <a:t> = Peak discharge (</a:t>
            </a:r>
            <a:r>
              <a:rPr lang="en-US" sz="2400" dirty="0" err="1"/>
              <a:t>cfs</a:t>
            </a:r>
            <a:r>
              <a:rPr lang="en-US" sz="2400" dirty="0"/>
              <a:t>)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C = runoff coefficient (function of soil type, </a:t>
            </a:r>
            <a:r>
              <a:rPr lang="en-US" sz="2400" dirty="0" err="1"/>
              <a:t>landuse</a:t>
            </a:r>
            <a:r>
              <a:rPr lang="en-US" sz="2400" dirty="0"/>
              <a:t>/cover, and watershed slope)</a:t>
            </a:r>
          </a:p>
          <a:p>
            <a:pPr>
              <a:spcAft>
                <a:spcPts val="1200"/>
              </a:spcAft>
            </a:pPr>
            <a:r>
              <a:rPr lang="en-US" sz="2400" dirty="0" err="1"/>
              <a:t>I</a:t>
            </a:r>
            <a:r>
              <a:rPr lang="en-US" sz="2400" baseline="-25000" dirty="0" err="1"/>
              <a:t>i</a:t>
            </a:r>
            <a:r>
              <a:rPr lang="en-US" sz="2400" dirty="0"/>
              <a:t> = average rainfall intensity (in/</a:t>
            </a:r>
            <a:r>
              <a:rPr lang="en-US" sz="2400" dirty="0" err="1"/>
              <a:t>hr</a:t>
            </a:r>
            <a:r>
              <a:rPr lang="en-US" sz="2400" dirty="0"/>
              <a:t>) </a:t>
            </a:r>
            <a:r>
              <a:rPr lang="en-IN" sz="2400" dirty="0"/>
              <a:t>for a storm duration equal to the time of concentration, T</a:t>
            </a:r>
            <a:r>
              <a:rPr lang="en-US" sz="2400" baseline="-25000" dirty="0"/>
              <a:t>c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A = area (acre)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For runoff coefficient: </a:t>
            </a:r>
            <a:r>
              <a:rPr lang="en-US" sz="2400" dirty="0"/>
              <a:t>refer to Bedient Table 6-5, page 381 (more detailed table in McCuen book --will be shared)</a:t>
            </a:r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9167" t="18148" r="31250" b="12963"/>
          <a:stretch/>
        </p:blipFill>
        <p:spPr>
          <a:xfrm>
            <a:off x="2819400" y="20741"/>
            <a:ext cx="6781800" cy="663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771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C3259A-459A-B893-3641-32EBF11D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856395"/>
          </a:xfrm>
        </p:spPr>
        <p:txBody>
          <a:bodyPr/>
          <a:lstStyle/>
          <a:p>
            <a:r>
              <a:rPr lang="en-PK" b="1" dirty="0">
                <a:latin typeface="Google Sans"/>
              </a:rPr>
              <a:t>Key Details of Table 7-9</a:t>
            </a:r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2C12C2-DB17-8965-948D-33C5462F9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91800" cy="48768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marL="0" lvl="0" indent="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PK" sz="2600" b="1" dirty="0">
                <a:solidFill>
                  <a:schemeClr val="accent2"/>
                </a:solidFill>
              </a:rPr>
              <a:t>Parameters covered:</a:t>
            </a:r>
          </a:p>
          <a:p>
            <a:pPr marL="742950" marR="0" lvl="1" indent="-28575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K" sz="2400" b="1" dirty="0"/>
              <a:t>Land Use / Cover Types: </a:t>
            </a:r>
            <a:r>
              <a:rPr lang="en-PK" sz="2400" dirty="0"/>
              <a:t>such as agricultural, residential, commercial, industrial, or open/natural land covers like grasslands and forests.</a:t>
            </a:r>
          </a:p>
          <a:p>
            <a:pPr marL="742950" marR="0" lvl="1" indent="-28575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K" sz="2400" b="1" dirty="0"/>
              <a:t>Hydrologic Soil Groups (A, B, C, D): </a:t>
            </a:r>
            <a:r>
              <a:rPr lang="en-PK" sz="2400" dirty="0"/>
              <a:t>Classifies soils based on infiltration and transmission rates (from high infiltration sand/gravel types in Group A to low infiltration clay types in Group D).</a:t>
            </a:r>
          </a:p>
          <a:p>
            <a:pPr marL="742950" marR="0" lvl="1" indent="-28575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K" sz="2400" b="1" dirty="0"/>
              <a:t>Slope Ranges: </a:t>
            </a:r>
            <a:r>
              <a:rPr lang="en-PK" sz="2400" dirty="0"/>
              <a:t>Categorized by general gradient classes (e.g., flat, rolling, steep)</a:t>
            </a:r>
            <a:r>
              <a:rPr lang="en-US" sz="2400" dirty="0"/>
              <a:t>,</a:t>
            </a:r>
            <a:r>
              <a:rPr lang="en-PK" sz="2400" dirty="0"/>
              <a:t> which affect the velocity and volume of surface runoff. </a:t>
            </a:r>
          </a:p>
          <a:p>
            <a:pPr marL="0" marR="0" lvl="0" indent="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PK" sz="2400" b="1" dirty="0">
                <a:solidFill>
                  <a:schemeClr val="accent2"/>
                </a:solidFill>
              </a:rPr>
              <a:t>Application: </a:t>
            </a:r>
            <a:r>
              <a:rPr lang="en-PK" sz="2400" dirty="0"/>
              <a:t>The table values represent empirical runoff coefficients (C) used in peak discharge equations</a:t>
            </a:r>
            <a:r>
              <a:rPr lang="en-US" sz="2400" dirty="0"/>
              <a:t>.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950981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1"/>
            <a:ext cx="8229600" cy="1219200"/>
          </a:xfrm>
        </p:spPr>
        <p:txBody>
          <a:bodyPr>
            <a:normAutofit/>
          </a:bodyPr>
          <a:lstStyle/>
          <a:p>
            <a:r>
              <a:rPr lang="en-US" sz="3200" cap="all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Runoff coefficient for nonhomogeneous area</a:t>
            </a:r>
            <a:endParaRPr lang="en-IN" sz="3200" cap="all" dirty="0"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667000"/>
            <a:ext cx="9906000" cy="3202094"/>
          </a:xfrm>
        </p:spPr>
        <p:txBody>
          <a:bodyPr>
            <a:normAutofit/>
          </a:bodyPr>
          <a:lstStyle/>
          <a:p>
            <a:r>
              <a:rPr lang="en-US" sz="2800" dirty="0"/>
              <a:t>Weighted runoff coefficient based on the area of each land use</a:t>
            </a:r>
          </a:p>
          <a:p>
            <a:endParaRPr lang="en-US" sz="2800" dirty="0"/>
          </a:p>
          <a:p>
            <a:pPr algn="ctr"/>
            <a:r>
              <a:rPr lang="en-US" sz="3200" dirty="0" err="1"/>
              <a:t>Cw</a:t>
            </a:r>
            <a:r>
              <a:rPr lang="en-US" sz="3200" dirty="0"/>
              <a:t> = ∑</a:t>
            </a:r>
            <a:r>
              <a:rPr lang="en-US" sz="3200" baseline="-25000" dirty="0"/>
              <a:t>j=1</a:t>
            </a:r>
            <a:r>
              <a:rPr lang="en-US" sz="3200" baseline="30000" dirty="0"/>
              <a:t>n</a:t>
            </a:r>
            <a:r>
              <a:rPr lang="en-US" sz="3200" dirty="0"/>
              <a:t> </a:t>
            </a:r>
            <a:r>
              <a:rPr lang="en-US" sz="3200" dirty="0" err="1"/>
              <a:t>Cj</a:t>
            </a:r>
            <a:r>
              <a:rPr lang="en-US" sz="3200" dirty="0"/>
              <a:t> Aj/ ∑</a:t>
            </a:r>
            <a:r>
              <a:rPr lang="en-US" sz="3200" baseline="-25000" dirty="0"/>
              <a:t>j=1</a:t>
            </a:r>
            <a:r>
              <a:rPr lang="en-US" sz="3200" baseline="30000" dirty="0"/>
              <a:t>n</a:t>
            </a:r>
            <a:r>
              <a:rPr lang="en-US" sz="3200" dirty="0"/>
              <a:t> Aj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6790385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US"/>
              <a:t>6. The NRCS Curve Number method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5392117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7E6EB"/>
                </a:solidFill>
              </a:defRPr>
            </a:pPr>
            <a:r>
              <a:rPr lang="en-US"/>
              <a:t>The rainfall–runoff equation, S and initial abstraction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CF521-2D77-2CA4-5D21-B09B591E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732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28600"/>
            <a:ext cx="8686800" cy="12192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11125200" cy="4664853"/>
          </a:xfrm>
        </p:spPr>
        <p:txBody>
          <a:bodyPr>
            <a:normAutofit/>
          </a:bodyPr>
          <a:lstStyle/>
          <a:p>
            <a:pPr marL="450850" indent="-4508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50850" algn="l"/>
              </a:tabLst>
            </a:pPr>
            <a:r>
              <a:rPr lang="en-US" sz="2800" dirty="0"/>
              <a:t>By </a:t>
            </a:r>
            <a:r>
              <a:rPr lang="en-IN" sz="2800" dirty="0"/>
              <a:t>the USA Soil Conservation Service (now called the Natural Resources Conservation Service), division of the USDA (US Department of Agriculture)</a:t>
            </a:r>
          </a:p>
          <a:p>
            <a:pPr marL="450850" indent="-4508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50850" algn="l"/>
              </a:tabLst>
            </a:pPr>
            <a:r>
              <a:rPr lang="en-IN" sz="2800" dirty="0"/>
              <a:t>To predict peak discharge due to a 24-hr storm event</a:t>
            </a:r>
          </a:p>
          <a:p>
            <a:pPr marL="450850" indent="-4508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50850" algn="l"/>
              </a:tabLst>
            </a:pPr>
            <a:r>
              <a:rPr lang="en-US" sz="2800" dirty="0"/>
              <a:t>Empirically derived relationships that use precipitation, land cover, hydrologic soil group, and watershed characteristics to estimate runoff depth. When combined with a unit hydrograph method, it can also be used to estimate peak discharge and runoff hydrographs.</a:t>
            </a:r>
          </a:p>
          <a:p>
            <a:pPr marL="450850" indent="-4508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50850" algn="l"/>
              </a:tabLst>
            </a:pPr>
            <a:r>
              <a:rPr lang="en-IN" sz="2800" dirty="0"/>
              <a:t>More sophisticated approach than the Rational Method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828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200" b="1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NRCS Runoff Curve Number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313596"/>
          </a:xfrm>
        </p:spPr>
        <p:txBody>
          <a:bodyPr>
            <a:normAutofit/>
          </a:bodyPr>
          <a:lstStyle/>
          <a:p>
            <a:r>
              <a:rPr lang="en-US" sz="40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NRCS Curve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1845734"/>
            <a:ext cx="10069484" cy="46140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Curve number is a coefficient that reduces the total precipitation to runoff potential, after “losses”</a:t>
            </a:r>
          </a:p>
          <a:p>
            <a:pPr lvl="1">
              <a:lnSpc>
                <a:spcPct val="100000"/>
              </a:lnSpc>
            </a:pPr>
            <a:r>
              <a:rPr lang="fr-FR" sz="2400" dirty="0">
                <a:solidFill>
                  <a:schemeClr val="accent1">
                    <a:lumMod val="50000"/>
                  </a:schemeClr>
                </a:solidFill>
              </a:rPr>
              <a:t>Evaporation</a:t>
            </a:r>
          </a:p>
          <a:p>
            <a:pPr lvl="1">
              <a:lnSpc>
                <a:spcPct val="100000"/>
              </a:lnSpc>
            </a:pPr>
            <a:r>
              <a:rPr lang="fr-FR" sz="2400" dirty="0">
                <a:solidFill>
                  <a:schemeClr val="accent1">
                    <a:lumMod val="50000"/>
                  </a:schemeClr>
                </a:solidFill>
              </a:rPr>
              <a:t>Absorption</a:t>
            </a:r>
          </a:p>
          <a:p>
            <a:pPr lvl="1">
              <a:lnSpc>
                <a:spcPct val="100000"/>
              </a:lnSpc>
            </a:pPr>
            <a:r>
              <a:rPr lang="fr-FR" sz="2400" dirty="0">
                <a:solidFill>
                  <a:schemeClr val="accent1">
                    <a:lumMod val="50000"/>
                  </a:schemeClr>
                </a:solidFill>
              </a:rPr>
              <a:t>Transpiration </a:t>
            </a:r>
          </a:p>
          <a:p>
            <a:pPr lvl="1">
              <a:lnSpc>
                <a:spcPct val="100000"/>
              </a:lnSpc>
            </a:pPr>
            <a:r>
              <a:rPr lang="fr-FR" sz="2400" dirty="0">
                <a:solidFill>
                  <a:schemeClr val="accent1">
                    <a:lumMod val="50000"/>
                  </a:schemeClr>
                </a:solidFill>
              </a:rPr>
              <a:t>Surface Storage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400" i="1" dirty="0">
                <a:solidFill>
                  <a:schemeClr val="accent1"/>
                </a:solidFill>
              </a:rPr>
              <a:t> The higher the CN value, the higher the runoff potential will be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It is essential to use the CN value that best mimics the </a:t>
            </a:r>
            <a:r>
              <a:rPr lang="en-US" sz="2400" b="1" u="sng" dirty="0">
                <a:solidFill>
                  <a:schemeClr val="accent1"/>
                </a:solidFill>
              </a:rPr>
              <a:t>Ground Cover Type</a:t>
            </a:r>
            <a:r>
              <a:rPr lang="en-US" sz="2400" dirty="0"/>
              <a:t> and </a:t>
            </a:r>
            <a:r>
              <a:rPr lang="en-US" sz="2400" b="1" u="sng" dirty="0">
                <a:solidFill>
                  <a:schemeClr val="accent1"/>
                </a:solidFill>
              </a:rPr>
              <a:t>Hydrologic Condition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267558"/>
          </a:xfrm>
        </p:spPr>
        <p:txBody>
          <a:bodyPr>
            <a:normAutofit/>
          </a:bodyPr>
          <a:lstStyle/>
          <a:p>
            <a:r>
              <a:rPr lang="en-US" sz="40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NRCS Rainfall-Runoff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1752600"/>
            <a:ext cx="11201400" cy="4630986"/>
          </a:xfrm>
        </p:spPr>
        <p:txBody>
          <a:bodyPr>
            <a:normAutofit/>
          </a:bodyPr>
          <a:lstStyle/>
          <a:p>
            <a:r>
              <a:rPr lang="en-US" dirty="0"/>
              <a:t> The following equation presents the relationship between accumulated rainfall and accumulated runoff</a:t>
            </a:r>
          </a:p>
          <a:p>
            <a:endParaRPr lang="en-US" sz="2100" dirty="0"/>
          </a:p>
          <a:p>
            <a:r>
              <a:rPr lang="en-US" sz="2100" dirty="0"/>
              <a:t>Where:</a:t>
            </a:r>
          </a:p>
          <a:p>
            <a:r>
              <a:rPr lang="en-US" sz="2100" dirty="0"/>
              <a:t>Q = accumulated direct runoff (inches </a:t>
            </a:r>
            <a:r>
              <a:rPr lang="en-US" sz="2100" dirty="0">
                <a:solidFill>
                  <a:srgbClr val="FF0000"/>
                </a:solidFill>
              </a:rPr>
              <a:t>or mm</a:t>
            </a:r>
            <a:r>
              <a:rPr lang="en-US" sz="2100" dirty="0"/>
              <a:t>) 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P = accumulated rainfall (potential maximum runoff) (inches </a:t>
            </a:r>
            <a:r>
              <a:rPr lang="en-US" sz="2100" dirty="0">
                <a:solidFill>
                  <a:srgbClr val="FF0000"/>
                </a:solidFill>
              </a:rPr>
              <a:t>or mm</a:t>
            </a:r>
            <a:r>
              <a:rPr lang="en-US" sz="2100" dirty="0"/>
              <a:t>)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I</a:t>
            </a:r>
            <a:r>
              <a:rPr lang="en-US" sz="2100" baseline="-25000" dirty="0"/>
              <a:t>a</a:t>
            </a:r>
            <a:r>
              <a:rPr lang="en-US" sz="2100" dirty="0"/>
              <a:t> = initial abstraction including surface storage, interception, evaporation, and infiltration prior to any runoff occurring (inches </a:t>
            </a:r>
            <a:r>
              <a:rPr lang="en-US" sz="2100" dirty="0">
                <a:solidFill>
                  <a:srgbClr val="FF0000"/>
                </a:solidFill>
              </a:rPr>
              <a:t>or mm</a:t>
            </a:r>
            <a:r>
              <a:rPr lang="en-US" sz="2100" dirty="0"/>
              <a:t>) </a:t>
            </a:r>
          </a:p>
          <a:p>
            <a:r>
              <a:rPr lang="en-US" sz="2100" dirty="0"/>
              <a:t>S = potential maximum soil moisture retention after runoff begins (inches </a:t>
            </a:r>
            <a:r>
              <a:rPr lang="en-US" sz="2100" dirty="0">
                <a:solidFill>
                  <a:srgbClr val="FF0000"/>
                </a:solidFill>
              </a:rPr>
              <a:t>or mm</a:t>
            </a:r>
            <a:r>
              <a:rPr lang="en-US" sz="2100" dirty="0"/>
              <a:t>)</a:t>
            </a:r>
          </a:p>
          <a:p>
            <a:r>
              <a:rPr lang="en-US" sz="2100" dirty="0">
                <a:solidFill>
                  <a:schemeClr val="accent2"/>
                </a:solidFill>
              </a:rPr>
              <a:t>Note: </a:t>
            </a:r>
            <a:r>
              <a:rPr lang="pt-BR" sz="2100" dirty="0">
                <a:solidFill>
                  <a:schemeClr val="accent2"/>
                </a:solidFill>
              </a:rPr>
              <a:t>for P ≤ I</a:t>
            </a:r>
            <a:r>
              <a:rPr lang="pt-BR" sz="2100" baseline="-25000" dirty="0">
                <a:solidFill>
                  <a:schemeClr val="accent2"/>
                </a:solidFill>
              </a:rPr>
              <a:t>a</a:t>
            </a:r>
            <a:r>
              <a:rPr lang="pt-BR" sz="2100" dirty="0">
                <a:solidFill>
                  <a:schemeClr val="accent2"/>
                </a:solidFill>
              </a:rPr>
              <a:t>, Q = 0</a:t>
            </a:r>
            <a:endParaRPr lang="en-US" sz="2100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8600" y="25146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Equation 1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09185" y="2206169"/>
            <a:ext cx="2101215" cy="982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86605"/>
            <a:ext cx="8016240" cy="1134289"/>
          </a:xfrm>
        </p:spPr>
        <p:txBody>
          <a:bodyPr>
            <a:normAutofit/>
          </a:bodyPr>
          <a:lstStyle/>
          <a:p>
            <a:r>
              <a:rPr lang="en-US" sz="40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potential maximum retention 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737361"/>
            <a:ext cx="10820400" cy="4968239"/>
          </a:xfrm>
        </p:spPr>
        <p:txBody>
          <a:bodyPr/>
          <a:lstStyle/>
          <a:p>
            <a:r>
              <a:rPr lang="en-US" sz="2800" dirty="0"/>
              <a:t>Potential maximum retention (S) can be calculated using Equation 2.</a:t>
            </a:r>
          </a:p>
          <a:p>
            <a:endParaRPr lang="en-US" dirty="0"/>
          </a:p>
          <a:p>
            <a:pPr>
              <a:buNone/>
            </a:pPr>
            <a:endParaRPr lang="en-US" sz="1900" dirty="0"/>
          </a:p>
          <a:p>
            <a:pPr>
              <a:buNone/>
            </a:pPr>
            <a:r>
              <a:rPr lang="en-US" sz="1900" dirty="0"/>
              <a:t>Where: </a:t>
            </a:r>
          </a:p>
          <a:p>
            <a:r>
              <a:rPr lang="en-US" sz="1900" dirty="0"/>
              <a:t>z=10 for English measurement units, or 254 for metric </a:t>
            </a:r>
          </a:p>
          <a:p>
            <a:r>
              <a:rPr lang="en-US" sz="1900" dirty="0"/>
              <a:t>CN = Runoff Curve Number (0 - 100)</a:t>
            </a:r>
          </a:p>
          <a:p>
            <a:r>
              <a:rPr lang="en-US" dirty="0"/>
              <a:t>Generally, I</a:t>
            </a:r>
            <a:r>
              <a:rPr lang="en-US" baseline="-25000" dirty="0"/>
              <a:t>a</a:t>
            </a:r>
            <a:r>
              <a:rPr lang="en-US" dirty="0"/>
              <a:t> may be estimated as  </a:t>
            </a:r>
            <a:r>
              <a:rPr lang="en-US" b="1" dirty="0"/>
              <a:t>I</a:t>
            </a:r>
            <a:r>
              <a:rPr lang="en-US" b="1" baseline="-25000" dirty="0"/>
              <a:t>a</a:t>
            </a:r>
            <a:r>
              <a:rPr lang="en-US" b="1" dirty="0"/>
              <a:t> = 0.2 S</a:t>
            </a:r>
            <a:r>
              <a:rPr lang="en-US" dirty="0"/>
              <a:t>		                          Equation 3</a:t>
            </a:r>
          </a:p>
          <a:p>
            <a:r>
              <a:rPr lang="en-US" dirty="0"/>
              <a:t>Substituting </a:t>
            </a:r>
            <a:r>
              <a:rPr lang="en-US" dirty="0" err="1"/>
              <a:t>I</a:t>
            </a:r>
            <a:r>
              <a:rPr lang="en-US" baseline="-25000" dirty="0" err="1"/>
              <a:t>a</a:t>
            </a:r>
            <a:r>
              <a:rPr lang="en-US" dirty="0"/>
              <a:t> value in Equation 1</a:t>
            </a:r>
          </a:p>
          <a:p>
            <a:endParaRPr lang="en-US" dirty="0"/>
          </a:p>
          <a:p>
            <a:pPr algn="ctr">
              <a:buNone/>
            </a:pPr>
            <a:endParaRPr lang="en-US" sz="1900" dirty="0"/>
          </a:p>
        </p:txBody>
      </p:sp>
      <p:sp>
        <p:nvSpPr>
          <p:cNvPr id="5" name="TextBox 4"/>
          <p:cNvSpPr txBox="1"/>
          <p:nvPr/>
        </p:nvSpPr>
        <p:spPr>
          <a:xfrm>
            <a:off x="7920989" y="27813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Equation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49244" y="5719846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Equation 4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5334000"/>
            <a:ext cx="21431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95800" y="2286000"/>
            <a:ext cx="264795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28600"/>
            <a:ext cx="8686800" cy="685800"/>
          </a:xfrm>
        </p:spPr>
        <p:txBody>
          <a:bodyPr>
            <a:noAutofit/>
          </a:bodyPr>
          <a:lstStyle/>
          <a:p>
            <a:r>
              <a:rPr lang="en-US" sz="40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NRCS Runoff equations</a:t>
            </a:r>
          </a:p>
        </p:txBody>
      </p:sp>
      <p:pic>
        <p:nvPicPr>
          <p:cNvPr id="4" name="Picture 3"/>
          <p:cNvPicPr/>
          <p:nvPr/>
        </p:nvPicPr>
        <p:blipFill>
          <a:blip r:embed="rId3"/>
          <a:srcRect l="8333" t="21368" r="6410" b="9402"/>
          <a:stretch>
            <a:fillRect/>
          </a:stretch>
        </p:blipFill>
        <p:spPr bwMode="auto">
          <a:xfrm>
            <a:off x="1752600" y="1295400"/>
            <a:ext cx="87630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rcRect l="19872" t="21581" r="5609" b="9402"/>
          <a:stretch>
            <a:fillRect/>
          </a:stretch>
        </p:blipFill>
        <p:spPr bwMode="auto">
          <a:xfrm>
            <a:off x="1828801" y="457200"/>
            <a:ext cx="8534399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627795"/>
          </a:xfrm>
        </p:spPr>
        <p:txBody>
          <a:bodyPr>
            <a:normAutofit fontScale="90000"/>
          </a:bodyPr>
          <a:lstStyle/>
          <a:p>
            <a:r>
              <a:rPr lang="en-US" dirty="0"/>
              <a:t>Curve Number CN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10972800" cy="5029200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The principal physical watershed characteristics affecting the relationship between rainfall and runoff are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accent2"/>
                </a:solidFill>
              </a:rPr>
              <a:t>land use, land treatment,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accent2"/>
                </a:solidFill>
              </a:rPr>
              <a:t>soil types, and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accent2"/>
                </a:solidFill>
              </a:rPr>
              <a:t>land slope</a:t>
            </a:r>
            <a:r>
              <a:rPr lang="en-US" sz="2000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NRCS method uses a combination of soil conditions and land uses (ground cover) to assign a runoff factor to an area (CN).</a:t>
            </a:r>
          </a:p>
          <a:p>
            <a:pPr>
              <a:lnSpc>
                <a:spcPct val="100000"/>
              </a:lnSpc>
            </a:pPr>
            <a:r>
              <a:rPr lang="en-US" dirty="0"/>
              <a:t>CN indicates the runoff potential of an area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accent2"/>
                </a:solidFill>
              </a:rPr>
              <a:t> The higher the CN, the higher the runoff potential</a:t>
            </a:r>
          </a:p>
          <a:p>
            <a:pPr>
              <a:lnSpc>
                <a:spcPct val="100000"/>
              </a:lnSpc>
            </a:pPr>
            <a:r>
              <a:rPr lang="en-US" dirty="0"/>
              <a:t>Soil properties also influence the relationship between runoff and rainfall since soils have differing rates of infiltration.</a:t>
            </a:r>
          </a:p>
          <a:p>
            <a:pPr>
              <a:lnSpc>
                <a:spcPct val="100000"/>
              </a:lnSpc>
            </a:pPr>
            <a:r>
              <a:rPr lang="en-US" dirty="0"/>
              <a:t>Based on infiltration rates, the NRCS has divided soils into four hydrologic soil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087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3"/>
            <a:ext cx="7543800" cy="761998"/>
          </a:xfrm>
        </p:spPr>
        <p:txBody>
          <a:bodyPr>
            <a:normAutofit/>
          </a:bodyPr>
          <a:lstStyle/>
          <a:p>
            <a:r>
              <a:rPr lang="en-US" sz="40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Hydrologic Soil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11125200" cy="51054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solidFill>
                  <a:schemeClr val="accent1"/>
                </a:solidFill>
              </a:rPr>
              <a:t>Hydrologic Group is a grouping of soils that have similar runoff potential under similar storm and land cover conditions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Group A Soils:  </a:t>
            </a:r>
            <a:r>
              <a:rPr lang="en-US" dirty="0"/>
              <a:t>High infiltration (low runoff). Sand, loamy sand, or sandy loam. Infiltration rate &gt; 0.3 inch/hr when wet.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Group B Soils:  </a:t>
            </a:r>
            <a:r>
              <a:rPr lang="en-US" dirty="0"/>
              <a:t>Moderate infiltration (moderate runoff).   Silt loam or loam. Infiltration rate 0.15 to 0.3 inch/hr when wet.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Group C Soils:  </a:t>
            </a:r>
            <a:r>
              <a:rPr lang="en-US" dirty="0"/>
              <a:t>Low infiltration (moderate to high runoff).   Sandy clay loam. Infiltration rate 0.05 to 0.15 inch/hr when wet.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Group D Soils:  </a:t>
            </a:r>
            <a:r>
              <a:rPr lang="en-US" dirty="0"/>
              <a:t>Very low infiltration (high runoff).   Clay loam, silty clay loam, sandy clay, silty clay, or clay. Infiltration rate 0 to 0.05 inch/hr when wet.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27D26"/>
                </a:solidFill>
              </a:rPr>
              <a:t>Effects of Urbanization: </a:t>
            </a:r>
            <a:r>
              <a:rPr lang="en-US" dirty="0"/>
              <a:t>Consider the effects of urbanization on the natural hydrologic soil group. For compacted soil, you should make appropriate changes to the selected soil group. 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27D26"/>
                </a:solidFill>
              </a:rPr>
              <a:t>Antecedent soil moisture conditions: </a:t>
            </a:r>
            <a:r>
              <a:rPr lang="en-US" dirty="0"/>
              <a:t>AMC I, II, and III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86605"/>
            <a:ext cx="8763000" cy="1084996"/>
          </a:xfrm>
        </p:spPr>
        <p:txBody>
          <a:bodyPr>
            <a:normAutofit/>
          </a:bodyPr>
          <a:lstStyle/>
          <a:p>
            <a:r>
              <a:rPr lang="en-US" sz="35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Antecedent soil moisture conditions-AMC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81200"/>
            <a:ext cx="10439400" cy="4343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AMC is the preceding relative moisture of the pervious surfaces prior to the rainfall event</a:t>
            </a:r>
          </a:p>
          <a:p>
            <a:endParaRPr lang="en-US" dirty="0"/>
          </a:p>
          <a:p>
            <a:pPr lvl="1"/>
            <a:r>
              <a:rPr lang="en-US" sz="2000" b="1" dirty="0">
                <a:solidFill>
                  <a:schemeClr val="accent2"/>
                </a:solidFill>
              </a:rPr>
              <a:t>Low</a:t>
            </a:r>
            <a:r>
              <a:rPr lang="en-US" sz="2000" dirty="0">
                <a:solidFill>
                  <a:schemeClr val="accent2"/>
                </a:solidFill>
              </a:rPr>
              <a:t>: </a:t>
            </a:r>
            <a:r>
              <a:rPr lang="en-US" sz="2000" dirty="0"/>
              <a:t>when there has been little preceding rainfall </a:t>
            </a:r>
          </a:p>
          <a:p>
            <a:pPr lvl="1"/>
            <a:r>
              <a:rPr lang="en-US" sz="2000" b="1" dirty="0">
                <a:solidFill>
                  <a:schemeClr val="accent2"/>
                </a:solidFill>
              </a:rPr>
              <a:t>High: </a:t>
            </a:r>
            <a:r>
              <a:rPr lang="en-US" sz="2000" dirty="0"/>
              <a:t>when there has been considerable preceding rainfall prior to the modeled rainfall event</a:t>
            </a:r>
          </a:p>
          <a:p>
            <a:pPr lvl="1"/>
            <a:endParaRPr lang="en-US" dirty="0"/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ACM I (dry), ACM II (average), and ACM III (wet)</a:t>
            </a:r>
          </a:p>
          <a:p>
            <a:pPr algn="ctr"/>
            <a:endParaRPr lang="en-US" b="1" dirty="0">
              <a:solidFill>
                <a:schemeClr val="accent2"/>
              </a:solidFill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For modeling purposes, we consider watersheds to be AMC II, which is essentially an average moisture condition</a:t>
            </a: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For areas with high water table conditions, AMC III antecedent soil moisture conditions may be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098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6960" y="4648200"/>
            <a:ext cx="7543801" cy="1220894"/>
          </a:xfrm>
        </p:spPr>
        <p:txBody>
          <a:bodyPr/>
          <a:lstStyle/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r>
              <a:rPr lang="en-US" sz="2400" dirty="0">
                <a:solidFill>
                  <a:schemeClr val="accent2"/>
                </a:solidFill>
              </a:rPr>
              <a:t>A CN of 100 is to be used for permanent water surfaces such as lakes and ponds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0000" t="32222" r="41666" b="51482"/>
          <a:stretch/>
        </p:blipFill>
        <p:spPr>
          <a:xfrm>
            <a:off x="2514600" y="2057401"/>
            <a:ext cx="6918960" cy="223848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636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0833" t="4859" r="31250" b="6297"/>
          <a:stretch/>
        </p:blipFill>
        <p:spPr>
          <a:xfrm>
            <a:off x="2590800" y="113212"/>
            <a:ext cx="7162800" cy="621574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008796"/>
          </a:xfrm>
        </p:spPr>
        <p:txBody>
          <a:bodyPr>
            <a:normAutofit/>
          </a:bodyPr>
          <a:lstStyle/>
          <a:p>
            <a:r>
              <a:rPr lang="en-US" sz="40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Composite Curve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45734"/>
            <a:ext cx="10317480" cy="4023360"/>
          </a:xfrm>
        </p:spPr>
        <p:txBody>
          <a:bodyPr/>
          <a:lstStyle/>
          <a:p>
            <a:r>
              <a:rPr lang="en-US" dirty="0"/>
              <a:t>When a drainage area has more than one land use</a:t>
            </a:r>
          </a:p>
          <a:p>
            <a:r>
              <a:rPr lang="en-US" dirty="0"/>
              <a:t>When Composite CN is used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The drainage area is considered a uniform land use represented by the composite curve number</a:t>
            </a:r>
          </a:p>
          <a:p>
            <a:pPr lvl="1"/>
            <a:r>
              <a:rPr lang="en-US" sz="2000" dirty="0"/>
              <a:t>can be calculated by using the weighted method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647" y="4249844"/>
            <a:ext cx="7972425" cy="1619250"/>
          </a:xfrm>
          <a:prstGeom prst="rect">
            <a:avLst/>
          </a:prstGeom>
          <a:ln w="38100">
            <a:solidFill>
              <a:srgbClr val="F27D26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106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7607" y="304800"/>
            <a:ext cx="7543800" cy="703996"/>
          </a:xfrm>
        </p:spPr>
        <p:txBody>
          <a:bodyPr>
            <a:normAutofit/>
          </a:bodyPr>
          <a:lstStyle/>
          <a:p>
            <a:r>
              <a:rPr lang="en-US" sz="40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Example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 l="10938" t="19792" r="9375" b="13542"/>
          <a:stretch>
            <a:fillRect/>
          </a:stretch>
        </p:blipFill>
        <p:spPr bwMode="auto">
          <a:xfrm>
            <a:off x="1071715" y="1066800"/>
            <a:ext cx="9748685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 l="8594" t="19792" r="11719" b="6250"/>
          <a:stretch>
            <a:fillRect/>
          </a:stretch>
        </p:blipFill>
        <p:spPr bwMode="auto">
          <a:xfrm>
            <a:off x="1676400" y="304800"/>
            <a:ext cx="87630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544411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GB"/>
              <a:t>7. Continuous runoff models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5622629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7E6EB"/>
                </a:solidFill>
              </a:defRPr>
            </a:pPr>
            <a:r>
              <a:rPr lang="en-US"/>
              <a:t>The time-area method and unit hydrograph techniques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CF521-2D77-2CA4-5D21-B09B591E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538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084996"/>
          </a:xfrm>
        </p:spPr>
        <p:txBody>
          <a:bodyPr>
            <a:normAutofit/>
          </a:bodyPr>
          <a:lstStyle/>
          <a:p>
            <a:r>
              <a:rPr lang="en-US" sz="40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Continuous Runoff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6960" y="2057400"/>
            <a:ext cx="7543801" cy="3811694"/>
          </a:xfrm>
        </p:spPr>
        <p:txBody>
          <a:bodyPr>
            <a:normAutofit/>
          </a:bodyPr>
          <a:lstStyle/>
          <a:p>
            <a:r>
              <a:rPr lang="en-US" sz="2800" b="1" dirty="0"/>
              <a:t>Time area method</a:t>
            </a:r>
          </a:p>
          <a:p>
            <a:r>
              <a:rPr lang="en-US" sz="2800" b="1" dirty="0"/>
              <a:t>Unit Hydrograph Techniques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/>
          </p:cNvSpPr>
          <p:nvPr>
            <p:ph type="title"/>
          </p:nvPr>
        </p:nvSpPr>
        <p:spPr>
          <a:xfrm>
            <a:off x="2133600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sz="40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Time Area Method</a:t>
            </a:r>
          </a:p>
        </p:txBody>
      </p:sp>
      <p:sp>
        <p:nvSpPr>
          <p:cNvPr id="96259" name="Rectangle 3"/>
          <p:cNvSpPr>
            <a:spLocks noGrp="1"/>
          </p:cNvSpPr>
          <p:nvPr>
            <p:ph idx="1"/>
          </p:nvPr>
        </p:nvSpPr>
        <p:spPr>
          <a:xfrm>
            <a:off x="762000" y="1862386"/>
            <a:ext cx="10896599" cy="4572000"/>
          </a:xfrm>
        </p:spPr>
        <p:txBody>
          <a:bodyPr>
            <a:normAutofit/>
          </a:bodyPr>
          <a:lstStyle/>
          <a:p>
            <a:pPr marL="355600" indent="-355600">
              <a:buFont typeface="Wingdings" panose="05000000000000000000" pitchFamily="2" charset="2"/>
              <a:buChar char="§"/>
            </a:pPr>
            <a:r>
              <a:rPr lang="en-US" sz="2400" dirty="0"/>
              <a:t>Develop to address </a:t>
            </a:r>
            <a:r>
              <a:rPr lang="en-US" sz="2400" u="sng" dirty="0"/>
              <a:t>non-uniform rainfall </a:t>
            </a:r>
            <a:r>
              <a:rPr lang="en-US" sz="2400" dirty="0"/>
              <a:t>in large areas</a:t>
            </a:r>
          </a:p>
          <a:p>
            <a:pPr marL="355600" indent="-355600">
              <a:buFont typeface="Wingdings" panose="05000000000000000000" pitchFamily="2" charset="2"/>
              <a:buChar char="§"/>
            </a:pPr>
            <a:r>
              <a:rPr lang="en-US" sz="2400" dirty="0"/>
              <a:t>Convert rainfall excess into a hydrograph</a:t>
            </a:r>
          </a:p>
          <a:p>
            <a:pPr marL="355600" indent="-355600">
              <a:buFont typeface="Wingdings" panose="05000000000000000000" pitchFamily="2" charset="2"/>
              <a:buChar char="§"/>
            </a:pPr>
            <a:r>
              <a:rPr lang="en-US" sz="2400" dirty="0"/>
              <a:t>Concept of time-area histogram is used</a:t>
            </a:r>
          </a:p>
          <a:p>
            <a:pPr marL="355600" indent="-355600">
              <a:buFont typeface="Wingdings" panose="05000000000000000000" pitchFamily="2" charset="2"/>
              <a:buChar char="§"/>
            </a:pPr>
            <a:r>
              <a:rPr lang="en-US" sz="2400" dirty="0"/>
              <a:t>This method assumes that outflow hydrograph results from pure translation of direct runoff to the outlet at uniform velocity, ignoring any storage effects in the watershed</a:t>
            </a:r>
          </a:p>
          <a:p>
            <a:pPr marL="355600" indent="-355600">
              <a:buFont typeface="Wingdings" panose="05000000000000000000" pitchFamily="2" charset="2"/>
              <a:buChar char="§"/>
            </a:pPr>
            <a:r>
              <a:rPr lang="en-US" sz="2400" dirty="0"/>
              <a:t>Watershed is divided into </a:t>
            </a:r>
            <a:r>
              <a:rPr lang="en-US" sz="2400" u="sng" dirty="0"/>
              <a:t>subareas with distinct runoff translation times</a:t>
            </a:r>
            <a:r>
              <a:rPr lang="en-US" sz="2400" dirty="0"/>
              <a:t> to the outlet </a:t>
            </a:r>
          </a:p>
          <a:p>
            <a:pPr marL="355600" indent="-355600">
              <a:buFont typeface="Wingdings" panose="05000000000000000000" pitchFamily="2" charset="2"/>
              <a:buChar char="§"/>
            </a:pPr>
            <a:r>
              <a:rPr lang="en-US" sz="2400" dirty="0"/>
              <a:t>Subareas are delineated with </a:t>
            </a:r>
            <a:r>
              <a:rPr lang="en-US" sz="2400" b="1" dirty="0">
                <a:solidFill>
                  <a:schemeClr val="accent2"/>
                </a:solidFill>
              </a:rPr>
              <a:t>isochrones of equal translation time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(numbered upstream from the outlet)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 cstate="print"/>
          <a:srcRect l="27161" t="22298" r="2368" b="15193"/>
          <a:stretch/>
        </p:blipFill>
        <p:spPr>
          <a:xfrm>
            <a:off x="1905001" y="457201"/>
            <a:ext cx="8614061" cy="5363493"/>
          </a:xfrm>
          <a:ln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086601" y="1066801"/>
            <a:ext cx="2846763" cy="248510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237396"/>
          </a:xfrm>
        </p:spPr>
        <p:txBody>
          <a:bodyPr>
            <a:normAutofit/>
          </a:bodyPr>
          <a:lstStyle/>
          <a:p>
            <a:r>
              <a:rPr lang="en-US" sz="3200" cap="all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Key takeaways</a:t>
            </a:r>
            <a:endParaRPr lang="en-US" sz="3200" cap="all" dirty="0"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2133600"/>
            <a:ext cx="8458200" cy="3735494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Only part of the rainfall becomes runoff: effective rainfall = gross rainfall − losses, and runoff is generated when rainfall exceeds the soil's infiltration capacity.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A catchment transforms rainfall input into streamflow output — losses and storage control how much becomes runoff, and routing controls when it arrives.</a:t>
            </a:r>
            <a:endParaRPr lang="en-US" sz="2800" u="sng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The hydrograph (rising limb, peak, recession) records the catchment response; the area under the curve is the runoff volume, and its shape reflects both storm and catchment characteristics.</a:t>
            </a:r>
            <a:endParaRPr lang="en-US" sz="2800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Rainfall–runoff modeling requires appropriate data, clear assumptions, calibration and validation — a plausible hydrograph is not proof of a correct model.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Runoff models fall into two families: peak runoff models (peak discharge only) and continuous runoff models (a full runoff versus time hydrograph).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The Rational Method Qp = C·Ii·A is a lumped peak-discharge model for small, concentrated catchments — it estimates peak flow, not event volume.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3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237396"/>
          </a:xfrm>
        </p:spPr>
        <p:txBody>
          <a:bodyPr>
            <a:normAutofit/>
          </a:bodyPr>
          <a:lstStyle/>
          <a:p>
            <a:r>
              <a:rPr lang="en-US" sz="3200" cap="all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Key takeaways (continued)</a:t>
            </a:r>
            <a:endParaRPr lang="en-US" sz="3200" cap="all" dirty="0"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2133600"/>
            <a:ext cx="8458200" cy="3735494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The runoff coefficient C captures soil, land use/cover and slope; a non-homogeneous area needs a weighted C by area.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The NRCS Curve Number method estimates event runoff depth from Q = (P − 0.2S)² / (P + 0.8S), with S = (z / CN) − z.</a:t>
            </a:r>
            <a:endParaRPr lang="en-US" sz="2800" u="sng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The higher the CN, the higher the runoff potential; CN depends on land use, soil (hydrologic soil group A–D), slope and antecedent moisture (AMC I/II/III).</a:t>
            </a:r>
            <a:endParaRPr lang="en-US" sz="2800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Multiple land uses are combined into a composite CN; the same weighting idea applies to the Rational method's runoff coefficient.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Continuous models — the time-area method (isochrones, pure translation, no storage) and unit hydrograph techniques — turn rainfall excess into a hydrograph.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237396"/>
          </a:xfrm>
        </p:spPr>
        <p:txBody>
          <a:bodyPr>
            <a:normAutofit/>
          </a:bodyPr>
          <a:lstStyle/>
          <a:p>
            <a:r>
              <a:rPr lang="en-US" sz="3200" cap="all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In-class activity</a:t>
            </a:r>
            <a:endParaRPr lang="en-US" sz="3200" cap="all" dirty="0"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2133600"/>
            <a:ext cx="8458200" cy="3735494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A catchment has CN = 80 and receives P = 5.0 inches under average moisture conditions (AMC II).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Compute the potential maximum retention: S = (1000 / CN) − 10.</a:t>
            </a:r>
            <a:endParaRPr lang="en-US" sz="2800" u="sng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Compute the initial abstraction: Ia = 0.2 S.</a:t>
            </a:r>
            <a:endParaRPr lang="en-US" sz="2800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Compute the direct runoff: Q = (P − 0.2S)² / (P + 0.8S).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Discuss how Q would change for a higher CN (say 90) and for a wetter antecedent condition (AMC III).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1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237396"/>
          </a:xfrm>
        </p:spPr>
        <p:txBody>
          <a:bodyPr>
            <a:normAutofit/>
          </a:bodyPr>
          <a:lstStyle/>
          <a:p>
            <a:r>
              <a:rPr lang="en-US" sz="3200" cap="all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Quiz: runoff models</a:t>
            </a:r>
            <a:endParaRPr lang="en-US" sz="3200" cap="all" dirty="0"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2133600"/>
            <a:ext cx="8458200" cy="3735494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1. Effective rainfall is best described as: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2. When does excess water begin to contribute to runoff?</a:t>
            </a:r>
            <a:endParaRPr lang="en-US" sz="2800" u="sng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3. On a hydrograph, streamflow is made up of:</a:t>
            </a:r>
            <a:endParaRPr lang="en-US" sz="2800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4. On a hydrograph, the area under the curve represents: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5. Compared with a gently sloping catchment, a steep catchment generally produces: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6. Two watersheds receive the same rainfall but produce different runoff. The most likely reason is: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7. A peak runoff model provides an estimate of: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8. Continuous runoff models provide: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57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237396"/>
          </a:xfrm>
        </p:spPr>
        <p:txBody>
          <a:bodyPr>
            <a:normAutofit/>
          </a:bodyPr>
          <a:lstStyle/>
          <a:p>
            <a:r>
              <a:rPr lang="en-US" sz="3200" cap="all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</a:rPr>
              <a:t>Quiz: runoff models (continued)</a:t>
            </a:r>
            <a:endParaRPr lang="en-US" sz="3200" cap="all" dirty="0">
              <a:solidFill>
                <a:schemeClr val="tx2"/>
              </a:solidFill>
              <a:effectLst>
                <a:reflection blurRad="12700" stA="48000" endA="300" endPos="55000" dir="5400000" sy="-9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2133600"/>
            <a:ext cx="8458200" cy="3735494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9. The Rational Method formula is: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10. The Rational Method assumes the catchment is:</a:t>
            </a:r>
            <a:endParaRPr lang="en-US" sz="2800" u="sng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11. For a non-homogeneous catchment, the weighted runoff coefficient is computed by:</a:t>
            </a:r>
            <a:endParaRPr lang="en-US" sz="2800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12. A higher curve number (CN) means: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13. For CN = 75 (English units), the potential maximum retention S is: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14. Which hydrologic soil group has the highest infiltration rate?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15. Which antecedent moisture condition is recommended for most hydrologic analysis?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/>
              <a:t>16. In the NRCS method, what happens when the accumulated rainfall P is less than or equal to the initial abstraction Ia?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7039-71DE-4AA5-9A86-9CA42D795FDD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35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207300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GB"/>
              <a:t>Thank You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184731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7E6EB"/>
                </a:solidFill>
              </a:defRPr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CF521-2D77-2CA4-5D21-B09B591E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738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4AE051-09DA-4586-8D76-F23E7D69429E}">
  <we:reference id="wa200010725" version="1.0.0.1" store="en-001" storeType="OMEX"/>
  <we:alternateReferences>
    <we:reference id="wa200010725" version="1.0.0.1" store="WA200010725" storeType="OMEX"/>
  </we:alternateReferences>
  <we:properties>
    <we:property name="claude.fileId" value="&quot;180744e0-5fe7-42f8-974e-be942ff98cd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9148</TotalTime>
  <Words>4063</Words>
  <Application>Microsoft Office PowerPoint</Application>
  <PresentationFormat>Widescreen</PresentationFormat>
  <Paragraphs>441</Paragraphs>
  <Slides>62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Aptos</vt:lpstr>
      <vt:lpstr>Aptos Display</vt:lpstr>
      <vt:lpstr>Arial</vt:lpstr>
      <vt:lpstr>Calibri</vt:lpstr>
      <vt:lpstr>Calibri Light</vt:lpstr>
      <vt:lpstr>Google Sans</vt:lpstr>
      <vt:lpstr>Wingdings</vt:lpstr>
      <vt:lpstr>Retrospect</vt:lpstr>
      <vt:lpstr> Runoff models</vt:lpstr>
      <vt:lpstr>Learning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Hydrograph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HYDROGRAPHS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Runoff models</vt:lpstr>
      <vt:lpstr>PowerPoint Presentation</vt:lpstr>
      <vt:lpstr>Peak runoff models</vt:lpstr>
      <vt:lpstr>Rational Method</vt:lpstr>
      <vt:lpstr>Rational Method: Assumptions</vt:lpstr>
      <vt:lpstr>Rational method: formula</vt:lpstr>
      <vt:lpstr>PowerPoint Presentation</vt:lpstr>
      <vt:lpstr>Key Details of Table 7-9</vt:lpstr>
      <vt:lpstr>Runoff coefficient for nonhomogeneous area</vt:lpstr>
      <vt:lpstr>PowerPoint Presentation</vt:lpstr>
      <vt:lpstr> </vt:lpstr>
      <vt:lpstr>NRCS Curve number</vt:lpstr>
      <vt:lpstr>NRCS Rainfall-Runoff Equation</vt:lpstr>
      <vt:lpstr>potential maximum retention (S)</vt:lpstr>
      <vt:lpstr>NRCS Runoff equations</vt:lpstr>
      <vt:lpstr>PowerPoint Presentation</vt:lpstr>
      <vt:lpstr>Curve Number CN</vt:lpstr>
      <vt:lpstr>Hydrologic Soil Groups</vt:lpstr>
      <vt:lpstr>Antecedent soil moisture conditions-AMC</vt:lpstr>
      <vt:lpstr>CNs </vt:lpstr>
      <vt:lpstr>PowerPoint Presentation</vt:lpstr>
      <vt:lpstr>Composite Curve Number</vt:lpstr>
      <vt:lpstr>Example</vt:lpstr>
      <vt:lpstr>PowerPoint Presentation</vt:lpstr>
      <vt:lpstr>PowerPoint Presentation</vt:lpstr>
      <vt:lpstr>Continuous Runoff Models</vt:lpstr>
      <vt:lpstr>Time Area Method</vt:lpstr>
      <vt:lpstr>PowerPoint Presentation</vt:lpstr>
      <vt:lpstr>Key takeaways</vt:lpstr>
      <vt:lpstr>Key takeaways (continued)</vt:lpstr>
      <vt:lpstr>In-class activity</vt:lpstr>
      <vt:lpstr>Quiz: runoff models</vt:lpstr>
      <vt:lpstr>Quiz: runoff models (continued)</vt:lpstr>
      <vt:lpstr>PowerPoint Presentation</vt:lpstr>
    </vt:vector>
  </TitlesOfParts>
  <Company>Suparco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Watershed Management Hydrograph, Unit Hydrograph Theory</dc:title>
  <dc:creator>Zaidi</dc:creator>
  <cp:lastModifiedBy>Arjumand Zaidi</cp:lastModifiedBy>
  <cp:revision>608</cp:revision>
  <dcterms:created xsi:type="dcterms:W3CDTF">2010-11-25T06:24:43Z</dcterms:created>
  <dcterms:modified xsi:type="dcterms:W3CDTF">2026-10-18T17:35:47Z</dcterms:modified>
</cp:coreProperties>
</file>