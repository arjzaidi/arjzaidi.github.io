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54"/>
  </p:notesMasterIdLst>
  <p:sldIdLst>
    <p:sldId id="381" r:id="rId2"/>
    <p:sldId id="382" r:id="rId3"/>
    <p:sldId id="409" r:id="rId4"/>
    <p:sldId id="404" r:id="rId5"/>
    <p:sldId id="407" r:id="rId6"/>
    <p:sldId id="400" r:id="rId7"/>
    <p:sldId id="333" r:id="rId8"/>
    <p:sldId id="383" r:id="rId9"/>
    <p:sldId id="392" r:id="rId10"/>
    <p:sldId id="334" r:id="rId11"/>
    <p:sldId id="384" r:id="rId12"/>
    <p:sldId id="385" r:id="rId13"/>
    <p:sldId id="337" r:id="rId14"/>
    <p:sldId id="335" r:id="rId15"/>
    <p:sldId id="386" r:id="rId16"/>
    <p:sldId id="367" r:id="rId17"/>
    <p:sldId id="387" r:id="rId18"/>
    <p:sldId id="389" r:id="rId19"/>
    <p:sldId id="369" r:id="rId20"/>
    <p:sldId id="370" r:id="rId21"/>
    <p:sldId id="340" r:id="rId22"/>
    <p:sldId id="302" r:id="rId23"/>
    <p:sldId id="304" r:id="rId24"/>
    <p:sldId id="390" r:id="rId25"/>
    <p:sldId id="342" r:id="rId26"/>
    <p:sldId id="391" r:id="rId27"/>
    <p:sldId id="363" r:id="rId28"/>
    <p:sldId id="364" r:id="rId29"/>
    <p:sldId id="408" r:id="rId30"/>
    <p:sldId id="366" r:id="rId31"/>
    <p:sldId id="305" r:id="rId32"/>
    <p:sldId id="344" r:id="rId33"/>
    <p:sldId id="393" r:id="rId34"/>
    <p:sldId id="395" r:id="rId35"/>
    <p:sldId id="300" r:id="rId36"/>
    <p:sldId id="375" r:id="rId37"/>
    <p:sldId id="401" r:id="rId38"/>
    <p:sldId id="442" r:id="rId39"/>
    <p:sldId id="438" r:id="rId40"/>
    <p:sldId id="436" r:id="rId41"/>
    <p:sldId id="402" r:id="rId42"/>
    <p:sldId id="403" r:id="rId43"/>
    <p:sldId id="405" r:id="rId44"/>
    <p:sldId id="435" r:id="rId45"/>
    <p:sldId id="406" r:id="rId46"/>
    <p:sldId id="440" r:id="rId47"/>
    <p:sldId id="441" r:id="rId48"/>
    <p:sldId id="411" r:id="rId49"/>
    <p:sldId id="413" r:id="rId50"/>
    <p:sldId id="415" r:id="rId51"/>
    <p:sldId id="416" r:id="rId52"/>
    <p:sldId id="39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4A8B"/>
    <a:srgbClr val="0000CC"/>
    <a:srgbClr val="5B9BD5"/>
    <a:srgbClr val="FF0000"/>
    <a:srgbClr val="FF9900"/>
    <a:srgbClr val="FFCC66"/>
    <a:srgbClr val="8D9616"/>
    <a:srgbClr val="DD8BCD"/>
    <a:srgbClr val="CCCC00"/>
    <a:srgbClr val="08B8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5008" autoAdjust="0"/>
  </p:normalViewPr>
  <p:slideViewPr>
    <p:cSldViewPr>
      <p:cViewPr varScale="1">
        <p:scale>
          <a:sx n="101" d="100"/>
          <a:sy n="101" d="100"/>
        </p:scale>
        <p:origin x="352" y="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2B07BCE-876F-4933-90FA-FE262182C7EC}" type="datetimeFigureOut">
              <a:rPr lang="en-US"/>
              <a:pPr>
                <a:defRPr/>
              </a:pPr>
              <a:t>9/9/2026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4346AE25-BD72-4FB5-A3B5-5EF4F5DC3002}" type="slidenum">
              <a:rPr lang="en-US"/>
              <a:pPr>
                <a:defRPr/>
              </a:pPr>
              <a:t>‹#›</a:t>
            </a:fld>
            <a:endParaRPr lang="en-US"/>
          </a:p>
        </p:txBody>
      </p:sp>
    </p:spTree>
    <p:extLst>
      <p:ext uri="{BB962C8B-B14F-4D97-AF65-F5344CB8AC3E}">
        <p14:creationId xmlns:p14="http://schemas.microsoft.com/office/powerpoint/2010/main" val="229159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Arial" charset="0"/>
      </a:defRPr>
    </a:lvl1pPr>
    <a:lvl2pPr marL="457200" algn="l" rtl="0" eaLnBrk="0" fontAlgn="base" hangingPunct="0">
      <a:spcBef>
        <a:spcPct val="30000"/>
      </a:spcBef>
      <a:spcAft>
        <a:spcPct val="0"/>
      </a:spcAft>
      <a:defRPr sz="1200" kern="1200">
        <a:solidFill>
          <a:schemeClr val="tx1"/>
        </a:solidFill>
        <a:latin typeface="+mn-lt"/>
        <a:ea typeface="+mn-ea"/>
        <a:cs typeface="Arial" charset="0"/>
      </a:defRPr>
    </a:lvl2pPr>
    <a:lvl3pPr marL="914400" algn="l" rtl="0" eaLnBrk="0" fontAlgn="base" hangingPunct="0">
      <a:spcBef>
        <a:spcPct val="30000"/>
      </a:spcBef>
      <a:spcAft>
        <a:spcPct val="0"/>
      </a:spcAft>
      <a:defRPr sz="1200" kern="1200">
        <a:solidFill>
          <a:schemeClr val="tx1"/>
        </a:solidFill>
        <a:latin typeface="+mn-lt"/>
        <a:ea typeface="+mn-ea"/>
        <a:cs typeface="Arial" charset="0"/>
      </a:defRPr>
    </a:lvl3pPr>
    <a:lvl4pPr marL="1371600" algn="l" rtl="0" eaLnBrk="0" fontAlgn="base" hangingPunct="0">
      <a:spcBef>
        <a:spcPct val="30000"/>
      </a:spcBef>
      <a:spcAft>
        <a:spcPct val="0"/>
      </a:spcAft>
      <a:defRPr sz="1200" kern="1200">
        <a:solidFill>
          <a:schemeClr val="tx1"/>
        </a:solidFill>
        <a:latin typeface="+mn-lt"/>
        <a:ea typeface="+mn-ea"/>
        <a:cs typeface="Arial" charset="0"/>
      </a:defRPr>
    </a:lvl4pPr>
    <a:lvl5pPr marL="1828800" algn="l" rtl="0" eaLnBrk="0" fontAlgn="base" hangingPunct="0">
      <a:spcBef>
        <a:spcPct val="30000"/>
      </a:spcBef>
      <a:spcAft>
        <a:spcPct val="0"/>
      </a:spcAft>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146050" y="685800"/>
            <a:ext cx="6905625" cy="38846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FDBFD0-846A-4C4B-8596-F2B82BF81BF8}"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1128571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Concepts in Emergency Management (Pdf Notes will be provided)</a:t>
            </a:r>
          </a:p>
          <a:p>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4</a:t>
            </a:fld>
            <a:endParaRPr lang="en-US"/>
          </a:p>
        </p:txBody>
      </p:sp>
    </p:spTree>
    <p:extLst>
      <p:ext uri="{BB962C8B-B14F-4D97-AF65-F5344CB8AC3E}">
        <p14:creationId xmlns:p14="http://schemas.microsoft.com/office/powerpoint/2010/main" val="1724645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file:///D:/UU-MUET/Courses/DisasterManagmnt/2Fall2017/books/disaster-management-handbook.pdf</a:t>
            </a:r>
          </a:p>
        </p:txBody>
      </p:sp>
      <p:sp>
        <p:nvSpPr>
          <p:cNvPr id="4" name="Slide Number Placeholder 3"/>
          <p:cNvSpPr>
            <a:spLocks noGrp="1"/>
          </p:cNvSpPr>
          <p:nvPr>
            <p:ph type="sldNum" sz="quarter" idx="10"/>
          </p:nvPr>
        </p:nvSpPr>
        <p:spPr/>
        <p:txBody>
          <a:bodyPr/>
          <a:lstStyle/>
          <a:p>
            <a:fld id="{7236BB0A-B43D-4A1A-A9D2-798091B114D2}" type="slidenum">
              <a:rPr lang="en-US" smtClean="0"/>
              <a:t>5</a:t>
            </a:fld>
            <a:endParaRPr lang="en-US"/>
          </a:p>
        </p:txBody>
      </p:sp>
    </p:spTree>
    <p:extLst>
      <p:ext uri="{BB962C8B-B14F-4D97-AF65-F5344CB8AC3E}">
        <p14:creationId xmlns:p14="http://schemas.microsoft.com/office/powerpoint/2010/main" val="3215151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Source: Dr. Cees </a:t>
            </a:r>
            <a:r>
              <a:rPr lang="en-US" dirty="0" err="1"/>
              <a:t>Westen</a:t>
            </a:r>
            <a:r>
              <a:rPr lang="en-US" baseline="0" dirty="0"/>
              <a:t> ITC</a:t>
            </a:r>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6</a:t>
            </a:fld>
            <a:endParaRPr lang="en-US"/>
          </a:p>
        </p:txBody>
      </p:sp>
    </p:spTree>
    <p:extLst>
      <p:ext uri="{BB962C8B-B14F-4D97-AF65-F5344CB8AC3E}">
        <p14:creationId xmlns:p14="http://schemas.microsoft.com/office/powerpoint/2010/main" val="2855227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dirty="0"/>
              <a:t>Source: CBSE, India</a:t>
            </a:r>
          </a:p>
          <a:p>
            <a:pPr marL="0" lvl="2"/>
            <a:r>
              <a:rPr lang="en-US" dirty="0"/>
              <a:t>To become disaster resistant </a:t>
            </a:r>
          </a:p>
          <a:p>
            <a:pPr marL="0" lvl="2"/>
            <a:r>
              <a:rPr lang="en-US" sz="1800" dirty="0">
                <a:solidFill>
                  <a:srgbClr val="FFCC66"/>
                </a:solidFill>
              </a:rPr>
              <a:t>Sustained: </a:t>
            </a:r>
            <a:r>
              <a:rPr lang="en-US" dirty="0"/>
              <a:t>long-term solutions</a:t>
            </a:r>
            <a:endParaRPr lang="en-US" sz="1800" dirty="0">
              <a:solidFill>
                <a:srgbClr val="FF9900"/>
              </a:solidFill>
            </a:endParaRPr>
          </a:p>
          <a:p>
            <a:r>
              <a:rPr lang="en-US" dirty="0"/>
              <a:t>Examples of mitigation measures which are hazard specific include water</a:t>
            </a:r>
            <a:r>
              <a:rPr lang="en-US" baseline="0" dirty="0"/>
              <a:t> </a:t>
            </a:r>
            <a:r>
              <a:rPr lang="en-US" dirty="0"/>
              <a:t>management in drought prone areas, relocating people away from the hazard prone</a:t>
            </a:r>
            <a:r>
              <a:rPr lang="en-US" baseline="0" dirty="0"/>
              <a:t> </a:t>
            </a:r>
            <a:r>
              <a:rPr lang="en-US" dirty="0"/>
              <a:t>areas and by strengthening structures to reduce damage when a hazard occurs.</a:t>
            </a:r>
            <a:r>
              <a:rPr lang="en-US" baseline="0" dirty="0"/>
              <a:t> </a:t>
            </a:r>
            <a:r>
              <a:rPr lang="en-US" dirty="0"/>
              <a:t>In addition to these physical measures, mitigation should also aim at reducing the</a:t>
            </a:r>
            <a:r>
              <a:rPr lang="en-US" baseline="0" dirty="0"/>
              <a:t> </a:t>
            </a:r>
            <a:r>
              <a:rPr lang="en-US" dirty="0"/>
              <a:t>economic and social vulnerabilities of potential disasters</a:t>
            </a:r>
          </a:p>
        </p:txBody>
      </p:sp>
      <p:sp>
        <p:nvSpPr>
          <p:cNvPr id="4" name="Slide Number Placeholder 3"/>
          <p:cNvSpPr>
            <a:spLocks noGrp="1"/>
          </p:cNvSpPr>
          <p:nvPr>
            <p:ph type="sldNum" sz="quarter" idx="5"/>
          </p:nvPr>
        </p:nvSpPr>
        <p:spPr/>
        <p:txBody>
          <a:bodyPr/>
          <a:lstStyle/>
          <a:p>
            <a:pPr>
              <a:defRPr/>
            </a:pPr>
            <a:fld id="{7267A892-9072-4B81-A93D-CB75D6517538}" type="slidenum">
              <a:rPr lang="en-US" smtClean="0"/>
              <a:pPr>
                <a:defRPr/>
              </a:pPr>
              <a:t>7</a:t>
            </a:fld>
            <a:endParaRPr lang="en-US"/>
          </a:p>
        </p:txBody>
      </p:sp>
    </p:spTree>
    <p:extLst>
      <p:ext uri="{BB962C8B-B14F-4D97-AF65-F5344CB8AC3E}">
        <p14:creationId xmlns:p14="http://schemas.microsoft.com/office/powerpoint/2010/main" val="46377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dirty="0"/>
              <a:t>Source: CBSE, India</a:t>
            </a:r>
          </a:p>
          <a:p>
            <a:endParaRPr lang="en-US" dirty="0"/>
          </a:p>
        </p:txBody>
      </p:sp>
      <p:sp>
        <p:nvSpPr>
          <p:cNvPr id="4" name="Slide Number Placeholder 3"/>
          <p:cNvSpPr>
            <a:spLocks noGrp="1"/>
          </p:cNvSpPr>
          <p:nvPr>
            <p:ph type="sldNum" sz="quarter" idx="5"/>
          </p:nvPr>
        </p:nvSpPr>
        <p:spPr/>
        <p:txBody>
          <a:bodyPr/>
          <a:lstStyle/>
          <a:p>
            <a:pPr>
              <a:defRPr/>
            </a:pPr>
            <a:fld id="{7267A892-9072-4B81-A93D-CB75D6517538}" type="slidenum">
              <a:rPr lang="en-US" smtClean="0"/>
              <a:pPr>
                <a:defRPr/>
              </a:pPr>
              <a:t>8</a:t>
            </a:fld>
            <a:endParaRPr lang="en-US"/>
          </a:p>
        </p:txBody>
      </p:sp>
    </p:spTree>
    <p:extLst>
      <p:ext uri="{BB962C8B-B14F-4D97-AF65-F5344CB8AC3E}">
        <p14:creationId xmlns:p14="http://schemas.microsoft.com/office/powerpoint/2010/main" val="2814566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4995"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FEMA –https://www.iaem.org/portals/25/documents/is1_Unit3.pdf</a:t>
            </a:r>
          </a:p>
          <a:p>
            <a:endParaRPr lang="en-US" dirty="0"/>
          </a:p>
          <a:p>
            <a:r>
              <a:rPr lang="en-US" dirty="0"/>
              <a:t>Modify: Dangerous chemicals are often packaged with a neutralizing agent right next to the chemicals. If the chemical container sustains damage, the neutralizing agent is automatically released, thus minimizing the toxic effects of the spilled chemical. In another case, a distinctive smell added to the odorless liquid propane gas warns people that propane is present.</a:t>
            </a:r>
          </a:p>
        </p:txBody>
      </p:sp>
    </p:spTree>
    <p:extLst>
      <p:ext uri="{BB962C8B-B14F-4D97-AF65-F5344CB8AC3E}">
        <p14:creationId xmlns:p14="http://schemas.microsoft.com/office/powerpoint/2010/main" val="1203312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Taken from a FEMA document describing the National Incident Management System (NIMS)</a:t>
            </a:r>
          </a:p>
          <a:p>
            <a:r>
              <a:rPr lang="en-US" dirty="0"/>
              <a:t>http://www.memphis.edu/cait/pdfs/Phases_of_Emergency_Mngt_FINAL.pdf</a:t>
            </a:r>
          </a:p>
          <a:p>
            <a:endParaRPr lang="en-US" dirty="0"/>
          </a:p>
          <a:p>
            <a:r>
              <a:rPr lang="en-US" dirty="0"/>
              <a:t>Picture source: https://ugecviewpoints.wordpress.com/2015/10/19/the-effectiveness-of-early-warning-systems-in-the-management-of-urban-flooding-in-nigeria/ </a:t>
            </a:r>
          </a:p>
          <a:p>
            <a:endParaRPr lang="en-US" dirty="0"/>
          </a:p>
        </p:txBody>
      </p:sp>
      <p:sp>
        <p:nvSpPr>
          <p:cNvPr id="4" name="Slide Number Placeholder 3"/>
          <p:cNvSpPr>
            <a:spLocks noGrp="1"/>
          </p:cNvSpPr>
          <p:nvPr>
            <p:ph type="sldNum" sz="quarter" idx="5"/>
          </p:nvPr>
        </p:nvSpPr>
        <p:spPr/>
        <p:txBody>
          <a:bodyPr/>
          <a:lstStyle/>
          <a:p>
            <a:pPr>
              <a:defRPr/>
            </a:pPr>
            <a:fld id="{48A48426-50D3-4993-9CA9-12FBE63E1C92}" type="slidenum">
              <a:rPr lang="en-US" smtClean="0"/>
              <a:pPr>
                <a:defRPr/>
              </a:pPr>
              <a:t>10</a:t>
            </a:fld>
            <a:endParaRPr lang="en-US"/>
          </a:p>
        </p:txBody>
      </p:sp>
    </p:spTree>
    <p:extLst>
      <p:ext uri="{BB962C8B-B14F-4D97-AF65-F5344CB8AC3E}">
        <p14:creationId xmlns:p14="http://schemas.microsoft.com/office/powerpoint/2010/main" val="3832430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The area between the floodway boundary and limit of the 100 year floodplain is termed Flood Fringe. </a:t>
            </a:r>
          </a:p>
          <a:p>
            <a:endParaRPr lang="en-US" dirty="0"/>
          </a:p>
          <a:p>
            <a:r>
              <a:rPr lang="en-US" dirty="0"/>
              <a:t>Taken from a FEMA document describing the National Incident Management System (NIMS)</a:t>
            </a:r>
          </a:p>
          <a:p>
            <a:r>
              <a:rPr lang="en-US" dirty="0"/>
              <a:t>http://www.memphis.edu/cait/pdfs/Phases_of_Emergency_Mngt_FINAL.pdf</a:t>
            </a:r>
          </a:p>
          <a:p>
            <a:endParaRPr lang="en-US" dirty="0"/>
          </a:p>
          <a:p>
            <a:r>
              <a:rPr lang="en-US" dirty="0"/>
              <a:t>Pics sources: </a:t>
            </a:r>
          </a:p>
          <a:p>
            <a:r>
              <a:rPr lang="en-US" dirty="0"/>
              <a:t>http://www.landscapes2.org/ToolsElement/Pages/FloodProtect.cfm (accessed Sept 15, 2016)</a:t>
            </a:r>
          </a:p>
          <a:p>
            <a:r>
              <a:rPr lang="en-US" dirty="0"/>
              <a:t>http://cncsitedevelopment.com/common-pollutants-to-contain/</a:t>
            </a:r>
          </a:p>
          <a:p>
            <a:r>
              <a:rPr lang="en-US" dirty="0"/>
              <a:t>http://www.mpcnaturalresources.org/educational-programs/bmp-educational-seminars/</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48A48426-50D3-4993-9CA9-12FBE63E1C92}" type="slidenum">
              <a:rPr lang="en-US" smtClean="0"/>
              <a:pPr>
                <a:defRPr/>
              </a:pPr>
              <a:t>11</a:t>
            </a:fld>
            <a:endParaRPr lang="en-US"/>
          </a:p>
        </p:txBody>
      </p:sp>
    </p:spTree>
    <p:extLst>
      <p:ext uri="{BB962C8B-B14F-4D97-AF65-F5344CB8AC3E}">
        <p14:creationId xmlns:p14="http://schemas.microsoft.com/office/powerpoint/2010/main" val="2029333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Taken from a FEMA document describing the National Incident Management System (NIMS)</a:t>
            </a:r>
          </a:p>
          <a:p>
            <a:r>
              <a:rPr lang="en-US" dirty="0"/>
              <a:t>http://www.memphis.edu/cait/pdfs/Phases_of_Emergency_Mngt_FINAL.pdf</a:t>
            </a:r>
          </a:p>
          <a:p>
            <a:endParaRPr lang="en-US" dirty="0"/>
          </a:p>
          <a:p>
            <a:r>
              <a:rPr lang="en-US" dirty="0"/>
              <a:t>Pic</a:t>
            </a:r>
            <a:r>
              <a:rPr lang="en-US" baseline="0" dirty="0"/>
              <a:t> Source: http://www.gulfalliancetraining.org/detail.aspx?Id=33</a:t>
            </a:r>
            <a:endParaRPr lang="en-US" dirty="0"/>
          </a:p>
        </p:txBody>
      </p:sp>
      <p:sp>
        <p:nvSpPr>
          <p:cNvPr id="4" name="Slide Number Placeholder 3"/>
          <p:cNvSpPr>
            <a:spLocks noGrp="1"/>
          </p:cNvSpPr>
          <p:nvPr>
            <p:ph type="sldNum" sz="quarter" idx="5"/>
          </p:nvPr>
        </p:nvSpPr>
        <p:spPr/>
        <p:txBody>
          <a:bodyPr/>
          <a:lstStyle/>
          <a:p>
            <a:pPr>
              <a:defRPr/>
            </a:pPr>
            <a:fld id="{48A48426-50D3-4993-9CA9-12FBE63E1C92}" type="slidenum">
              <a:rPr lang="en-US" smtClean="0"/>
              <a:pPr>
                <a:defRPr/>
              </a:pPr>
              <a:t>12</a:t>
            </a:fld>
            <a:endParaRPr lang="en-US"/>
          </a:p>
        </p:txBody>
      </p:sp>
    </p:spTree>
    <p:extLst>
      <p:ext uri="{BB962C8B-B14F-4D97-AF65-F5344CB8AC3E}">
        <p14:creationId xmlns:p14="http://schemas.microsoft.com/office/powerpoint/2010/main" val="3732206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Church is being moved half a mile to higher ground as part of the Stryker Road relocation project</a:t>
            </a:r>
          </a:p>
          <a:p>
            <a:endParaRPr lang="en-US" dirty="0"/>
          </a:p>
          <a:p>
            <a:r>
              <a:rPr lang="en-US" dirty="0"/>
              <a:t>Source: </a:t>
            </a:r>
            <a:r>
              <a:rPr lang="en-IN" dirty="0"/>
              <a:t>George D. </a:t>
            </a:r>
            <a:r>
              <a:rPr lang="en-IN" dirty="0" err="1"/>
              <a:t>Haddow</a:t>
            </a:r>
            <a:r>
              <a:rPr lang="en-IN" dirty="0"/>
              <a:t>, Jane A. Bullock and Damon P. Coppola</a:t>
            </a:r>
          </a:p>
          <a:p>
            <a:endParaRPr lang="en-US" dirty="0"/>
          </a:p>
        </p:txBody>
      </p:sp>
      <p:sp>
        <p:nvSpPr>
          <p:cNvPr id="4" name="Slide Number Placeholder 3"/>
          <p:cNvSpPr>
            <a:spLocks noGrp="1"/>
          </p:cNvSpPr>
          <p:nvPr>
            <p:ph type="sldNum" sz="quarter" idx="5"/>
          </p:nvPr>
        </p:nvSpPr>
        <p:spPr/>
        <p:txBody>
          <a:bodyPr/>
          <a:lstStyle/>
          <a:p>
            <a:pPr>
              <a:defRPr/>
            </a:pPr>
            <a:fld id="{016E91BF-45D0-453F-82ED-682D97636EF4}" type="slidenum">
              <a:rPr lang="en-US" smtClean="0"/>
              <a:pPr>
                <a:defRPr/>
              </a:pPr>
              <a:t>13</a:t>
            </a:fld>
            <a:endParaRPr lang="en-US"/>
          </a:p>
        </p:txBody>
      </p:sp>
    </p:spTree>
    <p:extLst>
      <p:ext uri="{BB962C8B-B14F-4D97-AF65-F5344CB8AC3E}">
        <p14:creationId xmlns:p14="http://schemas.microsoft.com/office/powerpoint/2010/main" val="585050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Taken from a FEMA document describing the National Incident Management System (NIMS)</a:t>
            </a:r>
          </a:p>
          <a:p>
            <a:endParaRPr lang="en-US" dirty="0"/>
          </a:p>
          <a:p>
            <a:r>
              <a:rPr lang="en-US" dirty="0"/>
              <a:t>Pic</a:t>
            </a:r>
            <a:r>
              <a:rPr lang="en-US" baseline="0" dirty="0"/>
              <a:t> source: http://www.masonrymagazine.com/wp-content/uploads/2015/08/Safety-Shelter-Elevations.jpg</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D1C97901-8663-4287-8439-FDBF5A676339}" type="slidenum">
              <a:rPr lang="en-US" smtClean="0"/>
              <a:pPr>
                <a:defRPr/>
              </a:pPr>
              <a:t>14</a:t>
            </a:fld>
            <a:endParaRPr lang="en-US"/>
          </a:p>
        </p:txBody>
      </p:sp>
    </p:spTree>
    <p:extLst>
      <p:ext uri="{BB962C8B-B14F-4D97-AF65-F5344CB8AC3E}">
        <p14:creationId xmlns:p14="http://schemas.microsoft.com/office/powerpoint/2010/main" val="27114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Taken from a FEMA document describing the National Incident Management System (NIMS)</a:t>
            </a:r>
          </a:p>
          <a:p>
            <a:endParaRPr lang="en-US" dirty="0"/>
          </a:p>
          <a:p>
            <a:r>
              <a:rPr lang="en-US" dirty="0"/>
              <a:t>Pic source: https://www.smgov.net/Departments/OEM/WhatToDo/Tsunami.aspx</a:t>
            </a:r>
          </a:p>
          <a:p>
            <a:endParaRPr lang="en-US" dirty="0"/>
          </a:p>
        </p:txBody>
      </p:sp>
      <p:sp>
        <p:nvSpPr>
          <p:cNvPr id="4" name="Slide Number Placeholder 3"/>
          <p:cNvSpPr>
            <a:spLocks noGrp="1"/>
          </p:cNvSpPr>
          <p:nvPr>
            <p:ph type="sldNum" sz="quarter" idx="5"/>
          </p:nvPr>
        </p:nvSpPr>
        <p:spPr/>
        <p:txBody>
          <a:bodyPr/>
          <a:lstStyle/>
          <a:p>
            <a:pPr>
              <a:defRPr/>
            </a:pPr>
            <a:fld id="{D1C97901-8663-4287-8439-FDBF5A676339}" type="slidenum">
              <a:rPr lang="en-US" smtClean="0"/>
              <a:pPr>
                <a:defRPr/>
              </a:pPr>
              <a:t>15</a:t>
            </a:fld>
            <a:endParaRPr lang="en-US"/>
          </a:p>
        </p:txBody>
      </p:sp>
    </p:spTree>
    <p:extLst>
      <p:ext uri="{BB962C8B-B14F-4D97-AF65-F5344CB8AC3E}">
        <p14:creationId xmlns:p14="http://schemas.microsoft.com/office/powerpoint/2010/main" val="105645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8674" name="Rectangle 3"/>
          <p:cNvSpPr>
            <a:spLocks noGrp="1"/>
          </p:cNvSpPr>
          <p:nvPr>
            <p:ph type="body" idx="1"/>
          </p:nvPr>
        </p:nvSpPr>
        <p:spPr bwMode="auto">
          <a:noFill/>
        </p:spPr>
        <p:txBody>
          <a:bodyPr wrap="square" numCol="1" anchor="t" anchorCtr="0" compatLnSpc="1">
            <a:prstTxWarp prst="textNoShape">
              <a:avLst/>
            </a:prstTxWarp>
          </a:bodyPr>
          <a:lstStyle/>
          <a:p>
            <a:r>
              <a:rPr lang="en-US"/>
              <a:t>Inundation: predicted inundation areas, inundation depth, etc.),</a:t>
            </a:r>
          </a:p>
          <a:p>
            <a:r>
              <a:rPr lang="en-US"/>
              <a:t>Evacuation: (location of evacuation refuges, evacuation routes, dangerous spots on evacuation routes, etc.) </a:t>
            </a:r>
          </a:p>
          <a:p>
            <a:r>
              <a:rPr lang="en-US"/>
              <a:t>The goal is to quickly evacuate local residents in a safe and proper manner in the event of floods.</a:t>
            </a:r>
          </a:p>
        </p:txBody>
      </p:sp>
    </p:spTree>
    <p:extLst>
      <p:ext uri="{BB962C8B-B14F-4D97-AF65-F5344CB8AC3E}">
        <p14:creationId xmlns:p14="http://schemas.microsoft.com/office/powerpoint/2010/main" val="16266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Taken from a FEMA document describing the National Incident Management System (NIMS)</a:t>
            </a:r>
          </a:p>
          <a:p>
            <a:endParaRPr lang="en-US" dirty="0"/>
          </a:p>
          <a:p>
            <a:r>
              <a:rPr lang="en-US" dirty="0"/>
              <a:t>Pinellas county in Florida</a:t>
            </a:r>
          </a:p>
          <a:p>
            <a:r>
              <a:rPr lang="en-US" dirty="0"/>
              <a:t>King County, Washington</a:t>
            </a:r>
          </a:p>
          <a:p>
            <a:endParaRPr lang="en-US" dirty="0"/>
          </a:p>
          <a:p>
            <a:r>
              <a:rPr lang="en-US" dirty="0"/>
              <a:t>Pic source: http://mitigationguide.org/task-5/steps-to-conduct-a-risk-assessment-2/1-describe-hazards/ (accessed September 2016)</a:t>
            </a:r>
          </a:p>
        </p:txBody>
      </p:sp>
      <p:sp>
        <p:nvSpPr>
          <p:cNvPr id="4" name="Slide Number Placeholder 3"/>
          <p:cNvSpPr>
            <a:spLocks noGrp="1"/>
          </p:cNvSpPr>
          <p:nvPr>
            <p:ph type="sldNum" sz="quarter" idx="5"/>
          </p:nvPr>
        </p:nvSpPr>
        <p:spPr/>
        <p:txBody>
          <a:bodyPr/>
          <a:lstStyle/>
          <a:p>
            <a:pPr>
              <a:defRPr/>
            </a:pPr>
            <a:fld id="{D1C97901-8663-4287-8439-FDBF5A676339}" type="slidenum">
              <a:rPr lang="en-US" smtClean="0"/>
              <a:pPr>
                <a:defRPr/>
              </a:pPr>
              <a:t>17</a:t>
            </a:fld>
            <a:endParaRPr lang="en-US"/>
          </a:p>
        </p:txBody>
      </p:sp>
    </p:spTree>
    <p:extLst>
      <p:ext uri="{BB962C8B-B14F-4D97-AF65-F5344CB8AC3E}">
        <p14:creationId xmlns:p14="http://schemas.microsoft.com/office/powerpoint/2010/main" val="3161336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Pic source: http://www.immap.org/maps/index.php?do=map_view&amp;id=929&amp;cat=17</a:t>
            </a:r>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18</a:t>
            </a:fld>
            <a:endParaRPr lang="en-US"/>
          </a:p>
        </p:txBody>
      </p:sp>
    </p:spTree>
    <p:extLst>
      <p:ext uri="{BB962C8B-B14F-4D97-AF65-F5344CB8AC3E}">
        <p14:creationId xmlns:p14="http://schemas.microsoft.com/office/powerpoint/2010/main" val="222523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2770"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Even though flow velocities can be shown on Flood Hazard Maps, it is difficult for residents to understand the actual danger of high-flow velocity.</a:t>
            </a:r>
          </a:p>
          <a:p>
            <a:endParaRPr lang="en-US" dirty="0"/>
          </a:p>
          <a:p>
            <a:r>
              <a:rPr lang="en-US" dirty="0"/>
              <a:t>Non colored area: The residents in those areas, however, believe that the areas will never be inundated during a flood occurrence</a:t>
            </a:r>
          </a:p>
        </p:txBody>
      </p:sp>
    </p:spTree>
    <p:extLst>
      <p:ext uri="{BB962C8B-B14F-4D97-AF65-F5344CB8AC3E}">
        <p14:creationId xmlns:p14="http://schemas.microsoft.com/office/powerpoint/2010/main" val="1919053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4" name="Rectangle 3"/>
          <p:cNvSpPr>
            <a:spLocks noGrp="1"/>
          </p:cNvSpPr>
          <p:nvPr>
            <p:ph type="body" idx="1"/>
          </p:nvPr>
        </p:nvSpPr>
        <p:spPr bwMode="auto">
          <a:noFill/>
        </p:spPr>
        <p:txBody>
          <a:bodyPr wrap="square" numCol="1" anchor="t" anchorCtr="0" compatLnSpc="1">
            <a:prstTxWarp prst="textNoShape">
              <a:avLst/>
            </a:prstTxWarp>
          </a:bodyPr>
          <a:lstStyle/>
          <a:p>
            <a:r>
              <a:rPr lang="en-US"/>
              <a:t>Depending on the type of disaster and locale, this number was as high as $8.</a:t>
            </a:r>
          </a:p>
          <a:p>
            <a:r>
              <a:rPr lang="en-US"/>
              <a:t>Source: </a:t>
            </a:r>
            <a:r>
              <a:rPr lang="en-IN"/>
              <a:t>George D. Haddow, Jane A. Bullock and Damon P. Coppola</a:t>
            </a:r>
          </a:p>
          <a:p>
            <a:endParaRPr lang="en-US"/>
          </a:p>
        </p:txBody>
      </p:sp>
    </p:spTree>
    <p:extLst>
      <p:ext uri="{BB962C8B-B14F-4D97-AF65-F5344CB8AC3E}">
        <p14:creationId xmlns:p14="http://schemas.microsoft.com/office/powerpoint/2010/main" val="31732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t>Source: http://www.authorstream.com/Presentation/Pravez-36117-IA-Emergency-Preparedness-PROTECTING-IRREPLACEABLE-DISASTER-PREPAREDNESSFOR-HISTORIC-PROPERTIES-Introduction-Report-as-Entertainment-ppt-powerpoint/</a:t>
            </a:r>
          </a:p>
        </p:txBody>
      </p:sp>
      <p:sp>
        <p:nvSpPr>
          <p:cNvPr id="4096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689EEB96-0D46-451C-9306-791A4C959FC3}" type="slidenum">
              <a:rPr lang="en-US" sz="1200">
                <a:latin typeface="Calibri" pitchFamily="34" charset="0"/>
              </a:rPr>
              <a:pPr algn="r"/>
              <a:t>22</a:t>
            </a:fld>
            <a:endParaRPr lang="en-US" sz="1200">
              <a:latin typeface="Calibri" pitchFamily="34" charset="0"/>
            </a:endParaRPr>
          </a:p>
        </p:txBody>
      </p:sp>
    </p:spTree>
    <p:extLst>
      <p:ext uri="{BB962C8B-B14F-4D97-AF65-F5344CB8AC3E}">
        <p14:creationId xmlns:p14="http://schemas.microsoft.com/office/powerpoint/2010/main" val="1450282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spcBef>
                <a:spcPct val="0"/>
              </a:spcBef>
              <a:buFont typeface="+mj-lt"/>
              <a:buNone/>
            </a:pPr>
            <a:r>
              <a:rPr lang="en-US"/>
              <a:t>Source: http://www.who.int/hac/techguidance/training/induction/wpro/Day1%20Concepts%20in%20Emergency%20Management.pdf</a:t>
            </a:r>
          </a:p>
          <a:p>
            <a:pPr marL="228600" indent="-228600">
              <a:spcBef>
                <a:spcPct val="0"/>
              </a:spcBef>
            </a:pPr>
            <a:r>
              <a:rPr lang="en-US"/>
              <a:t>http://www.authorstream.com/Presentation/Pravez-36117-IA-Emergency-Preparedness-PROTECTING-IRREPLACEABLE-DISASTER-PREPAREDNESSFOR-HISTORIC-PROPERTIES-Introduction-Report-as-Entertainment-ppt-</a:t>
            </a:r>
          </a:p>
          <a:p>
            <a:pPr marL="228600" indent="-228600">
              <a:spcBef>
                <a:spcPct val="0"/>
              </a:spcBef>
            </a:pPr>
            <a:endParaRPr lang="en-US"/>
          </a:p>
          <a:p>
            <a:pPr marL="228600" indent="-228600">
              <a:spcBef>
                <a:spcPct val="0"/>
              </a:spcBef>
            </a:pPr>
            <a:endParaRPr lang="en-US"/>
          </a:p>
        </p:txBody>
      </p:sp>
      <p:sp>
        <p:nvSpPr>
          <p:cNvPr id="4301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6DBAEBF-2DE0-4ADF-9692-7F1EB8A6B583}" type="slidenum">
              <a:rPr lang="en-US" sz="1200">
                <a:latin typeface="Calibri" pitchFamily="34" charset="0"/>
              </a:rPr>
              <a:pPr algn="r"/>
              <a:t>23</a:t>
            </a:fld>
            <a:endParaRPr lang="en-US" sz="1200">
              <a:latin typeface="Calibri" pitchFamily="34" charset="0"/>
            </a:endParaRPr>
          </a:p>
        </p:txBody>
      </p:sp>
    </p:spTree>
    <p:extLst>
      <p:ext uri="{BB962C8B-B14F-4D97-AF65-F5344CB8AC3E}">
        <p14:creationId xmlns:p14="http://schemas.microsoft.com/office/powerpoint/2010/main" val="166679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spcBef>
                <a:spcPct val="0"/>
              </a:spcBef>
            </a:pPr>
            <a:r>
              <a:rPr lang="en-US" dirty="0"/>
              <a:t>Surge Capacity: Additional capacity to deal with sudden unexpected upturns in demand. Surge capacity is used when there are unforeseen emergencies and disasters</a:t>
            </a:r>
          </a:p>
          <a:p>
            <a:pPr marL="228600" indent="-228600">
              <a:spcBef>
                <a:spcPct val="0"/>
              </a:spcBef>
            </a:pPr>
            <a:r>
              <a:rPr lang="en-US" dirty="0"/>
              <a:t>when a crisis deteriorates etc. </a:t>
            </a:r>
          </a:p>
          <a:p>
            <a:pPr marL="228600" indent="-228600">
              <a:spcBef>
                <a:spcPct val="0"/>
              </a:spcBef>
              <a:buFont typeface="+mj-lt"/>
              <a:buNone/>
            </a:pPr>
            <a:r>
              <a:rPr lang="en-US" dirty="0"/>
              <a:t>Source: Day1 Concepts in Emergency Management (Pdf in reading material)</a:t>
            </a:r>
          </a:p>
          <a:p>
            <a:pPr marL="228600" indent="-228600">
              <a:spcBef>
                <a:spcPct val="0"/>
              </a:spcBef>
              <a:buFont typeface="+mj-lt"/>
              <a:buNone/>
            </a:pPr>
            <a:endParaRPr lang="en-US" dirty="0"/>
          </a:p>
          <a:p>
            <a:pPr marL="228600" indent="-228600">
              <a:spcBef>
                <a:spcPct val="0"/>
              </a:spcBef>
              <a:buFont typeface="+mj-lt"/>
              <a:buNone/>
            </a:pPr>
            <a:r>
              <a:rPr lang="en-US" dirty="0"/>
              <a:t>http://www.authorstream.com/Presentation/Pravez-36117-IA-Emergency-Preparedness-PROTECTING-IRREPLACEABLE-DISASTER-PREPAREDNESSFOR-HISTORIC-PROPERTIES-Introduction-Report-as-Entertainment-ppt-</a:t>
            </a:r>
          </a:p>
          <a:p>
            <a:pPr marL="228600" indent="-228600">
              <a:spcBef>
                <a:spcPct val="0"/>
              </a:spcBef>
            </a:pPr>
            <a:endParaRPr lang="en-US" dirty="0"/>
          </a:p>
        </p:txBody>
      </p:sp>
      <p:sp>
        <p:nvSpPr>
          <p:cNvPr id="4301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6DBAEBF-2DE0-4ADF-9692-7F1EB8A6B583}" type="slidenum">
              <a:rPr lang="en-US" sz="1200">
                <a:latin typeface="Calibri" pitchFamily="34" charset="0"/>
              </a:rPr>
              <a:pPr algn="r"/>
              <a:t>24</a:t>
            </a:fld>
            <a:endParaRPr lang="en-US" sz="1200">
              <a:latin typeface="Calibri" pitchFamily="34" charset="0"/>
            </a:endParaRPr>
          </a:p>
        </p:txBody>
      </p:sp>
    </p:spTree>
    <p:extLst>
      <p:ext uri="{BB962C8B-B14F-4D97-AF65-F5344CB8AC3E}">
        <p14:creationId xmlns:p14="http://schemas.microsoft.com/office/powerpoint/2010/main" val="3308297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Introduction to Emergency Management</a:t>
            </a:r>
            <a:r>
              <a:rPr lang="en-US" baseline="0" dirty="0"/>
              <a:t> </a:t>
            </a:r>
            <a:r>
              <a:rPr lang="en-US" dirty="0"/>
              <a:t>By George </a:t>
            </a:r>
            <a:r>
              <a:rPr lang="en-US" dirty="0" err="1"/>
              <a:t>Haddow</a:t>
            </a:r>
            <a:r>
              <a:rPr lang="en-US" dirty="0"/>
              <a:t>, Jane Bullock, Damon P. Coppola</a:t>
            </a:r>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26</a:t>
            </a:fld>
            <a:endParaRPr lang="en-US"/>
          </a:p>
        </p:txBody>
      </p:sp>
    </p:spTree>
    <p:extLst>
      <p:ext uri="{BB962C8B-B14F-4D97-AF65-F5344CB8AC3E}">
        <p14:creationId xmlns:p14="http://schemas.microsoft.com/office/powerpoint/2010/main" val="3433980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Mitigation activities eliminate or reduce the effect of unavoidable disaster. </a:t>
            </a:r>
          </a:p>
        </p:txBody>
      </p:sp>
      <p:sp>
        <p:nvSpPr>
          <p:cNvPr id="21507"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6D0FA268-C216-434A-98E0-26CF0F8560AA}" type="slidenum">
              <a:rPr lang="en-US" sz="1200">
                <a:latin typeface="+mn-lt"/>
              </a:rPr>
              <a:pPr algn="r">
                <a:defRPr/>
              </a:pPr>
              <a:t>27</a:t>
            </a:fld>
            <a:endParaRPr lang="en-US" sz="1200">
              <a:latin typeface="+mn-lt"/>
            </a:endParaRPr>
          </a:p>
        </p:txBody>
      </p:sp>
    </p:spTree>
    <p:extLst>
      <p:ext uri="{BB962C8B-B14F-4D97-AF65-F5344CB8AC3E}">
        <p14:creationId xmlns:p14="http://schemas.microsoft.com/office/powerpoint/2010/main" val="1456712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0722"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advisory evacuation warning and/or an imperative evacuation warning (the residents are, however, not charged a penalty if they do not follow the warnings).</a:t>
            </a:r>
          </a:p>
          <a:p>
            <a:r>
              <a:rPr lang="en-US" dirty="0"/>
              <a:t>Mind set: In case of flood hazard residents hardly realize that they are in serious danger and not recognize the strong power of stream flow if they never experience it, and believe that they can evacuate even after the onset of flooding.</a:t>
            </a:r>
          </a:p>
          <a:p>
            <a:endParaRPr lang="en-US" dirty="0"/>
          </a:p>
          <a:p>
            <a:r>
              <a:rPr lang="en-US" dirty="0"/>
              <a:t>Koriyama in Japan.</a:t>
            </a:r>
          </a:p>
        </p:txBody>
      </p:sp>
    </p:spTree>
    <p:extLst>
      <p:ext uri="{BB962C8B-B14F-4D97-AF65-F5344CB8AC3E}">
        <p14:creationId xmlns:p14="http://schemas.microsoft.com/office/powerpoint/2010/main" val="35861867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4346AE25-BD72-4FB5-A3B5-5EF4F5DC3002}" type="slidenum">
              <a:rPr lang="en-US" smtClean="0"/>
              <a:pPr>
                <a:defRPr/>
              </a:pPr>
              <a:t>30</a:t>
            </a:fld>
            <a:endParaRPr lang="en-US"/>
          </a:p>
        </p:txBody>
      </p:sp>
    </p:spTree>
    <p:extLst>
      <p:ext uri="{BB962C8B-B14F-4D97-AF65-F5344CB8AC3E}">
        <p14:creationId xmlns:p14="http://schemas.microsoft.com/office/powerpoint/2010/main" val="3700754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31</a:t>
            </a:fld>
            <a:endParaRPr lang="en-US"/>
          </a:p>
        </p:txBody>
      </p:sp>
    </p:spTree>
    <p:extLst>
      <p:ext uri="{BB962C8B-B14F-4D97-AF65-F5344CB8AC3E}">
        <p14:creationId xmlns:p14="http://schemas.microsoft.com/office/powerpoint/2010/main" val="26451938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2466"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a:t>
            </a:r>
            <a:r>
              <a:rPr lang="en-IN" dirty="0"/>
              <a:t>George D. </a:t>
            </a:r>
            <a:r>
              <a:rPr lang="en-IN" dirty="0" err="1"/>
              <a:t>Haddow</a:t>
            </a:r>
            <a:r>
              <a:rPr lang="en-IN" dirty="0"/>
              <a:t>, Jane A. Bullock and Damon P. Coppola</a:t>
            </a:r>
          </a:p>
          <a:p>
            <a:endParaRPr lang="en-US" dirty="0"/>
          </a:p>
        </p:txBody>
      </p:sp>
    </p:spTree>
    <p:extLst>
      <p:ext uri="{BB962C8B-B14F-4D97-AF65-F5344CB8AC3E}">
        <p14:creationId xmlns:p14="http://schemas.microsoft.com/office/powerpoint/2010/main" val="3630219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2466"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a:t>
            </a:r>
            <a:r>
              <a:rPr lang="en-IN" dirty="0"/>
              <a:t>George D. </a:t>
            </a:r>
            <a:r>
              <a:rPr lang="en-IN" dirty="0" err="1"/>
              <a:t>Haddow</a:t>
            </a:r>
            <a:r>
              <a:rPr lang="en-IN" dirty="0"/>
              <a:t>, Jane A. Bullock and Damon P. Coppola</a:t>
            </a:r>
          </a:p>
          <a:p>
            <a:endParaRPr lang="en-US" dirty="0"/>
          </a:p>
        </p:txBody>
      </p:sp>
    </p:spTree>
    <p:extLst>
      <p:ext uri="{BB962C8B-B14F-4D97-AF65-F5344CB8AC3E}">
        <p14:creationId xmlns:p14="http://schemas.microsoft.com/office/powerpoint/2010/main" val="685922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Evacuation and sheltering of involved people.</a:t>
            </a:r>
          </a:p>
        </p:txBody>
      </p:sp>
      <p:sp>
        <p:nvSpPr>
          <p:cNvPr id="24579"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A35A510C-D2C6-4983-AA4C-09D2D94A08C7}" type="slidenum">
              <a:rPr lang="en-US" sz="1200">
                <a:latin typeface="+mn-lt"/>
              </a:rPr>
              <a:pPr algn="r">
                <a:defRPr/>
              </a:pPr>
              <a:t>35</a:t>
            </a:fld>
            <a:endParaRPr lang="en-US" sz="1200">
              <a:latin typeface="+mn-lt"/>
            </a:endParaRPr>
          </a:p>
        </p:txBody>
      </p:sp>
    </p:spTree>
    <p:extLst>
      <p:ext uri="{BB962C8B-B14F-4D97-AF65-F5344CB8AC3E}">
        <p14:creationId xmlns:p14="http://schemas.microsoft.com/office/powerpoint/2010/main" val="3866713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457200" indent="-457200" algn="just">
              <a:lnSpc>
                <a:spcPct val="114000"/>
              </a:lnSpc>
              <a:spcBef>
                <a:spcPts val="1200"/>
              </a:spcBef>
              <a:spcAft>
                <a:spcPts val="600"/>
              </a:spcAft>
            </a:pPr>
            <a:r>
              <a:rPr lang="en-US" sz="1200" dirty="0"/>
              <a:t>Evacuation: Relocate a population from zones at risk of an imminent disaster to a safer location. To move the population away from the hazard and its consequences.</a:t>
            </a:r>
          </a:p>
          <a:p>
            <a:pPr marL="457200" indent="-457200" algn="just">
              <a:lnSpc>
                <a:spcPct val="114000"/>
              </a:lnSpc>
              <a:spcBef>
                <a:spcPts val="1200"/>
              </a:spcBef>
              <a:spcAft>
                <a:spcPts val="600"/>
              </a:spcAft>
            </a:pPr>
            <a:r>
              <a:rPr lang="en-US" sz="1200" dirty="0"/>
              <a:t>The primary concern is protecting the life and treatment of the injured. Reduces the effect of disasters. </a:t>
            </a:r>
          </a:p>
          <a:p>
            <a:pPr marL="457200" indent="-457200" algn="just">
              <a:lnSpc>
                <a:spcPct val="114000"/>
              </a:lnSpc>
              <a:spcBef>
                <a:spcPts val="1200"/>
              </a:spcBef>
              <a:spcAft>
                <a:spcPts val="600"/>
              </a:spcAft>
            </a:pPr>
            <a:r>
              <a:rPr lang="en-US" sz="1200" dirty="0"/>
              <a:t>An Effective Evacuation Requires:  A timely and accurate warning system. A clear identification of escape routes. </a:t>
            </a:r>
          </a:p>
          <a:p>
            <a:pPr marL="457200" indent="-457200" algn="just">
              <a:lnSpc>
                <a:spcPct val="114000"/>
              </a:lnSpc>
              <a:spcBef>
                <a:spcPts val="1200"/>
              </a:spcBef>
              <a:spcAft>
                <a:spcPts val="600"/>
              </a:spcAft>
            </a:pPr>
            <a:r>
              <a:rPr lang="en-US" sz="1200" dirty="0"/>
              <a:t>An established policy that requires everyone to evacuate when an order is given. A public education program to make the community aware of the plan.</a:t>
            </a:r>
          </a:p>
          <a:p>
            <a:pPr marL="457200" indent="-457200" algn="just">
              <a:lnSpc>
                <a:spcPct val="114000"/>
              </a:lnSpc>
              <a:spcBef>
                <a:spcPts val="1200"/>
              </a:spcBef>
              <a:spcAft>
                <a:spcPts val="600"/>
              </a:spcAft>
            </a:pPr>
            <a:endParaRPr lang="en-US" sz="1200" dirty="0"/>
          </a:p>
          <a:p>
            <a:pPr marL="457200" indent="-457200" algn="just">
              <a:lnSpc>
                <a:spcPct val="114000"/>
              </a:lnSpc>
              <a:spcBef>
                <a:spcPts val="1200"/>
              </a:spcBef>
              <a:spcAft>
                <a:spcPts val="600"/>
              </a:spcAft>
            </a:pPr>
            <a:endParaRPr lang="en-US" sz="1200" dirty="0"/>
          </a:p>
          <a:p>
            <a:pPr marL="457200" indent="-457200" algn="just">
              <a:lnSpc>
                <a:spcPct val="114000"/>
              </a:lnSpc>
              <a:spcBef>
                <a:spcPts val="1200"/>
              </a:spcBef>
              <a:spcAft>
                <a:spcPts val="600"/>
              </a:spcAft>
            </a:pPr>
            <a:r>
              <a:rPr lang="en-US" sz="1200" dirty="0"/>
              <a:t>SAR: The process of identifying the location of disaster victims who may be trapped or isolated and bringing them to safety and medical attention.</a:t>
            </a:r>
          </a:p>
          <a:p>
            <a:pPr marL="457200" indent="-457200" algn="just">
              <a:lnSpc>
                <a:spcPct val="114000"/>
              </a:lnSpc>
              <a:spcBef>
                <a:spcPts val="1200"/>
              </a:spcBef>
              <a:spcAft>
                <a:spcPts val="600"/>
              </a:spcAft>
            </a:pPr>
            <a:r>
              <a:rPr lang="en-US" sz="1200" dirty="0"/>
              <a:t>Time is critical – </a:t>
            </a:r>
            <a:r>
              <a:rPr lang="en-US" sz="1200" dirty="0">
                <a:solidFill>
                  <a:srgbClr val="FF0000"/>
                </a:solidFill>
              </a:rPr>
              <a:t>no delays!!!</a:t>
            </a:r>
            <a:r>
              <a:rPr lang="en-US" sz="1200" dirty="0"/>
              <a:t>: Most effective in early min/hours/days.</a:t>
            </a:r>
          </a:p>
          <a:p>
            <a:pPr marL="457200" indent="-457200" algn="just">
              <a:lnSpc>
                <a:spcPct val="114000"/>
              </a:lnSpc>
              <a:spcBef>
                <a:spcPts val="1200"/>
              </a:spcBef>
              <a:spcAft>
                <a:spcPts val="600"/>
              </a:spcAft>
            </a:pPr>
            <a:r>
              <a:rPr lang="en-US" sz="1200" dirty="0"/>
              <a:t>Victims may be trapped under collapsed buildings, debris, moving water, etc. Half of those rescued are rescued in the first six hours. </a:t>
            </a:r>
          </a:p>
          <a:p>
            <a:pPr marL="457200" marR="0" lvl="0" indent="-457200" algn="just" defTabSz="914400" rtl="0" eaLnBrk="0" fontAlgn="base" latinLnBrk="0" hangingPunct="0">
              <a:lnSpc>
                <a:spcPct val="114000"/>
              </a:lnSpc>
              <a:spcBef>
                <a:spcPts val="1200"/>
              </a:spcBef>
              <a:spcAft>
                <a:spcPts val="600"/>
              </a:spcAft>
              <a:buClrTx/>
              <a:buSzTx/>
              <a:buFontTx/>
              <a:buNone/>
              <a:tabLst/>
              <a:defRPr/>
            </a:pPr>
            <a:r>
              <a:rPr lang="en-US" sz="1200" dirty="0"/>
              <a:t>Organized search and rescue activities are needed. </a:t>
            </a:r>
          </a:p>
          <a:p>
            <a:pPr marL="457200" marR="0" lvl="0" indent="-457200" algn="just" defTabSz="914400" rtl="0" eaLnBrk="0" fontAlgn="base" latinLnBrk="0" hangingPunct="0">
              <a:lnSpc>
                <a:spcPct val="114000"/>
              </a:lnSpc>
              <a:spcBef>
                <a:spcPts val="1200"/>
              </a:spcBef>
              <a:spcAft>
                <a:spcPts val="600"/>
              </a:spcAft>
              <a:buClrTx/>
              <a:buSzTx/>
              <a:buFontTx/>
              <a:buNone/>
              <a:tabLst/>
              <a:defRPr/>
            </a:pPr>
            <a:r>
              <a:rPr lang="en-US" sz="1200" dirty="0"/>
              <a:t>Locate by listening to their calls, looking for signs of life, or using information to estimate where the victims may be found. </a:t>
            </a:r>
          </a:p>
          <a:p>
            <a:pPr marL="457200" marR="0" lvl="0" indent="-457200" algn="just" defTabSz="914400" rtl="0" eaLnBrk="0" fontAlgn="base" latinLnBrk="0" hangingPunct="0">
              <a:lnSpc>
                <a:spcPct val="114000"/>
              </a:lnSpc>
              <a:spcBef>
                <a:spcPts val="1200"/>
              </a:spcBef>
              <a:spcAft>
                <a:spcPts val="600"/>
              </a:spcAft>
              <a:buClrTx/>
              <a:buSzTx/>
              <a:buFontTx/>
              <a:buNone/>
              <a:tabLst/>
              <a:defRPr/>
            </a:pPr>
            <a:r>
              <a:rPr lang="en-US" sz="1200" dirty="0"/>
              <a:t>Provide them with initial medical first aid. </a:t>
            </a:r>
            <a:r>
              <a:rPr lang="en-US" dirty="0"/>
              <a:t>Transport them to hospitals/shelters or a safe location.</a:t>
            </a:r>
          </a:p>
          <a:p>
            <a:pPr marL="457200" marR="0" lvl="0" indent="-457200" algn="just" defTabSz="914400" rtl="0" eaLnBrk="0" fontAlgn="base" latinLnBrk="0" hangingPunct="0">
              <a:lnSpc>
                <a:spcPct val="114000"/>
              </a:lnSpc>
              <a:spcBef>
                <a:spcPts val="1200"/>
              </a:spcBef>
              <a:spcAft>
                <a:spcPts val="600"/>
              </a:spcAft>
              <a:buClrTx/>
              <a:buSzTx/>
              <a:buFontTx/>
              <a:buNone/>
              <a:tabLst/>
              <a:defRPr/>
            </a:pPr>
            <a:endParaRPr lang="en-US" dirty="0"/>
          </a:p>
          <a:p>
            <a:endParaRPr lang="en-PK" dirty="0"/>
          </a:p>
        </p:txBody>
      </p:sp>
      <p:sp>
        <p:nvSpPr>
          <p:cNvPr id="4" name="Slide Number Placeholder 3"/>
          <p:cNvSpPr>
            <a:spLocks noGrp="1"/>
          </p:cNvSpPr>
          <p:nvPr>
            <p:ph type="sldNum" sz="quarter" idx="5"/>
          </p:nvPr>
        </p:nvSpPr>
        <p:spPr/>
        <p:txBody>
          <a:bodyPr/>
          <a:lstStyle/>
          <a:p>
            <a:pPr>
              <a:defRPr/>
            </a:pPr>
            <a:fld id="{4346AE25-BD72-4FB5-A3B5-5EF4F5DC3002}" type="slidenum">
              <a:rPr lang="en-US" smtClean="0"/>
              <a:pPr>
                <a:defRPr/>
              </a:pPr>
              <a:t>36</a:t>
            </a:fld>
            <a:endParaRPr lang="en-US"/>
          </a:p>
        </p:txBody>
      </p:sp>
    </p:spTree>
    <p:extLst>
      <p:ext uri="{BB962C8B-B14F-4D97-AF65-F5344CB8AC3E}">
        <p14:creationId xmlns:p14="http://schemas.microsoft.com/office/powerpoint/2010/main" val="4178672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37</a:t>
            </a:fld>
            <a:endParaRPr lang="en-US"/>
          </a:p>
        </p:txBody>
      </p:sp>
    </p:spTree>
    <p:extLst>
      <p:ext uri="{BB962C8B-B14F-4D97-AF65-F5344CB8AC3E}">
        <p14:creationId xmlns:p14="http://schemas.microsoft.com/office/powerpoint/2010/main" val="3766411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https://www.unisdr.org/we/inform/terminology</a:t>
            </a:r>
          </a:p>
          <a:p>
            <a:r>
              <a:rPr lang="en-US" dirty="0"/>
              <a:t>Now called </a:t>
            </a:r>
            <a:r>
              <a:rPr lang="en-US" dirty="0" err="1"/>
              <a:t>UNDDR</a:t>
            </a:r>
            <a:r>
              <a:rPr lang="en-US" dirty="0"/>
              <a:t> </a:t>
            </a:r>
            <a:r>
              <a:rPr lang="en-US" sz="1200" b="0" i="0" kern="1200" dirty="0">
                <a:solidFill>
                  <a:schemeClr val="tx1"/>
                </a:solidFill>
                <a:effectLst/>
                <a:latin typeface="+mn-lt"/>
                <a:ea typeface="+mn-ea"/>
                <a:cs typeface="Arial" charset="0"/>
              </a:rPr>
              <a:t>Disaster Risk Reduction and Recovery</a:t>
            </a:r>
          </a:p>
          <a:p>
            <a:endParaRPr lang="en-US" sz="1200" b="0" i="0" kern="1200" dirty="0">
              <a:solidFill>
                <a:schemeClr val="tx1"/>
              </a:solidFill>
              <a:effectLst/>
              <a:latin typeface="+mn-lt"/>
              <a:ea typeface="+mn-ea"/>
              <a:cs typeface="Arial" charset="0"/>
            </a:endParaRPr>
          </a:p>
          <a:p>
            <a:r>
              <a:rPr lang="en-US" sz="1200" b="0" i="0" kern="1200" dirty="0">
                <a:solidFill>
                  <a:schemeClr val="tx1"/>
                </a:solidFill>
                <a:effectLst/>
                <a:latin typeface="+mn-lt"/>
                <a:ea typeface="+mn-ea"/>
                <a:cs typeface="Arial" charset="0"/>
              </a:rPr>
              <a:t>United Nations International Strategy for </a:t>
            </a:r>
            <a:r>
              <a:rPr lang="en-US" sz="1200" b="1" i="0" kern="1200" dirty="0">
                <a:solidFill>
                  <a:schemeClr val="tx1"/>
                </a:solidFill>
                <a:effectLst/>
                <a:latin typeface="+mn-lt"/>
                <a:ea typeface="+mn-ea"/>
                <a:cs typeface="Arial" charset="0"/>
              </a:rPr>
              <a:t>Disaster</a:t>
            </a:r>
            <a:r>
              <a:rPr lang="en-US" sz="1200" b="0" i="0" kern="1200" dirty="0">
                <a:solidFill>
                  <a:schemeClr val="tx1"/>
                </a:solidFill>
                <a:effectLst/>
                <a:latin typeface="+mn-lt"/>
                <a:ea typeface="+mn-ea"/>
                <a:cs typeface="Arial" charset="0"/>
              </a:rPr>
              <a:t> Reduction</a:t>
            </a:r>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39</a:t>
            </a:fld>
            <a:endParaRPr lang="en-US"/>
          </a:p>
        </p:txBody>
      </p:sp>
    </p:spTree>
    <p:extLst>
      <p:ext uri="{BB962C8B-B14F-4D97-AF65-F5344CB8AC3E}">
        <p14:creationId xmlns:p14="http://schemas.microsoft.com/office/powerpoint/2010/main" val="29215022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a:t>
            </a:r>
            <a:r>
              <a:rPr lang="en-US" baseline="0" dirty="0"/>
              <a:t> r</a:t>
            </a:r>
            <a:r>
              <a:rPr lang="en-US" dirty="0"/>
              <a:t>ecovery, rehab and</a:t>
            </a:r>
            <a:r>
              <a:rPr lang="en-US" baseline="0" dirty="0"/>
              <a:t> reconstruction</a:t>
            </a:r>
          </a:p>
          <a:p>
            <a:endParaRPr lang="en-US" baseline="0" dirty="0"/>
          </a:p>
          <a:p>
            <a:r>
              <a:rPr lang="en-US" baseline="0" dirty="0"/>
              <a:t>Source: </a:t>
            </a:r>
            <a:r>
              <a:rPr lang="en-US" dirty="0"/>
              <a:t>Cities, Disaster Risk and Adaptation</a:t>
            </a:r>
            <a:r>
              <a:rPr lang="en-US" baseline="0" dirty="0"/>
              <a:t> </a:t>
            </a:r>
            <a:r>
              <a:rPr lang="en-US" dirty="0"/>
              <a:t>By Christine </a:t>
            </a:r>
            <a:r>
              <a:rPr lang="en-US" dirty="0" err="1"/>
              <a:t>Wamsler</a:t>
            </a:r>
            <a:endParaRPr lang="en-US" dirty="0"/>
          </a:p>
        </p:txBody>
      </p:sp>
      <p:sp>
        <p:nvSpPr>
          <p:cNvPr id="4" name="Slide Number Placeholder 3"/>
          <p:cNvSpPr>
            <a:spLocks noGrp="1"/>
          </p:cNvSpPr>
          <p:nvPr>
            <p:ph type="sldNum" sz="quarter" idx="10"/>
          </p:nvPr>
        </p:nvSpPr>
        <p:spPr/>
        <p:txBody>
          <a:bodyPr/>
          <a:lstStyle/>
          <a:p>
            <a:pPr>
              <a:defRPr/>
            </a:pPr>
            <a:fld id="{4346AE25-BD72-4FB5-A3B5-5EF4F5DC3002}" type="slidenum">
              <a:rPr lang="en-US" smtClean="0"/>
              <a:pPr>
                <a:defRPr/>
              </a:pPr>
              <a:t>40</a:t>
            </a:fld>
            <a:endParaRPr lang="en-US"/>
          </a:p>
        </p:txBody>
      </p:sp>
    </p:spTree>
    <p:extLst>
      <p:ext uri="{BB962C8B-B14F-4D97-AF65-F5344CB8AC3E}">
        <p14:creationId xmlns:p14="http://schemas.microsoft.com/office/powerpoint/2010/main" val="27856209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Make things functional again. </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recovery process requires balancing the more immediate need to return the community to normalcy with the longer-term goal of reducing future vulnerability.</a:t>
            </a:r>
            <a:r>
              <a:rPr lang="en-US" sz="1200" dirty="0">
                <a:latin typeface="Comic Sans MS" panose="030F0702030302020204" pitchFamily="66" charset="0"/>
                <a:cs typeface="Arial" panose="020B0604020202020204" pitchFamily="34" charset="0"/>
              </a:rPr>
              <a: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Comic Sans MS" panose="030F0702030302020204" pitchFamily="66"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065D72C6-11DB-4EA5-BEB0-CF85D0FC1CAA}" type="slidenum">
              <a:rPr lang="en-US" smtClean="0"/>
              <a:pPr>
                <a:defRPr/>
              </a:pPr>
              <a:t>41</a:t>
            </a:fld>
            <a:endParaRPr lang="en-US"/>
          </a:p>
        </p:txBody>
      </p:sp>
    </p:spTree>
    <p:extLst>
      <p:ext uri="{BB962C8B-B14F-4D97-AF65-F5344CB8AC3E}">
        <p14:creationId xmlns:p14="http://schemas.microsoft.com/office/powerpoint/2010/main" val="12451109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Coppola</a:t>
            </a:r>
          </a:p>
        </p:txBody>
      </p:sp>
      <p:sp>
        <p:nvSpPr>
          <p:cNvPr id="4" name="Slide Number Placeholder 3"/>
          <p:cNvSpPr>
            <a:spLocks noGrp="1"/>
          </p:cNvSpPr>
          <p:nvPr>
            <p:ph type="sldNum" sz="quarter" idx="5"/>
          </p:nvPr>
        </p:nvSpPr>
        <p:spPr/>
        <p:txBody>
          <a:bodyPr/>
          <a:lstStyle/>
          <a:p>
            <a:pPr>
              <a:defRPr/>
            </a:pPr>
            <a:fld id="{8B4D9408-3F87-47CA-8652-C8AC0A098672}" type="slidenum">
              <a:rPr lang="en-US" smtClean="0"/>
              <a:pPr>
                <a:defRPr/>
              </a:pPr>
              <a:t>43</a:t>
            </a:fld>
            <a:endParaRPr lang="en-US"/>
          </a:p>
        </p:txBody>
      </p:sp>
    </p:spTree>
    <p:extLst>
      <p:ext uri="{BB962C8B-B14F-4D97-AF65-F5344CB8AC3E}">
        <p14:creationId xmlns:p14="http://schemas.microsoft.com/office/powerpoint/2010/main" val="4198027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Coppola</a:t>
            </a:r>
          </a:p>
        </p:txBody>
      </p:sp>
      <p:sp>
        <p:nvSpPr>
          <p:cNvPr id="4" name="Slide Number Placeholder 3"/>
          <p:cNvSpPr>
            <a:spLocks noGrp="1"/>
          </p:cNvSpPr>
          <p:nvPr>
            <p:ph type="sldNum" sz="quarter" idx="5"/>
          </p:nvPr>
        </p:nvSpPr>
        <p:spPr/>
        <p:txBody>
          <a:bodyPr/>
          <a:lstStyle/>
          <a:p>
            <a:pPr>
              <a:defRPr/>
            </a:pPr>
            <a:fld id="{8B4D9408-3F87-47CA-8652-C8AC0A098672}" type="slidenum">
              <a:rPr lang="en-US" smtClean="0"/>
              <a:pPr>
                <a:defRPr/>
              </a:pPr>
              <a:t>44</a:t>
            </a:fld>
            <a:endParaRPr lang="en-US"/>
          </a:p>
        </p:txBody>
      </p:sp>
    </p:spTree>
    <p:extLst>
      <p:ext uri="{BB962C8B-B14F-4D97-AF65-F5344CB8AC3E}">
        <p14:creationId xmlns:p14="http://schemas.microsoft.com/office/powerpoint/2010/main" val="26159280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560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Broad goal Example: Reduce vulnerability to electric transmission wires”</a:t>
            </a:r>
          </a:p>
        </p:txBody>
      </p:sp>
      <p:sp>
        <p:nvSpPr>
          <p:cNvPr id="4" name="Slide Number Placeholder 3"/>
          <p:cNvSpPr>
            <a:spLocks noGrp="1"/>
          </p:cNvSpPr>
          <p:nvPr>
            <p:ph type="sldNum" sz="quarter" idx="5"/>
          </p:nvPr>
        </p:nvSpPr>
        <p:spPr/>
        <p:txBody>
          <a:bodyPr/>
          <a:lstStyle/>
          <a:p>
            <a:pPr>
              <a:defRPr/>
            </a:pPr>
            <a:fld id="{3F884D67-9B11-4C86-BDA2-76BDDA91AC22}" type="slidenum">
              <a:rPr lang="en-US" smtClean="0"/>
              <a:pPr>
                <a:defRPr/>
              </a:pPr>
              <a:t>45</a:t>
            </a:fld>
            <a:endParaRPr lang="en-US"/>
          </a:p>
        </p:txBody>
      </p:sp>
    </p:spTree>
    <p:extLst>
      <p:ext uri="{BB962C8B-B14F-4D97-AF65-F5344CB8AC3E}">
        <p14:creationId xmlns:p14="http://schemas.microsoft.com/office/powerpoint/2010/main" val="24312237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2765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Name of contractors, coordination mechanisms, </a:t>
            </a:r>
          </a:p>
          <a:p>
            <a:r>
              <a:rPr lang="en-US" dirty="0"/>
              <a:t>Secondary hazards: These are hazards that follow as a result of other hazard events. (For EQ – building collapse, dam failure, fire, landslide, tsunami, water pollution. Etc.)</a:t>
            </a:r>
          </a:p>
        </p:txBody>
      </p:sp>
      <p:sp>
        <p:nvSpPr>
          <p:cNvPr id="4" name="Slide Number Placeholder 3"/>
          <p:cNvSpPr>
            <a:spLocks noGrp="1"/>
          </p:cNvSpPr>
          <p:nvPr>
            <p:ph type="sldNum" sz="quarter" idx="5"/>
          </p:nvPr>
        </p:nvSpPr>
        <p:spPr/>
        <p:txBody>
          <a:bodyPr/>
          <a:lstStyle/>
          <a:p>
            <a:pPr>
              <a:defRPr/>
            </a:pPr>
            <a:fld id="{ED209C1E-4E08-4505-A044-289896C0F91C}" type="slidenum">
              <a:rPr lang="en-US" smtClean="0"/>
              <a:pPr>
                <a:defRPr/>
              </a:pPr>
              <a:t>46</a:t>
            </a:fld>
            <a:endParaRPr lang="en-US"/>
          </a:p>
        </p:txBody>
      </p:sp>
    </p:spTree>
    <p:extLst>
      <p:ext uri="{BB962C8B-B14F-4D97-AF65-F5344CB8AC3E}">
        <p14:creationId xmlns:p14="http://schemas.microsoft.com/office/powerpoint/2010/main" val="1176594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6"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Although called “ short-term, ” some of these activities may last for weeks.</a:t>
            </a:r>
          </a:p>
          <a:p>
            <a:r>
              <a:rPr lang="en-US" dirty="0"/>
              <a:t>It may be considered as a transitional phase between (</a:t>
            </a:r>
            <a:r>
              <a:rPr lang="en-US" dirty="0" err="1"/>
              <a:t>i</a:t>
            </a:r>
            <a:r>
              <a:rPr lang="en-US" dirty="0"/>
              <a:t>) immediate relief and (ii) more major, long-term reconstruction and the pursuit of ongoing development.</a:t>
            </a:r>
          </a:p>
          <a:p>
            <a:r>
              <a:rPr lang="en-US" dirty="0"/>
              <a:t>Basic services and functions are restored, </a:t>
            </a:r>
          </a:p>
          <a:p>
            <a:r>
              <a:rPr lang="en-US" sz="1200" dirty="0"/>
              <a:t>Providing food and shelter to the effected people</a:t>
            </a:r>
          </a:p>
          <a:p>
            <a:r>
              <a:rPr lang="en-US" sz="1200" dirty="0"/>
              <a:t>Providing essential public health and safety services</a:t>
            </a:r>
          </a:p>
          <a:p>
            <a:endParaRPr lang="en-US" dirty="0"/>
          </a:p>
        </p:txBody>
      </p:sp>
    </p:spTree>
    <p:extLst>
      <p:ext uri="{BB962C8B-B14F-4D97-AF65-F5344CB8AC3E}">
        <p14:creationId xmlns:p14="http://schemas.microsoft.com/office/powerpoint/2010/main" val="1132318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5842"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Look for American Planning Association entitled </a:t>
            </a:r>
            <a:r>
              <a:rPr lang="en-US" i="1" dirty="0"/>
              <a:t>Planning for Post-Disaster Recovery and Reconstruction </a:t>
            </a:r>
            <a:r>
              <a:rPr lang="en-US" dirty="0"/>
              <a:t>.</a:t>
            </a:r>
          </a:p>
          <a:p>
            <a:r>
              <a:rPr lang="en-US" dirty="0"/>
              <a:t>Long-term recovery (replacement of homes, water systems, streets, hospitals, bridges, schools, etc.) can take</a:t>
            </a:r>
          </a:p>
          <a:p>
            <a:r>
              <a:rPr lang="en-US" dirty="0"/>
              <a:t>several years.</a:t>
            </a:r>
          </a:p>
          <a:p>
            <a:endParaRPr lang="en-US" dirty="0"/>
          </a:p>
        </p:txBody>
      </p:sp>
    </p:spTree>
    <p:extLst>
      <p:ext uri="{BB962C8B-B14F-4D97-AF65-F5344CB8AC3E}">
        <p14:creationId xmlns:p14="http://schemas.microsoft.com/office/powerpoint/2010/main" val="21043165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9938" name="Rectangle 3"/>
          <p:cNvSpPr>
            <a:spLocks noGrp="1"/>
          </p:cNvSpPr>
          <p:nvPr>
            <p:ph type="body" idx="1"/>
          </p:nvPr>
        </p:nvSpPr>
        <p:spPr bwMode="auto">
          <a:noFill/>
        </p:spPr>
        <p:txBody>
          <a:bodyPr wrap="square" numCol="1" anchor="t" anchorCtr="0" compatLnSpc="1">
            <a:prstTxWarp prst="textNoShape">
              <a:avLst/>
            </a:prstTxWarp>
          </a:bodyPr>
          <a:lstStyle/>
          <a:p>
            <a:pPr marL="0" lvl="1"/>
            <a:r>
              <a:rPr lang="en-US"/>
              <a:t>Coppola</a:t>
            </a:r>
          </a:p>
          <a:p>
            <a:pPr marL="0" lvl="1"/>
            <a:r>
              <a:rPr lang="en-US">
                <a:solidFill>
                  <a:schemeClr val="bg1"/>
                </a:solidFill>
              </a:rPr>
              <a:t>Promotes a favorable climate for municipal bond and insurance portfolios</a:t>
            </a:r>
          </a:p>
          <a:p>
            <a:endParaRPr lang="en-US"/>
          </a:p>
        </p:txBody>
      </p:sp>
    </p:spTree>
    <p:extLst>
      <p:ext uri="{BB962C8B-B14F-4D97-AF65-F5344CB8AC3E}">
        <p14:creationId xmlns:p14="http://schemas.microsoft.com/office/powerpoint/2010/main" val="20592510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4034"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Disasters almost always present a window of opportunity to rebuild old, ineffective structures and develop policy and practice in a way that leaves behind a more empowered, resilient community.</a:t>
            </a:r>
          </a:p>
          <a:p>
            <a:r>
              <a:rPr lang="en-US" dirty="0"/>
              <a:t>This is an ideal time to implement new mitigation measures so that the community is better prepared to deal with future threats and does not leave itself vulnerable to the same setbacks as before.</a:t>
            </a:r>
          </a:p>
          <a:p>
            <a:r>
              <a:rPr lang="en-US" dirty="0"/>
              <a:t>Helping the community to take new mitigation steps is one of the most important roles during the recovery phase.</a:t>
            </a:r>
          </a:p>
          <a:p>
            <a:r>
              <a:rPr lang="en-US" dirty="0"/>
              <a:t>Reconstructions after a disaster should be carried out so that they are better than before a disaster</a:t>
            </a:r>
          </a:p>
          <a:p>
            <a:endParaRPr lang="en-US" dirty="0"/>
          </a:p>
          <a:p>
            <a:endParaRPr lang="en-US" dirty="0"/>
          </a:p>
        </p:txBody>
      </p:sp>
    </p:spTree>
    <p:extLst>
      <p:ext uri="{BB962C8B-B14F-4D97-AF65-F5344CB8AC3E}">
        <p14:creationId xmlns:p14="http://schemas.microsoft.com/office/powerpoint/2010/main" val="18496504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460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Disasters can be a vehicle for major development programs. The political impact of damage and disruption can be a real catalyst for change.</a:t>
            </a:r>
          </a:p>
          <a:p>
            <a:r>
              <a:rPr lang="en-US" dirty="0"/>
              <a:t>The value of direct international assistance given after disasters may partially compensate for economic losses,</a:t>
            </a:r>
          </a:p>
          <a:p>
            <a:r>
              <a:rPr lang="en-US" dirty="0"/>
              <a:t>although the amounts are usually rather small in relation to the total loss.</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1F22EFF6-7FE0-4094-B835-315F3F048D2E}" type="slidenum">
              <a:rPr lang="en-US" smtClean="0"/>
              <a:pPr>
                <a:defRPr/>
              </a:pPr>
              <a:t>51</a:t>
            </a:fld>
            <a:endParaRPr lang="en-US"/>
          </a:p>
        </p:txBody>
      </p:sp>
    </p:spTree>
    <p:extLst>
      <p:ext uri="{BB962C8B-B14F-4D97-AF65-F5344CB8AC3E}">
        <p14:creationId xmlns:p14="http://schemas.microsoft.com/office/powerpoint/2010/main" val="266047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AEAF203-F03C-43E7-80AF-8E09DBB6A634}" type="datetimeFigureOut">
              <a:rPr lang="en-US" smtClean="0"/>
              <a:pPr>
                <a:defRPr/>
              </a:pPr>
              <a:t>9/9/2026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CA6603D-535A-490E-86CA-03F030C7F6DB}" type="slidenum">
              <a:rPr lang="en-US" smtClean="0"/>
              <a:pPr>
                <a:defRPr/>
              </a:pPr>
              <a:t>‹#›</a:t>
            </a:fld>
            <a:endParaRPr lang="en-US"/>
          </a:p>
        </p:txBody>
      </p:sp>
    </p:spTree>
    <p:extLst>
      <p:ext uri="{BB962C8B-B14F-4D97-AF65-F5344CB8AC3E}">
        <p14:creationId xmlns:p14="http://schemas.microsoft.com/office/powerpoint/2010/main" val="11027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lang="en-US" sz="3000" b="1" kern="1200" spc="-75" dirty="0">
                <a:ln>
                  <a:noFill/>
                </a:ln>
                <a:solidFill>
                  <a:srgbClr val="0000CC"/>
                </a:solidFill>
                <a:latin typeface="Comic Sans MS" panose="030F0702030302020204" pitchFamily="66" charset="0"/>
                <a:ea typeface="+mj-ea"/>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lang="en-US" sz="2400" kern="1200" dirty="0" smtClean="0">
                <a:solidFill>
                  <a:schemeClr val="tx1"/>
                </a:solidFill>
                <a:latin typeface="Comic Sans MS" panose="030F0702030302020204" pitchFamily="66" charset="0"/>
                <a:ea typeface="+mn-ea"/>
                <a:cs typeface="Arial" panose="020B0604020202020204" pitchFamily="34" charset="0"/>
              </a:defRPr>
            </a:lvl1pPr>
            <a:lvl2pPr>
              <a:spcBef>
                <a:spcPts val="900"/>
              </a:spcBef>
              <a:defRPr>
                <a:latin typeface="Comic Sans MS" panose="030F0702030302020204" pitchFamily="66" charset="0"/>
              </a:defRPr>
            </a:lvl2pPr>
            <a:lvl3pPr>
              <a:spcBef>
                <a:spcPts val="900"/>
              </a:spcBef>
              <a:defRPr>
                <a:latin typeface="Comic Sans MS" panose="030F0702030302020204" pitchFamily="66" charset="0"/>
              </a:defRPr>
            </a:lvl3pPr>
            <a:lvl4pPr>
              <a:spcBef>
                <a:spcPts val="900"/>
              </a:spcBef>
              <a:defRPr>
                <a:latin typeface="Comic Sans MS" panose="030F0702030302020204" pitchFamily="66" charset="0"/>
              </a:defRPr>
            </a:lvl4pPr>
            <a:lvl5pPr>
              <a:spcBef>
                <a:spcPts val="900"/>
              </a:spcBef>
              <a:defRPr>
                <a:latin typeface="Comic Sans MS" panose="030F0702030302020204" pitchFamily="66"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C87AE4C-56A2-4A3A-A87A-E2949F9734FD}" type="datetimeFigureOut">
              <a:rPr lang="en-US" smtClean="0"/>
              <a:pPr>
                <a:defRPr/>
              </a:pPr>
              <a:t>9/9/2026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5178450-3A08-4ED6-8814-F979776B6122}" type="slidenum">
              <a:rPr lang="en-US" smtClean="0"/>
              <a:pPr>
                <a:defRPr/>
              </a:pPr>
              <a:t>‹#›</a:t>
            </a:fld>
            <a:endParaRPr lang="en-US"/>
          </a:p>
        </p:txBody>
      </p:sp>
    </p:spTree>
    <p:extLst>
      <p:ext uri="{BB962C8B-B14F-4D97-AF65-F5344CB8AC3E}">
        <p14:creationId xmlns:p14="http://schemas.microsoft.com/office/powerpoint/2010/main" val="2950178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6462A6EA-F5B2-4968-8D92-7B3D2524606B}" type="datetimeFigureOut">
              <a:rPr lang="en-US" smtClean="0"/>
              <a:pPr>
                <a:defRPr/>
              </a:pPr>
              <a:t>9/9/2026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6B23371-8755-453F-B9C5-984E9E836E0F}" type="slidenum">
              <a:rPr lang="en-US" smtClean="0"/>
              <a:pPr>
                <a:defRPr/>
              </a:pPr>
              <a:t>‹#›</a:t>
            </a:fld>
            <a:endParaRPr lang="en-US"/>
          </a:p>
        </p:txBody>
      </p:sp>
    </p:spTree>
    <p:extLst>
      <p:ext uri="{BB962C8B-B14F-4D97-AF65-F5344CB8AC3E}">
        <p14:creationId xmlns:p14="http://schemas.microsoft.com/office/powerpoint/2010/main" val="3294215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CCB17C-3DD8-4D30-A226-BBE9E7D26C69}" type="datetimeFigureOut">
              <a:rPr lang="en-US" smtClean="0"/>
              <a:pPr>
                <a:defRPr/>
              </a:pPr>
              <a:t>9/9/2026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5DE8E76-F82B-4B85-8562-03A251A87770}" type="slidenum">
              <a:rPr lang="en-US" smtClean="0"/>
              <a:pPr>
                <a:defRPr/>
              </a:pPr>
              <a:t>‹#›</a:t>
            </a:fld>
            <a:endParaRPr lang="en-US"/>
          </a:p>
        </p:txBody>
      </p:sp>
    </p:spTree>
    <p:extLst>
      <p:ext uri="{BB962C8B-B14F-4D97-AF65-F5344CB8AC3E}">
        <p14:creationId xmlns:p14="http://schemas.microsoft.com/office/powerpoint/2010/main" val="29236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2B27F1C-F7B8-4BB0-A28F-DE9B985577ED}" type="datetimeFigureOut">
              <a:rPr lang="en-US" smtClean="0"/>
              <a:pPr>
                <a:defRPr/>
              </a:pPr>
              <a:t>9/9/2026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0B3F7F80-755F-48B1-9668-41219E1161AD}" type="slidenum">
              <a:rPr lang="en-US" smtClean="0"/>
              <a:pPr>
                <a:defRPr/>
              </a:pPr>
              <a:t>‹#›</a:t>
            </a:fld>
            <a:endParaRPr lang="en-US"/>
          </a:p>
        </p:txBody>
      </p:sp>
    </p:spTree>
    <p:extLst>
      <p:ext uri="{BB962C8B-B14F-4D97-AF65-F5344CB8AC3E}">
        <p14:creationId xmlns:p14="http://schemas.microsoft.com/office/powerpoint/2010/main" val="2546752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AA4E1C5B-587D-49D1-9B67-40770E0E57C8}" type="datetimeFigureOut">
              <a:rPr lang="en-US" smtClean="0"/>
              <a:pPr>
                <a:defRPr/>
              </a:pPr>
              <a:t>9/9/2026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C1572B1-3787-44B5-BE36-C679B42C6A32}" type="slidenum">
              <a:rPr lang="en-US" smtClean="0"/>
              <a:pPr>
                <a:defRPr/>
              </a:pPr>
              <a:t>‹#›</a:t>
            </a:fld>
            <a:endParaRPr lang="en-US"/>
          </a:p>
        </p:txBody>
      </p:sp>
    </p:spTree>
    <p:extLst>
      <p:ext uri="{BB962C8B-B14F-4D97-AF65-F5344CB8AC3E}">
        <p14:creationId xmlns:p14="http://schemas.microsoft.com/office/powerpoint/2010/main" val="1708481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EF37585-CDE8-4F68-A402-C2A66B4C125E}" type="datetimeFigureOut">
              <a:rPr lang="en-US" smtClean="0"/>
              <a:pPr>
                <a:defRPr/>
              </a:pPr>
              <a:t>9/9/2026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94D55B7-293A-4503-9A90-CC2FAEDEFF73}" type="slidenum">
              <a:rPr lang="en-US" smtClean="0"/>
              <a:pPr>
                <a:defRPr/>
              </a:pPr>
              <a:t>‹#›</a:t>
            </a:fld>
            <a:endParaRPr lang="en-US"/>
          </a:p>
        </p:txBody>
      </p:sp>
    </p:spTree>
    <p:extLst>
      <p:ext uri="{BB962C8B-B14F-4D97-AF65-F5344CB8AC3E}">
        <p14:creationId xmlns:p14="http://schemas.microsoft.com/office/powerpoint/2010/main" val="3500003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F7F3F19F-7C6A-4FFC-8D2A-CB4B444CEFC7}" type="datetimeFigureOut">
              <a:rPr lang="en-US" smtClean="0"/>
              <a:pPr>
                <a:defRPr/>
              </a:pPr>
              <a:t>9/9/2026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AAADF1E-4A9B-4DAA-9CDF-A77116FF5722}" type="slidenum">
              <a:rPr lang="en-US" smtClean="0"/>
              <a:pPr>
                <a:defRPr/>
              </a:pPr>
              <a:t>‹#›</a:t>
            </a:fld>
            <a:endParaRPr lang="en-US"/>
          </a:p>
        </p:txBody>
      </p:sp>
    </p:spTree>
    <p:extLst>
      <p:ext uri="{BB962C8B-B14F-4D97-AF65-F5344CB8AC3E}">
        <p14:creationId xmlns:p14="http://schemas.microsoft.com/office/powerpoint/2010/main" val="3629157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4188A6F8-921D-412E-9662-5655CA769462}" type="datetimeFigureOut">
              <a:rPr lang="en-US" smtClean="0"/>
              <a:pPr>
                <a:defRPr/>
              </a:pPr>
              <a:t>9/9/2026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A5CB253-C40A-4C63-A4CA-542D3811D625}" type="slidenum">
              <a:rPr lang="en-US" smtClean="0"/>
              <a:pPr>
                <a:defRPr/>
              </a:pPr>
              <a:t>‹#›</a:t>
            </a:fld>
            <a:endParaRPr lang="en-US"/>
          </a:p>
        </p:txBody>
      </p:sp>
    </p:spTree>
    <p:extLst>
      <p:ext uri="{BB962C8B-B14F-4D97-AF65-F5344CB8AC3E}">
        <p14:creationId xmlns:p14="http://schemas.microsoft.com/office/powerpoint/2010/main" val="115562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BFC96D83-E994-43B4-959C-47DDC201FA26}" type="datetimeFigureOut">
              <a:rPr lang="en-US" smtClean="0"/>
              <a:pPr>
                <a:defRPr/>
              </a:pPr>
              <a:t>9/9/2026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6E11FD3-F7C3-4E3D-BE4D-238712E89AD1}" type="slidenum">
              <a:rPr lang="en-US" smtClean="0"/>
              <a:pPr>
                <a:defRPr/>
              </a:pPr>
              <a:t>‹#›</a:t>
            </a:fld>
            <a:endParaRPr lang="en-US"/>
          </a:p>
        </p:txBody>
      </p:sp>
    </p:spTree>
    <p:extLst>
      <p:ext uri="{BB962C8B-B14F-4D97-AF65-F5344CB8AC3E}">
        <p14:creationId xmlns:p14="http://schemas.microsoft.com/office/powerpoint/2010/main" val="2838268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DC1BDC47-85AA-4F19-92BD-9AC50DDA1455}" type="datetimeFigureOut">
              <a:rPr lang="en-US" smtClean="0"/>
              <a:pPr>
                <a:defRPr/>
              </a:pPr>
              <a:t>9/9/2026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F3F61C7-3973-469C-A416-7E261F92383C}" type="slidenum">
              <a:rPr lang="en-US" smtClean="0"/>
              <a:pPr>
                <a:defRPr/>
              </a:pPr>
              <a:t>‹#›</a:t>
            </a:fld>
            <a:endParaRPr lang="en-US"/>
          </a:p>
        </p:txBody>
      </p:sp>
    </p:spTree>
    <p:extLst>
      <p:ext uri="{BB962C8B-B14F-4D97-AF65-F5344CB8AC3E}">
        <p14:creationId xmlns:p14="http://schemas.microsoft.com/office/powerpoint/2010/main" val="3737949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1865347"/>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462A6EA-F5B2-4968-8D92-7B3D2524606B}" type="datetimeFigureOut">
              <a:rPr lang="en-US" smtClean="0"/>
              <a:pPr>
                <a:defRPr/>
              </a:pPr>
              <a:t>9/9/2026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86B23371-8755-453F-B9C5-984E9E836E0F}" type="slidenum">
              <a:rPr lang="en-US" smtClean="0"/>
              <a:pPr>
                <a:defRPr/>
              </a:pPr>
              <a:t>‹#›</a:t>
            </a:fld>
            <a:endParaRPr lang="en-US"/>
          </a:p>
        </p:txBody>
      </p:sp>
    </p:spTree>
    <p:extLst>
      <p:ext uri="{BB962C8B-B14F-4D97-AF65-F5344CB8AC3E}">
        <p14:creationId xmlns:p14="http://schemas.microsoft.com/office/powerpoint/2010/main" val="25357380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iaem.org/portals/25/documents/is1_Unit3.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rot="8656905">
            <a:off x="2903237" y="2596169"/>
            <a:ext cx="2988469" cy="3015637"/>
          </a:xfrm>
          <a:prstGeom prst="rect">
            <a:avLst/>
          </a:prstGeom>
        </p:spPr>
      </p:pic>
      <p:pic>
        <p:nvPicPr>
          <p:cNvPr id="2050" name="Picture 2" descr="https://i.ytimg.com/vi/U-41PAlfQOs/maxresdefault.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8754" r="11730"/>
          <a:stretch/>
        </p:blipFill>
        <p:spPr bwMode="auto">
          <a:xfrm>
            <a:off x="6781801" y="2683119"/>
            <a:ext cx="3006753" cy="28417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6" name="Picture 6"/>
          <p:cNvPicPr>
            <a:picLocks noChangeAspect="1" noChangeArrowheads="1"/>
          </p:cNvPicPr>
          <p:nvPr/>
        </p:nvPicPr>
        <p:blipFill rotWithShape="1">
          <a:blip r:embed="rId5" cstate="print"/>
          <a:srcRect l="33364" t="12753" r="30727" b="79135"/>
          <a:stretch/>
        </p:blipFill>
        <p:spPr bwMode="auto">
          <a:xfrm>
            <a:off x="114300" y="6053426"/>
            <a:ext cx="11963400" cy="623441"/>
          </a:xfrm>
          <a:prstGeom prst="rect">
            <a:avLst/>
          </a:prstGeom>
          <a:gradFill>
            <a:gsLst>
              <a:gs pos="0">
                <a:schemeClr val="bg2">
                  <a:tint val="75000"/>
                  <a:satMod val="400000"/>
                </a:schemeClr>
              </a:gs>
              <a:gs pos="100000">
                <a:schemeClr val="accent1">
                  <a:lumMod val="75000"/>
                </a:schemeClr>
              </a:gs>
              <a:gs pos="100000">
                <a:schemeClr val="bg2">
                  <a:tint val="95000"/>
                  <a:shade val="55000"/>
                  <a:satMod val="355000"/>
                </a:schemeClr>
              </a:gs>
            </a:gsLst>
            <a:path path="circle">
              <a:fillToRect l="67500" t="35000" r="32500" b="65000"/>
            </a:path>
          </a:gradFill>
          <a:ln>
            <a:noFill/>
          </a:ln>
          <a:effectLst>
            <a:outerShdw blurRad="50800" dir="21540000" sx="1000" sy="1000" algn="ctr" rotWithShape="0">
              <a:srgbClr val="000000">
                <a:alpha val="0"/>
              </a:srgbClr>
            </a:outerShdw>
          </a:effectLst>
        </p:spPr>
      </p:pic>
      <p:sp>
        <p:nvSpPr>
          <p:cNvPr id="14339" name="Rectangle 18"/>
          <p:cNvSpPr>
            <a:spLocks noChangeArrowheads="1"/>
          </p:cNvSpPr>
          <p:nvPr/>
        </p:nvSpPr>
        <p:spPr bwMode="auto">
          <a:xfrm>
            <a:off x="2362200" y="6169815"/>
            <a:ext cx="5543550" cy="369332"/>
          </a:xfrm>
          <a:prstGeom prst="rect">
            <a:avLst/>
          </a:prstGeom>
          <a:noFill/>
          <a:ln w="9525">
            <a:noFill/>
            <a:miter lim="800000"/>
            <a:headEnd/>
            <a:tailEnd/>
          </a:ln>
        </p:spPr>
        <p:txBody>
          <a:bodyPr>
            <a:spAutoFit/>
          </a:bodyPr>
          <a:lstStyle/>
          <a:p>
            <a:pPr eaLnBrk="0" hangingPunct="0">
              <a:defRPr/>
            </a:pPr>
            <a:r>
              <a:rPr lang="en-US" b="1" dirty="0">
                <a:latin typeface="+mj-lt"/>
                <a:cs typeface="Times New Roman" pitchFamily="18" charset="0"/>
              </a:rPr>
              <a:t>US – Pakistan Center for Advanced Studies in Water</a:t>
            </a:r>
          </a:p>
        </p:txBody>
      </p:sp>
      <p:sp>
        <p:nvSpPr>
          <p:cNvPr id="20" name="Content Placeholder 24"/>
          <p:cNvSpPr txBox="1">
            <a:spLocks/>
          </p:cNvSpPr>
          <p:nvPr/>
        </p:nvSpPr>
        <p:spPr>
          <a:xfrm>
            <a:off x="3477242" y="335547"/>
            <a:ext cx="4972050" cy="438582"/>
          </a:xfrm>
          <a:prstGeom prst="rect">
            <a:avLst/>
          </a:prstGeom>
          <a:solidFill>
            <a:schemeClr val="tx2">
              <a:lumMod val="50000"/>
            </a:schemeClr>
          </a:solidFill>
        </p:spPr>
        <p:txBody>
          <a:bodyPr>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spcBef>
                <a:spcPts val="900"/>
              </a:spcBef>
              <a:spcAft>
                <a:spcPts val="900"/>
              </a:spcAft>
              <a:buNone/>
              <a:defRPr/>
            </a:pPr>
            <a:r>
              <a:rPr lang="en-US" sz="2250" b="1" dirty="0">
                <a:solidFill>
                  <a:schemeClr val="bg1"/>
                </a:solidFill>
                <a:latin typeface="+mj-lt"/>
                <a:cs typeface="Times New Roman" pitchFamily="18" charset="0"/>
              </a:rPr>
              <a:t>Hazards Planning and Risk Management</a:t>
            </a:r>
          </a:p>
        </p:txBody>
      </p:sp>
      <p:sp>
        <p:nvSpPr>
          <p:cNvPr id="9" name="Content Placeholder 24"/>
          <p:cNvSpPr txBox="1">
            <a:spLocks/>
          </p:cNvSpPr>
          <p:nvPr/>
        </p:nvSpPr>
        <p:spPr>
          <a:xfrm>
            <a:off x="762000" y="815718"/>
            <a:ext cx="10668000" cy="846386"/>
          </a:xfrm>
          <a:prstGeom prst="rect">
            <a:avLst/>
          </a:prstGeom>
          <a:noFill/>
          <a:effectLst>
            <a:outerShdw dist="50800" dir="5400000" sx="1000" sy="1000" algn="ctr" rotWithShape="0">
              <a:srgbClr val="000000">
                <a:alpha val="43137"/>
              </a:srgbClr>
            </a:outerShdw>
          </a:effectLst>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buNone/>
              <a:defRPr/>
            </a:pPr>
            <a:r>
              <a:rPr lang="en-US" sz="2800" dirty="0">
                <a:solidFill>
                  <a:srgbClr val="FF0000"/>
                </a:solidFill>
                <a:latin typeface="+mj-lt"/>
                <a:cs typeface="Times New Roman" pitchFamily="18" charset="0"/>
              </a:rPr>
              <a:t>Disaster Management Cycle</a:t>
            </a:r>
          </a:p>
          <a:p>
            <a:pPr marL="0" indent="0" algn="ctr">
              <a:buNone/>
              <a:defRPr/>
            </a:pPr>
            <a:r>
              <a:rPr lang="en-US" sz="2100" b="1" dirty="0">
                <a:latin typeface="+mj-lt"/>
                <a:cs typeface="Times New Roman" pitchFamily="18" charset="0"/>
              </a:rPr>
              <a:t>Fall 2026</a:t>
            </a:r>
          </a:p>
        </p:txBody>
      </p:sp>
      <p:pic>
        <p:nvPicPr>
          <p:cNvPr id="4102" name="Picture 17" descr="MUET approved monogram WHITE"/>
          <p:cNvPicPr>
            <a:picLocks noChangeAspect="1" noChangeArrowheads="1"/>
          </p:cNvPicPr>
          <p:nvPr/>
        </p:nvPicPr>
        <p:blipFill>
          <a:blip r:embed="rId6">
            <a:extLst>
              <a:ext uri="{28A0092B-C50C-407E-A947-70E740481C1C}">
                <a14:useLocalDpi xmlns:a14="http://schemas.microsoft.com/office/drawing/2010/main" val="0"/>
              </a:ext>
            </a:extLst>
          </a:blip>
          <a:srcRect t="5371"/>
          <a:stretch>
            <a:fillRect/>
          </a:stretch>
        </p:blipFill>
        <p:spPr bwMode="auto">
          <a:xfrm>
            <a:off x="2173200" y="287061"/>
            <a:ext cx="714375"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2" descr="http://cache.pakistantoday.com.pk/2012/10/USAID.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93130" y="219072"/>
            <a:ext cx="104417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4" name="Group 16"/>
          <p:cNvGrpSpPr>
            <a:grpSpLocks/>
          </p:cNvGrpSpPr>
          <p:nvPr/>
        </p:nvGrpSpPr>
        <p:grpSpPr bwMode="auto">
          <a:xfrm>
            <a:off x="8597856" y="6169815"/>
            <a:ext cx="1087041" cy="369094"/>
            <a:chOff x="5562600" y="4841875"/>
            <a:chExt cx="3125788" cy="747713"/>
          </a:xfrm>
        </p:grpSpPr>
        <p:pic>
          <p:nvPicPr>
            <p:cNvPr id="4114" name="Picture 7" descr="C:\Users\Burian\Data\Research\USAID_PCASW\Branding and Marking\Logos\UU\all-U-logos\ulogo_horizontal1\UlogoHv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62600" y="4872038"/>
              <a:ext cx="20859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1" descr="C:\Users\Dr Lashari\Desktop\MUET_Logo.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893050" y="4841875"/>
              <a:ext cx="795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8" name="AutoShape 15" descr="http://api.ning.com/files/TJkgTC4QyWCm*IymUusWHWUE*SetkLmD*6**S0AU0DHE93VoeMw-YnDDPibgyDBGq7IfR89wRDOlXWmEvv8wXS9-kpZfoBmI/_48862225_pakistan_floods_25aug_464.gif"/>
          <p:cNvSpPr>
            <a:spLocks noChangeAspect="1" noChangeArrowheads="1"/>
          </p:cNvSpPr>
          <p:nvPr/>
        </p:nvSpPr>
        <p:spPr bwMode="auto">
          <a:xfrm>
            <a:off x="2783681"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p>
        </p:txBody>
      </p:sp>
      <p:sp>
        <p:nvSpPr>
          <p:cNvPr id="4109" name="AutoShape 17" descr="http://api.ning.com/files/TJkgTC4QyWCm*IymUusWHWUE*SetkLmD*6**S0AU0DHE93VoeMw-YnDDPibgyDBGq7IfR89wRDOlXWmEvv8wXS9-kpZfoBmI/_48862225_pakistan_floods_25aug_464.gif"/>
          <p:cNvSpPr>
            <a:spLocks noChangeAspect="1" noChangeArrowheads="1"/>
          </p:cNvSpPr>
          <p:nvPr/>
        </p:nvSpPr>
        <p:spPr bwMode="auto">
          <a:xfrm>
            <a:off x="2783681"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p>
        </p:txBody>
      </p:sp>
      <p:sp>
        <p:nvSpPr>
          <p:cNvPr id="4110" name="AutoShape 19" descr="http://api.ning.com/files/TJkgTC4QyWCm*IymUusWHWUE*SetkLmD*6**S0AU0DHE93VoeMw-YnDDPibgyDBGq7IfR89wRDOlXWmEvv8wXS9-kpZfoBmI/_48862225_pakistan_floods_25aug_464.gif"/>
          <p:cNvSpPr>
            <a:spLocks noChangeAspect="1" noChangeArrowheads="1"/>
          </p:cNvSpPr>
          <p:nvPr/>
        </p:nvSpPr>
        <p:spPr bwMode="auto">
          <a:xfrm>
            <a:off x="2783681" y="748904"/>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p>
        </p:txBody>
      </p:sp>
    </p:spTree>
    <p:extLst>
      <p:ext uri="{BB962C8B-B14F-4D97-AF65-F5344CB8AC3E}">
        <p14:creationId xmlns:p14="http://schemas.microsoft.com/office/powerpoint/2010/main" val="85760398"/>
      </p:ext>
    </p:extLst>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92631"/>
            <a:ext cx="7886700" cy="821770"/>
          </a:xfrm>
        </p:spPr>
        <p:txBody>
          <a:bodyPr>
            <a:normAutofit/>
          </a:bodyPr>
          <a:lstStyle/>
          <a:p>
            <a:pPr algn="ctr"/>
            <a:r>
              <a:rPr lang="en-US" sz="4000" dirty="0"/>
              <a:t>Learning Outcomes</a:t>
            </a:r>
          </a:p>
        </p:txBody>
      </p:sp>
      <p:sp>
        <p:nvSpPr>
          <p:cNvPr id="3" name="Content Placeholder 2"/>
          <p:cNvSpPr>
            <a:spLocks noGrp="1"/>
          </p:cNvSpPr>
          <p:nvPr>
            <p:ph idx="1"/>
          </p:nvPr>
        </p:nvSpPr>
        <p:spPr>
          <a:xfrm>
            <a:off x="609600" y="1219200"/>
            <a:ext cx="11201400" cy="5257800"/>
          </a:xfrm>
        </p:spPr>
        <p:txBody>
          <a:bodyPr>
            <a:normAutofit/>
          </a:bodyPr>
          <a:lstStyle/>
          <a:p>
            <a:pPr marL="0" indent="0" algn="just">
              <a:lnSpc>
                <a:spcPct val="114000"/>
              </a:lnSpc>
              <a:spcAft>
                <a:spcPts val="1200"/>
              </a:spcAft>
              <a:buNone/>
            </a:pPr>
            <a:r>
              <a:rPr lang="en-US" sz="2800" b="1" dirty="0"/>
              <a:t>After this lecture, the students will be able to;</a:t>
            </a:r>
          </a:p>
          <a:p>
            <a:pPr marL="514350" indent="-514350" algn="just">
              <a:lnSpc>
                <a:spcPct val="114000"/>
              </a:lnSpc>
              <a:spcAft>
                <a:spcPts val="1200"/>
              </a:spcAft>
            </a:pPr>
            <a:r>
              <a:rPr lang="en-US" sz="2800" b="1" dirty="0">
                <a:solidFill>
                  <a:schemeClr val="accent1">
                    <a:lumMod val="75000"/>
                  </a:schemeClr>
                </a:solidFill>
              </a:rPr>
              <a:t>Know –</a:t>
            </a:r>
            <a:r>
              <a:rPr lang="en-US" sz="2800" dirty="0"/>
              <a:t> about the disaster risk management phases</a:t>
            </a:r>
          </a:p>
          <a:p>
            <a:pPr marL="457200" indent="-457200" algn="just">
              <a:lnSpc>
                <a:spcPct val="114000"/>
              </a:lnSpc>
              <a:spcAft>
                <a:spcPts val="1200"/>
              </a:spcAft>
            </a:pPr>
            <a:r>
              <a:rPr lang="en-US" sz="2800" b="1" dirty="0">
                <a:solidFill>
                  <a:schemeClr val="accent1">
                    <a:lumMod val="75000"/>
                  </a:schemeClr>
                </a:solidFill>
              </a:rPr>
              <a:t>Identify </a:t>
            </a:r>
            <a:r>
              <a:rPr lang="en-US" sz="2800" dirty="0"/>
              <a:t>- suitable hazard risk mitigation and preparedness approaches and disaster response and recovery measures</a:t>
            </a:r>
          </a:p>
          <a:p>
            <a:pPr marL="457200" indent="-457200" algn="just">
              <a:lnSpc>
                <a:spcPct val="114000"/>
              </a:lnSpc>
              <a:spcAft>
                <a:spcPts val="1200"/>
              </a:spcAft>
            </a:pPr>
            <a:endParaRPr lang="en-US" sz="2800" dirty="0"/>
          </a:p>
        </p:txBody>
      </p:sp>
      <p:pic>
        <p:nvPicPr>
          <p:cNvPr id="5" name="Picture 4"/>
          <p:cNvPicPr>
            <a:picLocks noChangeAspect="1"/>
          </p:cNvPicPr>
          <p:nvPr/>
        </p:nvPicPr>
        <p:blipFill>
          <a:blip r:embed="rId2"/>
          <a:stretch>
            <a:fillRect/>
          </a:stretch>
        </p:blipFill>
        <p:spPr>
          <a:xfrm>
            <a:off x="8043680" y="4114801"/>
            <a:ext cx="2395720" cy="2380129"/>
          </a:xfrm>
          <a:prstGeom prst="rect">
            <a:avLst/>
          </a:prstGeom>
        </p:spPr>
      </p:pic>
    </p:spTree>
    <p:extLst>
      <p:ext uri="{BB962C8B-B14F-4D97-AF65-F5344CB8AC3E}">
        <p14:creationId xmlns:p14="http://schemas.microsoft.com/office/powerpoint/2010/main" val="154668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0A2FE-8E3B-3FBB-EDAA-E06049F4BBAE}"/>
              </a:ext>
            </a:extLst>
          </p:cNvPr>
          <p:cNvSpPr>
            <a:spLocks noGrp="1"/>
          </p:cNvSpPr>
          <p:nvPr>
            <p:ph type="title"/>
          </p:nvPr>
        </p:nvSpPr>
        <p:spPr>
          <a:xfrm>
            <a:off x="838200" y="365127"/>
            <a:ext cx="10515600" cy="1325563"/>
          </a:xfrm>
        </p:spPr>
        <p:txBody>
          <a:bodyPr anchor="ctr">
            <a:normAutofit/>
          </a:bodyPr>
          <a:lstStyle/>
          <a:p>
            <a:r>
              <a:rPr lang="en-US" b="1" dirty="0"/>
              <a:t>Disaster Mitigation &amp; Preparedness</a:t>
            </a:r>
            <a:br>
              <a:rPr lang="en-US" b="1" dirty="0"/>
            </a:br>
            <a:endParaRPr lang="en-PK" dirty="0"/>
          </a:p>
        </p:txBody>
      </p:sp>
      <p:pic>
        <p:nvPicPr>
          <p:cNvPr id="4" name="Picture 3" descr="Fire engine in front of the station">
            <a:extLst>
              <a:ext uri="{FF2B5EF4-FFF2-40B4-BE49-F238E27FC236}">
                <a16:creationId xmlns:a16="http://schemas.microsoft.com/office/drawing/2014/main" id="{8A7F12A3-3439-97C7-FEF3-06CD3DBAB3B8}"/>
              </a:ext>
            </a:extLst>
          </p:cNvPr>
          <p:cNvPicPr>
            <a:picLocks noChangeAspect="1"/>
          </p:cNvPicPr>
          <p:nvPr/>
        </p:nvPicPr>
        <p:blipFill rotWithShape="1">
          <a:blip r:embed="rId2"/>
          <a:srcRect t="24971" b="13268"/>
          <a:stretch/>
        </p:blipFill>
        <p:spPr>
          <a:xfrm>
            <a:off x="838200" y="1825625"/>
            <a:ext cx="10515600" cy="4351338"/>
          </a:xfrm>
          <a:prstGeom prst="rect">
            <a:avLst/>
          </a:prstGeom>
          <a:noFill/>
        </p:spPr>
      </p:pic>
    </p:spTree>
    <p:extLst>
      <p:ext uri="{BB962C8B-B14F-4D97-AF65-F5344CB8AC3E}">
        <p14:creationId xmlns:p14="http://schemas.microsoft.com/office/powerpoint/2010/main" val="281395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Reading Material</a:t>
            </a:r>
          </a:p>
        </p:txBody>
      </p:sp>
      <p:sp>
        <p:nvSpPr>
          <p:cNvPr id="3" name="Content Placeholder 2"/>
          <p:cNvSpPr>
            <a:spLocks noGrp="1"/>
          </p:cNvSpPr>
          <p:nvPr>
            <p:ph idx="1"/>
          </p:nvPr>
        </p:nvSpPr>
        <p:spPr/>
        <p:txBody>
          <a:bodyPr>
            <a:noAutofit/>
          </a:bodyPr>
          <a:lstStyle/>
          <a:p>
            <a:pPr>
              <a:lnSpc>
                <a:spcPct val="100000"/>
              </a:lnSpc>
            </a:pPr>
            <a:r>
              <a:rPr lang="en-US" sz="2800" dirty="0"/>
              <a:t>Introduction to Emergency Management By George </a:t>
            </a:r>
            <a:r>
              <a:rPr lang="en-US" sz="2800" dirty="0" err="1"/>
              <a:t>Haddow</a:t>
            </a:r>
            <a:r>
              <a:rPr lang="en-US" sz="2800" dirty="0"/>
              <a:t>, Jane Bullock, Damon P. Coppola</a:t>
            </a:r>
          </a:p>
          <a:p>
            <a:pPr lvl="1">
              <a:lnSpc>
                <a:spcPct val="100000"/>
              </a:lnSpc>
            </a:pPr>
            <a:r>
              <a:rPr lang="en-US" sz="2800" dirty="0">
                <a:solidFill>
                  <a:schemeClr val="accent1">
                    <a:lumMod val="75000"/>
                  </a:schemeClr>
                </a:solidFill>
              </a:rPr>
              <a:t>Chapters 3 &amp; 6</a:t>
            </a:r>
          </a:p>
        </p:txBody>
      </p:sp>
    </p:spTree>
    <p:extLst>
      <p:ext uri="{BB962C8B-B14F-4D97-AF65-F5344CB8AC3E}">
        <p14:creationId xmlns:p14="http://schemas.microsoft.com/office/powerpoint/2010/main" val="921976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DM Cycle</a:t>
            </a:r>
          </a:p>
        </p:txBody>
      </p:sp>
      <p:sp>
        <p:nvSpPr>
          <p:cNvPr id="3" name="Content Placeholder 2"/>
          <p:cNvSpPr>
            <a:spLocks noGrp="1"/>
          </p:cNvSpPr>
          <p:nvPr>
            <p:ph idx="1"/>
          </p:nvPr>
        </p:nvSpPr>
        <p:spPr/>
        <p:txBody>
          <a:bodyPr>
            <a:normAutofit/>
          </a:bodyPr>
          <a:lstStyle/>
          <a:p>
            <a:pPr>
              <a:lnSpc>
                <a:spcPct val="114000"/>
              </a:lnSpc>
              <a:spcBef>
                <a:spcPts val="1200"/>
              </a:spcBef>
              <a:spcAft>
                <a:spcPts val="600"/>
              </a:spcAft>
            </a:pPr>
            <a:r>
              <a:rPr lang="en-US" sz="3600" dirty="0"/>
              <a:t> It is not a series of events which start and stop with each disaster occurrence.</a:t>
            </a:r>
          </a:p>
          <a:p>
            <a:pPr>
              <a:lnSpc>
                <a:spcPct val="114000"/>
              </a:lnSpc>
              <a:spcBef>
                <a:spcPts val="1200"/>
              </a:spcBef>
              <a:spcAft>
                <a:spcPts val="600"/>
              </a:spcAft>
            </a:pPr>
            <a:r>
              <a:rPr lang="en-US" sz="3600" dirty="0"/>
              <a:t> Disaster and managing it is a continuum of interlinked activity.</a:t>
            </a:r>
          </a:p>
        </p:txBody>
      </p:sp>
    </p:spTree>
    <p:extLst>
      <p:ext uri="{BB962C8B-B14F-4D97-AF65-F5344CB8AC3E}">
        <p14:creationId xmlns:p14="http://schemas.microsoft.com/office/powerpoint/2010/main" val="137070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5791200"/>
            <a:ext cx="11811000" cy="838200"/>
          </a:xfrm>
          <a:solidFill>
            <a:srgbClr val="5B9BD5"/>
          </a:solidFill>
        </p:spPr>
        <p:txBody>
          <a:bodyPr>
            <a:normAutofit/>
          </a:bodyPr>
          <a:lstStyle/>
          <a:p>
            <a:pPr marL="0" indent="0" algn="ctr">
              <a:buNone/>
            </a:pPr>
            <a:r>
              <a:rPr lang="en-US" sz="2700" dirty="0">
                <a:solidFill>
                  <a:schemeClr val="bg1"/>
                </a:solidFill>
              </a:rPr>
              <a:t>Disaster cycle (rather spiral) and its development through time</a:t>
            </a:r>
          </a:p>
        </p:txBody>
      </p:sp>
      <p:pic>
        <p:nvPicPr>
          <p:cNvPr id="3" name="Picture 2"/>
          <p:cNvPicPr>
            <a:picLocks noChangeAspect="1"/>
          </p:cNvPicPr>
          <p:nvPr/>
        </p:nvPicPr>
        <p:blipFill>
          <a:blip r:embed="rId3"/>
          <a:stretch>
            <a:fillRect/>
          </a:stretch>
        </p:blipFill>
        <p:spPr>
          <a:xfrm>
            <a:off x="2843212" y="298207"/>
            <a:ext cx="6505575" cy="5400675"/>
          </a:xfrm>
          <a:prstGeom prst="rect">
            <a:avLst/>
          </a:prstGeom>
        </p:spPr>
      </p:pic>
      <p:sp>
        <p:nvSpPr>
          <p:cNvPr id="6" name="TextBox 5"/>
          <p:cNvSpPr txBox="1"/>
          <p:nvPr/>
        </p:nvSpPr>
        <p:spPr>
          <a:xfrm>
            <a:off x="8534400" y="685801"/>
            <a:ext cx="1905000" cy="461665"/>
          </a:xfrm>
          <a:prstGeom prst="rect">
            <a:avLst/>
          </a:prstGeom>
          <a:noFill/>
        </p:spPr>
        <p:txBody>
          <a:bodyPr wrap="square" rtlCol="0">
            <a:spAutoFit/>
          </a:bodyPr>
          <a:lstStyle/>
          <a:p>
            <a:r>
              <a:rPr lang="en-US" sz="2400" dirty="0"/>
              <a:t>(Mitigation)</a:t>
            </a:r>
          </a:p>
        </p:txBody>
      </p:sp>
    </p:spTree>
    <p:extLst>
      <p:ext uri="{BB962C8B-B14F-4D97-AF65-F5344CB8AC3E}">
        <p14:creationId xmlns:p14="http://schemas.microsoft.com/office/powerpoint/2010/main" val="1140474993"/>
      </p:ext>
    </p:extLst>
  </p:cSld>
  <p:clrMapOvr>
    <a:masterClrMapping/>
  </p:clrMapOvr>
  <p:transition spd="slow">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idx="4294967295"/>
          </p:nvPr>
        </p:nvSpPr>
        <p:spPr>
          <a:xfrm>
            <a:off x="1981200" y="223346"/>
            <a:ext cx="8229600" cy="614855"/>
          </a:xfrm>
        </p:spPr>
        <p:txBody>
          <a:bodyPr vert="horz" lIns="0" tIns="45720" rIns="0" bIns="0" rtlCol="0" anchor="ctr">
            <a:normAutofit/>
          </a:bodyPr>
          <a:lstStyle/>
          <a:p>
            <a:pPr algn="ctr" eaLnBrk="1" hangingPunct="1"/>
            <a:r>
              <a:rPr lang="en-US" sz="4000" b="1" spc="-75" dirty="0">
                <a:solidFill>
                  <a:srgbClr val="0000CC"/>
                </a:solidFill>
                <a:latin typeface="Comic Sans MS" panose="030F0702030302020204" pitchFamily="66" charset="0"/>
                <a:cs typeface="Arial" panose="020B0604020202020204" pitchFamily="34" charset="0"/>
              </a:rPr>
              <a:t>Mitigation </a:t>
            </a:r>
          </a:p>
        </p:txBody>
      </p:sp>
      <p:sp>
        <p:nvSpPr>
          <p:cNvPr id="17410" name="Content Placeholder 2"/>
          <p:cNvSpPr>
            <a:spLocks noGrp="1"/>
          </p:cNvSpPr>
          <p:nvPr>
            <p:ph idx="4294967295"/>
          </p:nvPr>
        </p:nvSpPr>
        <p:spPr>
          <a:xfrm>
            <a:off x="685800" y="1524000"/>
            <a:ext cx="10972800" cy="5181600"/>
          </a:xfrm>
        </p:spPr>
        <p:txBody>
          <a:bodyPr>
            <a:noAutofit/>
          </a:bodyPr>
          <a:lstStyle/>
          <a:p>
            <a:pPr>
              <a:lnSpc>
                <a:spcPct val="114000"/>
              </a:lnSpc>
              <a:spcBef>
                <a:spcPts val="600"/>
              </a:spcBef>
              <a:spcAft>
                <a:spcPts val="600"/>
              </a:spcAft>
            </a:pPr>
            <a:r>
              <a:rPr lang="en-US" sz="2800" dirty="0">
                <a:latin typeface="Comic Sans MS" panose="030F0702030302020204" pitchFamily="66" charset="0"/>
                <a:cs typeface="Arial" panose="020B0604020202020204" pitchFamily="34" charset="0"/>
              </a:rPr>
              <a:t>Attempt to prevent events from becoming disasters – </a:t>
            </a:r>
            <a:r>
              <a:rPr lang="en-US" sz="2800" dirty="0">
                <a:solidFill>
                  <a:srgbClr val="AC4A8B"/>
                </a:solidFill>
                <a:latin typeface="Comic Sans MS" panose="030F0702030302020204" pitchFamily="66" charset="0"/>
                <a:cs typeface="Arial" panose="020B0604020202020204" pitchFamily="34" charset="0"/>
              </a:rPr>
              <a:t>How? </a:t>
            </a:r>
          </a:p>
          <a:p>
            <a:pPr>
              <a:lnSpc>
                <a:spcPct val="114000"/>
              </a:lnSpc>
              <a:spcBef>
                <a:spcPts val="600"/>
              </a:spcBef>
              <a:spcAft>
                <a:spcPts val="600"/>
              </a:spcAft>
            </a:pPr>
            <a:r>
              <a:rPr lang="en-US" sz="2800" dirty="0">
                <a:latin typeface="Comic Sans MS" panose="030F0702030302020204" pitchFamily="66" charset="0"/>
                <a:cs typeface="Arial" panose="020B0604020202020204" pitchFamily="34" charset="0"/>
              </a:rPr>
              <a:t>Sustained action to reduce or eliminate the risks to people and property from hazards and their effects.</a:t>
            </a:r>
          </a:p>
          <a:p>
            <a:pPr lvl="1">
              <a:lnSpc>
                <a:spcPct val="114000"/>
              </a:lnSpc>
              <a:spcBef>
                <a:spcPts val="600"/>
              </a:spcBef>
              <a:spcAft>
                <a:spcPts val="600"/>
              </a:spcAft>
            </a:pPr>
            <a:r>
              <a:rPr lang="en-US" sz="2500" dirty="0">
                <a:solidFill>
                  <a:srgbClr val="AC4A8B"/>
                </a:solidFill>
                <a:latin typeface="Comic Sans MS" panose="030F0702030302020204" pitchFamily="66" charset="0"/>
                <a:cs typeface="Arial" panose="020B0604020202020204" pitchFamily="34" charset="0"/>
              </a:rPr>
              <a:t>Class Discussion: What is meant by the term sustained actions?</a:t>
            </a:r>
          </a:p>
          <a:p>
            <a:pPr>
              <a:lnSpc>
                <a:spcPct val="114000"/>
              </a:lnSpc>
              <a:spcBef>
                <a:spcPts val="600"/>
              </a:spcBef>
              <a:spcAft>
                <a:spcPts val="600"/>
              </a:spcAft>
            </a:pPr>
            <a:r>
              <a:rPr lang="en-US" sz="2800" dirty="0">
                <a:latin typeface="Comic Sans MS" panose="030F0702030302020204" pitchFamily="66" charset="0"/>
                <a:cs typeface="Arial" panose="020B0604020202020204" pitchFamily="34" charset="0"/>
              </a:rPr>
              <a:t>Measures taken to reduce </a:t>
            </a:r>
            <a:r>
              <a:rPr lang="en-US" sz="2800" u="sng" dirty="0">
                <a:latin typeface="Comic Sans MS" panose="030F0702030302020204" pitchFamily="66" charset="0"/>
                <a:cs typeface="Arial" panose="020B0604020202020204" pitchFamily="34" charset="0"/>
              </a:rPr>
              <a:t>both the effect of the hazard and the vulnerable conditions </a:t>
            </a:r>
            <a:r>
              <a:rPr lang="en-US" sz="2800" dirty="0">
                <a:latin typeface="Comic Sans MS" panose="030F0702030302020204" pitchFamily="66" charset="0"/>
                <a:cs typeface="Arial" panose="020B0604020202020204" pitchFamily="34" charset="0"/>
              </a:rPr>
              <a:t>to it in order to reduce the scale of a future disaster</a:t>
            </a:r>
          </a:p>
          <a:p>
            <a:pPr lvl="1">
              <a:lnSpc>
                <a:spcPct val="100000"/>
              </a:lnSpc>
              <a:spcBef>
                <a:spcPts val="600"/>
              </a:spcBef>
              <a:spcAft>
                <a:spcPts val="600"/>
              </a:spcAft>
            </a:pPr>
            <a:r>
              <a:rPr lang="en-US" sz="2500" dirty="0">
                <a:solidFill>
                  <a:srgbClr val="AC4A8B"/>
                </a:solidFill>
                <a:latin typeface="Comic Sans MS" panose="030F0702030302020204" pitchFamily="66" charset="0"/>
                <a:cs typeface="Arial" panose="020B0604020202020204" pitchFamily="34" charset="0"/>
              </a:rPr>
              <a:t>Examples?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41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idx="4294967295"/>
          </p:nvPr>
        </p:nvSpPr>
        <p:spPr>
          <a:xfrm>
            <a:off x="1981200" y="223346"/>
            <a:ext cx="8229600" cy="614855"/>
          </a:xfrm>
        </p:spPr>
        <p:txBody>
          <a:bodyPr vert="horz" lIns="0" tIns="45720" rIns="0" bIns="0" rtlCol="0" anchor="ctr">
            <a:normAutofit/>
          </a:bodyPr>
          <a:lstStyle/>
          <a:p>
            <a:pPr algn="ctr" eaLnBrk="1" hangingPunct="1"/>
            <a:r>
              <a:rPr lang="en-US" sz="4000" b="1" spc="-75" dirty="0">
                <a:solidFill>
                  <a:srgbClr val="0000CC"/>
                </a:solidFill>
                <a:latin typeface="Comic Sans MS" panose="030F0702030302020204" pitchFamily="66" charset="0"/>
                <a:cs typeface="Arial" panose="020B0604020202020204" pitchFamily="34" charset="0"/>
              </a:rPr>
              <a:t>Mitigation Activities</a:t>
            </a:r>
          </a:p>
        </p:txBody>
      </p:sp>
      <p:sp>
        <p:nvSpPr>
          <p:cNvPr id="17410" name="Content Placeholder 2"/>
          <p:cNvSpPr>
            <a:spLocks noGrp="1"/>
          </p:cNvSpPr>
          <p:nvPr>
            <p:ph idx="4294967295"/>
          </p:nvPr>
        </p:nvSpPr>
        <p:spPr>
          <a:xfrm>
            <a:off x="914400" y="1066800"/>
            <a:ext cx="10972800" cy="5486400"/>
          </a:xfrm>
        </p:spPr>
        <p:txBody>
          <a:bodyPr>
            <a:noAutofit/>
          </a:bodyPr>
          <a:lstStyle/>
          <a:p>
            <a:pPr marL="352425" indent="-352425">
              <a:lnSpc>
                <a:spcPct val="100000"/>
              </a:lnSpc>
              <a:spcAft>
                <a:spcPts val="600"/>
              </a:spcAft>
            </a:pPr>
            <a:r>
              <a:rPr lang="en-US" sz="3200" dirty="0">
                <a:latin typeface="Comic Sans MS" panose="030F0702030302020204" pitchFamily="66" charset="0"/>
                <a:cs typeface="Arial" panose="020B0604020202020204" pitchFamily="34" charset="0"/>
              </a:rPr>
              <a:t>Mitigation activities can be focused on </a:t>
            </a:r>
          </a:p>
          <a:p>
            <a:pPr marL="639763" lvl="1" indent="-246063">
              <a:lnSpc>
                <a:spcPct val="114000"/>
              </a:lnSpc>
              <a:spcBef>
                <a:spcPts val="1200"/>
              </a:spcBef>
              <a:spcAft>
                <a:spcPts val="1200"/>
              </a:spcAft>
            </a:pPr>
            <a:r>
              <a:rPr lang="en-US" sz="2800" dirty="0">
                <a:solidFill>
                  <a:srgbClr val="0000CC"/>
                </a:solidFill>
                <a:latin typeface="Comic Sans MS" panose="030F0702030302020204" pitchFamily="66" charset="0"/>
                <a:cs typeface="Arial" panose="020B0604020202020204" pitchFamily="34" charset="0"/>
              </a:rPr>
              <a:t>Hazard itself </a:t>
            </a:r>
          </a:p>
          <a:p>
            <a:pPr marL="393700" lvl="1" indent="0">
              <a:lnSpc>
                <a:spcPct val="114000"/>
              </a:lnSpc>
              <a:spcBef>
                <a:spcPts val="1200"/>
              </a:spcBef>
              <a:spcAft>
                <a:spcPts val="1200"/>
              </a:spcAft>
              <a:buNone/>
            </a:pPr>
            <a:r>
              <a:rPr lang="en-US" sz="2400" dirty="0">
                <a:solidFill>
                  <a:srgbClr val="7030A0"/>
                </a:solidFill>
                <a:latin typeface="Comic Sans MS" panose="030F0702030302020204" pitchFamily="66" charset="0"/>
                <a:cs typeface="Arial" panose="020B0604020202020204" pitchFamily="34" charset="0"/>
              </a:rPr>
              <a:t>Example:</a:t>
            </a:r>
            <a:r>
              <a:rPr lang="en-US" sz="2400" dirty="0">
                <a:solidFill>
                  <a:srgbClr val="0000CC"/>
                </a:solidFill>
                <a:latin typeface="Comic Sans MS" panose="030F0702030302020204" pitchFamily="66" charset="0"/>
                <a:cs typeface="Arial" panose="020B0604020202020204" pitchFamily="34" charset="0"/>
              </a:rPr>
              <a:t> </a:t>
            </a:r>
            <a:r>
              <a:rPr lang="en-US" sz="2400" dirty="0">
                <a:latin typeface="Comic Sans MS" panose="030F0702030302020204" pitchFamily="66" charset="0"/>
                <a:cs typeface="Arial" panose="020B0604020202020204" pitchFamily="34" charset="0"/>
              </a:rPr>
              <a:t>water management in drought-prone areas.</a:t>
            </a:r>
            <a:r>
              <a:rPr lang="en-US" sz="2400" dirty="0">
                <a:solidFill>
                  <a:srgbClr val="0000CC"/>
                </a:solidFill>
                <a:latin typeface="Comic Sans MS" panose="030F0702030302020204" pitchFamily="66" charset="0"/>
                <a:cs typeface="Arial" panose="020B0604020202020204" pitchFamily="34" charset="0"/>
              </a:rPr>
              <a:t> </a:t>
            </a:r>
          </a:p>
          <a:p>
            <a:pPr marL="639763" lvl="1" indent="-246063">
              <a:lnSpc>
                <a:spcPct val="114000"/>
              </a:lnSpc>
              <a:spcBef>
                <a:spcPts val="1200"/>
              </a:spcBef>
              <a:spcAft>
                <a:spcPts val="1200"/>
              </a:spcAft>
            </a:pPr>
            <a:r>
              <a:rPr lang="en-US" sz="2800" dirty="0">
                <a:solidFill>
                  <a:srgbClr val="0000CC"/>
                </a:solidFill>
                <a:latin typeface="Comic Sans MS" panose="030F0702030302020204" pitchFamily="66" charset="0"/>
                <a:cs typeface="Arial" panose="020B0604020202020204" pitchFamily="34" charset="0"/>
              </a:rPr>
              <a:t>Elements exposed to the threat</a:t>
            </a:r>
          </a:p>
          <a:p>
            <a:pPr marL="393700" lvl="1" indent="0">
              <a:lnSpc>
                <a:spcPct val="114000"/>
              </a:lnSpc>
              <a:spcBef>
                <a:spcPts val="600"/>
              </a:spcBef>
              <a:buNone/>
            </a:pPr>
            <a:r>
              <a:rPr lang="en-US" sz="2400" dirty="0">
                <a:solidFill>
                  <a:srgbClr val="7030A0"/>
                </a:solidFill>
                <a:latin typeface="Comic Sans MS" panose="030F0702030302020204" pitchFamily="66" charset="0"/>
                <a:cs typeface="Arial" panose="020B0604020202020204" pitchFamily="34" charset="0"/>
              </a:rPr>
              <a:t>Examples:</a:t>
            </a:r>
          </a:p>
          <a:p>
            <a:pPr marL="850900" lvl="1" indent="-457200">
              <a:lnSpc>
                <a:spcPct val="114000"/>
              </a:lnSpc>
              <a:spcBef>
                <a:spcPts val="600"/>
              </a:spcBef>
            </a:pPr>
            <a:r>
              <a:rPr lang="en-US" sz="2400" dirty="0">
                <a:latin typeface="Comic Sans MS" panose="030F0702030302020204" pitchFamily="66" charset="0"/>
                <a:cs typeface="Arial" panose="020B0604020202020204" pitchFamily="34" charset="0"/>
              </a:rPr>
              <a:t>strengthening structures to reduce damage when a hazard occurs.</a:t>
            </a:r>
          </a:p>
          <a:p>
            <a:pPr marL="850900" lvl="1" indent="-457200">
              <a:lnSpc>
                <a:spcPct val="114000"/>
              </a:lnSpc>
              <a:spcBef>
                <a:spcPts val="600"/>
              </a:spcBef>
            </a:pPr>
            <a:r>
              <a:rPr lang="en-US" sz="2400" dirty="0">
                <a:latin typeface="Comic Sans MS" panose="030F0702030302020204" pitchFamily="66" charset="0"/>
                <a:cs typeface="Arial" panose="020B0604020202020204" pitchFamily="34" charset="0"/>
              </a:rPr>
              <a:t>reducing the economic and social vulnerabilities of potential disasters.</a:t>
            </a:r>
          </a:p>
        </p:txBody>
      </p:sp>
    </p:spTree>
    <p:extLst>
      <p:ext uri="{BB962C8B-B14F-4D97-AF65-F5344CB8AC3E}">
        <p14:creationId xmlns:p14="http://schemas.microsoft.com/office/powerpoint/2010/main" val="452384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2133600" y="228600"/>
            <a:ext cx="7886700" cy="930274"/>
          </a:xfrm>
        </p:spPr>
        <p:txBody>
          <a:bodyPr/>
          <a:lstStyle/>
          <a:p>
            <a:r>
              <a:rPr lang="en-US" dirty="0"/>
              <a:t>Mitigation Alternatives</a:t>
            </a:r>
          </a:p>
        </p:txBody>
      </p:sp>
      <p:sp>
        <p:nvSpPr>
          <p:cNvPr id="83971" name="Rectangle 3"/>
          <p:cNvSpPr>
            <a:spLocks noGrp="1"/>
          </p:cNvSpPr>
          <p:nvPr>
            <p:ph idx="1"/>
          </p:nvPr>
        </p:nvSpPr>
        <p:spPr>
          <a:xfrm>
            <a:off x="914400" y="1676400"/>
            <a:ext cx="10439400" cy="4800600"/>
          </a:xfrm>
        </p:spPr>
        <p:txBody>
          <a:bodyPr>
            <a:noAutofit/>
          </a:bodyPr>
          <a:lstStyle/>
          <a:p>
            <a:pPr>
              <a:lnSpc>
                <a:spcPct val="100000"/>
              </a:lnSpc>
              <a:spcBef>
                <a:spcPts val="1200"/>
              </a:spcBef>
              <a:spcAft>
                <a:spcPts val="1200"/>
              </a:spcAft>
            </a:pPr>
            <a:r>
              <a:rPr lang="en-US" sz="3000" dirty="0"/>
              <a:t>Prevent the creation of the hazard in the first place.</a:t>
            </a:r>
          </a:p>
          <a:p>
            <a:pPr>
              <a:lnSpc>
                <a:spcPct val="100000"/>
              </a:lnSpc>
              <a:spcBef>
                <a:spcPts val="1200"/>
              </a:spcBef>
              <a:spcAft>
                <a:spcPts val="1200"/>
              </a:spcAft>
            </a:pPr>
            <a:r>
              <a:rPr lang="en-US" sz="3000" dirty="0"/>
              <a:t>Change the nature or the size of the hazard.</a:t>
            </a:r>
          </a:p>
          <a:p>
            <a:pPr>
              <a:lnSpc>
                <a:spcPct val="100000"/>
              </a:lnSpc>
              <a:spcBef>
                <a:spcPts val="1200"/>
              </a:spcBef>
              <a:spcAft>
                <a:spcPts val="1200"/>
              </a:spcAft>
            </a:pPr>
            <a:r>
              <a:rPr lang="en-US" sz="3000" dirty="0"/>
              <a:t>Separate the hazard from that which it might affect</a:t>
            </a:r>
          </a:p>
          <a:p>
            <a:pPr>
              <a:lnSpc>
                <a:spcPct val="100000"/>
              </a:lnSpc>
              <a:spcBef>
                <a:spcPts val="1200"/>
              </a:spcBef>
              <a:spcAft>
                <a:spcPts val="1200"/>
              </a:spcAft>
            </a:pPr>
            <a:r>
              <a:rPr lang="en-US" sz="3000" dirty="0"/>
              <a:t>Modify the basic characteristics of a hazard.</a:t>
            </a:r>
          </a:p>
          <a:p>
            <a:pPr>
              <a:lnSpc>
                <a:spcPct val="100000"/>
              </a:lnSpc>
              <a:spcBef>
                <a:spcPts val="1200"/>
              </a:spcBef>
              <a:spcAft>
                <a:spcPts val="1200"/>
              </a:spcAft>
            </a:pPr>
            <a:r>
              <a:rPr lang="en-US" sz="3000" dirty="0"/>
              <a:t>Research what others are doing</a:t>
            </a:r>
          </a:p>
        </p:txBody>
      </p:sp>
      <p:sp>
        <p:nvSpPr>
          <p:cNvPr id="2" name="TextBox 1">
            <a:extLst>
              <a:ext uri="{FF2B5EF4-FFF2-40B4-BE49-F238E27FC236}">
                <a16:creationId xmlns:a16="http://schemas.microsoft.com/office/drawing/2014/main" id="{8A2C8722-C536-F038-2CB6-EFF3960A81D2}"/>
              </a:ext>
            </a:extLst>
          </p:cNvPr>
          <p:cNvSpPr txBox="1"/>
          <p:nvPr/>
        </p:nvSpPr>
        <p:spPr>
          <a:xfrm>
            <a:off x="1524000" y="5486400"/>
            <a:ext cx="9753600" cy="369332"/>
          </a:xfrm>
          <a:prstGeom prst="rect">
            <a:avLst/>
          </a:prstGeom>
          <a:noFill/>
        </p:spPr>
        <p:txBody>
          <a:bodyPr wrap="square" rtlCol="0">
            <a:spAutoFit/>
          </a:bodyPr>
          <a:lstStyle/>
          <a:p>
            <a:r>
              <a:rPr lang="en-US" dirty="0"/>
              <a:t>For Examples, see </a:t>
            </a:r>
            <a:r>
              <a:rPr lang="en-US" dirty="0">
                <a:hlinkClick r:id="rId3"/>
              </a:rPr>
              <a:t>https://www.iaem.org/portals/25/documents/is1_Unit3.pdf</a:t>
            </a:r>
            <a:r>
              <a:rPr lang="en-US" dirty="0"/>
              <a:t>  </a:t>
            </a:r>
            <a:endParaRPr lang="en-PK" dirty="0"/>
          </a:p>
        </p:txBody>
      </p:sp>
    </p:spTree>
    <p:extLst>
      <p:ext uri="{BB962C8B-B14F-4D97-AF65-F5344CB8AC3E}">
        <p14:creationId xmlns:p14="http://schemas.microsoft.com/office/powerpoint/2010/main" val="3801396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1981200" y="228601"/>
            <a:ext cx="8229600" cy="1251991"/>
          </a:xfrm>
        </p:spPr>
        <p:txBody>
          <a:bodyPr>
            <a:normAutofit fontScale="90000"/>
          </a:bodyPr>
          <a:lstStyle/>
          <a:p>
            <a:pPr>
              <a:lnSpc>
                <a:spcPct val="150000"/>
              </a:lnSpc>
              <a:spcBef>
                <a:spcPts val="1200"/>
              </a:spcBef>
              <a:spcAft>
                <a:spcPts val="1200"/>
              </a:spcAft>
            </a:pPr>
            <a:br>
              <a:rPr lang="en-US" sz="3200" dirty="0">
                <a:solidFill>
                  <a:srgbClr val="AC4A8B"/>
                </a:solidFill>
              </a:rPr>
            </a:br>
            <a:r>
              <a:rPr lang="en-US" sz="3200" dirty="0">
                <a:solidFill>
                  <a:srgbClr val="AC4A8B"/>
                </a:solidFill>
              </a:rPr>
              <a:t>FEMA document </a:t>
            </a:r>
            <a:br>
              <a:rPr lang="en-US" sz="3200" dirty="0">
                <a:solidFill>
                  <a:srgbClr val="AC4A8B"/>
                </a:solidFill>
              </a:rPr>
            </a:br>
            <a:r>
              <a:rPr lang="en-US" dirty="0"/>
              <a:t>More Examples of Mitigations</a:t>
            </a:r>
            <a:br>
              <a:rPr lang="en-US" dirty="0"/>
            </a:br>
            <a:endParaRPr lang="en-US" sz="2400" dirty="0">
              <a:solidFill>
                <a:srgbClr val="AC4A8B"/>
              </a:solidFill>
            </a:endParaRPr>
          </a:p>
        </p:txBody>
      </p:sp>
      <p:sp>
        <p:nvSpPr>
          <p:cNvPr id="19458" name="Content Placeholder 2"/>
          <p:cNvSpPr>
            <a:spLocks noGrp="1"/>
          </p:cNvSpPr>
          <p:nvPr>
            <p:ph idx="1"/>
          </p:nvPr>
        </p:nvSpPr>
        <p:spPr>
          <a:xfrm>
            <a:off x="533400" y="1905000"/>
            <a:ext cx="11201400" cy="990600"/>
          </a:xfrm>
        </p:spPr>
        <p:txBody>
          <a:bodyPr>
            <a:normAutofit/>
          </a:bodyPr>
          <a:lstStyle/>
          <a:p>
            <a:pPr marL="0" indent="0">
              <a:lnSpc>
                <a:spcPct val="100000"/>
              </a:lnSpc>
              <a:spcBef>
                <a:spcPts val="1200"/>
              </a:spcBef>
              <a:spcAft>
                <a:spcPts val="1200"/>
              </a:spcAft>
              <a:buNone/>
            </a:pPr>
            <a:r>
              <a:rPr lang="en-US" sz="2800" dirty="0"/>
              <a:t>Public education and outreach activities designed to reduce loss of life and property destruction</a:t>
            </a:r>
          </a:p>
        </p:txBody>
      </p:sp>
      <p:pic>
        <p:nvPicPr>
          <p:cNvPr id="1026" name="Picture 2" descr="Box 2 Imag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048000"/>
            <a:ext cx="6781800" cy="36169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1752600" y="152400"/>
            <a:ext cx="3352800" cy="914400"/>
          </a:xfrm>
        </p:spPr>
        <p:txBody>
          <a:bodyPr>
            <a:normAutofit/>
          </a:bodyPr>
          <a:lstStyle/>
          <a:p>
            <a:pPr>
              <a:lnSpc>
                <a:spcPct val="150000"/>
              </a:lnSpc>
              <a:spcBef>
                <a:spcPts val="1200"/>
              </a:spcBef>
              <a:spcAft>
                <a:spcPts val="1200"/>
              </a:spcAft>
            </a:pPr>
            <a:r>
              <a:rPr lang="en-US" sz="2400" dirty="0"/>
              <a:t>Examples </a:t>
            </a:r>
            <a:r>
              <a:rPr lang="en-US" sz="2400" dirty="0" err="1"/>
              <a:t>conti</a:t>
            </a:r>
            <a:r>
              <a:rPr lang="en-US" sz="2400" dirty="0"/>
              <a:t>…</a:t>
            </a:r>
            <a:endParaRPr lang="en-US" sz="2400" dirty="0">
              <a:solidFill>
                <a:srgbClr val="AC4A8B"/>
              </a:solidFill>
            </a:endParaRPr>
          </a:p>
        </p:txBody>
      </p:sp>
      <p:sp>
        <p:nvSpPr>
          <p:cNvPr id="19458" name="Content Placeholder 2"/>
          <p:cNvSpPr>
            <a:spLocks noGrp="1"/>
          </p:cNvSpPr>
          <p:nvPr>
            <p:ph idx="1"/>
          </p:nvPr>
        </p:nvSpPr>
        <p:spPr>
          <a:xfrm>
            <a:off x="1981200" y="1042555"/>
            <a:ext cx="9144000" cy="609600"/>
          </a:xfrm>
        </p:spPr>
        <p:txBody>
          <a:bodyPr>
            <a:normAutofit/>
          </a:bodyPr>
          <a:lstStyle/>
          <a:p>
            <a:pPr>
              <a:lnSpc>
                <a:spcPct val="100000"/>
              </a:lnSpc>
              <a:spcBef>
                <a:spcPts val="1200"/>
              </a:spcBef>
              <a:spcAft>
                <a:spcPts val="1200"/>
              </a:spcAft>
            </a:pPr>
            <a:r>
              <a:rPr lang="en-US" sz="2800" dirty="0"/>
              <a:t>Floodplain management and land-use regulations</a:t>
            </a:r>
          </a:p>
        </p:txBody>
      </p:sp>
      <p:sp>
        <p:nvSpPr>
          <p:cNvPr id="2" name="TextBox 1"/>
          <p:cNvSpPr txBox="1"/>
          <p:nvPr/>
        </p:nvSpPr>
        <p:spPr>
          <a:xfrm>
            <a:off x="8458200" y="457200"/>
            <a:ext cx="2057400" cy="400110"/>
          </a:xfrm>
          <a:prstGeom prst="rect">
            <a:avLst/>
          </a:prstGeom>
          <a:noFill/>
        </p:spPr>
        <p:txBody>
          <a:bodyPr wrap="square" rtlCol="0">
            <a:spAutoFit/>
          </a:bodyPr>
          <a:lstStyle/>
          <a:p>
            <a:r>
              <a:rPr lang="en-US" sz="2000">
                <a:solidFill>
                  <a:srgbClr val="AC4A8B"/>
                </a:solidFill>
              </a:rPr>
              <a:t>FEMA document</a:t>
            </a:r>
            <a:endParaRPr lang="en-US" sz="2000" dirty="0"/>
          </a:p>
        </p:txBody>
      </p:sp>
      <p:pic>
        <p:nvPicPr>
          <p:cNvPr id="3" name="Picture 2"/>
          <p:cNvPicPr>
            <a:picLocks noChangeAspect="1"/>
          </p:cNvPicPr>
          <p:nvPr/>
        </p:nvPicPr>
        <p:blipFill>
          <a:blip r:embed="rId3"/>
          <a:stretch>
            <a:fillRect/>
          </a:stretch>
        </p:blipFill>
        <p:spPr>
          <a:xfrm>
            <a:off x="3508664" y="1837400"/>
            <a:ext cx="4956753" cy="1724950"/>
          </a:xfrm>
          <a:prstGeom prst="rect">
            <a:avLst/>
          </a:prstGeom>
        </p:spPr>
      </p:pic>
      <p:pic>
        <p:nvPicPr>
          <p:cNvPr id="3074" name="Picture 2" descr="Construction Site Best Management Practi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5673" y="3638550"/>
            <a:ext cx="440583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5"/>
          <a:srcRect b="3750"/>
          <a:stretch/>
        </p:blipFill>
        <p:spPr>
          <a:xfrm>
            <a:off x="6061364" y="3638551"/>
            <a:ext cx="4419600" cy="3190399"/>
          </a:xfrm>
          <a:prstGeom prst="rect">
            <a:avLst/>
          </a:prstGeom>
        </p:spPr>
      </p:pic>
    </p:spTree>
    <p:extLst>
      <p:ext uri="{BB962C8B-B14F-4D97-AF65-F5344CB8AC3E}">
        <p14:creationId xmlns:p14="http://schemas.microsoft.com/office/powerpoint/2010/main" val="382117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1752600" y="152400"/>
            <a:ext cx="3352800" cy="914400"/>
          </a:xfrm>
        </p:spPr>
        <p:txBody>
          <a:bodyPr>
            <a:normAutofit/>
          </a:bodyPr>
          <a:lstStyle/>
          <a:p>
            <a:pPr>
              <a:lnSpc>
                <a:spcPct val="150000"/>
              </a:lnSpc>
              <a:spcBef>
                <a:spcPts val="1200"/>
              </a:spcBef>
              <a:spcAft>
                <a:spcPts val="1200"/>
              </a:spcAft>
            </a:pPr>
            <a:r>
              <a:rPr lang="en-US" sz="2400" dirty="0"/>
              <a:t>Examples </a:t>
            </a:r>
            <a:r>
              <a:rPr lang="en-US" sz="2400" dirty="0" err="1"/>
              <a:t>conti</a:t>
            </a:r>
            <a:r>
              <a:rPr lang="en-US" sz="2400" dirty="0"/>
              <a:t>…</a:t>
            </a:r>
            <a:endParaRPr lang="en-US" sz="2400" dirty="0">
              <a:solidFill>
                <a:srgbClr val="AC4A8B"/>
              </a:solidFill>
            </a:endParaRPr>
          </a:p>
        </p:txBody>
      </p:sp>
      <p:sp>
        <p:nvSpPr>
          <p:cNvPr id="19458" name="Content Placeholder 2"/>
          <p:cNvSpPr>
            <a:spLocks noGrp="1"/>
          </p:cNvSpPr>
          <p:nvPr>
            <p:ph idx="1"/>
          </p:nvPr>
        </p:nvSpPr>
        <p:spPr>
          <a:xfrm>
            <a:off x="990600" y="1066800"/>
            <a:ext cx="10210800" cy="1962090"/>
          </a:xfrm>
        </p:spPr>
        <p:txBody>
          <a:bodyPr>
            <a:normAutofit/>
          </a:bodyPr>
          <a:lstStyle/>
          <a:p>
            <a:pPr marL="0" indent="0">
              <a:lnSpc>
                <a:spcPct val="150000"/>
              </a:lnSpc>
              <a:spcBef>
                <a:spcPts val="1200"/>
              </a:spcBef>
              <a:spcAft>
                <a:spcPts val="1200"/>
              </a:spcAft>
              <a:buNone/>
            </a:pPr>
            <a:r>
              <a:rPr lang="en-US" sz="2800" dirty="0"/>
              <a:t>Building codes, seismic design standards, and wind-bracing requirements for new construction, or repairing or retrofitting existing buildings</a:t>
            </a:r>
          </a:p>
        </p:txBody>
      </p:sp>
      <p:sp>
        <p:nvSpPr>
          <p:cNvPr id="2" name="TextBox 1"/>
          <p:cNvSpPr txBox="1"/>
          <p:nvPr/>
        </p:nvSpPr>
        <p:spPr>
          <a:xfrm>
            <a:off x="8458200" y="457200"/>
            <a:ext cx="2057400" cy="400110"/>
          </a:xfrm>
          <a:prstGeom prst="rect">
            <a:avLst/>
          </a:prstGeom>
          <a:noFill/>
        </p:spPr>
        <p:txBody>
          <a:bodyPr wrap="square" rtlCol="0">
            <a:spAutoFit/>
          </a:bodyPr>
          <a:lstStyle/>
          <a:p>
            <a:r>
              <a:rPr lang="en-US" sz="2000">
                <a:solidFill>
                  <a:srgbClr val="AC4A8B"/>
                </a:solidFill>
              </a:rPr>
              <a:t>FEMA document</a:t>
            </a:r>
            <a:endParaRPr lang="en-US" sz="2000" dirty="0"/>
          </a:p>
        </p:txBody>
      </p:sp>
      <p:pic>
        <p:nvPicPr>
          <p:cNvPr id="2050" name="Picture 2" descr="http://www.gulfalliancetraining.org/dbfiles/images/10NAI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578" y="2819400"/>
            <a:ext cx="4981222" cy="3735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848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2"/>
          <p:cNvPicPr>
            <a:picLocks noChangeAspect="1" noChangeArrowheads="1"/>
          </p:cNvPicPr>
          <p:nvPr/>
        </p:nvPicPr>
        <p:blipFill>
          <a:blip r:embed="rId3"/>
          <a:srcRect l="21875" t="25000" r="15625" b="11458"/>
          <a:stretch>
            <a:fillRect/>
          </a:stretch>
        </p:blipFill>
        <p:spPr bwMode="auto">
          <a:xfrm>
            <a:off x="1524000" y="-100375"/>
            <a:ext cx="9124950" cy="6958375"/>
          </a:xfrm>
          <a:prstGeom prst="rect">
            <a:avLst/>
          </a:prstGeom>
          <a:noFill/>
          <a:ln w="9525">
            <a:noFill/>
            <a:miter lim="800000"/>
            <a:headEnd/>
            <a:tailEnd/>
          </a:ln>
        </p:spPr>
      </p:pic>
      <p:sp>
        <p:nvSpPr>
          <p:cNvPr id="25602" name="Title 4"/>
          <p:cNvSpPr>
            <a:spLocks noGrp="1"/>
          </p:cNvSpPr>
          <p:nvPr>
            <p:ph type="title"/>
          </p:nvPr>
        </p:nvSpPr>
        <p:spPr>
          <a:xfrm>
            <a:off x="1543050" y="6096000"/>
            <a:ext cx="9124950" cy="762000"/>
          </a:xfrm>
          <a:solidFill>
            <a:srgbClr val="0000CC"/>
          </a:solidFill>
          <a:ln>
            <a:solidFill>
              <a:schemeClr val="accent1"/>
            </a:solidFill>
          </a:ln>
        </p:spPr>
        <p:txBody>
          <a:bodyPr>
            <a:normAutofit/>
          </a:bodyPr>
          <a:lstStyle/>
          <a:p>
            <a:r>
              <a:rPr lang="en-US" sz="2200" dirty="0">
                <a:solidFill>
                  <a:schemeClr val="bg1"/>
                </a:solidFill>
              </a:rPr>
              <a:t>Structure Relocation: Most expensive but most effective Land use Planning tool</a:t>
            </a:r>
          </a:p>
        </p:txBody>
      </p:sp>
      <p:sp>
        <p:nvSpPr>
          <p:cNvPr id="4" name="Title 1"/>
          <p:cNvSpPr txBox="1">
            <a:spLocks/>
          </p:cNvSpPr>
          <p:nvPr/>
        </p:nvSpPr>
        <p:spPr>
          <a:xfrm>
            <a:off x="1563832" y="152400"/>
            <a:ext cx="9027968" cy="704910"/>
          </a:xfrm>
          <a:prstGeom prst="rect">
            <a:avLst/>
          </a:prstGeom>
          <a:solidFill>
            <a:schemeClr val="bg1"/>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spcBef>
                <a:spcPts val="1200"/>
              </a:spcBef>
              <a:spcAft>
                <a:spcPts val="1200"/>
              </a:spcAft>
            </a:pPr>
            <a:r>
              <a:rPr lang="en-US" sz="2400" dirty="0"/>
              <a:t>Examples </a:t>
            </a:r>
            <a:r>
              <a:rPr lang="en-US" sz="2400" dirty="0" err="1"/>
              <a:t>conti</a:t>
            </a:r>
            <a:r>
              <a:rPr lang="en-US" sz="2400" dirty="0"/>
              <a:t>…</a:t>
            </a:r>
            <a:endParaRPr lang="en-US" sz="2400" dirty="0">
              <a:solidFill>
                <a:srgbClr val="AC4A8B"/>
              </a:solidFill>
            </a:endParaRPr>
          </a:p>
        </p:txBody>
      </p:sp>
      <p:sp>
        <p:nvSpPr>
          <p:cNvPr id="5" name="Content Placeholder 2"/>
          <p:cNvSpPr txBox="1">
            <a:spLocks/>
          </p:cNvSpPr>
          <p:nvPr/>
        </p:nvSpPr>
        <p:spPr>
          <a:xfrm>
            <a:off x="1543916" y="4754564"/>
            <a:ext cx="9124084" cy="1341437"/>
          </a:xfrm>
          <a:prstGeom prst="rect">
            <a:avLst/>
          </a:prstGeom>
          <a:solidFill>
            <a:srgbClr val="0000CC"/>
          </a:solidFill>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spcBef>
                <a:spcPts val="1200"/>
              </a:spcBef>
              <a:spcAft>
                <a:spcPts val="1200"/>
              </a:spcAft>
              <a:buNone/>
            </a:pPr>
            <a:r>
              <a:rPr lang="en-US" sz="2800" dirty="0">
                <a:solidFill>
                  <a:schemeClr val="bg1"/>
                </a:solidFill>
              </a:rPr>
              <a:t>Acquiring damaged homes or businesses in flood-prone areas, relocating the structures, and returning the property to open space, wetlands, or recreational uses</a:t>
            </a:r>
          </a:p>
        </p:txBody>
      </p:sp>
      <p:sp>
        <p:nvSpPr>
          <p:cNvPr id="6" name="TextBox 5"/>
          <p:cNvSpPr txBox="1"/>
          <p:nvPr/>
        </p:nvSpPr>
        <p:spPr>
          <a:xfrm>
            <a:off x="8382000" y="304800"/>
            <a:ext cx="2057400" cy="400110"/>
          </a:xfrm>
          <a:prstGeom prst="rect">
            <a:avLst/>
          </a:prstGeom>
          <a:noFill/>
        </p:spPr>
        <p:txBody>
          <a:bodyPr wrap="square" rtlCol="0">
            <a:spAutoFit/>
          </a:bodyPr>
          <a:lstStyle/>
          <a:p>
            <a:r>
              <a:rPr lang="en-US" sz="2000" dirty="0">
                <a:solidFill>
                  <a:srgbClr val="AC4A8B"/>
                </a:solidFill>
              </a:rPr>
              <a:t>FEMA document</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0">
        <p159:morph option="byObject"/>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5602"/>
                                        </p:tgtEl>
                                        <p:attrNameLst>
                                          <p:attrName>style.visibility</p:attrName>
                                        </p:attrNameLst>
                                      </p:cBhvr>
                                      <p:to>
                                        <p:strVal val="visible"/>
                                      </p:to>
                                    </p:set>
                                    <p:animEffect transition="in" filter="fade">
                                      <p:cBhvr>
                                        <p:cTn id="11"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1752600" y="76200"/>
            <a:ext cx="8229600" cy="533400"/>
          </a:xfrm>
        </p:spPr>
        <p:txBody>
          <a:bodyPr>
            <a:normAutofit/>
          </a:bodyPr>
          <a:lstStyle/>
          <a:p>
            <a:pPr algn="l"/>
            <a:r>
              <a:rPr lang="en-US" sz="1800" dirty="0"/>
              <a:t>Examples of Mitigations: Conti…</a:t>
            </a:r>
          </a:p>
        </p:txBody>
      </p:sp>
      <p:sp>
        <p:nvSpPr>
          <p:cNvPr id="21506" name="Content Placeholder 2"/>
          <p:cNvSpPr>
            <a:spLocks noGrp="1"/>
          </p:cNvSpPr>
          <p:nvPr>
            <p:ph idx="1"/>
          </p:nvPr>
        </p:nvSpPr>
        <p:spPr>
          <a:xfrm>
            <a:off x="838200" y="783770"/>
            <a:ext cx="11125200" cy="2264230"/>
          </a:xfrm>
        </p:spPr>
        <p:txBody>
          <a:bodyPr>
            <a:noAutofit/>
          </a:bodyPr>
          <a:lstStyle/>
          <a:p>
            <a:pPr marL="0" indent="0">
              <a:lnSpc>
                <a:spcPct val="150000"/>
              </a:lnSpc>
              <a:spcBef>
                <a:spcPts val="1200"/>
              </a:spcBef>
              <a:spcAft>
                <a:spcPts val="1200"/>
              </a:spcAft>
              <a:buNone/>
            </a:pPr>
            <a:r>
              <a:rPr lang="en-US" sz="2800" dirty="0"/>
              <a:t>Identifying, and refurbishing shelters and safe rooms to help protect people in their homes, public buildings, and schools in hurricane- and tornado-prone areas</a:t>
            </a:r>
          </a:p>
          <a:p>
            <a:pPr marL="0" indent="0">
              <a:lnSpc>
                <a:spcPct val="150000"/>
              </a:lnSpc>
              <a:spcBef>
                <a:spcPts val="1200"/>
              </a:spcBef>
              <a:spcAft>
                <a:spcPts val="1200"/>
              </a:spcAft>
              <a:buNone/>
            </a:pPr>
            <a:endParaRPr lang="en-US" sz="2800" dirty="0"/>
          </a:p>
        </p:txBody>
      </p:sp>
      <p:pic>
        <p:nvPicPr>
          <p:cNvPr id="4098" name="Picture 2" descr="http://www.masonrymagazine.com/wp-content/uploads/2015/08/Safety-Shelter-Eleva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754086"/>
            <a:ext cx="7075714" cy="4103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RP 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525"/>
          <a:stretch/>
        </p:blipFill>
        <p:spPr bwMode="auto">
          <a:xfrm>
            <a:off x="7620000" y="2012740"/>
            <a:ext cx="3048000" cy="4845261"/>
          </a:xfrm>
          <a:prstGeom prst="rect">
            <a:avLst/>
          </a:prstGeom>
          <a:noFill/>
          <a:extLst>
            <a:ext uri="{909E8E84-426E-40DD-AFC4-6F175D3DCCD1}">
              <a14:hiddenFill xmlns:a14="http://schemas.microsoft.com/office/drawing/2010/main">
                <a:solidFill>
                  <a:srgbClr val="FFFFFF"/>
                </a:solidFill>
              </a14:hiddenFill>
            </a:ext>
          </a:extLst>
        </p:spPr>
      </p:pic>
      <p:sp>
        <p:nvSpPr>
          <p:cNvPr id="21505" name="Title 1"/>
          <p:cNvSpPr>
            <a:spLocks noGrp="1"/>
          </p:cNvSpPr>
          <p:nvPr>
            <p:ph type="title"/>
          </p:nvPr>
        </p:nvSpPr>
        <p:spPr>
          <a:xfrm>
            <a:off x="1616028" y="289031"/>
            <a:ext cx="8229600" cy="381000"/>
          </a:xfrm>
        </p:spPr>
        <p:txBody>
          <a:bodyPr>
            <a:normAutofit/>
          </a:bodyPr>
          <a:lstStyle/>
          <a:p>
            <a:pPr algn="l"/>
            <a:r>
              <a:rPr lang="en-US" sz="1800" dirty="0"/>
              <a:t>Examples of Mitigations: Conti…</a:t>
            </a:r>
          </a:p>
        </p:txBody>
      </p:sp>
      <p:sp>
        <p:nvSpPr>
          <p:cNvPr id="21506" name="Content Placeholder 2"/>
          <p:cNvSpPr>
            <a:spLocks noGrp="1"/>
          </p:cNvSpPr>
          <p:nvPr>
            <p:ph idx="1"/>
          </p:nvPr>
        </p:nvSpPr>
        <p:spPr>
          <a:xfrm>
            <a:off x="1447800" y="914400"/>
            <a:ext cx="8991600" cy="609600"/>
          </a:xfrm>
        </p:spPr>
        <p:txBody>
          <a:bodyPr>
            <a:noAutofit/>
          </a:bodyPr>
          <a:lstStyle/>
          <a:p>
            <a:pPr marL="0" indent="0">
              <a:lnSpc>
                <a:spcPct val="114000"/>
              </a:lnSpc>
              <a:spcBef>
                <a:spcPts val="1200"/>
              </a:spcBef>
              <a:spcAft>
                <a:spcPts val="1200"/>
              </a:spcAft>
              <a:buNone/>
            </a:pPr>
            <a:r>
              <a:rPr lang="en-US" sz="2800" dirty="0"/>
              <a:t>Development of hazard-specific evacuation routes</a:t>
            </a:r>
          </a:p>
        </p:txBody>
      </p:sp>
      <p:pic>
        <p:nvPicPr>
          <p:cNvPr id="6148" name="Picture 4" descr="City of Santa Monica Tsunami Evacuation Rout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4377" y="2003334"/>
            <a:ext cx="6282511" cy="4854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637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2133600" y="228600"/>
            <a:ext cx="7886700" cy="533400"/>
          </a:xfrm>
        </p:spPr>
        <p:txBody>
          <a:bodyPr>
            <a:normAutofit fontScale="90000"/>
          </a:bodyPr>
          <a:lstStyle/>
          <a:p>
            <a:r>
              <a:rPr lang="en-US" sz="3600" dirty="0"/>
              <a:t>Flood Hazard Maps</a:t>
            </a:r>
          </a:p>
        </p:txBody>
      </p:sp>
      <p:sp>
        <p:nvSpPr>
          <p:cNvPr id="27650" name="Rectangle 3"/>
          <p:cNvSpPr>
            <a:spLocks noGrp="1"/>
          </p:cNvSpPr>
          <p:nvPr>
            <p:ph idx="1"/>
          </p:nvPr>
        </p:nvSpPr>
        <p:spPr>
          <a:xfrm>
            <a:off x="533400" y="1066800"/>
            <a:ext cx="11201400" cy="5791200"/>
          </a:xfrm>
        </p:spPr>
        <p:txBody>
          <a:bodyPr>
            <a:normAutofit/>
          </a:bodyPr>
          <a:lstStyle/>
          <a:p>
            <a:pPr>
              <a:lnSpc>
                <a:spcPct val="114000"/>
              </a:lnSpc>
              <a:spcBef>
                <a:spcPts val="1200"/>
              </a:spcBef>
              <a:spcAft>
                <a:spcPts val="600"/>
              </a:spcAft>
            </a:pPr>
            <a:r>
              <a:rPr lang="en-US" sz="2800" dirty="0"/>
              <a:t>Maps that graphically provide information on inundation as well as on evacuation in an easy-to-understand format</a:t>
            </a:r>
          </a:p>
          <a:p>
            <a:pPr>
              <a:lnSpc>
                <a:spcPct val="114000"/>
              </a:lnSpc>
              <a:spcBef>
                <a:spcPts val="1200"/>
              </a:spcBef>
              <a:spcAft>
                <a:spcPts val="600"/>
              </a:spcAft>
            </a:pPr>
            <a:r>
              <a:rPr lang="en-US" sz="2800" u="sng" dirty="0">
                <a:solidFill>
                  <a:srgbClr val="AC4A8B"/>
                </a:solidFill>
              </a:rPr>
              <a:t>Flood hazard mapping is an example of non-structural mitigation measures</a:t>
            </a:r>
          </a:p>
          <a:p>
            <a:pPr>
              <a:lnSpc>
                <a:spcPct val="114000"/>
              </a:lnSpc>
              <a:spcBef>
                <a:spcPts val="1200"/>
              </a:spcBef>
              <a:spcAft>
                <a:spcPts val="600"/>
              </a:spcAft>
            </a:pPr>
            <a:r>
              <a:rPr lang="en-US" sz="2800" dirty="0"/>
              <a:t>Assist local residents in becoming aware of the</a:t>
            </a:r>
          </a:p>
          <a:p>
            <a:pPr lvl="1">
              <a:lnSpc>
                <a:spcPct val="114000"/>
              </a:lnSpc>
              <a:spcBef>
                <a:spcPts val="1200"/>
              </a:spcBef>
              <a:spcAft>
                <a:spcPts val="600"/>
              </a:spcAft>
            </a:pPr>
            <a:r>
              <a:rPr lang="en-US" sz="2400" dirty="0">
                <a:solidFill>
                  <a:srgbClr val="0000CC"/>
                </a:solidFill>
              </a:rPr>
              <a:t>vulnerability of the area they live in, </a:t>
            </a:r>
          </a:p>
          <a:p>
            <a:pPr lvl="1">
              <a:lnSpc>
                <a:spcPct val="114000"/>
              </a:lnSpc>
              <a:spcBef>
                <a:spcPts val="1200"/>
              </a:spcBef>
              <a:spcAft>
                <a:spcPts val="600"/>
              </a:spcAft>
            </a:pPr>
            <a:r>
              <a:rPr lang="en-US" sz="2400" dirty="0">
                <a:solidFill>
                  <a:srgbClr val="0000CC"/>
                </a:solidFill>
              </a:rPr>
              <a:t>the important roles that they play in disaster prevention activities and </a:t>
            </a:r>
          </a:p>
          <a:p>
            <a:pPr lvl="1">
              <a:lnSpc>
                <a:spcPct val="114000"/>
              </a:lnSpc>
              <a:spcBef>
                <a:spcPts val="1200"/>
              </a:spcBef>
              <a:spcAft>
                <a:spcPts val="600"/>
              </a:spcAft>
            </a:pPr>
            <a:r>
              <a:rPr lang="en-US" sz="2400" dirty="0">
                <a:solidFill>
                  <a:srgbClr val="0000CC"/>
                </a:solidFill>
              </a:rPr>
              <a:t>proper evacuation in the event of floods.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1752600" y="149226"/>
            <a:ext cx="8229600" cy="381000"/>
          </a:xfrm>
        </p:spPr>
        <p:txBody>
          <a:bodyPr>
            <a:normAutofit/>
          </a:bodyPr>
          <a:lstStyle/>
          <a:p>
            <a:pPr algn="l"/>
            <a:r>
              <a:rPr lang="en-US" sz="1800" dirty="0"/>
              <a:t>Examples of Mitigations: Conti…</a:t>
            </a:r>
          </a:p>
        </p:txBody>
      </p:sp>
      <p:sp>
        <p:nvSpPr>
          <p:cNvPr id="21506" name="Content Placeholder 2"/>
          <p:cNvSpPr>
            <a:spLocks noGrp="1"/>
          </p:cNvSpPr>
          <p:nvPr>
            <p:ph idx="1"/>
          </p:nvPr>
        </p:nvSpPr>
        <p:spPr>
          <a:xfrm>
            <a:off x="838200" y="704719"/>
            <a:ext cx="11049000" cy="870537"/>
          </a:xfrm>
        </p:spPr>
        <p:txBody>
          <a:bodyPr>
            <a:noAutofit/>
          </a:bodyPr>
          <a:lstStyle/>
          <a:p>
            <a:pPr marL="0" indent="0">
              <a:lnSpc>
                <a:spcPct val="114000"/>
              </a:lnSpc>
              <a:spcBef>
                <a:spcPts val="1200"/>
              </a:spcBef>
              <a:spcAft>
                <a:spcPts val="1200"/>
              </a:spcAft>
              <a:buNone/>
            </a:pPr>
            <a:r>
              <a:rPr lang="en-US" sz="2500" dirty="0"/>
              <a:t>Mapping of hazard or potential hazard zones, using geospatial techniques</a:t>
            </a:r>
          </a:p>
        </p:txBody>
      </p:sp>
      <p:pic>
        <p:nvPicPr>
          <p:cNvPr id="5124" name="Picture 4" descr="KingCoun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2238" y="2019886"/>
            <a:ext cx="3605786" cy="47625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inellasCoun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8689" y="1740810"/>
            <a:ext cx="2990558" cy="504157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ulsafi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3733801"/>
            <a:ext cx="3995536" cy="3015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26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126"/>
                                        </p:tgtEl>
                                        <p:attrNameLst>
                                          <p:attrName>style.visibility</p:attrName>
                                        </p:attrNameLst>
                                      </p:cBhvr>
                                      <p:to>
                                        <p:strVal val="visible"/>
                                      </p:to>
                                    </p:set>
                                    <p:animEffect transition="in" filter="circle(in)">
                                      <p:cBhvr>
                                        <p:cTn id="7" dur="2000"/>
                                        <p:tgtEl>
                                          <p:spTgt spid="512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124"/>
                                        </p:tgtEl>
                                        <p:attrNameLst>
                                          <p:attrName>style.visibility</p:attrName>
                                        </p:attrNameLst>
                                      </p:cBhvr>
                                      <p:to>
                                        <p:strVal val="visible"/>
                                      </p:to>
                                    </p:set>
                                    <p:animEffect transition="in" filter="circle(in)">
                                      <p:cBhvr>
                                        <p:cTn id="12" dur="2000"/>
                                        <p:tgtEl>
                                          <p:spTgt spid="512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128"/>
                                        </p:tgtEl>
                                        <p:attrNameLst>
                                          <p:attrName>style.visibility</p:attrName>
                                        </p:attrNameLst>
                                      </p:cBhvr>
                                      <p:to>
                                        <p:strVal val="visible"/>
                                      </p:to>
                                    </p:set>
                                    <p:animEffect transition="in" filter="circle(in)">
                                      <p:cBhvr>
                                        <p:cTn id="17" dur="20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5715610"/>
            <a:ext cx="9144000" cy="989990"/>
          </a:xfrm>
          <a:solidFill>
            <a:srgbClr val="0000CC"/>
          </a:solidFill>
        </p:spPr>
        <p:txBody>
          <a:bodyPr>
            <a:normAutofit fontScale="92500" lnSpcReduction="20000"/>
          </a:bodyPr>
          <a:lstStyle/>
          <a:p>
            <a:pPr algn="ctr"/>
            <a:endParaRPr lang="en-US" sz="3600" b="1" spc="-75" dirty="0">
              <a:solidFill>
                <a:srgbClr val="0000CC"/>
              </a:solidFill>
              <a:latin typeface="Comic Sans MS" panose="030F0702030302020204" pitchFamily="66" charset="0"/>
              <a:ea typeface="+mj-ea"/>
              <a:cs typeface="Arial" panose="020B0604020202020204" pitchFamily="34" charset="0"/>
            </a:endParaRPr>
          </a:p>
          <a:p>
            <a:pPr algn="ctr"/>
            <a:r>
              <a:rPr lang="en-US" sz="3600" b="1" spc="-75" dirty="0">
                <a:solidFill>
                  <a:schemeClr val="bg1"/>
                </a:solidFill>
                <a:latin typeface="Comic Sans MS" panose="030F0702030302020204" pitchFamily="66" charset="0"/>
                <a:ea typeface="+mj-ea"/>
                <a:cs typeface="Arial" panose="020B0604020202020204" pitchFamily="34" charset="0"/>
              </a:rPr>
              <a:t>More about Flood Hazard Maps</a:t>
            </a:r>
          </a:p>
        </p:txBody>
      </p:sp>
      <p:pic>
        <p:nvPicPr>
          <p:cNvPr id="7170" name="Picture 2" descr="http://www.immap.org/maps/files/maps/big_92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8077"/>
            <a:ext cx="8153400" cy="572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659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1714500" y="152401"/>
            <a:ext cx="8763000" cy="762000"/>
          </a:xfrm>
        </p:spPr>
        <p:txBody>
          <a:bodyPr/>
          <a:lstStyle/>
          <a:p>
            <a:r>
              <a:rPr lang="en-US" sz="2800" b="0" dirty="0"/>
              <a:t>How to Represent Information on Flood Hazard Maps?</a:t>
            </a:r>
          </a:p>
        </p:txBody>
      </p:sp>
      <p:sp>
        <p:nvSpPr>
          <p:cNvPr id="31746" name="Rectangle 3"/>
          <p:cNvSpPr>
            <a:spLocks noGrp="1"/>
          </p:cNvSpPr>
          <p:nvPr>
            <p:ph idx="1"/>
          </p:nvPr>
        </p:nvSpPr>
        <p:spPr>
          <a:xfrm>
            <a:off x="914400" y="1295401"/>
            <a:ext cx="10668000" cy="5410199"/>
          </a:xfrm>
        </p:spPr>
        <p:txBody>
          <a:bodyPr>
            <a:normAutofit/>
          </a:bodyPr>
          <a:lstStyle/>
          <a:p>
            <a:pPr>
              <a:lnSpc>
                <a:spcPct val="100000"/>
              </a:lnSpc>
              <a:spcAft>
                <a:spcPts val="600"/>
              </a:spcAft>
            </a:pPr>
            <a:r>
              <a:rPr lang="en-US" dirty="0"/>
              <a:t>Should </a:t>
            </a:r>
            <a:r>
              <a:rPr lang="en-US" u="sng" dirty="0">
                <a:solidFill>
                  <a:srgbClr val="FF0000"/>
                </a:solidFill>
              </a:rPr>
              <a:t>not</a:t>
            </a:r>
            <a:r>
              <a:rPr lang="en-US" dirty="0"/>
              <a:t> convey a message that information shown on these maps is </a:t>
            </a:r>
            <a:r>
              <a:rPr lang="en-US" b="1" u="sng" dirty="0">
                <a:solidFill>
                  <a:srgbClr val="FF0000"/>
                </a:solidFill>
              </a:rPr>
              <a:t>unchanged</a:t>
            </a:r>
          </a:p>
          <a:p>
            <a:pPr>
              <a:lnSpc>
                <a:spcPct val="100000"/>
              </a:lnSpc>
              <a:spcAft>
                <a:spcPts val="600"/>
              </a:spcAft>
            </a:pPr>
            <a:r>
              <a:rPr lang="en-US" dirty="0"/>
              <a:t>Predicted inundation depths are usually shown in different colors</a:t>
            </a:r>
          </a:p>
          <a:p>
            <a:pPr>
              <a:lnSpc>
                <a:spcPct val="100000"/>
              </a:lnSpc>
              <a:spcAft>
                <a:spcPts val="600"/>
              </a:spcAft>
            </a:pPr>
            <a:r>
              <a:rPr lang="en-US" dirty="0"/>
              <a:t>Flood danger level shown as the inundation depth</a:t>
            </a:r>
          </a:p>
          <a:p>
            <a:pPr>
              <a:lnSpc>
                <a:spcPct val="100000"/>
              </a:lnSpc>
              <a:spcAft>
                <a:spcPts val="600"/>
              </a:spcAft>
            </a:pPr>
            <a:r>
              <a:rPr lang="en-US" dirty="0"/>
              <a:t>levee-break spots</a:t>
            </a:r>
          </a:p>
          <a:p>
            <a:pPr>
              <a:lnSpc>
                <a:spcPct val="100000"/>
              </a:lnSpc>
              <a:spcAft>
                <a:spcPts val="600"/>
              </a:spcAft>
            </a:pPr>
            <a:r>
              <a:rPr lang="en-US" dirty="0"/>
              <a:t>Safe refuge and safe evacuation route </a:t>
            </a:r>
          </a:p>
          <a:p>
            <a:pPr>
              <a:lnSpc>
                <a:spcPct val="100000"/>
              </a:lnSpc>
              <a:spcAft>
                <a:spcPts val="600"/>
              </a:spcAft>
            </a:pPr>
            <a:r>
              <a:rPr lang="en-US" dirty="0"/>
              <a:t>Non-colored areas on the hazard maps may be mistaken as non-inundation areas, whereas these are merely results from the flood simulation</a:t>
            </a:r>
          </a:p>
          <a:p>
            <a:pPr>
              <a:lnSpc>
                <a:spcPct val="100000"/>
              </a:lnSpc>
              <a:spcAft>
                <a:spcPts val="600"/>
              </a:spcAft>
            </a:pPr>
            <a:r>
              <a:rPr lang="en-US" dirty="0">
                <a:solidFill>
                  <a:srgbClr val="0000CC"/>
                </a:solidFill>
              </a:rPr>
              <a:t>In flash floods, how do you show the flow velocities on the map?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a:xfrm>
            <a:off x="2152650" y="152401"/>
            <a:ext cx="7886700" cy="1325563"/>
          </a:xfrm>
        </p:spPr>
        <p:txBody>
          <a:bodyPr>
            <a:normAutofit/>
          </a:bodyPr>
          <a:lstStyle/>
          <a:p>
            <a:r>
              <a:rPr lang="en-US" sz="4000" dirty="0"/>
              <a:t>Hazard Maps</a:t>
            </a:r>
          </a:p>
        </p:txBody>
      </p:sp>
      <p:sp>
        <p:nvSpPr>
          <p:cNvPr id="33794" name="Rectangle 3"/>
          <p:cNvSpPr>
            <a:spLocks noGrp="1"/>
          </p:cNvSpPr>
          <p:nvPr>
            <p:ph idx="1"/>
          </p:nvPr>
        </p:nvSpPr>
        <p:spPr>
          <a:xfrm>
            <a:off x="609600" y="1477964"/>
            <a:ext cx="10972800" cy="5151436"/>
          </a:xfrm>
        </p:spPr>
        <p:txBody>
          <a:bodyPr>
            <a:normAutofit/>
          </a:bodyPr>
          <a:lstStyle/>
          <a:p>
            <a:pPr>
              <a:lnSpc>
                <a:spcPct val="150000"/>
              </a:lnSpc>
              <a:spcBef>
                <a:spcPts val="1200"/>
              </a:spcBef>
              <a:spcAft>
                <a:spcPts val="600"/>
              </a:spcAft>
            </a:pPr>
            <a:r>
              <a:rPr lang="en-US" sz="2800" b="1" u="sng" dirty="0">
                <a:solidFill>
                  <a:srgbClr val="FF0000"/>
                </a:solidFill>
              </a:rPr>
              <a:t>Have no value</a:t>
            </a:r>
            <a:r>
              <a:rPr lang="en-US" sz="2800" dirty="0"/>
              <a:t> without any educational activities</a:t>
            </a:r>
          </a:p>
          <a:p>
            <a:pPr>
              <a:lnSpc>
                <a:spcPct val="150000"/>
              </a:lnSpc>
              <a:spcBef>
                <a:spcPts val="1200"/>
              </a:spcBef>
              <a:spcAft>
                <a:spcPts val="600"/>
              </a:spcAft>
            </a:pPr>
            <a:r>
              <a:rPr lang="en-US" sz="2800" dirty="0"/>
              <a:t>Local residents should be encouraged to actively participate in the development of Flood Hazard Maps</a:t>
            </a:r>
          </a:p>
        </p:txBody>
      </p:sp>
      <p:pic>
        <p:nvPicPr>
          <p:cNvPr id="33795" name="Picture 4"/>
          <p:cNvPicPr>
            <a:picLocks noChangeAspect="1" noChangeArrowheads="1"/>
          </p:cNvPicPr>
          <p:nvPr/>
        </p:nvPicPr>
        <p:blipFill>
          <a:blip r:embed="rId2"/>
          <a:srcRect l="46875" t="28999" r="6250" b="13000"/>
          <a:stretch>
            <a:fillRect/>
          </a:stretch>
        </p:blipFill>
        <p:spPr bwMode="auto">
          <a:xfrm>
            <a:off x="6324600" y="3836986"/>
            <a:ext cx="3886200" cy="300513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p:txBody>
          <a:bodyPr>
            <a:normAutofit/>
          </a:bodyPr>
          <a:lstStyle/>
          <a:p>
            <a:r>
              <a:rPr lang="en-US" sz="3600" dirty="0"/>
              <a:t>Interesting Fact!</a:t>
            </a:r>
          </a:p>
        </p:txBody>
      </p:sp>
      <p:sp>
        <p:nvSpPr>
          <p:cNvPr id="37890" name="Rectangle 3"/>
          <p:cNvSpPr>
            <a:spLocks noGrp="1"/>
          </p:cNvSpPr>
          <p:nvPr>
            <p:ph idx="1"/>
          </p:nvPr>
        </p:nvSpPr>
        <p:spPr>
          <a:xfrm>
            <a:off x="609600" y="1985962"/>
            <a:ext cx="10972800" cy="3805238"/>
          </a:xfrm>
        </p:spPr>
        <p:txBody>
          <a:bodyPr>
            <a:normAutofit/>
          </a:bodyPr>
          <a:lstStyle/>
          <a:p>
            <a:pPr marL="0" indent="0">
              <a:lnSpc>
                <a:spcPct val="150000"/>
              </a:lnSpc>
              <a:spcBef>
                <a:spcPts val="1200"/>
              </a:spcBef>
              <a:spcAft>
                <a:spcPts val="1200"/>
              </a:spcAft>
              <a:buNone/>
            </a:pPr>
            <a:r>
              <a:rPr lang="en-US" sz="3200" dirty="0"/>
              <a:t>A study done for FEMA by the Multi-Hazard Mitigation Council (MMC) of the National Institute for Building Sciences (NIBS) found that </a:t>
            </a:r>
            <a:r>
              <a:rPr lang="en-US" sz="3200" u="sng" dirty="0">
                <a:solidFill>
                  <a:srgbClr val="0000CC"/>
                </a:solidFill>
              </a:rPr>
              <a:t>for every $1 invested in mitigation, $4 would be saved in future losses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3378200"/>
            <a:ext cx="8229600" cy="2387600"/>
          </a:xfrm>
        </p:spPr>
        <p:txBody>
          <a:bodyPr>
            <a:normAutofit/>
          </a:bodyPr>
          <a:lstStyle/>
          <a:p>
            <a:pPr>
              <a:lnSpc>
                <a:spcPct val="150000"/>
              </a:lnSpc>
              <a:defRPr/>
            </a:pPr>
            <a:r>
              <a:rPr lang="en-US" sz="3600" b="1" spc="-75" dirty="0">
                <a:solidFill>
                  <a:srgbClr val="0000CC"/>
                </a:solidFill>
                <a:latin typeface="Comic Sans MS" panose="030F0702030302020204" pitchFamily="66" charset="0"/>
                <a:cs typeface="Arial" panose="020B0604020202020204" pitchFamily="34" charset="0"/>
              </a:rPr>
              <a:t>Preparedness</a:t>
            </a:r>
            <a:br>
              <a:rPr lang="en-US" sz="3600" b="1" spc="-75" dirty="0">
                <a:solidFill>
                  <a:srgbClr val="0000CC"/>
                </a:solidFill>
                <a:latin typeface="Comic Sans MS" panose="030F0702030302020204" pitchFamily="66" charset="0"/>
                <a:cs typeface="Arial" panose="020B0604020202020204" pitchFamily="34" charset="0"/>
              </a:rPr>
            </a:br>
            <a:r>
              <a:rPr lang="en-US" sz="3600" b="1" spc="-75" dirty="0">
                <a:solidFill>
                  <a:srgbClr val="0000CC"/>
                </a:solidFill>
                <a:latin typeface="Comic Sans MS" panose="030F0702030302020204" pitchFamily="66" charset="0"/>
                <a:cs typeface="Arial" panose="020B0604020202020204" pitchFamily="34" charset="0"/>
              </a:rPr>
              <a:t>Disaster Planning and Preparation</a:t>
            </a:r>
          </a:p>
        </p:txBody>
      </p:sp>
      <p:sp>
        <p:nvSpPr>
          <p:cNvPr id="39938" name="Subtitle 2"/>
          <p:cNvSpPr>
            <a:spLocks noGrp="1"/>
          </p:cNvSpPr>
          <p:nvPr>
            <p:ph type="subTitle" idx="1"/>
          </p:nvPr>
        </p:nvSpPr>
        <p:spPr>
          <a:xfrm>
            <a:off x="1524000" y="5791200"/>
            <a:ext cx="9144000" cy="1066800"/>
          </a:xfrm>
          <a:solidFill>
            <a:srgbClr val="0000CC"/>
          </a:solidFill>
        </p:spPr>
        <p:txBody>
          <a:bodyPr vert="horz" lIns="91440" tIns="0" rIns="91440" bIns="45720" rtlCol="0">
            <a:normAutofit/>
          </a:bodyPr>
          <a:lstStyle/>
          <a:p>
            <a:pPr marL="26988"/>
            <a:r>
              <a:rPr lang="en-US" sz="3200" b="1" i="1" dirty="0">
                <a:solidFill>
                  <a:schemeClr val="bg1"/>
                </a:solidFill>
              </a:rPr>
              <a:t>Better to be prepared a year early than a day late</a:t>
            </a:r>
          </a:p>
        </p:txBody>
      </p:sp>
      <p:pic>
        <p:nvPicPr>
          <p:cNvPr id="8194" name="Picture 2" descr="When It Comes To Emergency Preparation And Recovery Always Prep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2756" y="1016264"/>
            <a:ext cx="2643187" cy="264318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Go Back   Gallery For   Emergency Preparedness Clipar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0095" y="743480"/>
            <a:ext cx="2881912" cy="295407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Emergency Survival        Clipart Panda   Free Clipart Imag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4724" y="878538"/>
            <a:ext cx="2359025" cy="2512362"/>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p:cNvSpPr/>
          <p:nvPr/>
        </p:nvSpPr>
        <p:spPr>
          <a:xfrm>
            <a:off x="1524001" y="381000"/>
            <a:ext cx="9143999" cy="3505200"/>
          </a:xfrm>
          <a:prstGeom prst="roundRect">
            <a:avLst/>
          </a:prstGeom>
          <a:solidFill>
            <a:srgbClr val="5B9BD5">
              <a:alpha val="18824"/>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342900"/>
            <a:ext cx="8229600" cy="990600"/>
          </a:xfrm>
        </p:spPr>
        <p:txBody>
          <a:bodyPr anchor="ctr">
            <a:normAutofit/>
          </a:bodyPr>
          <a:lstStyle/>
          <a:p>
            <a:pPr algn="ctr">
              <a:defRPr/>
            </a:pPr>
            <a:r>
              <a:rPr lang="en-US" sz="3600" b="1" spc="-75" dirty="0">
                <a:solidFill>
                  <a:srgbClr val="0000CC"/>
                </a:solidFill>
                <a:latin typeface="Comic Sans MS" panose="030F0702030302020204" pitchFamily="66" charset="0"/>
                <a:cs typeface="Arial" panose="020B0604020202020204" pitchFamily="34" charset="0"/>
              </a:rPr>
              <a:t>Disaster Preparedness</a:t>
            </a:r>
          </a:p>
        </p:txBody>
      </p:sp>
      <p:sp>
        <p:nvSpPr>
          <p:cNvPr id="41986" name="Content Placeholder 2"/>
          <p:cNvSpPr>
            <a:spLocks noGrp="1"/>
          </p:cNvSpPr>
          <p:nvPr>
            <p:ph idx="4294967295"/>
          </p:nvPr>
        </p:nvSpPr>
        <p:spPr>
          <a:xfrm>
            <a:off x="762000" y="1828800"/>
            <a:ext cx="11125200" cy="4762500"/>
          </a:xfrm>
        </p:spPr>
        <p:txBody>
          <a:bodyPr>
            <a:normAutofit/>
          </a:bodyPr>
          <a:lstStyle/>
          <a:p>
            <a:pPr marL="365125" indent="-282575">
              <a:lnSpc>
                <a:spcPct val="100000"/>
              </a:lnSpc>
              <a:spcBef>
                <a:spcPts val="1200"/>
              </a:spcBef>
              <a:spcAft>
                <a:spcPts val="1200"/>
              </a:spcAft>
            </a:pPr>
            <a:r>
              <a:rPr lang="en-US" sz="4000" dirty="0">
                <a:latin typeface="Comic Sans MS" panose="030F0702030302020204" pitchFamily="66" charset="0"/>
              </a:rPr>
              <a:t>A state of readiness to respond to a disaster.</a:t>
            </a:r>
          </a:p>
          <a:p>
            <a:pPr marL="365125" indent="-282575">
              <a:lnSpc>
                <a:spcPct val="100000"/>
              </a:lnSpc>
              <a:spcBef>
                <a:spcPts val="1200"/>
              </a:spcBef>
              <a:spcAft>
                <a:spcPts val="1200"/>
              </a:spcAft>
            </a:pPr>
            <a:r>
              <a:rPr lang="en-US" sz="4000" dirty="0">
                <a:latin typeface="Comic Sans MS" panose="030F0702030302020204" pitchFamily="66" charset="0"/>
              </a:rPr>
              <a:t>Protective process to respond rapidly to a disaster to cope with it.</a:t>
            </a:r>
          </a:p>
          <a:p>
            <a:pPr marL="365125" indent="-282575">
              <a:lnSpc>
                <a:spcPct val="100000"/>
              </a:lnSpc>
              <a:spcBef>
                <a:spcPts val="1200"/>
              </a:spcBef>
              <a:spcAft>
                <a:spcPts val="1200"/>
              </a:spcAft>
            </a:pPr>
            <a:endParaRPr lang="en-US" sz="4000" dirty="0">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p:cNvSpPr>
          <p:nvPr>
            <p:ph idx="4294967295"/>
          </p:nvPr>
        </p:nvSpPr>
        <p:spPr>
          <a:xfrm>
            <a:off x="609600" y="685800"/>
            <a:ext cx="11125200" cy="6057900"/>
          </a:xfrm>
        </p:spPr>
        <p:txBody>
          <a:bodyPr>
            <a:normAutofit/>
          </a:bodyPr>
          <a:lstStyle/>
          <a:p>
            <a:pPr marL="365125" indent="-282575">
              <a:lnSpc>
                <a:spcPct val="150000"/>
              </a:lnSpc>
              <a:spcBef>
                <a:spcPts val="1200"/>
              </a:spcBef>
              <a:spcAft>
                <a:spcPts val="600"/>
              </a:spcAft>
            </a:pPr>
            <a:r>
              <a:rPr lang="en-US" sz="3600" dirty="0">
                <a:latin typeface="Comic Sans MS" panose="030F0702030302020204" pitchFamily="66" charset="0"/>
              </a:rPr>
              <a:t>The </a:t>
            </a:r>
            <a:r>
              <a:rPr lang="en-US" sz="3600" u="sng" dirty="0">
                <a:latin typeface="Comic Sans MS" panose="030F0702030302020204" pitchFamily="66" charset="0"/>
              </a:rPr>
              <a:t>capacity</a:t>
            </a:r>
            <a:r>
              <a:rPr lang="en-US" sz="3600" dirty="0">
                <a:latin typeface="Comic Sans MS" panose="030F0702030302020204" pitchFamily="66" charset="0"/>
              </a:rPr>
              <a:t> to </a:t>
            </a:r>
            <a:r>
              <a:rPr lang="en-US" sz="3600" u="sng" dirty="0">
                <a:latin typeface="Comic Sans MS" panose="030F0702030302020204" pitchFamily="66" charset="0"/>
              </a:rPr>
              <a:t>respond and recover </a:t>
            </a:r>
            <a:r>
              <a:rPr lang="en-US" sz="3600" dirty="0">
                <a:latin typeface="Comic Sans MS" panose="030F0702030302020204" pitchFamily="66" charset="0"/>
              </a:rPr>
              <a:t>from emergencies and disasters is only developed through </a:t>
            </a:r>
            <a:r>
              <a:rPr lang="en-US" sz="3600" u="sng" dirty="0">
                <a:solidFill>
                  <a:srgbClr val="7030A0"/>
                </a:solidFill>
                <a:latin typeface="Comic Sans MS" panose="030F0702030302020204" pitchFamily="66" charset="0"/>
              </a:rPr>
              <a:t>planning</a:t>
            </a:r>
            <a:r>
              <a:rPr lang="en-US" sz="3600" u="sng" dirty="0">
                <a:latin typeface="Comic Sans MS" panose="030F0702030302020204" pitchFamily="66" charset="0"/>
              </a:rPr>
              <a:t>, </a:t>
            </a:r>
            <a:r>
              <a:rPr lang="en-US" sz="3600" u="sng" dirty="0">
                <a:solidFill>
                  <a:srgbClr val="7030A0"/>
                </a:solidFill>
                <a:latin typeface="Comic Sans MS" panose="030F0702030302020204" pitchFamily="66" charset="0"/>
              </a:rPr>
              <a:t>training</a:t>
            </a:r>
            <a:r>
              <a:rPr lang="en-US" sz="3600" u="sng" dirty="0">
                <a:latin typeface="Comic Sans MS" panose="030F0702030302020204" pitchFamily="66" charset="0"/>
              </a:rPr>
              <a:t>, and </a:t>
            </a:r>
            <a:r>
              <a:rPr lang="en-US" sz="3600" u="sng" dirty="0">
                <a:solidFill>
                  <a:srgbClr val="7030A0"/>
                </a:solidFill>
                <a:latin typeface="Comic Sans MS" panose="030F0702030302020204" pitchFamily="66" charset="0"/>
              </a:rPr>
              <a:t>exercising</a:t>
            </a:r>
            <a:r>
              <a:rPr lang="en-US" sz="3600" u="sng" dirty="0">
                <a:latin typeface="Comic Sans MS" panose="030F0702030302020204" pitchFamily="66" charset="0"/>
              </a:rPr>
              <a:t> </a:t>
            </a:r>
            <a:r>
              <a:rPr lang="en-US" sz="3600" dirty="0">
                <a:latin typeface="Comic Sans MS" panose="030F0702030302020204" pitchFamily="66" charset="0"/>
              </a:rPr>
              <a:t>—the heart of preparedness.</a:t>
            </a:r>
          </a:p>
          <a:p>
            <a:pPr marL="882650" lvl="1" indent="-457200">
              <a:lnSpc>
                <a:spcPct val="150000"/>
              </a:lnSpc>
              <a:spcBef>
                <a:spcPts val="1200"/>
              </a:spcBef>
              <a:spcAft>
                <a:spcPts val="600"/>
              </a:spcAft>
              <a:buFont typeface="Wingdings" panose="05000000000000000000" pitchFamily="2" charset="2"/>
              <a:buChar char="ü"/>
            </a:pPr>
            <a:r>
              <a:rPr lang="en-US" sz="3300" dirty="0">
                <a:solidFill>
                  <a:srgbClr val="0000CC"/>
                </a:solidFill>
                <a:latin typeface="Comic Sans MS" panose="030F0702030302020204" pitchFamily="66" charset="0"/>
              </a:rPr>
              <a:t>assess the exposure to risk</a:t>
            </a:r>
          </a:p>
          <a:p>
            <a:pPr marL="882650" lvl="1" indent="-457200">
              <a:lnSpc>
                <a:spcPct val="150000"/>
              </a:lnSpc>
              <a:spcBef>
                <a:spcPts val="1200"/>
              </a:spcBef>
              <a:spcAft>
                <a:spcPts val="600"/>
              </a:spcAft>
              <a:buFont typeface="Wingdings" panose="05000000000000000000" pitchFamily="2" charset="2"/>
              <a:buChar char="ü"/>
            </a:pPr>
            <a:r>
              <a:rPr lang="en-US" sz="3300" dirty="0">
                <a:solidFill>
                  <a:srgbClr val="0000CC"/>
                </a:solidFill>
                <a:latin typeface="Comic Sans MS" panose="030F0702030302020204" pitchFamily="66" charset="0"/>
              </a:rPr>
              <a:t>measures to build capacity and/or surge capacity </a:t>
            </a:r>
          </a:p>
        </p:txBody>
      </p:sp>
    </p:spTree>
    <p:extLst>
      <p:ext uri="{BB962C8B-B14F-4D97-AF65-F5344CB8AC3E}">
        <p14:creationId xmlns:p14="http://schemas.microsoft.com/office/powerpoint/2010/main" val="1588200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a:xfrm>
            <a:off x="2133600" y="228600"/>
            <a:ext cx="7886700" cy="777874"/>
          </a:xfrm>
        </p:spPr>
        <p:txBody>
          <a:bodyPr>
            <a:normAutofit/>
          </a:bodyPr>
          <a:lstStyle/>
          <a:p>
            <a:r>
              <a:rPr lang="en-US" sz="3600" dirty="0"/>
              <a:t>Whose Responsibility?</a:t>
            </a:r>
          </a:p>
        </p:txBody>
      </p:sp>
      <p:sp>
        <p:nvSpPr>
          <p:cNvPr id="44034" name="Rectangle 3"/>
          <p:cNvSpPr>
            <a:spLocks noGrp="1"/>
          </p:cNvSpPr>
          <p:nvPr>
            <p:ph idx="1"/>
          </p:nvPr>
        </p:nvSpPr>
        <p:spPr>
          <a:xfrm>
            <a:off x="838200" y="1295400"/>
            <a:ext cx="10820400" cy="4648200"/>
          </a:xfrm>
        </p:spPr>
        <p:txBody>
          <a:bodyPr>
            <a:noAutofit/>
          </a:bodyPr>
          <a:lstStyle/>
          <a:p>
            <a:pPr algn="just">
              <a:lnSpc>
                <a:spcPct val="114000"/>
              </a:lnSpc>
              <a:spcBef>
                <a:spcPts val="1200"/>
              </a:spcBef>
              <a:spcAft>
                <a:spcPts val="1200"/>
              </a:spcAft>
            </a:pPr>
            <a:r>
              <a:rPr lang="en-US" sz="3600" dirty="0"/>
              <a:t>Expands beyond the boundaries of emergency management agencies.</a:t>
            </a:r>
          </a:p>
          <a:p>
            <a:pPr algn="just">
              <a:lnSpc>
                <a:spcPct val="114000"/>
              </a:lnSpc>
              <a:spcBef>
                <a:spcPts val="1200"/>
              </a:spcBef>
              <a:spcAft>
                <a:spcPts val="1200"/>
              </a:spcAft>
            </a:pPr>
            <a:r>
              <a:rPr lang="en-US" sz="3600" dirty="0"/>
              <a:t>Those susceptible to the consequences of disasters must ensure their preparedness.</a:t>
            </a:r>
          </a:p>
          <a:p>
            <a:pPr lvl="1" algn="just">
              <a:lnSpc>
                <a:spcPct val="114000"/>
              </a:lnSpc>
              <a:spcBef>
                <a:spcPts val="1200"/>
              </a:spcBef>
              <a:spcAft>
                <a:spcPts val="1200"/>
              </a:spcAft>
            </a:pPr>
            <a:r>
              <a:rPr lang="en-US" sz="2800" dirty="0">
                <a:solidFill>
                  <a:srgbClr val="0000CC"/>
                </a:solidFill>
              </a:rPr>
              <a:t>All organizations:  private, governmental, non-governmental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a:xfrm>
            <a:off x="2133600" y="228600"/>
            <a:ext cx="7886700" cy="777874"/>
          </a:xfrm>
        </p:spPr>
        <p:txBody>
          <a:bodyPr>
            <a:normAutofit/>
          </a:bodyPr>
          <a:lstStyle/>
          <a:p>
            <a:r>
              <a:rPr lang="en-US" sz="3600" dirty="0"/>
              <a:t>Scope?</a:t>
            </a:r>
          </a:p>
        </p:txBody>
      </p:sp>
      <p:sp>
        <p:nvSpPr>
          <p:cNvPr id="44034" name="Rectangle 3"/>
          <p:cNvSpPr>
            <a:spLocks noGrp="1"/>
          </p:cNvSpPr>
          <p:nvPr>
            <p:ph idx="1"/>
          </p:nvPr>
        </p:nvSpPr>
        <p:spPr>
          <a:xfrm>
            <a:off x="838200" y="1295400"/>
            <a:ext cx="10896600" cy="5029200"/>
          </a:xfrm>
        </p:spPr>
        <p:txBody>
          <a:bodyPr>
            <a:noAutofit/>
          </a:bodyPr>
          <a:lstStyle/>
          <a:p>
            <a:pPr marL="571500" indent="-571500" algn="just">
              <a:lnSpc>
                <a:spcPct val="100000"/>
              </a:lnSpc>
              <a:spcBef>
                <a:spcPts val="1200"/>
              </a:spcBef>
              <a:spcAft>
                <a:spcPts val="1200"/>
              </a:spcAft>
            </a:pPr>
            <a:r>
              <a:rPr lang="en-US" sz="3200" dirty="0"/>
              <a:t>Focus not only on the protection of citizens, property, and essential government services but also on ensuring the viability and sustainability of the community — including its </a:t>
            </a:r>
          </a:p>
          <a:p>
            <a:pPr marL="1028700" lvl="1" indent="-342900" algn="just">
              <a:lnSpc>
                <a:spcPct val="100000"/>
              </a:lnSpc>
              <a:spcBef>
                <a:spcPts val="1200"/>
              </a:spcBef>
              <a:spcAft>
                <a:spcPts val="1200"/>
              </a:spcAft>
            </a:pPr>
            <a:r>
              <a:rPr lang="en-US" sz="3200" dirty="0">
                <a:solidFill>
                  <a:srgbClr val="0000CC"/>
                </a:solidFill>
              </a:rPr>
              <a:t>businesses and markets, </a:t>
            </a:r>
          </a:p>
          <a:p>
            <a:pPr marL="1028700" lvl="1" indent="-342900" algn="just">
              <a:lnSpc>
                <a:spcPct val="100000"/>
              </a:lnSpc>
              <a:spcBef>
                <a:spcPts val="1200"/>
              </a:spcBef>
              <a:spcAft>
                <a:spcPts val="1200"/>
              </a:spcAft>
            </a:pPr>
            <a:r>
              <a:rPr lang="en-US" sz="3200" dirty="0">
                <a:solidFill>
                  <a:srgbClr val="0000CC"/>
                </a:solidFill>
              </a:rPr>
              <a:t>social services and character</a:t>
            </a:r>
          </a:p>
        </p:txBody>
      </p:sp>
    </p:spTree>
    <p:extLst>
      <p:ext uri="{BB962C8B-B14F-4D97-AF65-F5344CB8AC3E}">
        <p14:creationId xmlns:p14="http://schemas.microsoft.com/office/powerpoint/2010/main" val="2068759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idx="4294967295"/>
          </p:nvPr>
        </p:nvSpPr>
        <p:spPr>
          <a:xfrm>
            <a:off x="2129444" y="81742"/>
            <a:ext cx="8229600" cy="680258"/>
          </a:xfrm>
        </p:spPr>
        <p:txBody>
          <a:bodyPr vert="horz" lIns="0" tIns="45720" rIns="0" bIns="0" rtlCol="0" anchor="ctr">
            <a:normAutofit/>
          </a:bodyPr>
          <a:lstStyle/>
          <a:p>
            <a:pPr algn="ctr" eaLnBrk="1" hangingPunct="1"/>
            <a:r>
              <a:rPr lang="en-US" sz="3600" b="1" spc="-75">
                <a:solidFill>
                  <a:srgbClr val="0000CC"/>
                </a:solidFill>
                <a:latin typeface="Comic Sans MS" panose="030F0702030302020204" pitchFamily="66" charset="0"/>
                <a:cs typeface="Arial" panose="020B0604020202020204" pitchFamily="34" charset="0"/>
              </a:rPr>
              <a:t>Preparedness: Activities</a:t>
            </a:r>
            <a:endParaRPr lang="en-US" sz="3600" b="1" spc="-75" dirty="0">
              <a:solidFill>
                <a:srgbClr val="0000CC"/>
              </a:solidFill>
              <a:latin typeface="Comic Sans MS" panose="030F0702030302020204" pitchFamily="66" charset="0"/>
              <a:cs typeface="Arial" panose="020B0604020202020204" pitchFamily="34" charset="0"/>
            </a:endParaRPr>
          </a:p>
        </p:txBody>
      </p:sp>
      <p:sp>
        <p:nvSpPr>
          <p:cNvPr id="104450" name="Content Placeholder 2"/>
          <p:cNvSpPr>
            <a:spLocks noGrp="1"/>
          </p:cNvSpPr>
          <p:nvPr>
            <p:ph idx="4294967295"/>
          </p:nvPr>
        </p:nvSpPr>
        <p:spPr>
          <a:xfrm>
            <a:off x="838200" y="914400"/>
            <a:ext cx="10972800" cy="5796742"/>
          </a:xfrm>
        </p:spPr>
        <p:txBody>
          <a:bodyPr>
            <a:noAutofit/>
          </a:bodyPr>
          <a:lstStyle/>
          <a:p>
            <a:pPr>
              <a:lnSpc>
                <a:spcPct val="100000"/>
              </a:lnSpc>
              <a:spcBef>
                <a:spcPts val="1200"/>
              </a:spcBef>
              <a:spcAft>
                <a:spcPts val="600"/>
              </a:spcAft>
              <a:defRPr/>
            </a:pPr>
            <a:r>
              <a:rPr lang="en-US" sz="2400" dirty="0">
                <a:latin typeface="Comic Sans MS" panose="030F0702030302020204" pitchFamily="66" charset="0"/>
              </a:rPr>
              <a:t>Identify areas of potential hazards.</a:t>
            </a:r>
          </a:p>
          <a:p>
            <a:pPr>
              <a:lnSpc>
                <a:spcPct val="100000"/>
              </a:lnSpc>
              <a:spcBef>
                <a:spcPts val="1200"/>
              </a:spcBef>
              <a:spcAft>
                <a:spcPts val="600"/>
              </a:spcAft>
              <a:defRPr/>
            </a:pPr>
            <a:r>
              <a:rPr lang="en-US" sz="2400" dirty="0">
                <a:latin typeface="Comic Sans MS" panose="030F0702030302020204" pitchFamily="66" charset="0"/>
              </a:rPr>
              <a:t>Improve the abilities of agencies and individuals to respond to the consequences of a disaster event. </a:t>
            </a:r>
          </a:p>
          <a:p>
            <a:pPr>
              <a:lnSpc>
                <a:spcPct val="100000"/>
              </a:lnSpc>
              <a:spcBef>
                <a:spcPts val="1200"/>
              </a:spcBef>
              <a:spcAft>
                <a:spcPts val="600"/>
              </a:spcAft>
              <a:defRPr/>
            </a:pPr>
            <a:r>
              <a:rPr lang="en-US" sz="2400" dirty="0">
                <a:latin typeface="Comic Sans MS" panose="030F0702030302020204" pitchFamily="66" charset="0"/>
              </a:rPr>
              <a:t>Develop plans to enhance disaster response operations.</a:t>
            </a:r>
          </a:p>
          <a:p>
            <a:pPr marL="569913" lvl="1" indent="-276225">
              <a:lnSpc>
                <a:spcPct val="100000"/>
              </a:lnSpc>
              <a:spcBef>
                <a:spcPts val="1200"/>
              </a:spcBef>
              <a:spcAft>
                <a:spcPts val="600"/>
              </a:spcAft>
              <a:defRPr/>
            </a:pPr>
            <a:r>
              <a:rPr lang="en-US" sz="2200" dirty="0">
                <a:solidFill>
                  <a:srgbClr val="0000CC"/>
                </a:solidFill>
                <a:latin typeface="Comic Sans MS" panose="030F0702030302020204" pitchFamily="66" charset="0"/>
              </a:rPr>
              <a:t>methods for predicting the effectiveness of disaster response operations.</a:t>
            </a:r>
          </a:p>
          <a:p>
            <a:pPr lvl="1">
              <a:lnSpc>
                <a:spcPct val="100000"/>
              </a:lnSpc>
              <a:spcBef>
                <a:spcPts val="1200"/>
              </a:spcBef>
              <a:spcAft>
                <a:spcPts val="600"/>
              </a:spcAft>
              <a:defRPr/>
            </a:pPr>
            <a:r>
              <a:rPr lang="en-US" sz="2200" dirty="0">
                <a:solidFill>
                  <a:srgbClr val="0000CC"/>
                </a:solidFill>
                <a:latin typeface="Comic Sans MS" panose="030F0702030302020204" pitchFamily="66" charset="0"/>
              </a:rPr>
              <a:t>Emergency Plans</a:t>
            </a:r>
          </a:p>
          <a:p>
            <a:pPr lvl="2">
              <a:lnSpc>
                <a:spcPct val="100000"/>
              </a:lnSpc>
              <a:spcBef>
                <a:spcPts val="1200"/>
              </a:spcBef>
              <a:spcAft>
                <a:spcPts val="600"/>
              </a:spcAft>
              <a:defRPr/>
            </a:pPr>
            <a:r>
              <a:rPr lang="en-US" sz="2200" dirty="0">
                <a:solidFill>
                  <a:srgbClr val="0000CC"/>
                </a:solidFill>
                <a:latin typeface="Comic Sans MS" panose="030F0702030302020204" pitchFamily="66" charset="0"/>
              </a:rPr>
              <a:t>Pre disaster response</a:t>
            </a:r>
          </a:p>
          <a:p>
            <a:pPr lvl="2">
              <a:lnSpc>
                <a:spcPct val="100000"/>
              </a:lnSpc>
              <a:spcBef>
                <a:spcPts val="1200"/>
              </a:spcBef>
              <a:spcAft>
                <a:spcPts val="600"/>
              </a:spcAft>
              <a:defRPr/>
            </a:pPr>
            <a:r>
              <a:rPr lang="en-US" sz="2200" dirty="0">
                <a:solidFill>
                  <a:srgbClr val="0000CC"/>
                </a:solidFill>
                <a:latin typeface="Comic Sans MS" panose="030F0702030302020204" pitchFamily="66" charset="0"/>
              </a:rPr>
              <a:t>Post disaster recovery action</a:t>
            </a:r>
          </a:p>
          <a:p>
            <a:pPr marL="273050" lvl="1">
              <a:lnSpc>
                <a:spcPct val="100000"/>
              </a:lnSpc>
              <a:spcBef>
                <a:spcPts val="1200"/>
              </a:spcBef>
              <a:spcAft>
                <a:spcPts val="600"/>
              </a:spcAft>
              <a:buClr>
                <a:schemeClr val="accent1"/>
              </a:buClr>
              <a:defRPr/>
            </a:pPr>
            <a:r>
              <a:rPr lang="en-US" sz="2400" dirty="0">
                <a:latin typeface="Comic Sans MS" panose="030F0702030302020204" pitchFamily="66" charset="0"/>
              </a:rPr>
              <a:t>Installing early warning systems.</a:t>
            </a:r>
          </a:p>
          <a:p>
            <a:pPr marL="273050" lvl="1">
              <a:lnSpc>
                <a:spcPct val="100000"/>
              </a:lnSpc>
              <a:spcBef>
                <a:spcPts val="1200"/>
              </a:spcBef>
              <a:spcAft>
                <a:spcPts val="600"/>
              </a:spcAft>
              <a:buClr>
                <a:schemeClr val="accent1"/>
              </a:buClr>
              <a:defRPr/>
            </a:pPr>
            <a:r>
              <a:rPr lang="en-US" sz="2400" dirty="0">
                <a:latin typeface="Comic Sans MS" panose="030F0702030302020204" pitchFamily="66" charset="0"/>
              </a:rPr>
              <a:t>Training of personnel</a:t>
            </a:r>
          </a:p>
          <a:p>
            <a:pPr>
              <a:lnSpc>
                <a:spcPct val="100000"/>
              </a:lnSpc>
              <a:spcBef>
                <a:spcPts val="1200"/>
              </a:spcBef>
              <a:spcAft>
                <a:spcPts val="600"/>
              </a:spcAft>
              <a:defRPr/>
            </a:pPr>
            <a:endParaRPr lang="en-US" sz="2000" dirty="0">
              <a:latin typeface="Comic Sans MS" panose="030F0702030302020204" pitchFamily="66" charset="0"/>
            </a:endParaRPr>
          </a:p>
        </p:txBody>
      </p:sp>
      <p:pic>
        <p:nvPicPr>
          <p:cNvPr id="2" name="Picture 1">
            <a:extLst>
              <a:ext uri="{FF2B5EF4-FFF2-40B4-BE49-F238E27FC236}">
                <a16:creationId xmlns:a16="http://schemas.microsoft.com/office/drawing/2014/main" id="{1AE4944E-32EC-C2E9-44D8-4BBC240F2CE3}"/>
              </a:ext>
            </a:extLst>
          </p:cNvPr>
          <p:cNvPicPr>
            <a:picLocks noChangeAspect="1"/>
          </p:cNvPicPr>
          <p:nvPr/>
        </p:nvPicPr>
        <p:blipFill>
          <a:blip r:embed="rId3"/>
          <a:stretch>
            <a:fillRect/>
          </a:stretch>
        </p:blipFill>
        <p:spPr>
          <a:xfrm>
            <a:off x="7668788" y="3399730"/>
            <a:ext cx="4523212" cy="3057356"/>
          </a:xfrm>
          <a:prstGeom prst="rect">
            <a:avLst/>
          </a:prstGeom>
        </p:spPr>
      </p:pic>
      <p:sp>
        <p:nvSpPr>
          <p:cNvPr id="4" name="TextBox 3">
            <a:extLst>
              <a:ext uri="{FF2B5EF4-FFF2-40B4-BE49-F238E27FC236}">
                <a16:creationId xmlns:a16="http://schemas.microsoft.com/office/drawing/2014/main" id="{01DADF5C-761B-D7E4-44B0-5F4D55C9BD82}"/>
              </a:ext>
            </a:extLst>
          </p:cNvPr>
          <p:cNvSpPr txBox="1"/>
          <p:nvPr/>
        </p:nvSpPr>
        <p:spPr>
          <a:xfrm>
            <a:off x="8610600" y="6406926"/>
            <a:ext cx="2937856" cy="369332"/>
          </a:xfrm>
          <a:prstGeom prst="rect">
            <a:avLst/>
          </a:prstGeom>
          <a:noFill/>
        </p:spPr>
        <p:txBody>
          <a:bodyPr wrap="square">
            <a:spAutoFit/>
          </a:bodyPr>
          <a:lstStyle/>
          <a:p>
            <a:r>
              <a:rPr lang="en-US" dirty="0"/>
              <a:t>Preparedness Planning Cycle</a:t>
            </a:r>
            <a:endParaRPr lang="en-PK"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4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4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4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4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4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4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44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2152650" y="365127"/>
            <a:ext cx="7886700" cy="625474"/>
          </a:xfrm>
        </p:spPr>
        <p:txBody>
          <a:bodyPr/>
          <a:lstStyle/>
          <a:p>
            <a:r>
              <a:rPr lang="en-US" dirty="0"/>
              <a:t>Evacuation Planning</a:t>
            </a:r>
          </a:p>
        </p:txBody>
      </p:sp>
      <p:sp>
        <p:nvSpPr>
          <p:cNvPr id="47106" name="Rectangle 3"/>
          <p:cNvSpPr>
            <a:spLocks noGrp="1"/>
          </p:cNvSpPr>
          <p:nvPr>
            <p:ph idx="1"/>
          </p:nvPr>
        </p:nvSpPr>
        <p:spPr>
          <a:xfrm>
            <a:off x="838200" y="1219200"/>
            <a:ext cx="10515600" cy="4910138"/>
          </a:xfrm>
        </p:spPr>
        <p:txBody>
          <a:bodyPr/>
          <a:lstStyle/>
          <a:p>
            <a:r>
              <a:rPr lang="en-US" dirty="0"/>
              <a:t>How to evacuate citizens in the event of a major disaster in both warning and no warning situation?</a:t>
            </a:r>
          </a:p>
        </p:txBody>
      </p:sp>
      <p:pic>
        <p:nvPicPr>
          <p:cNvPr id="47107" name="Picture 4" descr="evacutn_route"/>
          <p:cNvPicPr>
            <a:picLocks noChangeAspect="1" noChangeArrowheads="1"/>
          </p:cNvPicPr>
          <p:nvPr/>
        </p:nvPicPr>
        <p:blipFill>
          <a:blip r:embed="rId2"/>
          <a:srcRect l="12714" t="4752" r="15625" b="16667"/>
          <a:stretch>
            <a:fillRect/>
          </a:stretch>
        </p:blipFill>
        <p:spPr bwMode="auto">
          <a:xfrm>
            <a:off x="3429000" y="2327275"/>
            <a:ext cx="5257800" cy="43243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4"/>
          <p:cNvPicPr>
            <a:picLocks noChangeAspect="1" noChangeArrowheads="1"/>
          </p:cNvPicPr>
          <p:nvPr/>
        </p:nvPicPr>
        <p:blipFill>
          <a:blip r:embed="rId3"/>
          <a:srcRect l="46153" b="18570"/>
          <a:stretch>
            <a:fillRect/>
          </a:stretch>
        </p:blipFill>
        <p:spPr bwMode="auto">
          <a:xfrm>
            <a:off x="2590800" y="152401"/>
            <a:ext cx="7391400" cy="5419725"/>
          </a:xfrm>
          <a:prstGeom prst="rect">
            <a:avLst/>
          </a:prstGeom>
          <a:noFill/>
          <a:ln w="9525">
            <a:noFill/>
            <a:miter lim="800000"/>
            <a:headEnd/>
            <a:tailEnd/>
          </a:ln>
        </p:spPr>
      </p:pic>
      <p:pic>
        <p:nvPicPr>
          <p:cNvPr id="29700" name="Picture 4"/>
          <p:cNvPicPr>
            <a:picLocks noChangeAspect="1" noChangeArrowheads="1"/>
          </p:cNvPicPr>
          <p:nvPr/>
        </p:nvPicPr>
        <p:blipFill>
          <a:blip r:embed="rId3"/>
          <a:srcRect l="1709" t="81430" b="3091"/>
          <a:stretch>
            <a:fillRect/>
          </a:stretch>
        </p:blipFill>
        <p:spPr bwMode="auto">
          <a:xfrm>
            <a:off x="1905000" y="5638800"/>
            <a:ext cx="8763000" cy="914400"/>
          </a:xfrm>
          <a:prstGeom prst="rect">
            <a:avLst/>
          </a:prstGeom>
          <a:noFill/>
          <a:ln w="9525">
            <a:noFill/>
            <a:miter lim="800000"/>
            <a:headEnd/>
            <a:tailEnd/>
          </a:ln>
        </p:spPr>
      </p:pic>
    </p:spTree>
    <p:extLst>
      <p:ext uri="{BB962C8B-B14F-4D97-AF65-F5344CB8AC3E}">
        <p14:creationId xmlns:p14="http://schemas.microsoft.com/office/powerpoint/2010/main" val="4074471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2266950" y="228600"/>
            <a:ext cx="7886700" cy="701674"/>
          </a:xfrm>
        </p:spPr>
        <p:txBody>
          <a:bodyPr/>
          <a:lstStyle/>
          <a:p>
            <a:r>
              <a:rPr lang="en-US" dirty="0"/>
              <a:t>Evacuation Planning</a:t>
            </a:r>
          </a:p>
        </p:txBody>
      </p:sp>
      <p:sp>
        <p:nvSpPr>
          <p:cNvPr id="48130" name="Rectangle 3"/>
          <p:cNvSpPr>
            <a:spLocks noGrp="1"/>
          </p:cNvSpPr>
          <p:nvPr>
            <p:ph idx="1"/>
          </p:nvPr>
        </p:nvSpPr>
        <p:spPr>
          <a:xfrm>
            <a:off x="762000" y="1143000"/>
            <a:ext cx="10820400" cy="5715000"/>
          </a:xfrm>
        </p:spPr>
        <p:txBody>
          <a:bodyPr>
            <a:normAutofit/>
          </a:bodyPr>
          <a:lstStyle/>
          <a:p>
            <a:pPr>
              <a:lnSpc>
                <a:spcPct val="100000"/>
              </a:lnSpc>
              <a:spcBef>
                <a:spcPts val="600"/>
              </a:spcBef>
              <a:spcAft>
                <a:spcPts val="600"/>
              </a:spcAft>
            </a:pPr>
            <a:r>
              <a:rPr lang="en-US" dirty="0"/>
              <a:t>Advanced planning for</a:t>
            </a:r>
          </a:p>
          <a:p>
            <a:pPr lvl="1">
              <a:lnSpc>
                <a:spcPct val="100000"/>
              </a:lnSpc>
              <a:spcBef>
                <a:spcPts val="600"/>
              </a:spcBef>
              <a:spcAft>
                <a:spcPts val="600"/>
              </a:spcAft>
            </a:pPr>
            <a:r>
              <a:rPr lang="en-US" sz="2400" dirty="0">
                <a:solidFill>
                  <a:srgbClr val="0000CC"/>
                </a:solidFill>
              </a:rPr>
              <a:t>Activation procedures,</a:t>
            </a:r>
          </a:p>
          <a:p>
            <a:pPr lvl="1">
              <a:lnSpc>
                <a:spcPct val="100000"/>
              </a:lnSpc>
              <a:spcBef>
                <a:spcPts val="600"/>
              </a:spcBef>
              <a:spcAft>
                <a:spcPts val="600"/>
              </a:spcAft>
            </a:pPr>
            <a:r>
              <a:rPr lang="en-US" sz="2400" dirty="0">
                <a:solidFill>
                  <a:srgbClr val="0000CC"/>
                </a:solidFill>
              </a:rPr>
              <a:t>Determination of adequate and effective routes, </a:t>
            </a:r>
          </a:p>
          <a:p>
            <a:pPr lvl="1">
              <a:lnSpc>
                <a:spcPct val="100000"/>
              </a:lnSpc>
              <a:spcBef>
                <a:spcPts val="600"/>
              </a:spcBef>
              <a:spcAft>
                <a:spcPts val="600"/>
              </a:spcAft>
            </a:pPr>
            <a:r>
              <a:rPr lang="en-US" sz="2400" dirty="0">
                <a:solidFill>
                  <a:srgbClr val="0000CC"/>
                </a:solidFill>
              </a:rPr>
              <a:t>Methods of transportation,</a:t>
            </a:r>
          </a:p>
          <a:p>
            <a:pPr lvl="1">
              <a:lnSpc>
                <a:spcPct val="100000"/>
              </a:lnSpc>
              <a:spcBef>
                <a:spcPts val="600"/>
              </a:spcBef>
              <a:spcAft>
                <a:spcPts val="600"/>
              </a:spcAft>
            </a:pPr>
            <a:r>
              <a:rPr lang="en-US" sz="2400" dirty="0">
                <a:solidFill>
                  <a:srgbClr val="0000CC"/>
                </a:solidFill>
              </a:rPr>
              <a:t>Destinations for those evacuated, </a:t>
            </a:r>
          </a:p>
          <a:p>
            <a:pPr lvl="1">
              <a:lnSpc>
                <a:spcPct val="100000"/>
              </a:lnSpc>
              <a:spcBef>
                <a:spcPts val="600"/>
              </a:spcBef>
              <a:spcAft>
                <a:spcPts val="600"/>
              </a:spcAft>
            </a:pPr>
            <a:r>
              <a:rPr lang="en-US" sz="2400" dirty="0">
                <a:solidFill>
                  <a:srgbClr val="0000CC"/>
                </a:solidFill>
              </a:rPr>
              <a:t>Security precautions for homes and belongings, </a:t>
            </a:r>
          </a:p>
          <a:p>
            <a:pPr lvl="1">
              <a:lnSpc>
                <a:spcPct val="100000"/>
              </a:lnSpc>
              <a:spcBef>
                <a:spcPts val="600"/>
              </a:spcBef>
              <a:spcAft>
                <a:spcPts val="600"/>
              </a:spcAft>
            </a:pPr>
            <a:r>
              <a:rPr lang="en-US" sz="2400" dirty="0">
                <a:solidFill>
                  <a:srgbClr val="0000CC"/>
                </a:solidFill>
              </a:rPr>
              <a:t>Adherence by citizens to evacuation orders, and</a:t>
            </a:r>
          </a:p>
          <a:p>
            <a:pPr lvl="1">
              <a:lnSpc>
                <a:spcPct val="100000"/>
              </a:lnSpc>
              <a:spcBef>
                <a:spcPts val="600"/>
              </a:spcBef>
              <a:spcAft>
                <a:spcPts val="600"/>
              </a:spcAft>
            </a:pPr>
            <a:r>
              <a:rPr lang="en-US" sz="2400" dirty="0">
                <a:solidFill>
                  <a:srgbClr val="0000CC"/>
                </a:solidFill>
              </a:rPr>
              <a:t> Facilitating the evacuation itself.</a:t>
            </a:r>
          </a:p>
          <a:p>
            <a:pPr>
              <a:lnSpc>
                <a:spcPct val="100000"/>
              </a:lnSpc>
              <a:spcBef>
                <a:spcPts val="600"/>
              </a:spcBef>
              <a:spcAft>
                <a:spcPts val="600"/>
              </a:spcAft>
            </a:pPr>
            <a:r>
              <a:rPr lang="en-US" dirty="0"/>
              <a:t>Full-scale test may give an accurate idea of how the plan will work in a real-life situation</a:t>
            </a:r>
            <a:endParaRPr lang="en-US" dirty="0">
              <a:solidFill>
                <a:srgbClr val="FF9900"/>
              </a:solidFill>
            </a:endParaRPr>
          </a:p>
          <a:p>
            <a:pPr>
              <a:lnSpc>
                <a:spcPct val="100000"/>
              </a:lnSpc>
              <a:spcBef>
                <a:spcPts val="600"/>
              </a:spcBef>
              <a:spcAft>
                <a:spcPts val="600"/>
              </a:spcAft>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57400" y="228600"/>
            <a:ext cx="8229600" cy="990600"/>
          </a:xfrm>
        </p:spPr>
        <p:txBody>
          <a:bodyPr anchor="ctr">
            <a:normAutofit/>
          </a:bodyPr>
          <a:lstStyle/>
          <a:p>
            <a:pPr algn="ctr">
              <a:defRPr/>
            </a:pPr>
            <a:r>
              <a:rPr lang="en-US" b="1" dirty="0">
                <a:solidFill>
                  <a:srgbClr val="0000CC"/>
                </a:solidFill>
                <a:latin typeface="Comic Sans MS" panose="030F0702030302020204" pitchFamily="66" charset="0"/>
              </a:rPr>
              <a:t>Elements of Preparedness</a:t>
            </a:r>
          </a:p>
        </p:txBody>
      </p:sp>
      <p:sp>
        <p:nvSpPr>
          <p:cNvPr id="60418" name="Content Placeholder 2"/>
          <p:cNvSpPr>
            <a:spLocks noGrp="1"/>
          </p:cNvSpPr>
          <p:nvPr>
            <p:ph idx="4294967295"/>
          </p:nvPr>
        </p:nvSpPr>
        <p:spPr>
          <a:xfrm>
            <a:off x="533400" y="1295400"/>
            <a:ext cx="11201399" cy="5214938"/>
          </a:xfrm>
        </p:spPr>
        <p:txBody>
          <a:bodyPr>
            <a:noAutofit/>
          </a:bodyPr>
          <a:lstStyle/>
          <a:p>
            <a:pPr marL="365125" indent="-282575">
              <a:lnSpc>
                <a:spcPct val="114000"/>
              </a:lnSpc>
            </a:pPr>
            <a:r>
              <a:rPr lang="en-US" sz="3600" dirty="0">
                <a:latin typeface="Comic Sans MS" panose="030F0702030302020204" pitchFamily="66" charset="0"/>
              </a:rPr>
              <a:t>National Level</a:t>
            </a:r>
          </a:p>
          <a:p>
            <a:pPr marL="639763" lvl="1" indent="-236538">
              <a:lnSpc>
                <a:spcPct val="114000"/>
              </a:lnSpc>
            </a:pPr>
            <a:r>
              <a:rPr lang="en-US" sz="3200" dirty="0">
                <a:solidFill>
                  <a:srgbClr val="7030A0"/>
                </a:solidFill>
                <a:latin typeface="Comic Sans MS" panose="030F0702030302020204" pitchFamily="66" charset="0"/>
              </a:rPr>
              <a:t>Examples:</a:t>
            </a:r>
            <a:r>
              <a:rPr lang="en-US" sz="3200" dirty="0">
                <a:solidFill>
                  <a:srgbClr val="0000CC"/>
                </a:solidFill>
                <a:latin typeface="Comic Sans MS" panose="030F0702030302020204" pitchFamily="66" charset="0"/>
              </a:rPr>
              <a:t> Policies, procedures, guidelines</a:t>
            </a:r>
          </a:p>
          <a:p>
            <a:pPr marL="365125" indent="-282575">
              <a:lnSpc>
                <a:spcPct val="114000"/>
              </a:lnSpc>
            </a:pPr>
            <a:r>
              <a:rPr lang="en-US" sz="3600" dirty="0">
                <a:latin typeface="Comic Sans MS" panose="030F0702030302020204" pitchFamily="66" charset="0"/>
              </a:rPr>
              <a:t>Local Level</a:t>
            </a:r>
          </a:p>
          <a:p>
            <a:pPr marL="639763" lvl="1" indent="-236538">
              <a:lnSpc>
                <a:spcPct val="114000"/>
              </a:lnSpc>
            </a:pPr>
            <a:r>
              <a:rPr lang="en-US" sz="3200" dirty="0">
                <a:solidFill>
                  <a:srgbClr val="7030A0"/>
                </a:solidFill>
                <a:latin typeface="Comic Sans MS" panose="030F0702030302020204" pitchFamily="66" charset="0"/>
              </a:rPr>
              <a:t>Examples: </a:t>
            </a:r>
            <a:r>
              <a:rPr lang="en-US" sz="3200" dirty="0">
                <a:solidFill>
                  <a:srgbClr val="0000CC"/>
                </a:solidFill>
                <a:latin typeface="Comic Sans MS" panose="030F0702030302020204" pitchFamily="66" charset="0"/>
              </a:rPr>
              <a:t>Plans, resources, authority</a:t>
            </a:r>
          </a:p>
          <a:p>
            <a:pPr marL="365125" indent="-282575">
              <a:lnSpc>
                <a:spcPct val="114000"/>
              </a:lnSpc>
            </a:pPr>
            <a:r>
              <a:rPr lang="en-US" sz="3600" dirty="0">
                <a:latin typeface="Comic Sans MS" panose="030F0702030302020204" pitchFamily="66" charset="0"/>
              </a:rPr>
              <a:t>Personal Level</a:t>
            </a:r>
          </a:p>
          <a:p>
            <a:pPr marL="639763" lvl="1" indent="-236538">
              <a:lnSpc>
                <a:spcPct val="114000"/>
              </a:lnSpc>
            </a:pPr>
            <a:r>
              <a:rPr lang="en-US" sz="3200" dirty="0">
                <a:solidFill>
                  <a:srgbClr val="7030A0"/>
                </a:solidFill>
                <a:latin typeface="Comic Sans MS" panose="030F0702030302020204" pitchFamily="66" charset="0"/>
              </a:rPr>
              <a:t>Examples: </a:t>
            </a:r>
            <a:r>
              <a:rPr lang="en-US" sz="3200" dirty="0">
                <a:solidFill>
                  <a:srgbClr val="0000CC"/>
                </a:solidFill>
                <a:latin typeface="Comic Sans MS" panose="030F0702030302020204" pitchFamily="66" charset="0"/>
              </a:rPr>
              <a:t>Knowledge, Skills, and Attitude</a:t>
            </a:r>
          </a:p>
          <a:p>
            <a:pPr marL="639763" lvl="1" indent="-236538">
              <a:lnSpc>
                <a:spcPct val="114000"/>
              </a:lnSpc>
            </a:pPr>
            <a:endParaRPr lang="en-US" sz="3600" dirty="0">
              <a:solidFill>
                <a:srgbClr val="FFCC66"/>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981200" y="152400"/>
            <a:ext cx="8229600" cy="762000"/>
          </a:xfrm>
        </p:spPr>
        <p:txBody>
          <a:bodyPr/>
          <a:lstStyle/>
          <a:p>
            <a:r>
              <a:rPr lang="en-US"/>
              <a:t>Mitigation vs. Preparedness</a:t>
            </a:r>
          </a:p>
        </p:txBody>
      </p:sp>
      <p:sp>
        <p:nvSpPr>
          <p:cNvPr id="61442" name="Rectangle 3"/>
          <p:cNvSpPr>
            <a:spLocks noGrp="1"/>
          </p:cNvSpPr>
          <p:nvPr>
            <p:ph idx="1"/>
          </p:nvPr>
        </p:nvSpPr>
        <p:spPr>
          <a:xfrm>
            <a:off x="685800" y="914400"/>
            <a:ext cx="10896600" cy="5638800"/>
          </a:xfrm>
        </p:spPr>
        <p:txBody>
          <a:bodyPr>
            <a:noAutofit/>
          </a:bodyPr>
          <a:lstStyle/>
          <a:p>
            <a:pPr algn="just">
              <a:lnSpc>
                <a:spcPct val="100000"/>
              </a:lnSpc>
              <a:spcBef>
                <a:spcPts val="600"/>
              </a:spcBef>
              <a:spcAft>
                <a:spcPts val="600"/>
              </a:spcAft>
            </a:pPr>
            <a:r>
              <a:rPr lang="en-US" sz="3600" i="1" dirty="0">
                <a:solidFill>
                  <a:srgbClr val="0000CC"/>
                </a:solidFill>
              </a:rPr>
              <a:t>Mitigation</a:t>
            </a:r>
            <a:r>
              <a:rPr lang="en-US" sz="3600" dirty="0"/>
              <a:t> attempts to eliminate hazard risk by reducing either the likelihood or the consequences of the risk associated with the particular hazard</a:t>
            </a:r>
          </a:p>
          <a:p>
            <a:pPr algn="just">
              <a:lnSpc>
                <a:spcPct val="100000"/>
              </a:lnSpc>
              <a:spcBef>
                <a:spcPts val="600"/>
              </a:spcBef>
              <a:spcAft>
                <a:spcPts val="600"/>
              </a:spcAft>
            </a:pPr>
            <a:r>
              <a:rPr lang="en-US" sz="3600" i="1" dirty="0">
                <a:solidFill>
                  <a:srgbClr val="0000CC"/>
                </a:solidFill>
              </a:rPr>
              <a:t>Preparedness</a:t>
            </a:r>
            <a:r>
              <a:rPr lang="en-US" sz="3600" dirty="0"/>
              <a:t>, on the other hand, seeks to improve the abilities of agencies and individuals to respond to the consequences of a disaster event </a:t>
            </a:r>
            <a:r>
              <a:rPr lang="en-US" sz="3600" i="1" u="sng" dirty="0">
                <a:solidFill>
                  <a:srgbClr val="AC4A8B"/>
                </a:solidFill>
              </a:rPr>
              <a:t>once the disaster event has occurred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981200" y="152400"/>
            <a:ext cx="8229600" cy="762000"/>
          </a:xfrm>
        </p:spPr>
        <p:txBody>
          <a:bodyPr/>
          <a:lstStyle/>
          <a:p>
            <a:r>
              <a:rPr lang="en-US"/>
              <a:t>Mitigation vs. Preparedness</a:t>
            </a:r>
          </a:p>
        </p:txBody>
      </p:sp>
      <p:sp>
        <p:nvSpPr>
          <p:cNvPr id="61442" name="Rectangle 3"/>
          <p:cNvSpPr>
            <a:spLocks noGrp="1"/>
          </p:cNvSpPr>
          <p:nvPr>
            <p:ph idx="1"/>
          </p:nvPr>
        </p:nvSpPr>
        <p:spPr>
          <a:xfrm>
            <a:off x="609600" y="1066800"/>
            <a:ext cx="10896600" cy="5410200"/>
          </a:xfrm>
        </p:spPr>
        <p:txBody>
          <a:bodyPr>
            <a:normAutofit/>
          </a:bodyPr>
          <a:lstStyle/>
          <a:p>
            <a:pPr algn="just">
              <a:lnSpc>
                <a:spcPct val="114000"/>
              </a:lnSpc>
              <a:spcBef>
                <a:spcPts val="1200"/>
              </a:spcBef>
              <a:spcAft>
                <a:spcPts val="1200"/>
              </a:spcAft>
            </a:pPr>
            <a:r>
              <a:rPr lang="en-US" sz="3600" dirty="0"/>
              <a:t>Preparedness assumes the </a:t>
            </a:r>
            <a:r>
              <a:rPr lang="en-US" sz="3600" dirty="0">
                <a:solidFill>
                  <a:srgbClr val="0000CC"/>
                </a:solidFill>
              </a:rPr>
              <a:t>occurrence of an event</a:t>
            </a:r>
            <a:r>
              <a:rPr lang="en-US" sz="3600" dirty="0"/>
              <a:t>, whereas mitigation attempts to </a:t>
            </a:r>
            <a:r>
              <a:rPr lang="en-US" sz="3600" dirty="0">
                <a:solidFill>
                  <a:srgbClr val="0000CC"/>
                </a:solidFill>
              </a:rPr>
              <a:t>prevent the event </a:t>
            </a:r>
            <a:r>
              <a:rPr lang="en-US" sz="3600" dirty="0"/>
              <a:t>altogether</a:t>
            </a:r>
          </a:p>
          <a:p>
            <a:pPr algn="just">
              <a:lnSpc>
                <a:spcPct val="114000"/>
              </a:lnSpc>
              <a:spcBef>
                <a:spcPts val="1200"/>
              </a:spcBef>
              <a:spcAft>
                <a:spcPts val="1200"/>
              </a:spcAft>
            </a:pPr>
            <a:r>
              <a:rPr lang="en-US" sz="3600" dirty="0"/>
              <a:t>Mitigation </a:t>
            </a:r>
            <a:r>
              <a:rPr lang="en-US" sz="3600" i="1" u="sng" dirty="0">
                <a:solidFill>
                  <a:srgbClr val="0000CC"/>
                </a:solidFill>
              </a:rPr>
              <a:t>focuses on activities taken prior to the instance of an emergency event </a:t>
            </a:r>
          </a:p>
          <a:p>
            <a:pPr algn="just">
              <a:lnSpc>
                <a:spcPct val="114000"/>
              </a:lnSpc>
              <a:spcBef>
                <a:spcPts val="1200"/>
              </a:spcBef>
              <a:spcAft>
                <a:spcPts val="1200"/>
              </a:spcAft>
            </a:pPr>
            <a:r>
              <a:rPr lang="en-US" sz="3600" dirty="0"/>
              <a:t>Preparedness: </a:t>
            </a:r>
            <a:r>
              <a:rPr lang="en-US" sz="3600" i="1" u="sng" dirty="0">
                <a:solidFill>
                  <a:srgbClr val="0000CC"/>
                </a:solidFill>
              </a:rPr>
              <a:t>look for the activities needed once a disaster has occurred</a:t>
            </a:r>
            <a:r>
              <a:rPr lang="en-US" sz="3600" dirty="0"/>
              <a:t>.</a:t>
            </a:r>
          </a:p>
          <a:p>
            <a:pPr algn="just">
              <a:lnSpc>
                <a:spcPct val="114000"/>
              </a:lnSpc>
              <a:spcBef>
                <a:spcPts val="1200"/>
              </a:spcBef>
              <a:spcAft>
                <a:spcPts val="1200"/>
              </a:spcAft>
            </a:pPr>
            <a:endParaRPr lang="en-US" sz="3600" dirty="0"/>
          </a:p>
        </p:txBody>
      </p:sp>
    </p:spTree>
    <p:extLst>
      <p:ext uri="{BB962C8B-B14F-4D97-AF65-F5344CB8AC3E}">
        <p14:creationId xmlns:p14="http://schemas.microsoft.com/office/powerpoint/2010/main" val="240782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410200" y="1905000"/>
            <a:ext cx="4788780" cy="4832314"/>
          </a:xfrm>
          <a:prstGeom prst="rect">
            <a:avLst/>
          </a:prstGeom>
        </p:spPr>
      </p:pic>
      <p:sp>
        <p:nvSpPr>
          <p:cNvPr id="7" name="Rounded Rectangle 6"/>
          <p:cNvSpPr/>
          <p:nvPr/>
        </p:nvSpPr>
        <p:spPr>
          <a:xfrm>
            <a:off x="6331696" y="1447800"/>
            <a:ext cx="2945789" cy="914400"/>
          </a:xfrm>
          <a:prstGeom prst="roundRect">
            <a:avLst/>
          </a:prstGeom>
          <a:solidFill>
            <a:srgbClr val="5B9BD5">
              <a:alpha val="1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isometricOffAxis1Top"/>
              <a:lightRig rig="threePt" dir="t"/>
            </a:scene3d>
          </a:bodyPr>
          <a:lstStyle/>
          <a:p>
            <a:pPr algn="ctr"/>
            <a:endParaRPr lang="en-US">
              <a:solidFill>
                <a:schemeClr val="tx1"/>
              </a:solidFill>
            </a:endParaRPr>
          </a:p>
        </p:txBody>
      </p:sp>
      <p:sp>
        <p:nvSpPr>
          <p:cNvPr id="4" name="Title 3"/>
          <p:cNvSpPr>
            <a:spLocks noGrp="1"/>
          </p:cNvSpPr>
          <p:nvPr>
            <p:ph type="title"/>
          </p:nvPr>
        </p:nvSpPr>
        <p:spPr>
          <a:xfrm>
            <a:off x="1869830" y="1341428"/>
            <a:ext cx="3921370" cy="3078172"/>
          </a:xfrm>
        </p:spPr>
        <p:txBody>
          <a:bodyPr>
            <a:prstTxWarp prst="textArchUpPour">
              <a:avLst/>
            </a:prstTxWarp>
            <a:normAutofit/>
            <a:scene3d>
              <a:camera prst="orthographicFront">
                <a:rot lat="0" lon="21299999" rev="0"/>
              </a:camera>
              <a:lightRig rig="threePt" dir="t"/>
            </a:scene3d>
          </a:bodyPr>
          <a:lstStyle/>
          <a:p>
            <a:r>
              <a:rPr lang="en-US" sz="4800" b="1" spc="-75" dirty="0">
                <a:solidFill>
                  <a:schemeClr val="accent1"/>
                </a:solidFill>
                <a:effectLst>
                  <a:reflection blurRad="6350" stA="60000" endA="900" endPos="60000" dist="60007" dir="5400000" sy="-100000" algn="bl" rotWithShape="0"/>
                </a:effectLst>
                <a:latin typeface="Comic Sans MS" panose="030F0702030302020204" pitchFamily="66" charset="0"/>
                <a:cs typeface="Arial" panose="020B0604020202020204" pitchFamily="34" charset="0"/>
              </a:rPr>
              <a:t>Response</a:t>
            </a:r>
          </a:p>
        </p:txBody>
      </p:sp>
      <p:sp>
        <p:nvSpPr>
          <p:cNvPr id="8" name="TextBox 7"/>
          <p:cNvSpPr txBox="1"/>
          <p:nvPr/>
        </p:nvSpPr>
        <p:spPr>
          <a:xfrm>
            <a:off x="2306516" y="2221771"/>
            <a:ext cx="3047999" cy="707886"/>
          </a:xfrm>
          <a:prstGeom prst="rect">
            <a:avLst/>
          </a:prstGeom>
          <a:noFill/>
        </p:spPr>
        <p:txBody>
          <a:bodyPr wrap="square" rtlCol="0">
            <a:spAutoFit/>
          </a:bodyPr>
          <a:lstStyle/>
          <a:p>
            <a:pPr algn="ctr"/>
            <a:r>
              <a:rPr lang="en-US" sz="4000" b="1" dirty="0">
                <a:solidFill>
                  <a:schemeClr val="accent1"/>
                </a:solidFill>
              </a:rPr>
              <a:t>RESPONSE</a:t>
            </a:r>
          </a:p>
        </p:txBody>
      </p:sp>
      <p:sp>
        <p:nvSpPr>
          <p:cNvPr id="9" name="TextBox 8"/>
          <p:cNvSpPr txBox="1"/>
          <p:nvPr/>
        </p:nvSpPr>
        <p:spPr>
          <a:xfrm>
            <a:off x="2859199" y="2846608"/>
            <a:ext cx="2016369" cy="523220"/>
          </a:xfrm>
          <a:prstGeom prst="rect">
            <a:avLst/>
          </a:prstGeom>
          <a:noFill/>
        </p:spPr>
        <p:txBody>
          <a:bodyPr wrap="square" rtlCol="0">
            <a:spAutoFit/>
          </a:bodyPr>
          <a:lstStyle/>
          <a:p>
            <a:pPr algn="ctr"/>
            <a:r>
              <a:rPr lang="en-US" sz="2800" b="1" dirty="0">
                <a:solidFill>
                  <a:schemeClr val="accent1"/>
                </a:solidFill>
                <a:effectLst>
                  <a:reflection blurRad="6350" stA="55000" endA="300" endPos="45500" dir="5400000" sy="-100000" algn="bl" rotWithShape="0"/>
                </a:effectLst>
              </a:rPr>
              <a:t>RESPONSE</a:t>
            </a:r>
          </a:p>
        </p:txBody>
      </p:sp>
      <p:sp>
        <p:nvSpPr>
          <p:cNvPr id="10" name="TextBox 9"/>
          <p:cNvSpPr txBox="1"/>
          <p:nvPr/>
        </p:nvSpPr>
        <p:spPr>
          <a:xfrm>
            <a:off x="2932467" y="3405613"/>
            <a:ext cx="2016369" cy="400110"/>
          </a:xfrm>
          <a:prstGeom prst="rect">
            <a:avLst/>
          </a:prstGeom>
          <a:noFill/>
        </p:spPr>
        <p:txBody>
          <a:bodyPr wrap="square" rtlCol="0">
            <a:spAutoFit/>
          </a:bodyPr>
          <a:lstStyle/>
          <a:p>
            <a:pPr algn="ctr"/>
            <a:r>
              <a:rPr lang="en-US" sz="2000" b="1" spc="50" dirty="0">
                <a:ln w="0"/>
                <a:solidFill>
                  <a:schemeClr val="bg2"/>
                </a:solidFill>
                <a:effectLst>
                  <a:innerShdw blurRad="63500" dist="50800" dir="13500000">
                    <a:srgbClr val="000000">
                      <a:alpha val="50000"/>
                    </a:srgbClr>
                  </a:innerShdw>
                </a:effectLst>
              </a:rPr>
              <a:t>RESPONSE</a:t>
            </a:r>
          </a:p>
        </p:txBody>
      </p:sp>
      <p:sp>
        <p:nvSpPr>
          <p:cNvPr id="11" name="TextBox 10"/>
          <p:cNvSpPr txBox="1"/>
          <p:nvPr/>
        </p:nvSpPr>
        <p:spPr>
          <a:xfrm>
            <a:off x="2932467" y="3108219"/>
            <a:ext cx="2016369" cy="461665"/>
          </a:xfrm>
          <a:prstGeom prst="rect">
            <a:avLst/>
          </a:prstGeom>
          <a:noFill/>
        </p:spPr>
        <p:txBody>
          <a:bodyPr wrap="square" rtlCol="0">
            <a:spAutoFit/>
          </a:bodyPr>
          <a:lstStyle/>
          <a:p>
            <a:pPr algn="ctr"/>
            <a:r>
              <a:rPr lang="en-US" sz="2400" b="1" dirty="0">
                <a:solidFill>
                  <a:schemeClr val="accent1"/>
                </a:solidFill>
                <a:effectLst>
                  <a:reflection blurRad="6350" stA="55000" endA="300" endPos="45500" dir="5400000" sy="-100000" algn="bl" rotWithShape="0"/>
                </a:effectLst>
              </a:rPr>
              <a:t>RESPONSE</a:t>
            </a:r>
          </a:p>
        </p:txBody>
      </p:sp>
      <p:sp>
        <p:nvSpPr>
          <p:cNvPr id="12" name="TextBox 11"/>
          <p:cNvSpPr txBox="1"/>
          <p:nvPr/>
        </p:nvSpPr>
        <p:spPr>
          <a:xfrm>
            <a:off x="2819401" y="2590800"/>
            <a:ext cx="2016369" cy="523220"/>
          </a:xfrm>
          <a:prstGeom prst="rect">
            <a:avLst/>
          </a:prstGeom>
          <a:noFill/>
        </p:spPr>
        <p:txBody>
          <a:bodyPr wrap="square" rtlCol="0">
            <a:spAutoFit/>
          </a:bodyPr>
          <a:lstStyle/>
          <a:p>
            <a:pPr algn="ctr"/>
            <a:r>
              <a:rPr lang="en-US" sz="2800" b="1" spc="50" dirty="0">
                <a:ln w="0"/>
                <a:solidFill>
                  <a:schemeClr val="bg2"/>
                </a:solidFill>
                <a:effectLst>
                  <a:innerShdw blurRad="63500" dist="50800" dir="13500000">
                    <a:srgbClr val="000000">
                      <a:alpha val="50000"/>
                    </a:srgbClr>
                  </a:innerShdw>
                </a:effectLst>
              </a:rPr>
              <a:t>RESPONSE</a:t>
            </a:r>
          </a:p>
        </p:txBody>
      </p:sp>
    </p:spTree>
    <p:extLst>
      <p:ext uri="{BB962C8B-B14F-4D97-AF65-F5344CB8AC3E}">
        <p14:creationId xmlns:p14="http://schemas.microsoft.com/office/powerpoint/2010/main" val="3523728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idx="4294967295"/>
          </p:nvPr>
        </p:nvSpPr>
        <p:spPr>
          <a:xfrm>
            <a:off x="2057400" y="228600"/>
            <a:ext cx="8229600" cy="990600"/>
          </a:xfrm>
        </p:spPr>
        <p:txBody>
          <a:bodyPr vert="horz" lIns="0" tIns="45720" rIns="0" bIns="0" rtlCol="0" anchor="ctr">
            <a:normAutofit/>
          </a:bodyPr>
          <a:lstStyle/>
          <a:p>
            <a:pPr algn="ctr" eaLnBrk="1" hangingPunct="1"/>
            <a:r>
              <a:rPr lang="en-US" sz="4000" b="1" spc="-75" dirty="0">
                <a:solidFill>
                  <a:srgbClr val="0000CC"/>
                </a:solidFill>
                <a:latin typeface="Comic Sans MS" panose="030F0702030302020204" pitchFamily="66" charset="0"/>
                <a:cs typeface="Arial" panose="020B0604020202020204" pitchFamily="34" charset="0"/>
              </a:rPr>
              <a:t>Response</a:t>
            </a:r>
          </a:p>
        </p:txBody>
      </p:sp>
      <p:sp>
        <p:nvSpPr>
          <p:cNvPr id="64514" name="Content Placeholder 2"/>
          <p:cNvSpPr>
            <a:spLocks noGrp="1"/>
          </p:cNvSpPr>
          <p:nvPr>
            <p:ph idx="4294967295"/>
          </p:nvPr>
        </p:nvSpPr>
        <p:spPr>
          <a:xfrm>
            <a:off x="533400" y="1447800"/>
            <a:ext cx="11125200" cy="4910138"/>
          </a:xfrm>
        </p:spPr>
        <p:txBody>
          <a:bodyPr>
            <a:normAutofit fontScale="92500" lnSpcReduction="10000"/>
          </a:bodyPr>
          <a:lstStyle/>
          <a:p>
            <a:pPr algn="just">
              <a:lnSpc>
                <a:spcPct val="114000"/>
              </a:lnSpc>
              <a:spcBef>
                <a:spcPts val="1200"/>
              </a:spcBef>
              <a:spcAft>
                <a:spcPts val="600"/>
              </a:spcAft>
            </a:pPr>
            <a:r>
              <a:rPr lang="en-US" sz="4000" dirty="0"/>
              <a:t>Pre- and post-disaster activities to provide  emergency assistance </a:t>
            </a:r>
          </a:p>
          <a:p>
            <a:pPr marL="639763" lvl="1" indent="-246063" algn="just">
              <a:lnSpc>
                <a:spcPct val="114000"/>
              </a:lnSpc>
              <a:spcBef>
                <a:spcPts val="1200"/>
              </a:spcBef>
              <a:spcAft>
                <a:spcPts val="600"/>
              </a:spcAft>
            </a:pPr>
            <a:r>
              <a:rPr lang="en-US" sz="3600" dirty="0">
                <a:solidFill>
                  <a:srgbClr val="0000CC"/>
                </a:solidFill>
              </a:rPr>
              <a:t>For casualties</a:t>
            </a:r>
          </a:p>
          <a:p>
            <a:pPr marL="639763" lvl="1" indent="-246063" algn="just">
              <a:lnSpc>
                <a:spcPct val="114000"/>
              </a:lnSpc>
              <a:spcBef>
                <a:spcPts val="1200"/>
              </a:spcBef>
              <a:spcAft>
                <a:spcPts val="600"/>
              </a:spcAft>
            </a:pPr>
            <a:r>
              <a:rPr lang="en-US" sz="3600" dirty="0">
                <a:solidFill>
                  <a:srgbClr val="0000CC"/>
                </a:solidFill>
              </a:rPr>
              <a:t>To reduce the probability of secondary damages</a:t>
            </a:r>
          </a:p>
          <a:p>
            <a:pPr marL="639763" lvl="1" indent="-246063" algn="just">
              <a:lnSpc>
                <a:spcPct val="114000"/>
              </a:lnSpc>
              <a:spcBef>
                <a:spcPts val="1200"/>
              </a:spcBef>
              <a:spcAft>
                <a:spcPts val="600"/>
              </a:spcAft>
            </a:pPr>
            <a:r>
              <a:rPr lang="en-US" sz="3600" dirty="0">
                <a:solidFill>
                  <a:srgbClr val="0000CC"/>
                </a:solidFill>
              </a:rPr>
              <a:t>To speed up recovery operations </a:t>
            </a:r>
          </a:p>
          <a:p>
            <a:pPr algn="just">
              <a:lnSpc>
                <a:spcPct val="114000"/>
              </a:lnSpc>
              <a:spcBef>
                <a:spcPts val="1200"/>
              </a:spcBef>
              <a:spcAft>
                <a:spcPts val="600"/>
              </a:spcAft>
            </a:pPr>
            <a:r>
              <a:rPr lang="en-US" sz="4000" dirty="0"/>
              <a:t>By the Local and Federal Government , Armed forces, and Volunteer humanitarian Groups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p:cNvSpPr>
            <a:spLocks noGrp="1"/>
          </p:cNvSpPr>
          <p:nvPr>
            <p:ph type="title"/>
          </p:nvPr>
        </p:nvSpPr>
        <p:spPr>
          <a:xfrm>
            <a:off x="2152650" y="304800"/>
            <a:ext cx="7886700" cy="854074"/>
          </a:xfrm>
        </p:spPr>
        <p:txBody>
          <a:bodyPr/>
          <a:lstStyle/>
          <a:p>
            <a:r>
              <a:rPr lang="en-US" dirty="0"/>
              <a:t>Emergency Operations and Relief Activities</a:t>
            </a:r>
          </a:p>
        </p:txBody>
      </p:sp>
      <p:sp>
        <p:nvSpPr>
          <p:cNvPr id="67586" name="Content Placeholder 2"/>
          <p:cNvSpPr>
            <a:spLocks noGrp="1"/>
          </p:cNvSpPr>
          <p:nvPr>
            <p:ph idx="1"/>
          </p:nvPr>
        </p:nvSpPr>
        <p:spPr>
          <a:xfrm>
            <a:off x="1066800" y="1447800"/>
            <a:ext cx="10058400" cy="5105400"/>
          </a:xfrm>
        </p:spPr>
        <p:txBody>
          <a:bodyPr>
            <a:normAutofit/>
          </a:bodyPr>
          <a:lstStyle/>
          <a:p>
            <a:pPr marL="581025" indent="-581025">
              <a:lnSpc>
                <a:spcPct val="114000"/>
              </a:lnSpc>
              <a:spcBef>
                <a:spcPts val="600"/>
              </a:spcBef>
              <a:spcAft>
                <a:spcPts val="600"/>
              </a:spcAft>
            </a:pPr>
            <a:r>
              <a:rPr lang="en-US" sz="3200" dirty="0"/>
              <a:t>Evacuation &amp; Temporary shelter</a:t>
            </a:r>
          </a:p>
          <a:p>
            <a:pPr marL="581025" indent="-581025">
              <a:lnSpc>
                <a:spcPct val="114000"/>
              </a:lnSpc>
              <a:spcBef>
                <a:spcPts val="600"/>
              </a:spcBef>
              <a:spcAft>
                <a:spcPts val="600"/>
              </a:spcAft>
            </a:pPr>
            <a:r>
              <a:rPr lang="en-US" sz="3200" dirty="0"/>
              <a:t>Search and rescue</a:t>
            </a:r>
          </a:p>
          <a:p>
            <a:pPr marL="581025" indent="-581025">
              <a:lnSpc>
                <a:spcPct val="114000"/>
              </a:lnSpc>
              <a:spcBef>
                <a:spcPts val="600"/>
              </a:spcBef>
              <a:spcAft>
                <a:spcPts val="600"/>
              </a:spcAft>
            </a:pPr>
            <a:r>
              <a:rPr lang="en-US" sz="3200" dirty="0"/>
              <a:t>Health care</a:t>
            </a:r>
          </a:p>
          <a:p>
            <a:pPr marL="581025" indent="-581025">
              <a:lnSpc>
                <a:spcPct val="114000"/>
              </a:lnSpc>
              <a:spcBef>
                <a:spcPts val="600"/>
              </a:spcBef>
              <a:spcAft>
                <a:spcPts val="600"/>
              </a:spcAft>
            </a:pPr>
            <a:r>
              <a:rPr lang="en-US" sz="3200" dirty="0"/>
              <a:t>Food and water distribution</a:t>
            </a:r>
          </a:p>
          <a:p>
            <a:pPr marL="581025" indent="-581025">
              <a:lnSpc>
                <a:spcPct val="114000"/>
              </a:lnSpc>
              <a:spcBef>
                <a:spcPts val="600"/>
              </a:spcBef>
              <a:spcAft>
                <a:spcPts val="600"/>
              </a:spcAft>
            </a:pPr>
            <a:r>
              <a:rPr lang="en-US" sz="3200" dirty="0"/>
              <a:t>Temporary sanitation</a:t>
            </a:r>
          </a:p>
          <a:p>
            <a:pPr marL="581025" indent="-581025">
              <a:lnSpc>
                <a:spcPct val="114000"/>
              </a:lnSpc>
              <a:spcBef>
                <a:spcPts val="600"/>
              </a:spcBef>
              <a:spcAft>
                <a:spcPts val="600"/>
              </a:spcAft>
            </a:pPr>
            <a:r>
              <a:rPr lang="en-US" sz="3200" dirty="0"/>
              <a:t>Restoration of access to transport</a:t>
            </a:r>
          </a:p>
          <a:p>
            <a:pPr marL="581025" indent="-581025">
              <a:lnSpc>
                <a:spcPct val="114000"/>
              </a:lnSpc>
              <a:spcBef>
                <a:spcPts val="600"/>
              </a:spcBef>
              <a:spcAft>
                <a:spcPts val="600"/>
              </a:spcAft>
            </a:pPr>
            <a:r>
              <a:rPr lang="en-US" sz="3200" dirty="0"/>
              <a:t>Preliminary damage assessment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38100"/>
            <a:ext cx="4305300" cy="777874"/>
          </a:xfrm>
          <a:solidFill>
            <a:schemeClr val="accent4">
              <a:lumMod val="75000"/>
            </a:schemeClr>
          </a:solidFill>
        </p:spPr>
        <p:txBody>
          <a:bodyPr>
            <a:normAutofit fontScale="90000"/>
          </a:bodyPr>
          <a:lstStyle/>
          <a:p>
            <a:pPr algn="l"/>
            <a:r>
              <a:rPr lang="en-US" dirty="0">
                <a:solidFill>
                  <a:schemeClr val="bg1"/>
                </a:solidFill>
              </a:rPr>
              <a:t>Class Activity/Homework</a:t>
            </a:r>
          </a:p>
        </p:txBody>
      </p:sp>
      <p:sp>
        <p:nvSpPr>
          <p:cNvPr id="3" name="Content Placeholder 2"/>
          <p:cNvSpPr>
            <a:spLocks noGrp="1"/>
          </p:cNvSpPr>
          <p:nvPr>
            <p:ph idx="1"/>
          </p:nvPr>
        </p:nvSpPr>
        <p:spPr>
          <a:xfrm>
            <a:off x="838200" y="990600"/>
            <a:ext cx="11049000" cy="5546726"/>
          </a:xfrm>
        </p:spPr>
        <p:txBody>
          <a:bodyPr>
            <a:normAutofit fontScale="85000" lnSpcReduction="20000"/>
          </a:bodyPr>
          <a:lstStyle/>
          <a:p>
            <a:pPr>
              <a:lnSpc>
                <a:spcPct val="124000"/>
              </a:lnSpc>
              <a:spcBef>
                <a:spcPts val="600"/>
              </a:spcBef>
              <a:spcAft>
                <a:spcPts val="600"/>
              </a:spcAft>
            </a:pPr>
            <a:r>
              <a:rPr lang="en-US" sz="2800" dirty="0"/>
              <a:t>Keep in mind the 3 phases of DRM covered so far that are mitigation, preparedness, and response </a:t>
            </a:r>
          </a:p>
          <a:p>
            <a:pPr>
              <a:lnSpc>
                <a:spcPct val="124000"/>
              </a:lnSpc>
              <a:spcBef>
                <a:spcPts val="600"/>
              </a:spcBef>
              <a:spcAft>
                <a:spcPts val="600"/>
              </a:spcAft>
            </a:pPr>
            <a:r>
              <a:rPr lang="en-US" sz="2800" dirty="0"/>
              <a:t>Now consider our university premises as your study area and </a:t>
            </a:r>
          </a:p>
          <a:p>
            <a:pPr marL="800100" lvl="1" indent="-457200">
              <a:lnSpc>
                <a:spcPct val="124000"/>
              </a:lnSpc>
              <a:spcBef>
                <a:spcPts val="600"/>
              </a:spcBef>
              <a:spcAft>
                <a:spcPts val="600"/>
              </a:spcAft>
              <a:buFont typeface="+mj-lt"/>
              <a:buAutoNum type="arabicPeriod"/>
            </a:pPr>
            <a:r>
              <a:rPr lang="en-US" sz="2800" dirty="0"/>
              <a:t>Do the hazard profiling of the study area</a:t>
            </a:r>
          </a:p>
          <a:p>
            <a:pPr marL="800100" lvl="1" indent="-457200">
              <a:lnSpc>
                <a:spcPct val="124000"/>
              </a:lnSpc>
              <a:spcBef>
                <a:spcPts val="600"/>
              </a:spcBef>
              <a:spcAft>
                <a:spcPts val="600"/>
              </a:spcAft>
              <a:buFont typeface="+mj-lt"/>
              <a:buAutoNum type="arabicPeriod"/>
            </a:pPr>
            <a:r>
              <a:rPr lang="en-US" sz="2800" dirty="0"/>
              <a:t>Select the hazard with the highest probability of occurrence and with the highest impact (not necessarily the same hazard qualifying both criteria) </a:t>
            </a:r>
          </a:p>
          <a:p>
            <a:pPr marL="800100" lvl="1" indent="-457200">
              <a:lnSpc>
                <a:spcPct val="124000"/>
              </a:lnSpc>
              <a:spcBef>
                <a:spcPts val="600"/>
              </a:spcBef>
              <a:spcAft>
                <a:spcPts val="600"/>
              </a:spcAft>
              <a:buFont typeface="+mj-lt"/>
              <a:buAutoNum type="arabicPeriod"/>
            </a:pPr>
            <a:r>
              <a:rPr lang="en-US" sz="2800" dirty="0"/>
              <a:t>Suggest at least </a:t>
            </a:r>
          </a:p>
          <a:p>
            <a:pPr lvl="2">
              <a:lnSpc>
                <a:spcPct val="124000"/>
              </a:lnSpc>
              <a:spcBef>
                <a:spcPts val="600"/>
              </a:spcBef>
              <a:spcAft>
                <a:spcPts val="600"/>
              </a:spcAft>
            </a:pPr>
            <a:r>
              <a:rPr lang="en-US" sz="2400" dirty="0">
                <a:solidFill>
                  <a:srgbClr val="0000CC"/>
                </a:solidFill>
              </a:rPr>
              <a:t>Three (03) mitigation approaches</a:t>
            </a:r>
          </a:p>
          <a:p>
            <a:pPr lvl="2">
              <a:lnSpc>
                <a:spcPct val="124000"/>
              </a:lnSpc>
              <a:spcBef>
                <a:spcPts val="600"/>
              </a:spcBef>
              <a:spcAft>
                <a:spcPts val="600"/>
              </a:spcAft>
            </a:pPr>
            <a:r>
              <a:rPr lang="en-US" sz="2400" dirty="0">
                <a:solidFill>
                  <a:srgbClr val="0000CC"/>
                </a:solidFill>
              </a:rPr>
              <a:t>Three (03) preparedness activities</a:t>
            </a:r>
          </a:p>
          <a:p>
            <a:pPr lvl="2">
              <a:lnSpc>
                <a:spcPct val="124000"/>
              </a:lnSpc>
              <a:spcBef>
                <a:spcPts val="600"/>
              </a:spcBef>
              <a:spcAft>
                <a:spcPts val="600"/>
              </a:spcAft>
            </a:pPr>
            <a:r>
              <a:rPr lang="en-US" sz="2400" dirty="0">
                <a:solidFill>
                  <a:srgbClr val="0000CC"/>
                </a:solidFill>
              </a:rPr>
              <a:t>Three (03) response measures</a:t>
            </a:r>
          </a:p>
          <a:p>
            <a:pPr>
              <a:lnSpc>
                <a:spcPct val="124000"/>
              </a:lnSpc>
              <a:spcBef>
                <a:spcPts val="600"/>
              </a:spcBef>
              <a:spcAft>
                <a:spcPts val="600"/>
              </a:spcAft>
            </a:pPr>
            <a:endParaRPr lang="en-US" dirty="0"/>
          </a:p>
          <a:p>
            <a:pPr>
              <a:lnSpc>
                <a:spcPct val="124000"/>
              </a:lnSpc>
              <a:spcBef>
                <a:spcPts val="600"/>
              </a:spcBef>
              <a:spcAft>
                <a:spcPts val="600"/>
              </a:spcAft>
            </a:pPr>
            <a:endParaRPr lang="en-US" dirty="0"/>
          </a:p>
        </p:txBody>
      </p:sp>
    </p:spTree>
    <p:extLst>
      <p:ext uri="{BB962C8B-B14F-4D97-AF65-F5344CB8AC3E}">
        <p14:creationId xmlns:p14="http://schemas.microsoft.com/office/powerpoint/2010/main" val="40714377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E86B-A411-A843-75EB-64D050F88F95}"/>
              </a:ext>
            </a:extLst>
          </p:cNvPr>
          <p:cNvSpPr>
            <a:spLocks noGrp="1"/>
          </p:cNvSpPr>
          <p:nvPr>
            <p:ph type="title"/>
          </p:nvPr>
        </p:nvSpPr>
        <p:spPr>
          <a:xfrm>
            <a:off x="838200" y="365127"/>
            <a:ext cx="10515600" cy="1325563"/>
          </a:xfrm>
        </p:spPr>
        <p:txBody>
          <a:bodyPr anchor="ctr">
            <a:normAutofit/>
          </a:bodyPr>
          <a:lstStyle/>
          <a:p>
            <a:r>
              <a:rPr lang="en-US"/>
              <a:t>DISASTER RECOVERY</a:t>
            </a:r>
            <a:r>
              <a:rPr lang="en-US" dirty="0"/>
              <a:t> </a:t>
            </a:r>
            <a:endParaRPr lang="en-PK" dirty="0"/>
          </a:p>
        </p:txBody>
      </p:sp>
      <p:pic>
        <p:nvPicPr>
          <p:cNvPr id="4" name="Picture 3" descr="Fumes from a powerplant chimney">
            <a:extLst>
              <a:ext uri="{FF2B5EF4-FFF2-40B4-BE49-F238E27FC236}">
                <a16:creationId xmlns:a16="http://schemas.microsoft.com/office/drawing/2014/main" id="{8CCF45BD-0483-99D5-EAD5-CA52A151CD10}"/>
              </a:ext>
            </a:extLst>
          </p:cNvPr>
          <p:cNvPicPr>
            <a:picLocks noChangeAspect="1"/>
          </p:cNvPicPr>
          <p:nvPr/>
        </p:nvPicPr>
        <p:blipFill rotWithShape="1">
          <a:blip r:embed="rId2"/>
          <a:srcRect t="28323" b="10373"/>
          <a:stretch/>
        </p:blipFill>
        <p:spPr>
          <a:xfrm>
            <a:off x="838200" y="1825625"/>
            <a:ext cx="10515600" cy="4351338"/>
          </a:xfrm>
          <a:prstGeom prst="rect">
            <a:avLst/>
          </a:prstGeom>
          <a:noFill/>
        </p:spPr>
      </p:pic>
    </p:spTree>
    <p:extLst>
      <p:ext uri="{BB962C8B-B14F-4D97-AF65-F5344CB8AC3E}">
        <p14:creationId xmlns:p14="http://schemas.microsoft.com/office/powerpoint/2010/main" val="1283908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UNISDR Terminologies</a:t>
            </a:r>
          </a:p>
        </p:txBody>
      </p:sp>
      <p:sp>
        <p:nvSpPr>
          <p:cNvPr id="3" name="Content Placeholder 2"/>
          <p:cNvSpPr>
            <a:spLocks noGrp="1"/>
          </p:cNvSpPr>
          <p:nvPr>
            <p:ph idx="1"/>
          </p:nvPr>
        </p:nvSpPr>
        <p:spPr>
          <a:xfrm>
            <a:off x="838200" y="1825624"/>
            <a:ext cx="10972800" cy="4803775"/>
          </a:xfrm>
        </p:spPr>
        <p:txBody>
          <a:bodyPr>
            <a:noAutofit/>
          </a:bodyPr>
          <a:lstStyle/>
          <a:p>
            <a:r>
              <a:rPr lang="en-US" sz="2800" b="1" dirty="0">
                <a:solidFill>
                  <a:srgbClr val="002060"/>
                </a:solidFill>
              </a:rPr>
              <a:t>Recovery</a:t>
            </a:r>
          </a:p>
          <a:p>
            <a:pPr marL="0" indent="0">
              <a:lnSpc>
                <a:spcPct val="100000"/>
              </a:lnSpc>
              <a:buNone/>
            </a:pPr>
            <a:r>
              <a:rPr lang="en-US" sz="2800" dirty="0"/>
              <a:t>The restoring or improving livelihoods and health, as well as economic, physical, social, cultural, and environmental assets, systems, and activities of a disaster-affected community or society, aligning with the principles of sustainable development and “</a:t>
            </a:r>
            <a:r>
              <a:rPr lang="en-US" sz="2800" u="sng" dirty="0"/>
              <a:t>build back better</a:t>
            </a:r>
            <a:r>
              <a:rPr lang="en-US" sz="2800" dirty="0"/>
              <a:t>,” to avoid or reduce future disaster risk.</a:t>
            </a:r>
          </a:p>
          <a:p>
            <a:endParaRPr lang="en-US" sz="2800" dirty="0"/>
          </a:p>
          <a:p>
            <a:r>
              <a:rPr lang="en-US" sz="2800" b="1" dirty="0">
                <a:solidFill>
                  <a:srgbClr val="002060"/>
                </a:solidFill>
              </a:rPr>
              <a:t>Rehabilitation</a:t>
            </a:r>
          </a:p>
          <a:p>
            <a:pPr marL="0" indent="0">
              <a:lnSpc>
                <a:spcPct val="100000"/>
              </a:lnSpc>
              <a:buNone/>
            </a:pPr>
            <a:r>
              <a:rPr lang="en-US" sz="2800" dirty="0"/>
              <a:t>The restoration of basic services and facilities for the functioning of a community or a society affected by a disaster.</a:t>
            </a:r>
          </a:p>
        </p:txBody>
      </p:sp>
    </p:spTree>
    <p:extLst>
      <p:ext uri="{BB962C8B-B14F-4D97-AF65-F5344CB8AC3E}">
        <p14:creationId xmlns:p14="http://schemas.microsoft.com/office/powerpoint/2010/main" val="2587730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52400"/>
            <a:ext cx="10515600" cy="1325563"/>
          </a:xfrm>
        </p:spPr>
        <p:txBody>
          <a:bodyPr>
            <a:normAutofit/>
          </a:bodyPr>
          <a:lstStyle/>
          <a:p>
            <a:r>
              <a:rPr lang="en-US" sz="4000" dirty="0"/>
              <a:t>Response vs. Recovery</a:t>
            </a:r>
          </a:p>
        </p:txBody>
      </p:sp>
      <p:sp>
        <p:nvSpPr>
          <p:cNvPr id="4" name="Content Placeholder 3"/>
          <p:cNvSpPr>
            <a:spLocks noGrp="1"/>
          </p:cNvSpPr>
          <p:nvPr>
            <p:ph idx="1"/>
          </p:nvPr>
        </p:nvSpPr>
        <p:spPr>
          <a:xfrm>
            <a:off x="685800" y="1690690"/>
            <a:ext cx="11049000" cy="4862511"/>
          </a:xfrm>
        </p:spPr>
        <p:txBody>
          <a:bodyPr>
            <a:normAutofit/>
          </a:bodyPr>
          <a:lstStyle/>
          <a:p>
            <a:pPr algn="just">
              <a:lnSpc>
                <a:spcPct val="114000"/>
              </a:lnSpc>
            </a:pPr>
            <a:r>
              <a:rPr lang="en-US" sz="2800" dirty="0"/>
              <a:t>There is usually an overlap of disaster response and recovery work.</a:t>
            </a:r>
          </a:p>
          <a:p>
            <a:pPr algn="just">
              <a:lnSpc>
                <a:spcPct val="114000"/>
              </a:lnSpc>
            </a:pPr>
            <a:r>
              <a:rPr lang="en-US" sz="2800" dirty="0"/>
              <a:t>Response is implemented during and in the immediate aftermath of a disaster to save lives and meet basic subsistence needs </a:t>
            </a:r>
            <a:r>
              <a:rPr lang="en-US" sz="2800" dirty="0">
                <a:solidFill>
                  <a:srgbClr val="C00000"/>
                </a:solidFill>
              </a:rPr>
              <a:t>(immediate and short-term needs).</a:t>
            </a:r>
          </a:p>
          <a:p>
            <a:pPr algn="just">
              <a:lnSpc>
                <a:spcPct val="114000"/>
              </a:lnSpc>
            </a:pPr>
            <a:r>
              <a:rPr lang="en-US" sz="2800" dirty="0"/>
              <a:t>The main objective of the recovery phase is </a:t>
            </a:r>
            <a:r>
              <a:rPr lang="en-US" sz="2800" u="sng" dirty="0"/>
              <a:t>restoring and improving </a:t>
            </a:r>
            <a:r>
              <a:rPr lang="en-US" sz="2800" dirty="0"/>
              <a:t>people’s former living conditions </a:t>
            </a:r>
            <a:r>
              <a:rPr lang="en-US" sz="2800" dirty="0">
                <a:solidFill>
                  <a:srgbClr val="C00000"/>
                </a:solidFill>
              </a:rPr>
              <a:t>(in longer terms).</a:t>
            </a:r>
          </a:p>
          <a:p>
            <a:pPr algn="just">
              <a:lnSpc>
                <a:spcPct val="114000"/>
              </a:lnSpc>
            </a:pPr>
            <a:r>
              <a:rPr lang="en-US" sz="2800" dirty="0"/>
              <a:t>Also provides a </a:t>
            </a:r>
            <a:r>
              <a:rPr lang="en-US" sz="2800" u="sng" dirty="0"/>
              <a:t>‘window of opportunity’</a:t>
            </a:r>
            <a:r>
              <a:rPr lang="en-US" sz="2800" dirty="0"/>
              <a:t>. </a:t>
            </a:r>
            <a:r>
              <a:rPr lang="en-US" sz="2800" dirty="0">
                <a:solidFill>
                  <a:srgbClr val="AC4A8B"/>
                </a:solidFill>
              </a:rPr>
              <a:t>How???</a:t>
            </a:r>
          </a:p>
          <a:p>
            <a:pPr algn="just">
              <a:lnSpc>
                <a:spcPct val="114000"/>
              </a:lnSpc>
            </a:pPr>
            <a:endParaRPr lang="en-US" sz="2800" dirty="0"/>
          </a:p>
        </p:txBody>
      </p:sp>
    </p:spTree>
    <p:extLst>
      <p:ext uri="{BB962C8B-B14F-4D97-AF65-F5344CB8AC3E}">
        <p14:creationId xmlns:p14="http://schemas.microsoft.com/office/powerpoint/2010/main" val="2184257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idx="4294967295"/>
          </p:nvPr>
        </p:nvSpPr>
        <p:spPr>
          <a:xfrm>
            <a:off x="2209800" y="26504"/>
            <a:ext cx="7886700" cy="1006474"/>
          </a:xfrm>
        </p:spPr>
        <p:txBody>
          <a:bodyPr vert="horz" lIns="0" tIns="45720" rIns="0" bIns="0" rtlCol="0" anchor="ctr">
            <a:normAutofit/>
          </a:bodyPr>
          <a:lstStyle/>
          <a:p>
            <a:pPr algn="ctr"/>
            <a:r>
              <a:rPr lang="en-US" sz="4000" b="1" spc="-75" dirty="0">
                <a:solidFill>
                  <a:srgbClr val="0000CC"/>
                </a:solidFill>
                <a:latin typeface="Comic Sans MS" panose="030F0702030302020204" pitchFamily="66" charset="0"/>
                <a:cs typeface="Arial" panose="020B0604020202020204" pitchFamily="34" charset="0"/>
              </a:rPr>
              <a:t>Recovery</a:t>
            </a:r>
          </a:p>
        </p:txBody>
      </p:sp>
      <p:sp>
        <p:nvSpPr>
          <p:cNvPr id="17410" name="Content Placeholder 2"/>
          <p:cNvSpPr>
            <a:spLocks noGrp="1"/>
          </p:cNvSpPr>
          <p:nvPr>
            <p:ph idx="4294967295"/>
          </p:nvPr>
        </p:nvSpPr>
        <p:spPr>
          <a:xfrm>
            <a:off x="533400" y="1143000"/>
            <a:ext cx="11430000" cy="5638800"/>
          </a:xfrm>
        </p:spPr>
        <p:txBody>
          <a:bodyPr>
            <a:noAutofit/>
          </a:bodyPr>
          <a:lstStyle/>
          <a:p>
            <a:pPr marL="0" indent="0" algn="ctr">
              <a:lnSpc>
                <a:spcPct val="100000"/>
              </a:lnSpc>
              <a:spcBef>
                <a:spcPts val="600"/>
              </a:spcBef>
              <a:spcAft>
                <a:spcPts val="1200"/>
              </a:spcAft>
              <a:buNone/>
            </a:pPr>
            <a:r>
              <a:rPr lang="en-US" sz="2800" b="1" dirty="0">
                <a:solidFill>
                  <a:schemeClr val="accent2">
                    <a:lumMod val="75000"/>
                  </a:schemeClr>
                </a:solidFill>
                <a:latin typeface="Comic Sans MS" panose="030F0702030302020204" pitchFamily="66" charset="0"/>
                <a:cs typeface="Arial" panose="020B0604020202020204" pitchFamily="34" charset="0"/>
              </a:rPr>
              <a:t>Rebuilding, reconstruction, and repair of the damages</a:t>
            </a:r>
            <a:endParaRPr lang="en-US" sz="2800" dirty="0">
              <a:latin typeface="Comic Sans MS" panose="030F0702030302020204" pitchFamily="66" charset="0"/>
              <a:cs typeface="Arial" panose="020B0604020202020204" pitchFamily="34" charset="0"/>
            </a:endParaRPr>
          </a:p>
          <a:p>
            <a:pPr algn="just">
              <a:lnSpc>
                <a:spcPct val="100000"/>
              </a:lnSpc>
              <a:spcBef>
                <a:spcPts val="600"/>
              </a:spcBef>
              <a:spcAft>
                <a:spcPts val="600"/>
              </a:spcAft>
            </a:pPr>
            <a:r>
              <a:rPr lang="en-US" sz="2900" dirty="0">
                <a:latin typeface="Comic Sans MS" panose="030F0702030302020204" pitchFamily="66" charset="0"/>
                <a:cs typeface="Arial" panose="020B0604020202020204" pitchFamily="34" charset="0"/>
              </a:rPr>
              <a:t>Function by which communities and individuals repair, reconstruct, or regain what has been lost as a result of a disaster.</a:t>
            </a:r>
          </a:p>
          <a:p>
            <a:pPr algn="just">
              <a:lnSpc>
                <a:spcPct val="100000"/>
              </a:lnSpc>
              <a:spcBef>
                <a:spcPts val="600"/>
              </a:spcBef>
              <a:spcAft>
                <a:spcPts val="600"/>
              </a:spcAft>
            </a:pPr>
            <a:r>
              <a:rPr lang="en-US" sz="2900" dirty="0">
                <a:latin typeface="Comic Sans MS" panose="030F0702030302020204" pitchFamily="66" charset="0"/>
                <a:cs typeface="Arial" panose="020B0604020202020204" pitchFamily="34" charset="0"/>
              </a:rPr>
              <a:t>Recovery measures should also </a:t>
            </a:r>
            <a:r>
              <a:rPr lang="en-US" sz="2900" b="1" u="sng" dirty="0">
                <a:latin typeface="Comic Sans MS" panose="030F0702030302020204" pitchFamily="66" charset="0"/>
                <a:cs typeface="Arial" panose="020B0604020202020204" pitchFamily="34" charset="0"/>
              </a:rPr>
              <a:t>reduce the risk in the future. </a:t>
            </a:r>
          </a:p>
          <a:p>
            <a:pPr algn="just">
              <a:lnSpc>
                <a:spcPct val="100000"/>
              </a:lnSpc>
              <a:spcBef>
                <a:spcPts val="600"/>
              </a:spcBef>
              <a:spcAft>
                <a:spcPts val="600"/>
              </a:spcAft>
            </a:pPr>
            <a:r>
              <a:rPr lang="en-US" sz="2900" dirty="0">
                <a:latin typeface="Comic Sans MS" panose="030F0702030302020204" pitchFamily="66" charset="0"/>
                <a:cs typeface="Arial" panose="020B0604020202020204" pitchFamily="34" charset="0"/>
              </a:rPr>
              <a:t>Requires special skills, equipment, resources, and personnel.</a:t>
            </a:r>
          </a:p>
          <a:p>
            <a:pPr algn="just">
              <a:lnSpc>
                <a:spcPct val="100000"/>
              </a:lnSpc>
              <a:spcBef>
                <a:spcPts val="600"/>
              </a:spcBef>
              <a:spcAft>
                <a:spcPts val="600"/>
              </a:spcAft>
            </a:pPr>
            <a:r>
              <a:rPr lang="en-US" sz="2900" dirty="0">
                <a:latin typeface="Comic Sans MS" panose="030F0702030302020204" pitchFamily="66" charset="0"/>
                <a:cs typeface="Arial" panose="020B0604020202020204" pitchFamily="34" charset="0"/>
              </a:rPr>
              <a:t> The recovery period follows the emergency phase of a disaster.</a:t>
            </a:r>
          </a:p>
        </p:txBody>
      </p:sp>
    </p:spTree>
    <p:extLst>
      <p:ext uri="{BB962C8B-B14F-4D97-AF65-F5344CB8AC3E}">
        <p14:creationId xmlns:p14="http://schemas.microsoft.com/office/powerpoint/2010/main" val="1675277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idx="4294967295"/>
          </p:nvPr>
        </p:nvSpPr>
        <p:spPr>
          <a:xfrm>
            <a:off x="762000" y="136526"/>
            <a:ext cx="7886700" cy="777874"/>
          </a:xfrm>
        </p:spPr>
        <p:txBody>
          <a:bodyPr vert="horz" lIns="0" tIns="45720" rIns="0" bIns="0" rtlCol="0" anchor="ctr">
            <a:normAutofit/>
          </a:bodyPr>
          <a:lstStyle/>
          <a:p>
            <a:pPr eaLnBrk="1" hangingPunct="1"/>
            <a:r>
              <a:rPr lang="en-US" sz="3000" b="1" spc="-75" dirty="0">
                <a:solidFill>
                  <a:srgbClr val="0000CC"/>
                </a:solidFill>
                <a:latin typeface="Comic Sans MS" panose="030F0702030302020204" pitchFamily="66" charset="0"/>
                <a:cs typeface="Arial" panose="020B0604020202020204" pitchFamily="34" charset="0"/>
              </a:rPr>
              <a:t>Recovery ---</a:t>
            </a:r>
            <a:r>
              <a:rPr lang="en-US" sz="3000" b="1" spc="-75" dirty="0" err="1">
                <a:solidFill>
                  <a:srgbClr val="0000CC"/>
                </a:solidFill>
                <a:latin typeface="Comic Sans MS" panose="030F0702030302020204" pitchFamily="66" charset="0"/>
                <a:cs typeface="Arial" panose="020B0604020202020204" pitchFamily="34" charset="0"/>
              </a:rPr>
              <a:t>conti</a:t>
            </a:r>
            <a:endParaRPr lang="en-US" sz="3000" b="1" spc="-75" dirty="0">
              <a:solidFill>
                <a:srgbClr val="0000CC"/>
              </a:solidFill>
              <a:latin typeface="Comic Sans MS" panose="030F0702030302020204" pitchFamily="66" charset="0"/>
              <a:cs typeface="Arial" panose="020B0604020202020204" pitchFamily="34" charset="0"/>
            </a:endParaRPr>
          </a:p>
        </p:txBody>
      </p:sp>
      <p:sp>
        <p:nvSpPr>
          <p:cNvPr id="19458" name="Content Placeholder 2"/>
          <p:cNvSpPr>
            <a:spLocks noGrp="1"/>
          </p:cNvSpPr>
          <p:nvPr>
            <p:ph idx="4294967295"/>
          </p:nvPr>
        </p:nvSpPr>
        <p:spPr>
          <a:xfrm>
            <a:off x="533400" y="914400"/>
            <a:ext cx="11201400" cy="5791200"/>
          </a:xfrm>
        </p:spPr>
        <p:txBody>
          <a:bodyPr>
            <a:noAutofit/>
          </a:bodyPr>
          <a:lstStyle/>
          <a:p>
            <a:pPr algn="just">
              <a:lnSpc>
                <a:spcPct val="114000"/>
              </a:lnSpc>
              <a:spcBef>
                <a:spcPts val="600"/>
              </a:spcBef>
              <a:spcAft>
                <a:spcPts val="600"/>
              </a:spcAft>
            </a:pPr>
            <a:r>
              <a:rPr lang="en-US" sz="3000" dirty="0">
                <a:latin typeface="Comic Sans MS" panose="030F0702030302020204" pitchFamily="66" charset="0"/>
                <a:cs typeface="Arial" panose="020B0604020202020204" pitchFamily="34" charset="0"/>
              </a:rPr>
              <a:t>Often begins in the initial hours and days following a disaster event and can continue </a:t>
            </a:r>
            <a:r>
              <a:rPr lang="en-US" sz="3000" u="sng" dirty="0">
                <a:latin typeface="Comic Sans MS" panose="030F0702030302020204" pitchFamily="66" charset="0"/>
                <a:cs typeface="Arial" panose="020B0604020202020204" pitchFamily="34" charset="0"/>
              </a:rPr>
              <a:t>for months or years</a:t>
            </a:r>
            <a:r>
              <a:rPr lang="en-US" sz="3000" dirty="0">
                <a:latin typeface="Comic Sans MS" panose="030F0702030302020204" pitchFamily="66" charset="0"/>
                <a:cs typeface="Arial" panose="020B0604020202020204" pitchFamily="34" charset="0"/>
              </a:rPr>
              <a:t>, depending on the severity of the event.</a:t>
            </a:r>
          </a:p>
          <a:p>
            <a:pPr algn="just">
              <a:lnSpc>
                <a:spcPct val="114000"/>
              </a:lnSpc>
              <a:spcBef>
                <a:spcPts val="600"/>
              </a:spcBef>
              <a:spcAft>
                <a:spcPts val="600"/>
              </a:spcAft>
            </a:pPr>
            <a:r>
              <a:rPr lang="en-US" sz="3000" dirty="0">
                <a:latin typeface="Comic Sans MS" panose="030F0702030302020204" pitchFamily="66" charset="0"/>
                <a:cs typeface="Arial" panose="020B0604020202020204" pitchFamily="34" charset="0"/>
              </a:rPr>
              <a:t>Recovery function has such long-lasting effects and usually high costs.</a:t>
            </a:r>
          </a:p>
          <a:p>
            <a:pPr algn="just">
              <a:lnSpc>
                <a:spcPct val="114000"/>
              </a:lnSpc>
              <a:spcBef>
                <a:spcPts val="600"/>
              </a:spcBef>
              <a:spcAft>
                <a:spcPts val="600"/>
              </a:spcAft>
            </a:pPr>
            <a:r>
              <a:rPr lang="en-US" sz="3000" dirty="0">
                <a:latin typeface="Comic Sans MS" panose="030F0702030302020204" pitchFamily="66" charset="0"/>
                <a:cs typeface="Arial" panose="020B0604020202020204" pitchFamily="34" charset="0"/>
              </a:rPr>
              <a:t>Participants include all levels of government, the military, the business community, political leadership, community activists, and individuals.</a:t>
            </a:r>
          </a:p>
          <a:p>
            <a:pPr algn="just">
              <a:lnSpc>
                <a:spcPct val="114000"/>
              </a:lnSpc>
              <a:spcBef>
                <a:spcPts val="600"/>
              </a:spcBef>
              <a:spcAft>
                <a:spcPts val="600"/>
              </a:spcAft>
            </a:pPr>
            <a:r>
              <a:rPr lang="en-US" sz="3000" dirty="0">
                <a:latin typeface="Comic Sans MS" panose="030F0702030302020204" pitchFamily="66" charset="0"/>
                <a:cs typeface="Arial" panose="020B0604020202020204" pitchFamily="34" charset="0"/>
              </a:rPr>
              <a:t>Unique to each community and depends on the extent of the damages and available resources to cope.</a:t>
            </a:r>
          </a:p>
        </p:txBody>
      </p:sp>
    </p:spTree>
    <p:extLst>
      <p:ext uri="{BB962C8B-B14F-4D97-AF65-F5344CB8AC3E}">
        <p14:creationId xmlns:p14="http://schemas.microsoft.com/office/powerpoint/2010/main" val="612055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1295400" y="685800"/>
            <a:ext cx="7886700" cy="473073"/>
          </a:xfrm>
        </p:spPr>
        <p:txBody>
          <a:bodyPr>
            <a:noAutofit/>
          </a:bodyPr>
          <a:lstStyle/>
          <a:p>
            <a:r>
              <a:rPr lang="en-US" sz="3600" dirty="0"/>
              <a:t>Actions and Activities</a:t>
            </a:r>
          </a:p>
        </p:txBody>
      </p:sp>
      <p:sp>
        <p:nvSpPr>
          <p:cNvPr id="22530" name="Content Placeholder 2"/>
          <p:cNvSpPr>
            <a:spLocks noGrp="1"/>
          </p:cNvSpPr>
          <p:nvPr>
            <p:ph sz="quarter" idx="1"/>
          </p:nvPr>
        </p:nvSpPr>
        <p:spPr>
          <a:xfrm>
            <a:off x="838200" y="1524000"/>
            <a:ext cx="10972800" cy="4800600"/>
          </a:xfrm>
        </p:spPr>
        <p:txBody>
          <a:bodyPr>
            <a:normAutofit/>
          </a:bodyPr>
          <a:lstStyle/>
          <a:p>
            <a:pPr algn="just">
              <a:lnSpc>
                <a:spcPct val="100000"/>
              </a:lnSpc>
              <a:spcAft>
                <a:spcPts val="600"/>
              </a:spcAft>
            </a:pPr>
            <a:r>
              <a:rPr lang="en-US" sz="3200" dirty="0"/>
              <a:t>Ongoing communication with the public.</a:t>
            </a:r>
          </a:p>
          <a:p>
            <a:pPr algn="just">
              <a:lnSpc>
                <a:spcPct val="100000"/>
              </a:lnSpc>
              <a:spcAft>
                <a:spcPts val="600"/>
              </a:spcAft>
            </a:pPr>
            <a:r>
              <a:rPr lang="en-US" sz="3200" dirty="0"/>
              <a:t>Provision of temporary houses or long-term shelter.</a:t>
            </a:r>
          </a:p>
          <a:p>
            <a:pPr algn="just">
              <a:lnSpc>
                <a:spcPct val="100000"/>
              </a:lnSpc>
              <a:spcAft>
                <a:spcPts val="600"/>
              </a:spcAft>
            </a:pPr>
            <a:r>
              <a:rPr lang="en-US" sz="3200" dirty="0"/>
              <a:t>Assessment of damages and needs.</a:t>
            </a:r>
          </a:p>
          <a:p>
            <a:pPr algn="just">
              <a:lnSpc>
                <a:spcPct val="100000"/>
              </a:lnSpc>
              <a:spcAft>
                <a:spcPts val="600"/>
              </a:spcAft>
            </a:pPr>
            <a:r>
              <a:rPr lang="en-US" sz="3200" dirty="0"/>
              <a:t>Inspection of damaged structures.</a:t>
            </a:r>
          </a:p>
          <a:p>
            <a:pPr algn="just">
              <a:lnSpc>
                <a:spcPct val="100000"/>
              </a:lnSpc>
              <a:spcAft>
                <a:spcPts val="600"/>
              </a:spcAft>
            </a:pPr>
            <a:r>
              <a:rPr lang="en-US" sz="3200" dirty="0"/>
              <a:t>Demolition of damaged structures.</a:t>
            </a:r>
          </a:p>
          <a:p>
            <a:pPr algn="just">
              <a:lnSpc>
                <a:spcPct val="100000"/>
              </a:lnSpc>
              <a:spcAft>
                <a:spcPts val="600"/>
              </a:spcAft>
            </a:pPr>
            <a:r>
              <a:rPr lang="en-US" sz="3200" dirty="0"/>
              <a:t>Clearance, removal, and disposal of debris.</a:t>
            </a:r>
          </a:p>
          <a:p>
            <a:pPr algn="just">
              <a:lnSpc>
                <a:spcPct val="100000"/>
              </a:lnSpc>
              <a:spcAft>
                <a:spcPts val="600"/>
              </a:spcAft>
            </a:pPr>
            <a:r>
              <a:rPr lang="en-US" sz="3200" dirty="0"/>
              <a:t>Repair of damaged structures.</a:t>
            </a:r>
          </a:p>
          <a:p>
            <a:pPr algn="just">
              <a:lnSpc>
                <a:spcPct val="100000"/>
              </a:lnSpc>
              <a:spcAft>
                <a:spcPts val="600"/>
              </a:spcAft>
            </a:pPr>
            <a:endParaRPr lang="en-US" sz="3200" dirty="0"/>
          </a:p>
        </p:txBody>
      </p:sp>
    </p:spTree>
    <p:extLst>
      <p:ext uri="{BB962C8B-B14F-4D97-AF65-F5344CB8AC3E}">
        <p14:creationId xmlns:p14="http://schemas.microsoft.com/office/powerpoint/2010/main" val="3873526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2103783" y="381000"/>
            <a:ext cx="7886700" cy="473073"/>
          </a:xfrm>
        </p:spPr>
        <p:txBody>
          <a:bodyPr>
            <a:noAutofit/>
          </a:bodyPr>
          <a:lstStyle/>
          <a:p>
            <a:r>
              <a:rPr lang="en-US" sz="3600" dirty="0"/>
              <a:t>Actions and Activities</a:t>
            </a:r>
          </a:p>
        </p:txBody>
      </p:sp>
      <p:sp>
        <p:nvSpPr>
          <p:cNvPr id="22530" name="Content Placeholder 2"/>
          <p:cNvSpPr>
            <a:spLocks noGrp="1"/>
          </p:cNvSpPr>
          <p:nvPr>
            <p:ph sz="quarter" idx="1"/>
          </p:nvPr>
        </p:nvSpPr>
        <p:spPr>
          <a:xfrm>
            <a:off x="914400" y="1447800"/>
            <a:ext cx="10744200" cy="4876800"/>
          </a:xfrm>
        </p:spPr>
        <p:txBody>
          <a:bodyPr>
            <a:normAutofit/>
          </a:bodyPr>
          <a:lstStyle/>
          <a:p>
            <a:pPr>
              <a:lnSpc>
                <a:spcPct val="100000"/>
              </a:lnSpc>
              <a:spcAft>
                <a:spcPts val="600"/>
              </a:spcAft>
            </a:pPr>
            <a:r>
              <a:rPr lang="en-US" sz="3200" dirty="0"/>
              <a:t>Rehabilitation of structures.</a:t>
            </a:r>
          </a:p>
          <a:p>
            <a:pPr>
              <a:lnSpc>
                <a:spcPct val="100000"/>
              </a:lnSpc>
              <a:spcAft>
                <a:spcPts val="600"/>
              </a:spcAft>
            </a:pPr>
            <a:r>
              <a:rPr lang="en-US" sz="3200" dirty="0"/>
              <a:t>New construction.</a:t>
            </a:r>
          </a:p>
          <a:p>
            <a:pPr>
              <a:lnSpc>
                <a:spcPct val="100000"/>
              </a:lnSpc>
              <a:spcAft>
                <a:spcPts val="600"/>
              </a:spcAft>
            </a:pPr>
            <a:r>
              <a:rPr lang="en-US" sz="3200" dirty="0"/>
              <a:t>Social rehabilitation programs.</a:t>
            </a:r>
          </a:p>
          <a:p>
            <a:pPr>
              <a:lnSpc>
                <a:spcPct val="100000"/>
              </a:lnSpc>
              <a:spcAft>
                <a:spcPts val="600"/>
              </a:spcAft>
            </a:pPr>
            <a:r>
              <a:rPr lang="en-US" sz="3200" dirty="0"/>
              <a:t>Creation of employment opportunities.</a:t>
            </a:r>
          </a:p>
          <a:p>
            <a:pPr>
              <a:lnSpc>
                <a:spcPct val="100000"/>
              </a:lnSpc>
              <a:spcAft>
                <a:spcPts val="600"/>
              </a:spcAft>
            </a:pPr>
            <a:r>
              <a:rPr lang="en-US" sz="3200" dirty="0"/>
              <a:t>Reimbursement for property losses.</a:t>
            </a:r>
          </a:p>
          <a:p>
            <a:pPr>
              <a:lnSpc>
                <a:spcPct val="100000"/>
              </a:lnSpc>
              <a:spcAft>
                <a:spcPts val="600"/>
              </a:spcAft>
            </a:pPr>
            <a:r>
              <a:rPr lang="en-US" sz="3200" dirty="0"/>
              <a:t>Rehabilitation of the injured.</a:t>
            </a:r>
          </a:p>
          <a:p>
            <a:pPr>
              <a:lnSpc>
                <a:spcPct val="100000"/>
              </a:lnSpc>
              <a:spcAft>
                <a:spcPts val="600"/>
              </a:spcAft>
            </a:pPr>
            <a:r>
              <a:rPr lang="en-US" sz="3200" dirty="0"/>
              <a:t>Reassessment of hazard risk.</a:t>
            </a:r>
          </a:p>
          <a:p>
            <a:pPr>
              <a:lnSpc>
                <a:spcPct val="100000"/>
              </a:lnSpc>
              <a:spcAft>
                <a:spcPts val="600"/>
              </a:spcAft>
            </a:pPr>
            <a:endParaRPr lang="en-US" sz="3200" dirty="0"/>
          </a:p>
        </p:txBody>
      </p:sp>
    </p:spTree>
    <p:extLst>
      <p:ext uri="{BB962C8B-B14F-4D97-AF65-F5344CB8AC3E}">
        <p14:creationId xmlns:p14="http://schemas.microsoft.com/office/powerpoint/2010/main" val="3616458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normAutofit/>
          </a:bodyPr>
          <a:lstStyle/>
          <a:p>
            <a:r>
              <a:rPr lang="en-US" sz="3600" dirty="0"/>
              <a:t>Pre-Disaster Recovery Actions</a:t>
            </a:r>
          </a:p>
        </p:txBody>
      </p:sp>
      <p:sp>
        <p:nvSpPr>
          <p:cNvPr id="24578" name="Content Placeholder 2"/>
          <p:cNvSpPr>
            <a:spLocks noGrp="1"/>
          </p:cNvSpPr>
          <p:nvPr>
            <p:ph sz="quarter" idx="1"/>
          </p:nvPr>
        </p:nvSpPr>
        <p:spPr>
          <a:xfrm>
            <a:off x="838200" y="2362200"/>
            <a:ext cx="10515600" cy="4100512"/>
          </a:xfrm>
        </p:spPr>
        <p:txBody>
          <a:bodyPr>
            <a:normAutofit/>
          </a:bodyPr>
          <a:lstStyle/>
          <a:p>
            <a:pPr>
              <a:lnSpc>
                <a:spcPct val="114000"/>
              </a:lnSpc>
              <a:spcBef>
                <a:spcPts val="600"/>
              </a:spcBef>
              <a:spcAft>
                <a:spcPts val="600"/>
              </a:spcAft>
            </a:pPr>
            <a:r>
              <a:rPr lang="en-US" sz="3200" dirty="0"/>
              <a:t>Hypothetical and focusing on broad goals rather than specific actions and procedures.</a:t>
            </a:r>
          </a:p>
          <a:p>
            <a:pPr>
              <a:lnSpc>
                <a:spcPct val="114000"/>
              </a:lnSpc>
              <a:spcBef>
                <a:spcPts val="600"/>
              </a:spcBef>
              <a:spcAft>
                <a:spcPts val="600"/>
              </a:spcAft>
            </a:pPr>
            <a:r>
              <a:rPr lang="en-US" sz="3200" dirty="0"/>
              <a:t>Sometimes referred to as “Pre-Event Planning for Post-Event Recovery (PEPPER).”</a:t>
            </a:r>
          </a:p>
          <a:p>
            <a:pPr>
              <a:lnSpc>
                <a:spcPct val="114000"/>
              </a:lnSpc>
              <a:spcBef>
                <a:spcPts val="600"/>
              </a:spcBef>
              <a:spcAft>
                <a:spcPts val="600"/>
              </a:spcAft>
            </a:pPr>
            <a:r>
              <a:rPr lang="en-US" sz="3200" dirty="0"/>
              <a:t>Can reduce the risk of haphazard rebuilding.</a:t>
            </a:r>
          </a:p>
        </p:txBody>
      </p:sp>
    </p:spTree>
    <p:extLst>
      <p:ext uri="{BB962C8B-B14F-4D97-AF65-F5344CB8AC3E}">
        <p14:creationId xmlns:p14="http://schemas.microsoft.com/office/powerpoint/2010/main" val="1415525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838200" y="0"/>
            <a:ext cx="10515600" cy="1325563"/>
          </a:xfrm>
        </p:spPr>
        <p:txBody>
          <a:bodyPr/>
          <a:lstStyle/>
          <a:p>
            <a:r>
              <a:rPr lang="en-US" dirty="0"/>
              <a:t>Pre-Disaster Recovery Actions</a:t>
            </a:r>
          </a:p>
        </p:txBody>
      </p:sp>
      <p:sp>
        <p:nvSpPr>
          <p:cNvPr id="3" name="Content Placeholder 2"/>
          <p:cNvSpPr>
            <a:spLocks noGrp="1"/>
          </p:cNvSpPr>
          <p:nvPr>
            <p:ph sz="quarter" idx="1"/>
          </p:nvPr>
        </p:nvSpPr>
        <p:spPr>
          <a:xfrm>
            <a:off x="685800" y="1325564"/>
            <a:ext cx="11125200" cy="5075236"/>
          </a:xfrm>
        </p:spPr>
        <p:txBody>
          <a:bodyPr>
            <a:noAutofit/>
          </a:bodyPr>
          <a:lstStyle/>
          <a:p>
            <a:pPr>
              <a:lnSpc>
                <a:spcPct val="100000"/>
              </a:lnSpc>
              <a:spcAft>
                <a:spcPts val="600"/>
              </a:spcAft>
              <a:buNone/>
              <a:defRPr/>
            </a:pPr>
            <a:r>
              <a:rPr lang="en-US" sz="3200" b="1" dirty="0">
                <a:solidFill>
                  <a:srgbClr val="0070C0"/>
                </a:solidFill>
              </a:rPr>
              <a:t>Examples:</a:t>
            </a:r>
          </a:p>
          <a:p>
            <a:pPr>
              <a:lnSpc>
                <a:spcPct val="100000"/>
              </a:lnSpc>
              <a:spcAft>
                <a:spcPts val="600"/>
              </a:spcAft>
              <a:defRPr/>
            </a:pPr>
            <a:r>
              <a:rPr lang="en-US" sz="3200" dirty="0"/>
              <a:t>Site selection for long-term temporary houses.</a:t>
            </a:r>
          </a:p>
          <a:p>
            <a:pPr>
              <a:lnSpc>
                <a:spcPct val="100000"/>
              </a:lnSpc>
              <a:spcAft>
                <a:spcPts val="600"/>
              </a:spcAft>
              <a:defRPr/>
            </a:pPr>
            <a:r>
              <a:rPr lang="en-US" sz="3200" dirty="0"/>
              <a:t>Site selection for temporary business activity.</a:t>
            </a:r>
          </a:p>
          <a:p>
            <a:pPr>
              <a:lnSpc>
                <a:spcPct val="100000"/>
              </a:lnSpc>
              <a:spcAft>
                <a:spcPts val="600"/>
              </a:spcAft>
              <a:defRPr/>
            </a:pPr>
            <a:r>
              <a:rPr lang="en-US" sz="3200" dirty="0"/>
              <a:t>Site selection for disposal of debris.</a:t>
            </a:r>
          </a:p>
          <a:p>
            <a:pPr>
              <a:lnSpc>
                <a:spcPct val="100000"/>
              </a:lnSpc>
              <a:spcAft>
                <a:spcPts val="600"/>
              </a:spcAft>
              <a:defRPr/>
            </a:pPr>
            <a:r>
              <a:rPr lang="en-US" sz="3200" dirty="0"/>
              <a:t>Emergency needs assessment.</a:t>
            </a:r>
          </a:p>
          <a:p>
            <a:pPr>
              <a:lnSpc>
                <a:spcPct val="100000"/>
              </a:lnSpc>
              <a:spcAft>
                <a:spcPts val="600"/>
              </a:spcAft>
              <a:defRPr/>
            </a:pPr>
            <a:r>
              <a:rPr lang="en-US" sz="3200" dirty="0"/>
              <a:t>Volunteers and donation management.</a:t>
            </a:r>
          </a:p>
          <a:p>
            <a:pPr>
              <a:lnSpc>
                <a:spcPct val="100000"/>
              </a:lnSpc>
              <a:spcAft>
                <a:spcPts val="600"/>
              </a:spcAft>
              <a:defRPr/>
            </a:pPr>
            <a:r>
              <a:rPr lang="en-US" sz="3200" dirty="0"/>
              <a:t>Mitigation measures and secondary hazard reduction measures.</a:t>
            </a:r>
          </a:p>
        </p:txBody>
      </p:sp>
    </p:spTree>
    <p:extLst>
      <p:ext uri="{BB962C8B-B14F-4D97-AF65-F5344CB8AC3E}">
        <p14:creationId xmlns:p14="http://schemas.microsoft.com/office/powerpoint/2010/main" val="1801023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2133600" y="228600"/>
            <a:ext cx="7886700" cy="701674"/>
          </a:xfrm>
        </p:spPr>
        <p:txBody>
          <a:bodyPr/>
          <a:lstStyle/>
          <a:p>
            <a:r>
              <a:rPr lang="en-US" dirty="0"/>
              <a:t>Short-Term Recovery </a:t>
            </a:r>
          </a:p>
        </p:txBody>
      </p:sp>
      <p:sp>
        <p:nvSpPr>
          <p:cNvPr id="30722" name="Rectangle 3"/>
          <p:cNvSpPr>
            <a:spLocks noGrp="1"/>
          </p:cNvSpPr>
          <p:nvPr>
            <p:ph type="body" idx="1"/>
          </p:nvPr>
        </p:nvSpPr>
        <p:spPr>
          <a:xfrm>
            <a:off x="914400" y="1295400"/>
            <a:ext cx="10820400" cy="5334000"/>
          </a:xfrm>
        </p:spPr>
        <p:txBody>
          <a:bodyPr>
            <a:noAutofit/>
          </a:bodyPr>
          <a:lstStyle/>
          <a:p>
            <a:pPr>
              <a:lnSpc>
                <a:spcPct val="114000"/>
              </a:lnSpc>
            </a:pPr>
            <a:r>
              <a:rPr lang="en-US" sz="2800" dirty="0"/>
              <a:t>Restores vital services and systems.</a:t>
            </a:r>
          </a:p>
          <a:p>
            <a:pPr>
              <a:lnSpc>
                <a:spcPct val="114000"/>
              </a:lnSpc>
            </a:pPr>
            <a:r>
              <a:rPr lang="en-US" sz="2800" dirty="0"/>
              <a:t>Immediate and overlaps with response.</a:t>
            </a:r>
          </a:p>
          <a:p>
            <a:pPr>
              <a:lnSpc>
                <a:spcPct val="114000"/>
              </a:lnSpc>
              <a:buFont typeface="Wingdings 3" pitchFamily="18" charset="2"/>
              <a:buNone/>
            </a:pPr>
            <a:r>
              <a:rPr lang="en-US" sz="2800" b="1" dirty="0">
                <a:solidFill>
                  <a:srgbClr val="0070C0"/>
                </a:solidFill>
              </a:rPr>
              <a:t>Actions</a:t>
            </a:r>
          </a:p>
          <a:p>
            <a:pPr>
              <a:lnSpc>
                <a:spcPct val="114000"/>
              </a:lnSpc>
            </a:pPr>
            <a:r>
              <a:rPr lang="en-US" sz="2800" dirty="0"/>
              <a:t>Restoring interrupted utility and other essential services (roads cleared).</a:t>
            </a:r>
          </a:p>
          <a:p>
            <a:pPr>
              <a:lnSpc>
                <a:spcPct val="114000"/>
              </a:lnSpc>
            </a:pPr>
            <a:r>
              <a:rPr lang="en-US" sz="2800" dirty="0"/>
              <a:t>Reestablishing transportation routes.</a:t>
            </a:r>
          </a:p>
          <a:p>
            <a:pPr>
              <a:lnSpc>
                <a:spcPct val="114000"/>
              </a:lnSpc>
            </a:pPr>
            <a:r>
              <a:rPr lang="en-US" sz="2800" dirty="0"/>
              <a:t>Providing food, shelter, and health care to those displaced by the incident.</a:t>
            </a:r>
          </a:p>
        </p:txBody>
      </p:sp>
    </p:spTree>
    <p:extLst>
      <p:ext uri="{BB962C8B-B14F-4D97-AF65-F5344CB8AC3E}">
        <p14:creationId xmlns:p14="http://schemas.microsoft.com/office/powerpoint/2010/main" val="3951635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a:xfrm>
            <a:off x="2190750" y="228600"/>
            <a:ext cx="7886700" cy="625474"/>
          </a:xfrm>
        </p:spPr>
        <p:txBody>
          <a:bodyPr>
            <a:normAutofit/>
          </a:bodyPr>
          <a:lstStyle/>
          <a:p>
            <a:r>
              <a:rPr lang="en-US" sz="3600" dirty="0"/>
              <a:t>Long-Term Recovery </a:t>
            </a:r>
          </a:p>
        </p:txBody>
      </p:sp>
      <p:sp>
        <p:nvSpPr>
          <p:cNvPr id="34818" name="Rectangle 3"/>
          <p:cNvSpPr>
            <a:spLocks noGrp="1"/>
          </p:cNvSpPr>
          <p:nvPr>
            <p:ph type="body" idx="1"/>
          </p:nvPr>
        </p:nvSpPr>
        <p:spPr>
          <a:xfrm>
            <a:off x="381000" y="1066800"/>
            <a:ext cx="11582400" cy="5486400"/>
          </a:xfrm>
        </p:spPr>
        <p:txBody>
          <a:bodyPr>
            <a:noAutofit/>
          </a:bodyPr>
          <a:lstStyle/>
          <a:p>
            <a:pPr>
              <a:lnSpc>
                <a:spcPct val="110000"/>
              </a:lnSpc>
              <a:spcBef>
                <a:spcPts val="300"/>
              </a:spcBef>
              <a:spcAft>
                <a:spcPts val="300"/>
              </a:spcAft>
            </a:pPr>
            <a:r>
              <a:rPr lang="en-US" sz="2800" dirty="0"/>
              <a:t>Restores all services to normal or better conditions.</a:t>
            </a:r>
          </a:p>
          <a:p>
            <a:pPr lvl="1">
              <a:lnSpc>
                <a:spcPct val="110000"/>
              </a:lnSpc>
              <a:spcBef>
                <a:spcPts val="300"/>
              </a:spcBef>
              <a:spcAft>
                <a:spcPts val="300"/>
              </a:spcAft>
            </a:pPr>
            <a:r>
              <a:rPr lang="en-US" sz="2600" dirty="0">
                <a:solidFill>
                  <a:srgbClr val="C00000"/>
                </a:solidFill>
              </a:rPr>
              <a:t>both the personal lives of individuals and the livelihood of the community.</a:t>
            </a:r>
          </a:p>
          <a:p>
            <a:pPr>
              <a:lnSpc>
                <a:spcPct val="110000"/>
              </a:lnSpc>
              <a:spcBef>
                <a:spcPts val="300"/>
              </a:spcBef>
              <a:spcAft>
                <a:spcPts val="300"/>
              </a:spcAft>
            </a:pPr>
            <a:r>
              <a:rPr lang="en-US" sz="2800" dirty="0"/>
              <a:t> It may involve some of the same actions as short-term ones.</a:t>
            </a:r>
          </a:p>
          <a:p>
            <a:pPr>
              <a:lnSpc>
                <a:spcPct val="110000"/>
              </a:lnSpc>
              <a:spcBef>
                <a:spcPts val="300"/>
              </a:spcBef>
              <a:spcAft>
                <a:spcPts val="300"/>
              </a:spcAft>
            </a:pPr>
            <a:r>
              <a:rPr lang="en-US" sz="2800" dirty="0"/>
              <a:t>Permanent construction or replacement of severely damaged physical structures.</a:t>
            </a:r>
          </a:p>
          <a:p>
            <a:pPr>
              <a:lnSpc>
                <a:spcPct val="110000"/>
              </a:lnSpc>
              <a:spcBef>
                <a:spcPts val="300"/>
              </a:spcBef>
              <a:spcAft>
                <a:spcPts val="300"/>
              </a:spcAft>
            </a:pPr>
            <a:r>
              <a:rPr lang="en-US" sz="2800" dirty="0"/>
              <a:t>Full restoration of all services and local infrastructure and the revitalization of the economy.</a:t>
            </a:r>
          </a:p>
          <a:p>
            <a:pPr>
              <a:lnSpc>
                <a:spcPct val="110000"/>
              </a:lnSpc>
              <a:spcBef>
                <a:spcPts val="300"/>
              </a:spcBef>
              <a:spcAft>
                <a:spcPts val="300"/>
              </a:spcAft>
            </a:pPr>
            <a:r>
              <a:rPr lang="en-US" sz="2800" dirty="0"/>
              <a:t>May continue for a number of months or years, depending upon the severity of the damages.</a:t>
            </a:r>
          </a:p>
          <a:p>
            <a:pPr>
              <a:lnSpc>
                <a:spcPct val="110000"/>
              </a:lnSpc>
              <a:spcBef>
                <a:spcPts val="300"/>
              </a:spcBef>
              <a:spcAft>
                <a:spcPts val="300"/>
              </a:spcAft>
              <a:buNone/>
            </a:pPr>
            <a:r>
              <a:rPr lang="en-US" sz="2800" dirty="0">
                <a:solidFill>
                  <a:srgbClr val="0070C0"/>
                </a:solidFill>
              </a:rPr>
              <a:t>Example: Complete redevelopment </a:t>
            </a:r>
            <a:r>
              <a:rPr lang="en-US" sz="2800" dirty="0">
                <a:solidFill>
                  <a:schemeClr val="bg1"/>
                </a:solidFill>
              </a:rPr>
              <a:t>of damaged areas</a:t>
            </a:r>
          </a:p>
        </p:txBody>
      </p:sp>
    </p:spTree>
    <p:extLst>
      <p:ext uri="{BB962C8B-B14F-4D97-AF65-F5344CB8AC3E}">
        <p14:creationId xmlns:p14="http://schemas.microsoft.com/office/powerpoint/2010/main" val="22056314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a:xfrm>
            <a:off x="1295400" y="365127"/>
            <a:ext cx="8743950" cy="625474"/>
          </a:xfrm>
        </p:spPr>
        <p:txBody>
          <a:bodyPr>
            <a:noAutofit/>
          </a:bodyPr>
          <a:lstStyle/>
          <a:p>
            <a:r>
              <a:rPr lang="en-US" sz="3200" dirty="0"/>
              <a:t>Post Disaster Long-Term Recovery Planning</a:t>
            </a:r>
          </a:p>
        </p:txBody>
      </p:sp>
      <p:sp>
        <p:nvSpPr>
          <p:cNvPr id="38914" name="Rectangle 3"/>
          <p:cNvSpPr>
            <a:spLocks noGrp="1"/>
          </p:cNvSpPr>
          <p:nvPr>
            <p:ph type="body" idx="1"/>
          </p:nvPr>
        </p:nvSpPr>
        <p:spPr>
          <a:xfrm>
            <a:off x="609600" y="1371600"/>
            <a:ext cx="11277600" cy="5334000"/>
          </a:xfrm>
        </p:spPr>
        <p:txBody>
          <a:bodyPr>
            <a:normAutofit/>
          </a:bodyPr>
          <a:lstStyle/>
          <a:p>
            <a:pPr>
              <a:lnSpc>
                <a:spcPct val="120000"/>
              </a:lnSpc>
              <a:spcBef>
                <a:spcPts val="600"/>
              </a:spcBef>
              <a:spcAft>
                <a:spcPts val="600"/>
              </a:spcAft>
            </a:pPr>
            <a:r>
              <a:rPr lang="en-US" sz="2800" dirty="0"/>
              <a:t>Planning before the next disaster strikes.</a:t>
            </a:r>
          </a:p>
          <a:p>
            <a:pPr>
              <a:lnSpc>
                <a:spcPct val="120000"/>
              </a:lnSpc>
              <a:spcBef>
                <a:spcPts val="600"/>
              </a:spcBef>
              <a:spcAft>
                <a:spcPts val="600"/>
              </a:spcAft>
            </a:pPr>
            <a:r>
              <a:rPr lang="en-US" sz="2800" dirty="0"/>
              <a:t>It provides the following benefits;</a:t>
            </a:r>
          </a:p>
          <a:p>
            <a:pPr lvl="1">
              <a:lnSpc>
                <a:spcPct val="120000"/>
              </a:lnSpc>
              <a:spcBef>
                <a:spcPts val="600"/>
              </a:spcBef>
              <a:spcAft>
                <a:spcPts val="600"/>
              </a:spcAft>
            </a:pPr>
            <a:r>
              <a:rPr lang="en-US" sz="2400" dirty="0">
                <a:solidFill>
                  <a:srgbClr val="0070C0"/>
                </a:solidFill>
              </a:rPr>
              <a:t>Identifies the most vulnerable areas of the community.</a:t>
            </a:r>
          </a:p>
          <a:p>
            <a:pPr lvl="1">
              <a:lnSpc>
                <a:spcPct val="120000"/>
              </a:lnSpc>
              <a:spcBef>
                <a:spcPts val="600"/>
              </a:spcBef>
              <a:spcAft>
                <a:spcPts val="600"/>
              </a:spcAft>
            </a:pPr>
            <a:r>
              <a:rPr lang="en-US" sz="2400" dirty="0">
                <a:solidFill>
                  <a:srgbClr val="0070C0"/>
                </a:solidFill>
              </a:rPr>
              <a:t>Accelerates approval of federal funding for rebuilding in the post-disaster environment.</a:t>
            </a:r>
          </a:p>
          <a:p>
            <a:pPr lvl="1">
              <a:lnSpc>
                <a:spcPct val="120000"/>
              </a:lnSpc>
              <a:spcBef>
                <a:spcPts val="600"/>
              </a:spcBef>
              <a:spcAft>
                <a:spcPts val="600"/>
              </a:spcAft>
            </a:pPr>
            <a:r>
              <a:rPr lang="en-US" sz="2400" dirty="0">
                <a:solidFill>
                  <a:srgbClr val="0070C0"/>
                </a:solidFill>
              </a:rPr>
              <a:t>Anticipates/compensates for regulatory and environmental requirements for rebuilding.</a:t>
            </a:r>
          </a:p>
          <a:p>
            <a:pPr lvl="1">
              <a:lnSpc>
                <a:spcPct val="120000"/>
              </a:lnSpc>
              <a:spcBef>
                <a:spcPts val="600"/>
              </a:spcBef>
              <a:spcAft>
                <a:spcPts val="600"/>
              </a:spcAft>
            </a:pPr>
            <a:r>
              <a:rPr lang="en-US" sz="2400" dirty="0">
                <a:solidFill>
                  <a:srgbClr val="0070C0"/>
                </a:solidFill>
              </a:rPr>
              <a:t>Minimizes economic and social disruption to the community.</a:t>
            </a:r>
          </a:p>
          <a:p>
            <a:pPr lvl="1">
              <a:lnSpc>
                <a:spcPct val="120000"/>
              </a:lnSpc>
              <a:spcBef>
                <a:spcPts val="600"/>
              </a:spcBef>
              <a:spcAft>
                <a:spcPts val="600"/>
              </a:spcAft>
            </a:pPr>
            <a:r>
              <a:rPr lang="en-US" sz="2400" dirty="0">
                <a:solidFill>
                  <a:srgbClr val="0070C0"/>
                </a:solidFill>
              </a:rPr>
              <a:t>Maximizes post-disaster funding in the public and private sectors.</a:t>
            </a:r>
          </a:p>
        </p:txBody>
      </p:sp>
    </p:spTree>
    <p:extLst>
      <p:ext uri="{BB962C8B-B14F-4D97-AF65-F5344CB8AC3E}">
        <p14:creationId xmlns:p14="http://schemas.microsoft.com/office/powerpoint/2010/main" val="3089753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p:cNvSpPr>
          <p:nvPr>
            <p:ph type="ctrTitle"/>
          </p:nvPr>
        </p:nvSpPr>
        <p:spPr>
          <a:xfrm>
            <a:off x="1905000" y="1524001"/>
            <a:ext cx="8458200" cy="2076450"/>
          </a:xfrm>
        </p:spPr>
        <p:txBody>
          <a:bodyPr>
            <a:normAutofit/>
          </a:bodyPr>
          <a:lstStyle/>
          <a:p>
            <a:pPr algn="ctr"/>
            <a:r>
              <a:rPr lang="en-US" dirty="0">
                <a:solidFill>
                  <a:srgbClr val="0070C0"/>
                </a:solidFill>
                <a:latin typeface="Comic Sans MS" panose="030F0702030302020204" pitchFamily="66" charset="0"/>
              </a:rPr>
              <a:t>Disasters as Opportunities for Development Initiatives</a:t>
            </a:r>
            <a:endParaRPr lang="en-US" b="0" dirty="0">
              <a:solidFill>
                <a:srgbClr val="0070C0"/>
              </a:solidFill>
              <a:latin typeface="Comic Sans MS" panose="030F0702030302020204" pitchFamily="66" charset="0"/>
            </a:endParaRPr>
          </a:p>
        </p:txBody>
      </p:sp>
      <p:sp>
        <p:nvSpPr>
          <p:cNvPr id="68613" name="Rectangle 5"/>
          <p:cNvSpPr>
            <a:spLocks noGrp="1"/>
          </p:cNvSpPr>
          <p:nvPr>
            <p:ph type="subTitle" idx="1"/>
          </p:nvPr>
        </p:nvSpPr>
        <p:spPr>
          <a:xfrm>
            <a:off x="1524000" y="3886200"/>
            <a:ext cx="9144000" cy="1752600"/>
          </a:xfrm>
          <a:solidFill>
            <a:schemeClr val="accent1"/>
          </a:solidFill>
        </p:spPr>
        <p:txBody>
          <a:bodyPr/>
          <a:lstStyle/>
          <a:p>
            <a:pPr>
              <a:lnSpc>
                <a:spcPct val="150000"/>
              </a:lnSpc>
              <a:defRPr/>
            </a:pPr>
            <a:r>
              <a:rPr lang="en-US" sz="2800" dirty="0">
                <a:solidFill>
                  <a:schemeClr val="bg1">
                    <a:lumMod val="95000"/>
                  </a:schemeClr>
                </a:solidFill>
                <a:latin typeface="Comic Sans MS" panose="030F0702030302020204" pitchFamily="66" charset="0"/>
              </a:rPr>
              <a:t>With a disaster comes disruption and tragedy,</a:t>
            </a:r>
            <a:br>
              <a:rPr lang="en-US" sz="2800" dirty="0">
                <a:solidFill>
                  <a:schemeClr val="bg1">
                    <a:lumMod val="95000"/>
                  </a:schemeClr>
                </a:solidFill>
                <a:latin typeface="Comic Sans MS" panose="030F0702030302020204" pitchFamily="66" charset="0"/>
              </a:rPr>
            </a:br>
            <a:r>
              <a:rPr lang="en-US" sz="2800" dirty="0">
                <a:solidFill>
                  <a:schemeClr val="bg1">
                    <a:lumMod val="95000"/>
                  </a:schemeClr>
                </a:solidFill>
                <a:latin typeface="Comic Sans MS" panose="030F0702030302020204" pitchFamily="66" charset="0"/>
              </a:rPr>
              <a:t>but in the aftermath comes opportunity!</a:t>
            </a:r>
          </a:p>
          <a:p>
            <a:pPr>
              <a:lnSpc>
                <a:spcPct val="150000"/>
              </a:lnSpc>
              <a:defRPr/>
            </a:pPr>
            <a:endParaRPr lang="en-US" sz="2800" dirty="0">
              <a:solidFill>
                <a:schemeClr val="bg1">
                  <a:lumMod val="95000"/>
                </a:schemeClr>
              </a:solidFill>
              <a:latin typeface="Comic Sans MS" panose="030F0702030302020204" pitchFamily="66" charset="0"/>
            </a:endParaRPr>
          </a:p>
        </p:txBody>
      </p:sp>
    </p:spTree>
    <p:extLst>
      <p:ext uri="{BB962C8B-B14F-4D97-AF65-F5344CB8AC3E}">
        <p14:creationId xmlns:p14="http://schemas.microsoft.com/office/powerpoint/2010/main" val="31266916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4"/>
          <p:cNvSpPr>
            <a:spLocks noGrp="1"/>
          </p:cNvSpPr>
          <p:nvPr>
            <p:ph sz="quarter" idx="1"/>
          </p:nvPr>
        </p:nvSpPr>
        <p:spPr>
          <a:xfrm>
            <a:off x="762000" y="1066800"/>
            <a:ext cx="10515600" cy="5638800"/>
          </a:xfrm>
        </p:spPr>
        <p:txBody>
          <a:bodyPr>
            <a:normAutofit/>
          </a:bodyPr>
          <a:lstStyle/>
          <a:p>
            <a:pPr>
              <a:lnSpc>
                <a:spcPct val="100000"/>
              </a:lnSpc>
              <a:spcBef>
                <a:spcPts val="600"/>
              </a:spcBef>
              <a:spcAft>
                <a:spcPts val="1200"/>
              </a:spcAft>
            </a:pPr>
            <a:r>
              <a:rPr lang="en-US" sz="3200" dirty="0"/>
              <a:t>Disasters can highlight particular areas of vulnerability.</a:t>
            </a:r>
          </a:p>
          <a:p>
            <a:pPr>
              <a:lnSpc>
                <a:spcPct val="100000"/>
              </a:lnSpc>
              <a:spcBef>
                <a:spcPts val="600"/>
              </a:spcBef>
              <a:spcAft>
                <a:spcPts val="1200"/>
              </a:spcAft>
            </a:pPr>
            <a:r>
              <a:rPr lang="en-US" sz="3200" dirty="0"/>
              <a:t> The political environment may favor a much higher rate of economic and social change than before in areas such as land reform, new job training, housing improvements, and restructuring of the economic base.</a:t>
            </a:r>
          </a:p>
          <a:p>
            <a:pPr>
              <a:lnSpc>
                <a:spcPct val="100000"/>
              </a:lnSpc>
              <a:spcBef>
                <a:spcPts val="600"/>
              </a:spcBef>
              <a:spcAft>
                <a:spcPts val="1200"/>
              </a:spcAft>
            </a:pPr>
            <a:r>
              <a:rPr lang="en-US" sz="3200" dirty="0"/>
              <a:t>Emergency lending for post-disaster investment may be used to restructure the economy as a result of a disaster.</a:t>
            </a:r>
          </a:p>
          <a:p>
            <a:pPr>
              <a:lnSpc>
                <a:spcPct val="114000"/>
              </a:lnSpc>
              <a:spcBef>
                <a:spcPts val="600"/>
              </a:spcBef>
              <a:spcAft>
                <a:spcPts val="1200"/>
              </a:spcAft>
            </a:pPr>
            <a:endParaRPr lang="en-US" sz="2800" dirty="0"/>
          </a:p>
          <a:p>
            <a:pPr>
              <a:lnSpc>
                <a:spcPct val="114000"/>
              </a:lnSpc>
              <a:spcBef>
                <a:spcPts val="600"/>
              </a:spcBef>
              <a:spcAft>
                <a:spcPts val="1200"/>
              </a:spcAft>
            </a:pPr>
            <a:endParaRPr lang="en-US" sz="2800" dirty="0"/>
          </a:p>
        </p:txBody>
      </p:sp>
    </p:spTree>
    <p:extLst>
      <p:ext uri="{BB962C8B-B14F-4D97-AF65-F5344CB8AC3E}">
        <p14:creationId xmlns:p14="http://schemas.microsoft.com/office/powerpoint/2010/main" val="1818368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5400" b="1" dirty="0">
                <a:solidFill>
                  <a:srgbClr val="0000CC"/>
                </a:solidFill>
                <a:latin typeface="Comic Sans MS" panose="030F0702030302020204" pitchFamily="66" charset="0"/>
              </a:rPr>
              <a:t>Questions?</a:t>
            </a:r>
            <a:br>
              <a:rPr lang="en-US" sz="5400" b="1" dirty="0">
                <a:solidFill>
                  <a:srgbClr val="0000CC"/>
                </a:solidFill>
                <a:latin typeface="Comic Sans MS" panose="030F0702030302020204" pitchFamily="66" charset="0"/>
              </a:rPr>
            </a:br>
            <a:br>
              <a:rPr lang="en-US" dirty="0"/>
            </a:br>
            <a:endParaRPr lang="en-US" dirty="0"/>
          </a:p>
        </p:txBody>
      </p:sp>
    </p:spTree>
    <p:extLst>
      <p:ext uri="{BB962C8B-B14F-4D97-AF65-F5344CB8AC3E}">
        <p14:creationId xmlns:p14="http://schemas.microsoft.com/office/powerpoint/2010/main" val="1008114150"/>
      </p:ext>
    </p:extLst>
  </p:cSld>
  <p:clrMapOvr>
    <a:masterClrMapping/>
  </p:clrMapOvr>
</p:sld>
</file>

<file path=ppt/theme/theme1.xml><?xml version="1.0" encoding="utf-8"?>
<a:theme xmlns:a="http://schemas.openxmlformats.org/drawingml/2006/main" name="HPR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PRM" id="{6A301EE4-6475-459C-931D-8CDDA9922FCA}" vid="{455E8505-26A5-46B7-AF20-610FB5C8F6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HPRM</Template>
  <TotalTime>14408</TotalTime>
  <Words>3657</Words>
  <Application>Microsoft Office PowerPoint</Application>
  <PresentationFormat>Widescreen</PresentationFormat>
  <Paragraphs>384</Paragraphs>
  <Slides>52</Slides>
  <Notes>43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Calibri Light</vt:lpstr>
      <vt:lpstr>Comic Sans MS</vt:lpstr>
      <vt:lpstr>Wingdings</vt:lpstr>
      <vt:lpstr>Wingdings 3</vt:lpstr>
      <vt:lpstr>HPRM</vt:lpstr>
      <vt:lpstr>PowerPoint Presentation</vt:lpstr>
      <vt:lpstr>Learning Outcomes</vt:lpstr>
      <vt:lpstr>Disaster Mitigation &amp; Preparedness </vt:lpstr>
      <vt:lpstr>Reading Material</vt:lpstr>
      <vt:lpstr>DM Cycle</vt:lpstr>
      <vt:lpstr>PowerPoint Presentation</vt:lpstr>
      <vt:lpstr>Mitigation </vt:lpstr>
      <vt:lpstr>Mitigation Activities</vt:lpstr>
      <vt:lpstr>Mitigation Alternatives</vt:lpstr>
      <vt:lpstr> FEMA document  More Examples of Mitigations </vt:lpstr>
      <vt:lpstr>Examples conti…</vt:lpstr>
      <vt:lpstr>Examples conti…</vt:lpstr>
      <vt:lpstr>Structure Relocation: Most expensive but most effective Land use Planning tool</vt:lpstr>
      <vt:lpstr>Examples of Mitigations: Conti…</vt:lpstr>
      <vt:lpstr>Examples of Mitigations: Conti…</vt:lpstr>
      <vt:lpstr>Flood Hazard Maps</vt:lpstr>
      <vt:lpstr>Examples of Mitigations: Conti…</vt:lpstr>
      <vt:lpstr>PowerPoint Presentation</vt:lpstr>
      <vt:lpstr>How to Represent Information on Flood Hazard Maps?</vt:lpstr>
      <vt:lpstr>Hazard Maps</vt:lpstr>
      <vt:lpstr>Interesting Fact!</vt:lpstr>
      <vt:lpstr>Preparedness Disaster Planning and Preparation</vt:lpstr>
      <vt:lpstr>Disaster Preparedness</vt:lpstr>
      <vt:lpstr>PowerPoint Presentation</vt:lpstr>
      <vt:lpstr>Whose Responsibility?</vt:lpstr>
      <vt:lpstr>Scope?</vt:lpstr>
      <vt:lpstr>Preparedness: Activities</vt:lpstr>
      <vt:lpstr>Evacuation Planning</vt:lpstr>
      <vt:lpstr>PowerPoint Presentation</vt:lpstr>
      <vt:lpstr>Evacuation Planning</vt:lpstr>
      <vt:lpstr>Elements of Preparedness</vt:lpstr>
      <vt:lpstr>Mitigation vs. Preparedness</vt:lpstr>
      <vt:lpstr>Mitigation vs. Preparedness</vt:lpstr>
      <vt:lpstr>Response</vt:lpstr>
      <vt:lpstr>Response</vt:lpstr>
      <vt:lpstr>Emergency Operations and Relief Activities</vt:lpstr>
      <vt:lpstr>Class Activity/Homework</vt:lpstr>
      <vt:lpstr>DISASTER RECOVERY </vt:lpstr>
      <vt:lpstr>UNISDR Terminologies</vt:lpstr>
      <vt:lpstr>Response vs. Recovery</vt:lpstr>
      <vt:lpstr>Recovery</vt:lpstr>
      <vt:lpstr>Recovery ---conti</vt:lpstr>
      <vt:lpstr>Actions and Activities</vt:lpstr>
      <vt:lpstr>Actions and Activities</vt:lpstr>
      <vt:lpstr>Pre-Disaster Recovery Actions</vt:lpstr>
      <vt:lpstr>Pre-Disaster Recovery Actions</vt:lpstr>
      <vt:lpstr>Short-Term Recovery </vt:lpstr>
      <vt:lpstr>Long-Term Recovery </vt:lpstr>
      <vt:lpstr>Post Disaster Long-Term Recovery Planning</vt:lpstr>
      <vt:lpstr>Disasters as Opportunities for Development Initiatives</vt:lpstr>
      <vt:lpstr>PowerPoint Presentation</vt:lpstr>
      <vt:lpstr>Questions?  </vt:lpstr>
    </vt:vector>
  </TitlesOfParts>
  <Company>Suparco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Zaidi</dc:creator>
  <cp:lastModifiedBy>Arjumand Zaidi</cp:lastModifiedBy>
  <cp:revision>643</cp:revision>
  <dcterms:created xsi:type="dcterms:W3CDTF">2011-10-05T10:29:19Z</dcterms:created>
  <dcterms:modified xsi:type="dcterms:W3CDTF">2026-09-09T09:06:41Z</dcterms:modified>
</cp:coreProperties>
</file>